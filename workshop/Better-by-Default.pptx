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WPYEG. In this workshop we're building and reviewing a small plugin that defines and activates 31 sensible but little-known and seldom used defaults for WordPress sites in 2026. Whether you write PHP daily or just manage WordPress sites, you'll leave knowing why each default matters and how to enable (or disable) it. This workshop and plugin distils years of experience and new learning from a recent project that I've summed up in this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ARE BUGS or quite the security risks popular human and AI opinion allege. They are defaults chosen for maximum compatibility on a 20+ year-old web application. You probably don't need them and can tighten up your own WordPress sites unless you're into the IndieWeb and radical open source anarchism, which I highly recommend. Probing the oldest parts of WordPress is a good way to learn some history and important fundamentals about how WordPress works — and how to keep it secure, fast, and pretty.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demo plugin, a default is an add_filter behind an if ( option ). We have 31 settings built around that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is built to be interrupted at labelled moments (hooks) so you never edit core code. __return_false is a tiny built-in helper that just hands back false — perfect for switching a feature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debugging model, not a universal 'last plugin wins' rule. Constants cannot be redefined; filters pass a value through every callback; actions may accumulate effects. wp-config.php is loaded before plugins. Must-use plugins load before normal plugins. Normal plugins are included in the stored active_plugins order — PMP before BBD on this demo site. Within a hook, lower priorities run earlier, higher priorities later, and equal priorities retain registration order. Sources: https://developer.wordpress.org/advanced-administration/plugins/mu-plugins/ ; https://developer.wordpress.org/plugins/hooks/actions/#priority ; https://developer.wordpress.org/reference/functions/wp_get_active_and_valid_plugins/ ; https://developer.wordpress.org/advanced-administration/wordpress/wp-config/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spend most of our time on security and content, then move quickly through updates, UX, login, branding, and performance, and we'll end up with a plugin that covers them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in this section removes something an attacker can poke — usually in one line. The theme is simple: disable what you don't use. You can't exploit an endpoint that isn't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/wp/v2/users endpoint exposes every public author's name, ID, profile link, and slug to anyone. Because an author slug often resembles a login name, that gives attack scripts a useful credential hint for free. By closing the user-list and numeric user routes for logged-out requests only, the editor and legitimate integrations keep working while anonymous enumeration attempts receive an ordinary 404. It's partly security by obscurity — not a substitute for strong passwords, MFA, or rate limiting — but it also rejects junk requests from bots that are up to no good. Why spend even a few extra electrons helping them? Author archives take the separate path we'll see later: a 301 to the homepage. If probes persist, a properly configured host can count those request patterns and ban the source IP with Fail2Ban or a similar tool such as CrowdSec, SSHGuard, or Defensia.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sledgehammer version of the slide before. Requiring auth for ALL REST calls stops anonymous scraping cold. It does *not* break the block editor, though — you're logged in there, and the editor authenticates with your cookie plus a REST nonce, so it sails through this filter. What it breaks is ANONYMOUS REST: front-end blocks that fetch data for logged-out visitors, embeds, search, and outside integrations. That's why it ships off. Not every default should default to on; some are opt-in because they trade functionality for safety. Usually it's a better tradeoff to restrict a few REST routes — like the users endpoint we just closed — than to lock ALL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XML-RPC is a legitimate but aging API. (Mad love to Dave Winer!) It's not a backdoor or an emergency. It is an old switchboard where every method is a phone line. Rather than rip out a connection that Jetpack or a publishing client may need, we unplug unused lines by category. Four switches, all off by default:
1. Pingbacks — drop pingback.ping, the clearest live nuisance and reflection-DDoS surface. A valid call performs database work, waits a second, and fetches the claimed source URL. Keep it if you're a crusty punk who loves the IndieWeb and everything before Facebook turned everything to shit, ca. 2005.
2. Remote publishing — drop the credential-authenticated blogging methods (wp.*, metaWeblog.*, mt.*, blogger.*), another password-guessing entrance when legacy clients are not needed. This also flips xmlrpc_enabled off and removes the RSD discovery link.
3. system.multicall — refuse a general batching wrapper with little established modern use. WordPress 4.4 prevented it from being used as a password-guessing multiplier, so the old 'thousands of guesses' story is obsolete. (To this day, people say XML-RPC is some kind of open, free credential verification oracle — NOT TRUE.) Multicall can still batch other work, including pingbacks, but it does not enable pingback abuse.
4. Block the endpoint — the blunt hammer: xmlrpc.php returns 403 for everything. Prefer doing this at the CDN, WAF, or web server so the request never consumes PHP.
The first three are surgical and leave third-party registrations such as Jetpack's jetpack.* in place. That is not a compatibility guarantee: keep the endpoint reachable, leave Remote Publishing enabled until testing proves it unnecessary, and test the Jetpack connection and features after method changes. Block the endpoint only when nothing on the site speaks XML-RPC.
[Aside — what's "IXR"? The Incutio XML-RPC library. Simon Willison released it in September 2002, one of his first open-source projects, while blogging from the University of Bath; both WordPress *and* Drupal adopted it, and it then sat largely untouched for 15+ years — long enough to pick up a CVE. Willison went on to co-create Django (2003–05 at the Lawrence Journal-World), build Lanyrd (sold to Eventbrite in 2013) and Datasette (2017), and is now one of the most-read writers on LLMs.]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existing default we *don't* lock down. An Application Password is like a spare key cut for one app: each app gets its own hashed key, so you can revoke one without touching the others or changing the account password. That makes it the safer REST credential and the only one core accepts for REST Basic Auth. So they are good — they just don't have a toggle in WordPress core settings. You might need to prohibit application passwords on a site that forbids non-interactive credentials, but switching them off doesn't stop people connecting things, it just pushes them to worse habits, like sharing an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NIST SP 800-63B-4 § 3.1.1.2 calls for at least 15 characters for single-factor passwords, no composition rules, and a blocklist of commonly used, expected, or compromised passwords. BBD first applies its length rule, a small local blocklist, and checks for the username or email name. It then screens the candidate against the Have I Been Pwned Pwned Passwords range API.
The privacy trick is k-anonymity. BBD computes the candidate's SHA-1 hash locally, sends HIBP only the first five hexadecimal characters, and receives roughly 800–1,000 suffixes that share that prefix. BBD compares the remaining 35 characters locally. The password and its full hash never leave WordPress. SHA-1 is only HIBP's lookup format here; WordPress still owns password storage and uses its normal password hashing.
BBD also sends Add-Padding: true, so response size does not disclose how many real matches exist; synthetic rows have a count of zero and are ignored. WordPress caps the response at 128 KiB with limit_response_size. Because a response reaching that cap may be truncated, capped, empty, malformed, failed, and non-200 responses are treated as unavailable and fail open. Only structurally valid prefix responses are cached for 12 hours; the local length, blocklist, and personal-context checks still apply. The same server-side validator covers profile changes, password resets, and REST user-password requests.
AND YOU CAN SWITCH IT OFF — WPYEG_DISABLE_HIBP in wp-config.php, or the wpyeg_disable_hibp filter for a per-password decision. This is the only thing the whole plugin does that leaves your server, and everything on this slide is an argument that it is safe to do: hashed locally, five characters sent, padded response, nothing recoverable. All true, and none of it is an answer to "may I decline." Someone under a data-protection regime, on an air-gapped network, or just unwilling to make an outbound call on every password change does not owe anyone a justification. Which is the whole talk, pointed back at us: a default you cannot turn off is not a default, it is a requirement wearing a default's clothes. Every other setting here has a toggle. This one is the test of whether we meant it.
Sources: HIBP API v3, Pwned Passwords — Searching by hash range using k-anonymity and Introducing padding: https://haveibeenpwned.com/API/v3#SearchingPwnedPasswordsByRange ; NIST SP 800-63B-4 § 3.1.1.2, Password Verifiers: https://pages.nist.gov/800-63-4/sp800-63b/authenticators/#passwordver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default and one deliberate non-default — and the difference is the lesson. Hiding the version is obscurity, not hardening: it does not make an out-of-date site any safer, and it does not even hide much, since the version still leaks from asset query strings and feeds. What it genuinely buys is quieter logs. That is worth opting into, not worth shipping on and calling security — so it defaults to off. The headers are the opposite: real, low-risk defaults most sites can adopt without breaking anything:
- X-Content-Type-Options: nosniff — the browser must trust the declared Content-Type instead of guessing; kills "a .txt the browser decides to run as JavaScript" tricks.
- Referrer-Policy: strict-origin-when-cross-origin — sends the full URL within your own site, only the bare domain to other sites, and nothing on an HTTPS→HTTP downgrade; keeps tokens and private paths from leaking in the Referer.
X-Frame-Options is deliberately a SEPARATE setting (wpyeg_frame_options, default SAMEORIGIN), and that split is the point worth teaching. It is the only one of the three that can break a working site: blocking cross-origin framing also blocks legitimate embedding — a client intranet, a partner site, a preview tool — and it fails as a silent blank frame, which is miserable to debug. Bundled with the other two, a site that needs to be embeddable would have to give up nosniff as well.
Note HOW they are applied, too, because this changed in 1.1.1. The original rule was "set only if unset", which sounds polite and is wrong: whatever arrived first won, so a host's permissive X-Frame-Options silently beat a deliberately configured DENY. The values are compared now, and the configured one replaces what is there only when it is strictly stronger — an unrecognised value, a deprecated ALLOW-FROM say, is left alone rather than guessed at. X-Content-Type-Options has exactly one effective value, so an existing header saying anything else is not a policy to respect, it is a header doing nothing; it gets corrected in place. And names are matched case-insensitively, because HTTP says header names are and PHP array keys say they are not — that mismatch used to make another plugin's x-content-type-options invisible here and add a second, conflicting line. Referrer-Policy still defers to whatever is already set: its tokens have no single strictness axis, so there is nothing to compare.
Be honest about the limit though — PHP only sees headers set in PHP, so one added by nginx or a CDN is invisible here. Check the response, not just the code. A full Content-Security-Policy is a bigger conversation for another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Editors hold unfiltered_html on a single-site install. That is enough to save a raw &lt;script&gt; into a post — not a vulnerability, a CAPABILITY, and one most sites never consciously granted. This takes it back to administrators, plus Super Admins on multisite.
THE LESSON HERE IS THE TRAP, NOT THE POLICY. user_has_cap fires on every capability check there is. So a filter hooked to it that ASKS a capability question calls itself, and calls itself again, until the stack blows. current_user_can( 'manage_options' ) inside this callback is infinite recursion. So is is_super_admin() on single site, which is the one that catches people — it calls has_cap( 'delete_users' ), straight back in here. On multisite it reads the network list instead and is safe, which is exactly why the real code guards it with is_multisite().
The fix is not cleverness, it is discipline: DECIDE FROM WHAT YOU WERE HANDED. $user-&gt;roles is already on the object. $allcaps['manage_options'] is already resolved — it was computed before your filter ran. Read those. Never ask.
One more detail worth stealing: the priority is PHP_INT_MAX - 1, so this has close to the final say over other user_has_cap filters — a plugin that grants the capability back later in the chain would otherwise quietly win. Not PHP_INT_MAX itself, which leaves a slot for something that genuinely must run last.
Put this beside the comment-feed 404 and you have the pattern's two failure modes. There, a filter that looked complete and was not. Here, a filter that can destroy itself by asking an innocent question. Both of them pass every test you would think to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reduce channels for spam and clean up the thin, duplicate URLs that bots and search engines get lost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many sites, comments are a spam magnet with little upside. Here we close them everywhere, hide existing threads, and drop the admin menu. If you want comments, leave this tuned off — but consider closing pingbacks and trackbacks, which are almost pure spam.
Closing comments is four jobs, not one: the template, the data, the editor, and the page. comments_open and comments_array answer the theme's comment template. comments_pre_query answers everything else — /wp/v2/comments most of all, which otherwise serves every comment the site has ever had. allowed_block_types_all takes the comment blocks out of the inserter, but the inserter only decides what an editor can add NEXT, and a block theme has already put those blocks in its post template. That markup needs render_block to return an empty string, or every post prints a "Comments" heading over an empty wrapper and the site reads as broken rather than as one that deliberately has no comments. get_comments_number is the same gap one layer down: wp_count_comments() answers zero once the query filter is in place, but the theme's heading reads the post's cached comment_count and cheerfully prints "1 Comment" above a thread that renders nothing.
Returning an empty string rather than unregistering the block types is what keeps this reversible. The blocks stay registered, the theme's markup stays as its author wrote it, and turning the setting off brings the whole thing back with nothing to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Dropping the &lt;link rel="alternate"&gt; stops the feed being advertised; it does not stop it being served. /comments/feed/ and &lt;post&gt;/feed/ keep answering 200 to anyone who types the URL, and a crawler that saw one once keeps asking. With comment queries already emptied, they answer 200 with nothing — a live, crawlable endpoint whose only purpose is to say nothing. That is the worst of both.
set_404() re-runs init_query_flags(), which clears is_feed() along with everything else, so the template loader stops routing to do_feed() and renders the theme's 404 instead. That is why is_comment_feed() has to be tested FIRST: a moment later there is nothing left to test.
And redirect_canonical has to go with it — this is the part worth remembering. It does not bail on a 404. It calls redirect_guess_404_permalink(), and against the query we have just emptied it answers /post-name/feed/ with a 301 to /post-name/feed/feed/. Leaving it hooked turns a clean 404 into a redirect to a URL that has never existed, which is worse than the bug we set out to fix.
EVERY FILTER-LEVEL TEST STILL PASSES. ONLY A REAL REQUEST CATCHES IT. That is the honest limit of the pattern this whole talk is built on: a filter behind a toggle is a claim about one hook, and what a visitor actually gets is the sum of all of them. The recursion trap in limit_unfiltered_html_to_admins is the same lesson from the other direction — a user_has_cap filter that asks a capability question calls itself, so it has to decide from $user-&gt;roles and the already-resolved $allcaps and never ask. Test the request, not just the hook.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 the REST user routes, author archives expose the authors' usernames in the URL, and attachment pages are near-empty media wrappers. template_redirect fires before a template loads - the perfect place to bounce the unwanted requests. Same hook, two conditions.
Two details on the attachment half, because the obvious version is subtly wrong. Unattached media has no parent - and that is most of the Media Library - so a naive else-home_url() points every one of those at your homepage, which search engines read as a soft 404. Fall back to the FILE instead, which is what core does. And skip the redirect entirely when the theme ships attachment.php or image.php: that theme built those pages deliberately (the photography case), and quietly bouncing past it deletes someone's feature.
Core moved here too: WordPress 6.4 added wp_attachment_pages_enabled, off for new installs. So this default is not adding the redirect so much as choosing a better destination than the bare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core injects an emoji-detection script and inline CSS on every page load, plus a DNS-prefetch hint. Modern browsers render emoji natively, so this is pure dead weight. Small win, but it's on literally every page — a good example of a "why is this even on?" default that's not included in core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quality-of-life defaults. These are more about your daily user experience and session safety than raw hardening.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Search the admin post list on a big site and WordPress reads every word of every post — like finding a book by reading the whole library. Title-only search checks just the spines, and it's far faster. The craft is in the *how*: post_search_columns (WP 6.2+) narrows the columns instead of rewriting the whole SQL clause, so core's term parsing and the logged-out password guard stay intact. Scope the filter; don't bulldoze the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login lasts 2 days; ticking "Remember Me" extends it to 14. Both lengths are in days, and the remembered one can never be shorter than the regular one. Shorten either, or hide the "Remember Me" checkbox entirely so every login uses the regular length. (Good idea for shared machines.) One filter covers all of it. WordPress ships handy time constants like DAY_IN_SECONDS, so you never need to do the math.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pair brands the login screen. Then we end with two performance levers to shave some weight off every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login page is a WordPress site's staff entrance, and the default WordPress "W" on wp-login.php links to wordpress.org. Removing, unlinking, or replacing it keeps the login screen organizationally consistent and prevents the logo from sending users to an unexpected external site. Changing a site's login screen out of the box is intrusive, though, so the default is to LEAVE IT ALONE. Any opt-in change points the link home. Swap in a background-image to use the site's own 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Heartbeat API polls admin-ajax every 15-60s. Throttle it to ease up on weak shared hosting.
The more interesting half of this slide is the toggle that USED to be here. We shipped a "defer front-end scripts" default that hooked script_loader_tag and string-replaced ' src=' with ' defer src=' on every handle. It had to skip jQuery core, and it still broke anything expecting a particular execution order — because a blanket filter cannot know which scripts are safe to defer.
WordPress 6.3 added a per-script loading strategy, so core now answers this precisely, at the point of enqueue, where the person who wrote the script decides. Keeping our version would have meant teaching a workaround for a problem the platform already solved. Deleting a default is a legitimate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defaults live in wp-config.php, above the plugin layer, because they must load before plugins do. They can't be options — so document them as manual steps in your onboarding checklist and put them in your standard wp-config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lesson is a data-driven plugin. Adding a new default equals one array entry plus one if-block in bootstrap — no new settings-page code. That's the pattern to steal for your own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if there's a sandbox. The /wp-json/wp/v2/users check is the crowd-pleaser — before/after is instantly visible. For the terminal crowd, the WP-CLI one-liner installs and activates from the zip in one shot; swap the local path for a URL if the zip is hosted.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great confidence-builder: it proves the data-driven pattern. Touch two spots and a real feature toggles. If time is short, walk it through verbally instead of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exact unprefixed keys stored inside the single wpyeg_better_by_default option. An allow-setting at no can still mean a protective behaviour is active: the three XML-RPC categories are unavailable by default, while the all-or-nothing endpoint block remains opt-in. Application Passwords remain available; strong-password validation is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connectors are disabled through the WordPress 7.0 core gate and the Connectors screen is closed. Baseline headers and SAMEORIGIN ship separately because framing can break legitimate embeds. BBD governs core release classes unless a constant wins, while language files and plugin/theme code remain with WordPress, the host, or fleet tooling.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comment and pingback settings are separate because a site may keep comments while closing new-post pings and suppressing self-pingbacks. Title-only search and front-end admin-bar changes remain opt-in.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visible names on earlier slides are schema keys, not separate WordPress options. Remembered sessions are capped at five days by default; regular sessions inherit core because zero means unchanged. The login logo and Heartbeat remain opt-in, and the three configuration constants stay above the plugin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zip and the reference doc. Invite everyone to add their own favourite default to the schema and share it back with the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394960"/>
            <a:ext cx="12188952" cy="1463040"/>
          </a:xfrm>
          <a:prstGeom prst="rect">
            <a:avLst/>
          </a:prstGeom>
          <a:solidFill>
            <a:srgbClr val="16323F"/>
          </a:solidFill>
          <a:ln/>
        </p:spPr>
      </p:sp>
      <p:sp>
        <p:nvSpPr>
          <p:cNvPr id="3" name="Shape 1"/>
          <p:cNvSpPr/>
          <p:nvPr/>
        </p:nvSpPr>
        <p:spPr>
          <a:xfrm>
            <a:off x="777240" y="731520"/>
            <a:ext cx="658368" cy="658368"/>
          </a:xfrm>
          <a:prstGeom prst="ellipse">
            <a:avLst/>
          </a:prstGeom>
          <a:solidFill>
            <a:srgbClr val="E0A94B"/>
          </a:solidFill>
          <a:ln/>
        </p:spPr>
      </p:sp>
      <p:sp>
        <p:nvSpPr>
          <p:cNvPr id="4" name="Text 2"/>
          <p:cNvSpPr/>
          <p:nvPr/>
        </p:nvSpPr>
        <p:spPr>
          <a:xfrm>
            <a:off x="777240" y="731520"/>
            <a:ext cx="658368" cy="658368"/>
          </a:xfrm>
          <a:prstGeom prst="rect">
            <a:avLst/>
          </a:prstGeom>
          <a:noFill/>
          <a:ln/>
        </p:spPr>
        <p:txBody>
          <a:bodyPr wrap="square" lIns="0" tIns="0" rIns="0" bIns="0" rtlCol="0" anchor="ctr"/>
          <a:lstStyle/>
          <a:p>
            <a:pPr algn="ctr" indent="0" marL="0">
              <a:buNone/>
            </a:pPr>
            <a:r>
              <a:rPr lang="en-US" sz="1872" b="1" dirty="0">
                <a:solidFill>
                  <a:srgbClr val="0F2733"/>
                </a:solidFill>
                <a:latin typeface="Cambria" pitchFamily="34" charset="0"/>
                <a:ea typeface="Cambria" pitchFamily="34" charset="-122"/>
                <a:cs typeface="Cambria" pitchFamily="34" charset="-120"/>
              </a:rPr>
              <a:t>{ }</a:t>
            </a:r>
            <a:endParaRPr lang="en-US" sz="1872" dirty="0"/>
          </a:p>
        </p:txBody>
      </p:sp>
      <p:sp>
        <p:nvSpPr>
          <p:cNvPr id="5" name="Text 3"/>
          <p:cNvSpPr/>
          <p:nvPr/>
        </p:nvSpPr>
        <p:spPr>
          <a:xfrm>
            <a:off x="1600200" y="822960"/>
            <a:ext cx="8229600" cy="457200"/>
          </a:xfrm>
          <a:prstGeom prst="rect">
            <a:avLst/>
          </a:prstGeom>
          <a:noFill/>
          <a:ln/>
        </p:spPr>
        <p:txBody>
          <a:bodyPr wrap="square" lIns="0" tIns="0" rIns="0" bIns="0" rtlCol="0" anchor="ctr"/>
          <a:lstStyle/>
          <a:p>
            <a:pPr indent="0" marL="0">
              <a:buNone/>
            </a:pPr>
            <a:r>
              <a:rPr lang="en-US" sz="1500" b="1" dirty="0">
                <a:solidFill>
                  <a:srgbClr val="E0A94B"/>
                </a:solidFill>
                <a:latin typeface="Calibri" pitchFamily="34" charset="0"/>
                <a:ea typeface="Calibri" pitchFamily="34" charset="-122"/>
                <a:cs typeface="Calibri" pitchFamily="34" charset="-120"/>
              </a:rPr>
              <a:t>WPYEG · Edmonton WordPress Meetup</a:t>
            </a:r>
            <a:endParaRPr lang="en-US" sz="1500" dirty="0"/>
          </a:p>
        </p:txBody>
      </p:sp>
      <p:sp>
        <p:nvSpPr>
          <p:cNvPr id="6" name="Text 4"/>
          <p:cNvSpPr/>
          <p:nvPr/>
        </p:nvSpPr>
        <p:spPr>
          <a:xfrm>
            <a:off x="777240" y="2148840"/>
            <a:ext cx="10789920" cy="1371600"/>
          </a:xfrm>
          <a:prstGeom prst="rect">
            <a:avLst/>
          </a:prstGeom>
          <a:noFill/>
          <a:ln/>
        </p:spPr>
        <p:txBody>
          <a:bodyPr wrap="square" lIns="0" tIns="0" rIns="0" bIns="0" rtlCol="0" anchor="ctr"/>
          <a:lstStyle/>
          <a:p>
            <a:pPr indent="0" marL="0">
              <a:lnSpc>
                <a:spcPct val="102000"/>
              </a:lnSpc>
              <a:buNone/>
            </a:pPr>
            <a:r>
              <a:rPr lang="en-US" sz="6800" b="1" dirty="0">
                <a:solidFill>
                  <a:srgbClr val="FFFFFF"/>
                </a:solidFill>
                <a:latin typeface="Cambria" pitchFamily="34" charset="0"/>
                <a:ea typeface="Cambria" pitchFamily="34" charset="-122"/>
                <a:cs typeface="Cambria" pitchFamily="34" charset="-120"/>
              </a:rPr>
              <a:t>Better by Default</a:t>
            </a:r>
            <a:endParaRPr lang="en-US" sz="6800" dirty="0"/>
          </a:p>
        </p:txBody>
      </p:sp>
      <p:sp>
        <p:nvSpPr>
          <p:cNvPr id="7" name="Text 5"/>
          <p:cNvSpPr/>
          <p:nvPr/>
        </p:nvSpPr>
        <p:spPr>
          <a:xfrm>
            <a:off x="822960" y="3977640"/>
            <a:ext cx="10241280" cy="640080"/>
          </a:xfrm>
          <a:prstGeom prst="rect">
            <a:avLst/>
          </a:prstGeom>
          <a:noFill/>
          <a:ln/>
        </p:spPr>
        <p:txBody>
          <a:bodyPr wrap="square" lIns="0" tIns="0" rIns="0" bIns="0" rtlCol="0" anchor="ctr"/>
          <a:lstStyle/>
          <a:p>
            <a:pPr indent="0" marL="0">
              <a:buNone/>
            </a:pPr>
            <a:r>
              <a:rPr lang="en-US" sz="2100" i="1" dirty="0">
                <a:solidFill>
                  <a:srgbClr val="D7E5EC"/>
                </a:solidFill>
                <a:latin typeface="Calibri" pitchFamily="34" charset="0"/>
                <a:ea typeface="Calibri" pitchFamily="34" charset="-122"/>
                <a:cs typeface="Calibri" pitchFamily="34" charset="-120"/>
              </a:rPr>
              <a:t>Secure defaults for every WordPress site.</a:t>
            </a:r>
            <a:endParaRPr lang="en-US" sz="2100" dirty="0"/>
          </a:p>
        </p:txBody>
      </p:sp>
      <p:sp>
        <p:nvSpPr>
          <p:cNvPr id="8" name="Text 6"/>
          <p:cNvSpPr/>
          <p:nvPr/>
        </p:nvSpPr>
        <p:spPr>
          <a:xfrm>
            <a:off x="822960" y="5715000"/>
            <a:ext cx="10515600" cy="457200"/>
          </a:xfrm>
          <a:prstGeom prst="rect">
            <a:avLst/>
          </a:prstGeom>
          <a:noFill/>
          <a:ln/>
        </p:spPr>
        <p:txBody>
          <a:bodyPr wrap="square" lIns="0" tIns="0" rIns="0" bIns="0" rtlCol="0" anchor="ctr"/>
          <a:lstStyle/>
          <a:p>
            <a:pPr indent="0" marL="0">
              <a:buNone/>
            </a:pPr>
            <a:r>
              <a:rPr lang="en-US" sz="1400" dirty="0">
                <a:solidFill>
                  <a:srgbClr val="D7E5EC"/>
                </a:solidFill>
                <a:latin typeface="Courier New" pitchFamily="34" charset="0"/>
                <a:ea typeface="Courier New" pitchFamily="34" charset="-122"/>
                <a:cs typeface="Courier New" pitchFamily="34" charset="-120"/>
              </a:rPr>
              <a:t>a hands-on workshop  </a:t>
            </a:r>
            <a:pPr indent="0" marL="0">
              <a:buNone/>
            </a:pPr>
            <a:r>
              <a:rPr lang="en-US" sz="1400" dirty="0">
                <a:solidFill>
                  <a:srgbClr val="E0A94B"/>
                </a:solidFill>
                <a:latin typeface="Courier New" pitchFamily="34" charset="0"/>
                <a:ea typeface="Courier New" pitchFamily="34" charset="-122"/>
                <a:cs typeface="Courier New" pitchFamily="34" charset="-120"/>
              </a:rPr>
              <a:t>·  build the “sane-defaults” plugin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82296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WordPress is open by default; hosts vary in what they close.</a:t>
            </a:r>
            <a:endParaRPr lang="en-US" sz="3400" dirty="0"/>
          </a:p>
        </p:txBody>
      </p:sp>
      <p:sp>
        <p:nvSpPr>
          <p:cNvPr id="3" name="Text 1"/>
          <p:cNvSpPr/>
          <p:nvPr/>
        </p:nvSpPr>
        <p:spPr>
          <a:xfrm>
            <a:off x="548640" y="1371600"/>
            <a:ext cx="10789920" cy="82296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None of these are bugs — or quite the security risks popular opinion alleges. They are defaults chosen for maximum compatibility on a 20+ year-old web application.</a:t>
            </a:r>
            <a:endParaRPr lang="en-US" sz="1600" dirty="0"/>
          </a:p>
        </p:txBody>
      </p:sp>
      <p:sp>
        <p:nvSpPr>
          <p:cNvPr id="4" name="Shape 2"/>
          <p:cNvSpPr/>
          <p:nvPr/>
        </p:nvSpPr>
        <p:spPr>
          <a:xfrm>
            <a:off x="54864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22960" y="2743200"/>
            <a:ext cx="502920" cy="502920"/>
          </a:xfrm>
          <a:prstGeom prst="ellipse">
            <a:avLst/>
          </a:prstGeom>
          <a:solidFill>
            <a:srgbClr val="E07A5F"/>
          </a:solidFill>
          <a:ln/>
        </p:spPr>
      </p:sp>
      <p:sp>
        <p:nvSpPr>
          <p:cNvPr id="6" name="Text 4"/>
          <p:cNvSpPr/>
          <p:nvPr/>
        </p:nvSpPr>
        <p:spPr>
          <a:xfrm>
            <a:off x="82296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7" name="Text 5"/>
          <p:cNvSpPr/>
          <p:nvPr/>
        </p:nvSpPr>
        <p:spPr>
          <a:xfrm>
            <a:off x="150876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Usernames leak</a:t>
            </a:r>
            <a:endParaRPr lang="en-US" sz="1900" dirty="0"/>
          </a:p>
        </p:txBody>
      </p:sp>
      <p:sp>
        <p:nvSpPr>
          <p:cNvPr id="8" name="Text 6"/>
          <p:cNvSpPr/>
          <p:nvPr/>
        </p:nvSpPr>
        <p:spPr>
          <a:xfrm>
            <a:off x="150876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REST and author archives expose public author slugs that often resemble login names.</a:t>
            </a:r>
            <a:endParaRPr lang="en-US" sz="1400" dirty="0"/>
          </a:p>
        </p:txBody>
      </p:sp>
      <p:sp>
        <p:nvSpPr>
          <p:cNvPr id="9" name="Shape 7"/>
          <p:cNvSpPr/>
          <p:nvPr/>
        </p:nvSpPr>
        <p:spPr>
          <a:xfrm>
            <a:off x="635508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0" name="Shape 8"/>
          <p:cNvSpPr/>
          <p:nvPr/>
        </p:nvSpPr>
        <p:spPr>
          <a:xfrm>
            <a:off x="6629400" y="2743200"/>
            <a:ext cx="502920" cy="502920"/>
          </a:xfrm>
          <a:prstGeom prst="ellipse">
            <a:avLst/>
          </a:prstGeom>
          <a:solidFill>
            <a:srgbClr val="E07A5F"/>
          </a:solidFill>
          <a:ln/>
        </p:spPr>
      </p:sp>
      <p:sp>
        <p:nvSpPr>
          <p:cNvPr id="11" name="Text 9"/>
          <p:cNvSpPr/>
          <p:nvPr/>
        </p:nvSpPr>
        <p:spPr>
          <a:xfrm>
            <a:off x="662940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2" name="Text 10"/>
          <p:cNvSpPr/>
          <p:nvPr/>
        </p:nvSpPr>
        <p:spPr>
          <a:xfrm>
            <a:off x="731520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XML-RPC exposed</a:t>
            </a:r>
            <a:endParaRPr lang="en-US" sz="1900" dirty="0"/>
          </a:p>
        </p:txBody>
      </p:sp>
      <p:sp>
        <p:nvSpPr>
          <p:cNvPr id="13" name="Text 11"/>
          <p:cNvSpPr/>
          <p:nvPr/>
        </p:nvSpPr>
        <p:spPr>
          <a:xfrm>
            <a:off x="731520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A venerable interop protocol Jetpack still uses. If you don't need it, it just adds attack surface.</a:t>
            </a:r>
            <a:endParaRPr lang="en-US" sz="1400" dirty="0"/>
          </a:p>
        </p:txBody>
      </p:sp>
      <p:sp>
        <p:nvSpPr>
          <p:cNvPr id="14" name="Shape 12"/>
          <p:cNvSpPr/>
          <p:nvPr/>
        </p:nvSpPr>
        <p:spPr>
          <a:xfrm>
            <a:off x="54864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5" name="Shape 13"/>
          <p:cNvSpPr/>
          <p:nvPr/>
        </p:nvSpPr>
        <p:spPr>
          <a:xfrm>
            <a:off x="822960" y="4846320"/>
            <a:ext cx="502920" cy="502920"/>
          </a:xfrm>
          <a:prstGeom prst="ellipse">
            <a:avLst/>
          </a:prstGeom>
          <a:solidFill>
            <a:srgbClr val="C88F33"/>
          </a:solidFill>
          <a:ln/>
        </p:spPr>
      </p:sp>
      <p:sp>
        <p:nvSpPr>
          <p:cNvPr id="16" name="Text 14"/>
          <p:cNvSpPr/>
          <p:nvPr/>
        </p:nvSpPr>
        <p:spPr>
          <a:xfrm>
            <a:off x="82296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7" name="Text 15"/>
          <p:cNvSpPr/>
          <p:nvPr/>
        </p:nvSpPr>
        <p:spPr>
          <a:xfrm>
            <a:off x="150876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Dead weight loads</a:t>
            </a:r>
            <a:endParaRPr lang="en-US" sz="1900" dirty="0"/>
          </a:p>
        </p:txBody>
      </p:sp>
      <p:sp>
        <p:nvSpPr>
          <p:cNvPr id="18" name="Text 16"/>
          <p:cNvSpPr/>
          <p:nvPr/>
        </p:nvSpPr>
        <p:spPr>
          <a:xfrm>
            <a:off x="150876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Emoji scripts, version tags, and RSD links on every page. Do you need them?</a:t>
            </a:r>
            <a:endParaRPr lang="en-US" sz="1400" dirty="0"/>
          </a:p>
        </p:txBody>
      </p:sp>
      <p:sp>
        <p:nvSpPr>
          <p:cNvPr id="19" name="Shape 17"/>
          <p:cNvSpPr/>
          <p:nvPr/>
        </p:nvSpPr>
        <p:spPr>
          <a:xfrm>
            <a:off x="635508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0" name="Shape 18"/>
          <p:cNvSpPr/>
          <p:nvPr/>
        </p:nvSpPr>
        <p:spPr>
          <a:xfrm>
            <a:off x="6629400" y="4846320"/>
            <a:ext cx="502920" cy="502920"/>
          </a:xfrm>
          <a:prstGeom prst="ellipse">
            <a:avLst/>
          </a:prstGeom>
          <a:solidFill>
            <a:srgbClr val="C88F33"/>
          </a:solidFill>
          <a:ln/>
        </p:spPr>
      </p:sp>
      <p:sp>
        <p:nvSpPr>
          <p:cNvPr id="21" name="Text 19"/>
          <p:cNvSpPr/>
          <p:nvPr/>
        </p:nvSpPr>
        <p:spPr>
          <a:xfrm>
            <a:off x="662940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22" name="Text 20"/>
          <p:cNvSpPr/>
          <p:nvPr/>
        </p:nvSpPr>
        <p:spPr>
          <a:xfrm>
            <a:off x="731520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Spam surface invites</a:t>
            </a:r>
            <a:endParaRPr lang="en-US" sz="1900" dirty="0"/>
          </a:p>
        </p:txBody>
      </p:sp>
      <p:sp>
        <p:nvSpPr>
          <p:cNvPr id="23" name="Text 21"/>
          <p:cNvSpPr/>
          <p:nvPr/>
        </p:nvSpPr>
        <p:spPr>
          <a:xfrm>
            <a:off x="731520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Comments, pingbacks, and trackbacks are open by default. Legacy cruft, or the heart of the open web?</a:t>
            </a:r>
            <a:endParaRPr lang="en-US" sz="1400" dirty="0"/>
          </a:p>
        </p:txBody>
      </p:sp>
      <p:sp>
        <p:nvSpPr>
          <p:cNvPr id="24" name="Text 2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5" name="Text 2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7607A"/>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7607A"/>
          </a:solidFill>
          <a:ln/>
        </p:spPr>
      </p:sp>
      <p:sp>
        <p:nvSpPr>
          <p:cNvPr id="3" name="Text 1"/>
          <p:cNvSpPr/>
          <p:nvPr/>
        </p:nvSpPr>
        <p:spPr>
          <a:xfrm>
            <a:off x="731520" y="1051560"/>
            <a:ext cx="10058400" cy="54864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The one idea to take home</a:t>
            </a:r>
            <a:endParaRPr lang="en-US" sz="1800" dirty="0"/>
          </a:p>
        </p:txBody>
      </p:sp>
      <p:sp>
        <p:nvSpPr>
          <p:cNvPr id="4" name="Text 2"/>
          <p:cNvSpPr/>
          <p:nvPr/>
        </p:nvSpPr>
        <p:spPr>
          <a:xfrm>
            <a:off x="731520" y="1737360"/>
            <a:ext cx="10698480" cy="219456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A “default” is just an</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opinionated filter behind a toggle.</a:t>
            </a:r>
            <a:endParaRPr lang="en-US" sz="4400" dirty="0"/>
          </a:p>
        </p:txBody>
      </p:sp>
      <p:sp>
        <p:nvSpPr>
          <p:cNvPr id="5" name="Shape 3"/>
          <p:cNvSpPr/>
          <p:nvPr/>
        </p:nvSpPr>
        <p:spPr>
          <a:xfrm>
            <a:off x="731520" y="4114800"/>
            <a:ext cx="10698480" cy="1737360"/>
          </a:xfrm>
          <a:prstGeom prst="roundRect">
            <a:avLst>
              <a:gd name="adj" fmla="val 4211"/>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4279392"/>
            <a:ext cx="10296144" cy="1408176"/>
          </a:xfrm>
          <a:prstGeom prst="rect">
            <a:avLst/>
          </a:prstGeom>
          <a:noFill/>
          <a:ln/>
        </p:spPr>
        <p:txBody>
          <a:bodyPr wrap="square" lIns="0" tIns="0" rIns="0" bIns="0" rtlCol="0" anchor="t"/>
          <a:lstStyle/>
          <a:p>
            <a:pPr algn="l" indent="0" marL="0">
              <a:lnSpc>
                <a:spcPct val="108000"/>
              </a:lnSpc>
              <a:buNone/>
            </a:pPr>
            <a:r>
              <a:rPr lang="en-US" sz="1500" dirty="0">
                <a:solidFill>
                  <a:srgbClr val="DCEAF1"/>
                </a:solidFill>
                <a:latin typeface="Courier New" pitchFamily="34" charset="0"/>
                <a:ea typeface="Courier New" pitchFamily="34" charset="-122"/>
                <a:cs typeface="Courier New" pitchFamily="34" charset="-120"/>
              </a:rPr>
              <a:t>if ( wpyeg_defaults_enabled( 'restrict_rest_user_discovery' ) ) {</a:t>
            </a:r>
            <a:endParaRPr lang="en-US" sz="1500" dirty="0"/>
          </a:p>
          <a:p>
            <a:pPr algn="l" indent="0" marL="0">
              <a:lnSpc>
                <a:spcPct val="108000"/>
              </a:lnSpc>
              <a:buNone/>
            </a:pPr>
            <a:r>
              <a:rPr lang="en-US" sz="1500" dirty="0">
                <a:solidFill>
                  <a:srgbClr val="E7C070"/>
                </a:solidFill>
                <a:latin typeface="Courier New" pitchFamily="34" charset="0"/>
                <a:ea typeface="Courier New" pitchFamily="34" charset="-122"/>
                <a:cs typeface="Courier New" pitchFamily="34" charset="-120"/>
              </a:rPr>
              <a:t>    add_filter( 'rest_endpoints', $hide_users_endpoint );</a:t>
            </a:r>
            <a:endParaRPr lang="en-US" sz="1500" dirty="0"/>
          </a:p>
          <a:p>
            <a:pPr algn="l" indent="0" marL="0">
              <a:lnSpc>
                <a:spcPct val="108000"/>
              </a:lnSpc>
              <a:buNone/>
            </a:pPr>
            <a:r>
              <a:rPr lang="en-US" sz="1500" dirty="0">
                <a:solidFill>
                  <a:srgbClr val="8FBF9F"/>
                </a:solidFill>
                <a:latin typeface="Courier New" pitchFamily="34" charset="0"/>
                <a:ea typeface="Courier New" pitchFamily="34" charset="-122"/>
                <a:cs typeface="Courier New" pitchFamily="34" charset="-120"/>
              </a:rPr>
              <a:t>}   // that's the whole pattern, repeated across the plugin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Hooks</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WordPress is built to be interrupted at labelled moments (hooks) so you never edit core code.</a:t>
            </a:r>
            <a:endParaRPr lang="en-US" sz="1600" dirty="0"/>
          </a:p>
        </p:txBody>
      </p:sp>
      <p:sp>
        <p:nvSpPr>
          <p:cNvPr id="4" name="Shape 2"/>
          <p:cNvSpPr/>
          <p:nvPr/>
        </p:nvSpPr>
        <p:spPr>
          <a:xfrm>
            <a:off x="548640" y="214884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51760"/>
            <a:ext cx="640080" cy="640080"/>
          </a:xfrm>
          <a:prstGeom prst="ellipse">
            <a:avLst/>
          </a:prstGeom>
          <a:solidFill>
            <a:srgbClr val="27607A"/>
          </a:solidFill>
          <a:ln/>
        </p:spPr>
      </p:sp>
      <p:sp>
        <p:nvSpPr>
          <p:cNvPr id="6" name="Text 4"/>
          <p:cNvSpPr/>
          <p:nvPr/>
        </p:nvSpPr>
        <p:spPr>
          <a:xfrm>
            <a:off x="868680" y="265176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A</a:t>
            </a:r>
            <a:endParaRPr lang="en-US" sz="1820" dirty="0"/>
          </a:p>
        </p:txBody>
      </p:sp>
      <p:sp>
        <p:nvSpPr>
          <p:cNvPr id="7" name="Text 5"/>
          <p:cNvSpPr/>
          <p:nvPr/>
        </p:nvSpPr>
        <p:spPr>
          <a:xfrm>
            <a:off x="1737360" y="235000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Actions</a:t>
            </a:r>
            <a:endParaRPr lang="en-US" sz="2200" dirty="0"/>
          </a:p>
        </p:txBody>
      </p:sp>
      <p:sp>
        <p:nvSpPr>
          <p:cNvPr id="8" name="Text 6"/>
          <p:cNvSpPr/>
          <p:nvPr/>
        </p:nvSpPr>
        <p:spPr>
          <a:xfrm>
            <a:off x="1737360" y="283464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“When you reach this moment, also DO this.”</a:t>
            </a:r>
            <a:endParaRPr lang="en-US" sz="1450" dirty="0"/>
          </a:p>
        </p:txBody>
      </p:sp>
      <p:sp>
        <p:nvSpPr>
          <p:cNvPr id="9" name="Shape 7"/>
          <p:cNvSpPr/>
          <p:nvPr/>
        </p:nvSpPr>
        <p:spPr>
          <a:xfrm>
            <a:off x="7772400" y="2606040"/>
            <a:ext cx="3611880" cy="731520"/>
          </a:xfrm>
          <a:prstGeom prst="roundRect">
            <a:avLst>
              <a:gd name="adj" fmla="val 7500"/>
            </a:avLst>
          </a:prstGeom>
          <a:solidFill>
            <a:srgbClr val="0E2836"/>
          </a:solidFill>
          <a:ln/>
        </p:spPr>
      </p:sp>
      <p:sp>
        <p:nvSpPr>
          <p:cNvPr id="10" name="Text 8"/>
          <p:cNvSpPr/>
          <p:nvPr/>
        </p:nvSpPr>
        <p:spPr>
          <a:xfrm>
            <a:off x="7909560" y="260604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add_action( 'init', fn );</a:t>
            </a:r>
            <a:endParaRPr lang="en-US" sz="1050" dirty="0"/>
          </a:p>
        </p:txBody>
      </p:sp>
      <p:sp>
        <p:nvSpPr>
          <p:cNvPr id="11" name="Shape 9"/>
          <p:cNvSpPr/>
          <p:nvPr/>
        </p:nvSpPr>
        <p:spPr>
          <a:xfrm>
            <a:off x="548640" y="402336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868680" y="4526280"/>
            <a:ext cx="640080" cy="640080"/>
          </a:xfrm>
          <a:prstGeom prst="ellipse">
            <a:avLst/>
          </a:prstGeom>
          <a:solidFill>
            <a:srgbClr val="27607A"/>
          </a:solidFill>
          <a:ln/>
        </p:spPr>
      </p:sp>
      <p:sp>
        <p:nvSpPr>
          <p:cNvPr id="13" name="Text 11"/>
          <p:cNvSpPr/>
          <p:nvPr/>
        </p:nvSpPr>
        <p:spPr>
          <a:xfrm>
            <a:off x="868680" y="452628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F</a:t>
            </a:r>
            <a:endParaRPr lang="en-US" sz="1820" dirty="0"/>
          </a:p>
        </p:txBody>
      </p:sp>
      <p:sp>
        <p:nvSpPr>
          <p:cNvPr id="14" name="Text 12"/>
          <p:cNvSpPr/>
          <p:nvPr/>
        </p:nvSpPr>
        <p:spPr>
          <a:xfrm>
            <a:off x="1737360" y="422452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Filters</a:t>
            </a:r>
            <a:endParaRPr lang="en-US" sz="2200" dirty="0"/>
          </a:p>
        </p:txBody>
      </p:sp>
      <p:sp>
        <p:nvSpPr>
          <p:cNvPr id="15" name="Text 13"/>
          <p:cNvSpPr/>
          <p:nvPr/>
        </p:nvSpPr>
        <p:spPr>
          <a:xfrm>
            <a:off x="1737360" y="470916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“Before you use this value, let me CHANGE it first.”</a:t>
            </a:r>
            <a:endParaRPr lang="en-US" sz="1450" dirty="0"/>
          </a:p>
        </p:txBody>
      </p:sp>
      <p:sp>
        <p:nvSpPr>
          <p:cNvPr id="16" name="Shape 14"/>
          <p:cNvSpPr/>
          <p:nvPr/>
        </p:nvSpPr>
        <p:spPr>
          <a:xfrm>
            <a:off x="7772400" y="4480560"/>
            <a:ext cx="3611880" cy="731520"/>
          </a:xfrm>
          <a:prstGeom prst="roundRect">
            <a:avLst>
              <a:gd name="adj" fmla="val 7500"/>
            </a:avLst>
          </a:prstGeom>
          <a:solidFill>
            <a:srgbClr val="0E2836"/>
          </a:solidFill>
          <a:ln/>
        </p:spPr>
      </p:sp>
      <p:sp>
        <p:nvSpPr>
          <p:cNvPr id="17" name="Text 15"/>
          <p:cNvSpPr/>
          <p:nvPr/>
        </p:nvSpPr>
        <p:spPr>
          <a:xfrm>
            <a:off x="7909560" y="448056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add_filter( 'xmlrpc_enabled', '__return_false' );</a:t>
            </a:r>
            <a:endParaRPr lang="en-US" sz="1050" dirty="0"/>
          </a:p>
        </p:txBody>
      </p:sp>
      <p:sp>
        <p:nvSpPr>
          <p:cNvPr id="18" name="Text 16"/>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9" name="Text 17"/>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What wins when settings overlap?</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wp-config.php constants</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first. When core treats one as authoritative, plugin settings cannot override it.</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Must-use plugins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before normal plugins, so their callbacks register first.</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Normal plugins</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in active_plugins order — PMP before BBD on this demo site.</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Hook priority</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Lower runs earlier; higher runs later. Ties keep registration order.</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7C070"/>
                </a:solidFill>
                <a:latin typeface="Courier New" pitchFamily="34" charset="0"/>
                <a:ea typeface="Courier New" pitchFamily="34" charset="-122"/>
                <a:cs typeface="Courier New" pitchFamily="34" charset="-120"/>
              </a:rPr>
              <a:t>effective behaviour = hard constants + every callback, in execution order</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Seven categories of defaults</a:t>
            </a:r>
            <a:endParaRPr lang="en-US" sz="3400" dirty="0"/>
          </a:p>
        </p:txBody>
      </p:sp>
      <p:sp>
        <p:nvSpPr>
          <p:cNvPr id="3" name="Shape 1"/>
          <p:cNvSpPr/>
          <p:nvPr/>
        </p:nvSpPr>
        <p:spPr>
          <a:xfrm>
            <a:off x="548640"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4" name="Shape 2"/>
          <p:cNvSpPr/>
          <p:nvPr/>
        </p:nvSpPr>
        <p:spPr>
          <a:xfrm>
            <a:off x="868680" y="1874520"/>
            <a:ext cx="640080" cy="640080"/>
          </a:xfrm>
          <a:prstGeom prst="ellipse">
            <a:avLst/>
          </a:prstGeom>
          <a:solidFill>
            <a:srgbClr val="E0A94B"/>
          </a:solidFill>
          <a:ln/>
        </p:spPr>
      </p:sp>
      <p:sp>
        <p:nvSpPr>
          <p:cNvPr id="5" name="Text 3"/>
          <p:cNvSpPr/>
          <p:nvPr/>
        </p:nvSpPr>
        <p:spPr>
          <a:xfrm>
            <a:off x="868680"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1</a:t>
            </a:r>
            <a:endParaRPr lang="en-US" sz="1820" dirty="0"/>
          </a:p>
        </p:txBody>
      </p:sp>
      <p:sp>
        <p:nvSpPr>
          <p:cNvPr id="6" name="Text 4"/>
          <p:cNvSpPr/>
          <p:nvPr/>
        </p:nvSpPr>
        <p:spPr>
          <a:xfrm>
            <a:off x="868680"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Security</a:t>
            </a:r>
            <a:endParaRPr lang="en-US" sz="1900" dirty="0"/>
          </a:p>
        </p:txBody>
      </p:sp>
      <p:sp>
        <p:nvSpPr>
          <p:cNvPr id="7" name="Text 5"/>
          <p:cNvSpPr/>
          <p:nvPr/>
        </p:nvSpPr>
        <p:spPr>
          <a:xfrm>
            <a:off x="868680"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Make the attack surface smaller</a:t>
            </a:r>
            <a:endParaRPr lang="en-US" sz="1250" dirty="0"/>
          </a:p>
        </p:txBody>
      </p:sp>
      <p:sp>
        <p:nvSpPr>
          <p:cNvPr id="8" name="Shape 6"/>
          <p:cNvSpPr/>
          <p:nvPr/>
        </p:nvSpPr>
        <p:spPr>
          <a:xfrm>
            <a:off x="3419856"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3739896" y="1874520"/>
            <a:ext cx="640080" cy="640080"/>
          </a:xfrm>
          <a:prstGeom prst="ellipse">
            <a:avLst/>
          </a:prstGeom>
          <a:solidFill>
            <a:srgbClr val="E0A94B"/>
          </a:solidFill>
          <a:ln/>
        </p:spPr>
      </p:sp>
      <p:sp>
        <p:nvSpPr>
          <p:cNvPr id="10" name="Text 8"/>
          <p:cNvSpPr/>
          <p:nvPr/>
        </p:nvSpPr>
        <p:spPr>
          <a:xfrm>
            <a:off x="3739896"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2</a:t>
            </a:r>
            <a:endParaRPr lang="en-US" sz="1820" dirty="0"/>
          </a:p>
        </p:txBody>
      </p:sp>
      <p:sp>
        <p:nvSpPr>
          <p:cNvPr id="11" name="Text 9"/>
          <p:cNvSpPr/>
          <p:nvPr/>
        </p:nvSpPr>
        <p:spPr>
          <a:xfrm>
            <a:off x="3739896"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Updates</a:t>
            </a:r>
            <a:endParaRPr lang="en-US" sz="1900" dirty="0"/>
          </a:p>
        </p:txBody>
      </p:sp>
      <p:sp>
        <p:nvSpPr>
          <p:cNvPr id="12" name="Text 10"/>
          <p:cNvSpPr/>
          <p:nvPr/>
        </p:nvSpPr>
        <p:spPr>
          <a:xfrm>
            <a:off x="3739896"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deliberate core &amp; translation policy</a:t>
            </a:r>
            <a:endParaRPr lang="en-US" sz="1250" dirty="0"/>
          </a:p>
        </p:txBody>
      </p:sp>
      <p:sp>
        <p:nvSpPr>
          <p:cNvPr id="13" name="Shape 11"/>
          <p:cNvSpPr/>
          <p:nvPr/>
        </p:nvSpPr>
        <p:spPr>
          <a:xfrm>
            <a:off x="6291072"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4" name="Shape 12"/>
          <p:cNvSpPr/>
          <p:nvPr/>
        </p:nvSpPr>
        <p:spPr>
          <a:xfrm>
            <a:off x="6611112" y="1874520"/>
            <a:ext cx="640080" cy="640080"/>
          </a:xfrm>
          <a:prstGeom prst="ellipse">
            <a:avLst/>
          </a:prstGeom>
          <a:solidFill>
            <a:srgbClr val="E0A94B"/>
          </a:solidFill>
          <a:ln/>
        </p:spPr>
      </p:sp>
      <p:sp>
        <p:nvSpPr>
          <p:cNvPr id="15" name="Text 13"/>
          <p:cNvSpPr/>
          <p:nvPr/>
        </p:nvSpPr>
        <p:spPr>
          <a:xfrm>
            <a:off x="6611112"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3</a:t>
            </a:r>
            <a:endParaRPr lang="en-US" sz="1820" dirty="0"/>
          </a:p>
        </p:txBody>
      </p:sp>
      <p:sp>
        <p:nvSpPr>
          <p:cNvPr id="16" name="Text 14"/>
          <p:cNvSpPr/>
          <p:nvPr/>
        </p:nvSpPr>
        <p:spPr>
          <a:xfrm>
            <a:off x="6611112"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Content</a:t>
            </a:r>
            <a:endParaRPr lang="en-US" sz="1900" dirty="0"/>
          </a:p>
        </p:txBody>
      </p:sp>
      <p:sp>
        <p:nvSpPr>
          <p:cNvPr id="17" name="Text 15"/>
          <p:cNvSpPr/>
          <p:nvPr/>
        </p:nvSpPr>
        <p:spPr>
          <a:xfrm>
            <a:off x="6611112"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Close spam channels &amp; info leaks</a:t>
            </a:r>
            <a:endParaRPr lang="en-US" sz="1250" dirty="0"/>
          </a:p>
        </p:txBody>
      </p:sp>
      <p:sp>
        <p:nvSpPr>
          <p:cNvPr id="18" name="Shape 16"/>
          <p:cNvSpPr/>
          <p:nvPr/>
        </p:nvSpPr>
        <p:spPr>
          <a:xfrm>
            <a:off x="9162288"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9" name="Shape 17"/>
          <p:cNvSpPr/>
          <p:nvPr/>
        </p:nvSpPr>
        <p:spPr>
          <a:xfrm>
            <a:off x="9482328" y="1874520"/>
            <a:ext cx="640080" cy="640080"/>
          </a:xfrm>
          <a:prstGeom prst="ellipse">
            <a:avLst/>
          </a:prstGeom>
          <a:solidFill>
            <a:srgbClr val="E0A94B"/>
          </a:solidFill>
          <a:ln/>
        </p:spPr>
      </p:sp>
      <p:sp>
        <p:nvSpPr>
          <p:cNvPr id="20" name="Text 18"/>
          <p:cNvSpPr/>
          <p:nvPr/>
        </p:nvSpPr>
        <p:spPr>
          <a:xfrm>
            <a:off x="9482328"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4</a:t>
            </a:r>
            <a:endParaRPr lang="en-US" sz="1820" dirty="0"/>
          </a:p>
        </p:txBody>
      </p:sp>
      <p:sp>
        <p:nvSpPr>
          <p:cNvPr id="21" name="Text 19"/>
          <p:cNvSpPr/>
          <p:nvPr/>
        </p:nvSpPr>
        <p:spPr>
          <a:xfrm>
            <a:off x="9482328"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Admin UX</a:t>
            </a:r>
            <a:endParaRPr lang="en-US" sz="1900" dirty="0"/>
          </a:p>
        </p:txBody>
      </p:sp>
      <p:sp>
        <p:nvSpPr>
          <p:cNvPr id="22" name="Text 20"/>
          <p:cNvSpPr/>
          <p:nvPr/>
        </p:nvSpPr>
        <p:spPr>
          <a:xfrm>
            <a:off x="9482328"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calmer, faster, prettier dashboard</a:t>
            </a:r>
            <a:endParaRPr lang="en-US" sz="1250" dirty="0"/>
          </a:p>
        </p:txBody>
      </p:sp>
      <p:sp>
        <p:nvSpPr>
          <p:cNvPr id="23" name="Shape 21"/>
          <p:cNvSpPr/>
          <p:nvPr/>
        </p:nvSpPr>
        <p:spPr>
          <a:xfrm>
            <a:off x="548640"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4" name="Shape 22"/>
          <p:cNvSpPr/>
          <p:nvPr/>
        </p:nvSpPr>
        <p:spPr>
          <a:xfrm>
            <a:off x="868680" y="4297680"/>
            <a:ext cx="640080" cy="640080"/>
          </a:xfrm>
          <a:prstGeom prst="ellipse">
            <a:avLst/>
          </a:prstGeom>
          <a:solidFill>
            <a:srgbClr val="E0A94B"/>
          </a:solidFill>
          <a:ln/>
        </p:spPr>
      </p:sp>
      <p:sp>
        <p:nvSpPr>
          <p:cNvPr id="25" name="Text 23"/>
          <p:cNvSpPr/>
          <p:nvPr/>
        </p:nvSpPr>
        <p:spPr>
          <a:xfrm>
            <a:off x="868680"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5</a:t>
            </a:r>
            <a:endParaRPr lang="en-US" sz="1820" dirty="0"/>
          </a:p>
        </p:txBody>
      </p:sp>
      <p:sp>
        <p:nvSpPr>
          <p:cNvPr id="26" name="Text 24"/>
          <p:cNvSpPr/>
          <p:nvPr/>
        </p:nvSpPr>
        <p:spPr>
          <a:xfrm>
            <a:off x="868680"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Login</a:t>
            </a:r>
            <a:endParaRPr lang="en-US" sz="1900" dirty="0"/>
          </a:p>
        </p:txBody>
      </p:sp>
      <p:sp>
        <p:nvSpPr>
          <p:cNvPr id="27" name="Text 25"/>
          <p:cNvSpPr/>
          <p:nvPr/>
        </p:nvSpPr>
        <p:spPr>
          <a:xfrm>
            <a:off x="868680"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Sessions &amp; credentials</a:t>
            </a:r>
            <a:endParaRPr lang="en-US" sz="1250" dirty="0"/>
          </a:p>
        </p:txBody>
      </p:sp>
      <p:sp>
        <p:nvSpPr>
          <p:cNvPr id="28" name="Shape 26"/>
          <p:cNvSpPr/>
          <p:nvPr/>
        </p:nvSpPr>
        <p:spPr>
          <a:xfrm>
            <a:off x="3419856"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9" name="Shape 27"/>
          <p:cNvSpPr/>
          <p:nvPr/>
        </p:nvSpPr>
        <p:spPr>
          <a:xfrm>
            <a:off x="3739896" y="4297680"/>
            <a:ext cx="640080" cy="640080"/>
          </a:xfrm>
          <a:prstGeom prst="ellipse">
            <a:avLst/>
          </a:prstGeom>
          <a:solidFill>
            <a:srgbClr val="E0A94B"/>
          </a:solidFill>
          <a:ln/>
        </p:spPr>
      </p:sp>
      <p:sp>
        <p:nvSpPr>
          <p:cNvPr id="30" name="Text 28"/>
          <p:cNvSpPr/>
          <p:nvPr/>
        </p:nvSpPr>
        <p:spPr>
          <a:xfrm>
            <a:off x="3739896"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6</a:t>
            </a:r>
            <a:endParaRPr lang="en-US" sz="1820" dirty="0"/>
          </a:p>
        </p:txBody>
      </p:sp>
      <p:sp>
        <p:nvSpPr>
          <p:cNvPr id="31" name="Text 29"/>
          <p:cNvSpPr/>
          <p:nvPr/>
        </p:nvSpPr>
        <p:spPr>
          <a:xfrm>
            <a:off x="3739896"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Branding</a:t>
            </a:r>
            <a:endParaRPr lang="en-US" sz="1900" dirty="0"/>
          </a:p>
        </p:txBody>
      </p:sp>
      <p:sp>
        <p:nvSpPr>
          <p:cNvPr id="32" name="Text 30"/>
          <p:cNvSpPr/>
          <p:nvPr/>
        </p:nvSpPr>
        <p:spPr>
          <a:xfrm>
            <a:off x="3739896"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Own your login screen</a:t>
            </a:r>
            <a:endParaRPr lang="en-US" sz="1250" dirty="0"/>
          </a:p>
        </p:txBody>
      </p:sp>
      <p:sp>
        <p:nvSpPr>
          <p:cNvPr id="33" name="Shape 31"/>
          <p:cNvSpPr/>
          <p:nvPr/>
        </p:nvSpPr>
        <p:spPr>
          <a:xfrm>
            <a:off x="6291072"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34" name="Shape 32"/>
          <p:cNvSpPr/>
          <p:nvPr/>
        </p:nvSpPr>
        <p:spPr>
          <a:xfrm>
            <a:off x="6611112" y="4297680"/>
            <a:ext cx="640080" cy="640080"/>
          </a:xfrm>
          <a:prstGeom prst="ellipse">
            <a:avLst/>
          </a:prstGeom>
          <a:solidFill>
            <a:srgbClr val="E0A94B"/>
          </a:solidFill>
          <a:ln/>
        </p:spPr>
      </p:sp>
      <p:sp>
        <p:nvSpPr>
          <p:cNvPr id="35" name="Text 33"/>
          <p:cNvSpPr/>
          <p:nvPr/>
        </p:nvSpPr>
        <p:spPr>
          <a:xfrm>
            <a:off x="6611112"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7</a:t>
            </a:r>
            <a:endParaRPr lang="en-US" sz="1820" dirty="0"/>
          </a:p>
        </p:txBody>
      </p:sp>
      <p:sp>
        <p:nvSpPr>
          <p:cNvPr id="36" name="Text 34"/>
          <p:cNvSpPr/>
          <p:nvPr/>
        </p:nvSpPr>
        <p:spPr>
          <a:xfrm>
            <a:off x="6611112"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Performance</a:t>
            </a:r>
            <a:endParaRPr lang="en-US" sz="1900" dirty="0"/>
          </a:p>
        </p:txBody>
      </p:sp>
      <p:sp>
        <p:nvSpPr>
          <p:cNvPr id="37" name="Text 35"/>
          <p:cNvSpPr/>
          <p:nvPr/>
        </p:nvSpPr>
        <p:spPr>
          <a:xfrm>
            <a:off x="6611112"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Trim the fat</a:t>
            </a:r>
            <a:endParaRPr lang="en-US" sz="1250" dirty="0"/>
          </a:p>
        </p:txBody>
      </p:sp>
      <p:sp>
        <p:nvSpPr>
          <p:cNvPr id="38" name="Text 36"/>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39" name="Text 37"/>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1</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ONE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Security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Attack Surface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Every item here removes something an attacker can poke — usually in one line.</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1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Restrict REST API user discovery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/wp/v2/users endpoint hands out every author's login name to anyone — half of a brute-force guess, for free. Closing it for logged-out requests only keeps the editor and legit integrations working.</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restrict_rest_user_discovery</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'rest_endpoints', function ( $ep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unset( $ep['/wp/v2/users']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unset(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$ep['/wp/v2/users/(?P&lt;id&gt;[\d]+)']</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$ep;</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2 of 7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REST to logged-in users (opt-in)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sledgehammer version of the slide before: requiring auth for ALL REST calls stops anonymous scraping cold. It breaks anonymous REST — front-end blocks, embeds, search, outside integrations —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disable_rest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'rest_authentication_errors',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$result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empty( $result ) )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return new WP_Error(</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'rest_not_logged_in', 'Auth required.',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array( 'status' =&gt; 401 )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3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XML-RPC down by category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XML-RPC is legitimate but aging — an extra surface, not a backdoor. We unplug unused method families while preserving the endpoint for integrations that need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xmlrpc allow keys + block_xmlrpc_endpoint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(all four)</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each category off → remove its methods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'xmlrpc_methods', function ( $m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'pingbacks' )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unset( $m['pingback.ping']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'remote_publishing' )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drop wp.* metaWeblog.* mt.* blogger.*</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$m;</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multicall can't be filtered off (IXR re-adds it)</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swap in a server that refuses it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add_filter( 'wp_xmlrpc_server_class', $refuse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4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Keep Application Passwords available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This is an existing default we don't lock down. An Application Password is like a spare key cut for one app: hashed, per-application, revocable on its own — the safer REST credential, and the only one core accepts for REST Basic Auth.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disable_application_passwords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(available)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available by default —</a:t>
            </a:r>
            <a:endParaRPr lang="en-US" sz="1250" dirty="0"/>
          </a:p>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prohibit only if opted in</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if ( wpyeg_defaults_enabled(</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'disable_application_passwords' ) )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add_filter(</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'wp_is_application_passwords_available',</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'__return_false'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a:t>
            </a:r>
            <a:endParaRPr lang="en-US" sz="12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5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Screen breaches without sending the password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NIST SP 800-63B-4 § 3.1.1.2: use 15+ characters, a blocklist, and no composition rules. BBD hashes the candidate locally, sends HIBP only the first 5 SHA-1 characters, and matches the remaining 35 locally. The password and full hash never leave WordPress; unavailable or invalid HIBP data fails open.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require_strong_passwords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$hash   = strtoupper( sha1( $pw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$prefix = substr( $hash, 0, 5 );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$suffix = substr( $hash, 5 );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HIBP receives $prefix and returns</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matching suffixes plus breach counts.</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BBD compares $suffix locally.</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response_contains( $suffix )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reject( 'Seen in a breach.'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invalid or 128 KiB =&gt; fail open</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6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Remove fingerprints, add headers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Two headers with no real downside ship on; framing is its own setting, because it is the only one that can break a working site. Hiding the version is obscurity, not hardening,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security_headers / frame_options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SAMEORIGIN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remove_action( 'wp_head', 'wp_generator'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'wp_headers', function ( $h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compare, do not yield - see the notes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$key = find_key( $h, 'X-Frame-Options'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stronger( $want, $h[ $key ]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 $key ] = $want;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one effective value, so correct it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 ctk( $h ) ] = 'nosniff';</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$h;</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7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The filter that calls itself</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Editors hold unfiltered_html on a single-site install — enough to save a raw &lt;script&gt; into a post. Taking it back is easy. Doing it without blowing the stack is the lesson.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limit_unfiltered_html_to_admins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add_filter( 'user_has_cap', function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$allcaps, $caps, $args, $user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if ( empty( $allcaps['unfiltered_html'] )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$roles = isset( $user-&gt;roles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 (array) $user-&gt;roles : array();</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8FBF9F"/>
                </a:solidFill>
                <a:latin typeface="Courier New" pitchFamily="34" charset="0"/>
                <a:ea typeface="Courier New" pitchFamily="34" charset="-122"/>
                <a:cs typeface="Courier New" pitchFamily="34" charset="-120"/>
              </a:rPr>
              <a:t>  // Read what you were handed. Never ask.</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if ( in_array( 'administrator', $roles, true )</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 ! empty( $allcaps['manage_options'] )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$allcaps['unfiltered_html'] = false;</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PHP_INT_MAX - 1, 4 );</a:t>
            </a:r>
            <a:endParaRPr lang="en-US" sz="10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2</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TWO</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Content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Public Surfaces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Close the spam funnels and the thin pages Google (and bots) love to crawl.</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1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comments, trackbacks &amp; pingbacks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For many sites, comments are a spam magnet with little upside. Here we close them everywhere, hide existing threads, and drop the admin menu.</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disable_comments / disable_pingbacks / disable_self_pingbacks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each</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'comments_open', '__return_false',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'pings_open',    '__return_false',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'comments_array',</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'__return_empty_array',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'get_comments_number', '__return_zero',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'comments_pre_query',</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$empty_comment_queries, 10, 2 );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'render_block',</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$suppress_comment_blocks, 10, 2 );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remove_post_type_support() on init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remove_menu_page('edit-comments.php')</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drop the admin-bar comments node</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2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A clean 404 needs redirect_canonical gone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Dropping the feed link stops the feed being advertised, not served. Answering it takes a 404 — and the 404 takes one more removal that no filter-level test will ever catch.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disable_comments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$block_comment_feeds, 9 );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function block_comment_feeds()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 is_comment_feed() ) { return;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$wp_query-&gt;set_404();</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'template_redirect',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'redirect_canonical'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status_header( 404 );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nocache_headers();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3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Redirect author &amp; attachment pages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Author archives expose the authors' usernames in the URL, and attachment pages are near-empty media wrappers. Both dilute SEO and are targets for trouble. Same hook, two conditions.</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disable_author_archives / redirect_attachment_pages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is_author()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wp_safe_redirect( home_url('/'), 301 );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exit;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is_attachment()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parent post, else the FILE - never home</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4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the emoji script</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WordPress core injects an emoji-detection script and inline CSS on every page load, plus a DNS-prefetch hint. Modern browsers render emoji natively, so this is pure dead weight.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disable_emojis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'init',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'wp_head',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'print_emoji_detection_script', 7 );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'wp_print_styles',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'print_emoji_styles'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...admin + feed + mail variants too</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'emoji_svg_url',</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'__return_false'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3</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THREE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Admin UX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Login Sessions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Small quality-of-life defaults: a calmer dashboard and sensible session policy.</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ADMIN UX</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Faster search, quieter admin bar</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Search the admin post list on a big site and WordPress reads every word of every post — like finding a book by reading the whole library. Title-only search checks just the spines, and it's far faster.</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title_only_admin_search / frontend_admin_bar_behavior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title-only admin search — narrow the 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'post_search_columns',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function ( $cols, $s, $q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is_admin() &amp;&amp; $q-&gt;is_main_query()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return array( 'post_title'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$cols;   // front-end untouched</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 10, 3 );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hide bar for non-admins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'show_admin_bar', fn( $s ) =&gt;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current_user_can('manage_options') ? $s : false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LOGIN &amp; SESSIONS</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Right-size the login session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 normal login lasts 2 days; “Remember Me” extends it to 14. Both are in days, and the remembered one can never be shorter than the regular one. Shorten either, or hide the checkbox entirely. One filter covers all of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disable_remember_me / session_regular_days / remember_me_days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2 / 14</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'auth_cookie_expiration',</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$exp, $uid, $remember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$regular = 2 * DAY_IN_SECONDS;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$remember</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 14 * DAY_IN_SECONDS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 $regular;</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 10, 3 );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DAY_IN_SECONDS: core time constant</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4</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FOUR</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Branding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Performance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Own the login screen, then shave the last bit of weight off every page.</a:t>
            </a:r>
            <a:endParaRPr lang="en-US" sz="1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BRANDING</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Own the login screen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default WordPress logo sends users to wordpress.org. Removing, unlinking, or replacing it keeps the login screen organizationally consistent and prevents an unexpected external destination. BBD leaves it unchanged unless you opt in.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login_logo_behavior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keep_default (keep / remove / unlink / replace)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remove, unlink, or replace — a choice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add_action( 'login_head', $logo_css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 </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any change points the link home</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(no separate toggle)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add_filter( 'login_headerurl', 'home_url'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add_filter( 'login_headertext', fn() =&gt;</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            get_bloginfo( 'name' ) );</a:t>
            </a:r>
            <a:endParaRPr lang="en-US" sz="12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PERFORMANCE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Throttle Heartbeat — and a default we deleted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Throttle Heartbeat to ease up on weak shared hosting. The more interesting half is the toggle that used to be here: WordPress 6.3 gave scripts a per-script loading strategy, so our blanket defer filter had to go.</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throttle_heartbeat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(opt-in)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'heartbeat_settings', fn( $s ) =&gt;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$s['interval'] = 60; return $s;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Deferring is NOT a setting here. Since WP 6.3:</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wp_enqueue_script( 'front', $src, array(), '1.0',</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array( 'strategy' =&gt; 'defer' )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Three things a plugin can't toggle</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Some defaults live in wp-config.php, above the plugin layer, because they must load before plugins do. Document them as manual steps in your onboarding checklist.</a:t>
            </a:r>
            <a:endParaRPr lang="en-US" sz="1600" dirty="0"/>
          </a:p>
        </p:txBody>
      </p:sp>
      <p:sp>
        <p:nvSpPr>
          <p:cNvPr id="4" name="Shape 2"/>
          <p:cNvSpPr/>
          <p:nvPr/>
        </p:nvSpPr>
        <p:spPr>
          <a:xfrm>
            <a:off x="548640" y="2148840"/>
            <a:ext cx="11064240" cy="1920240"/>
          </a:xfrm>
          <a:prstGeom prst="roundRect">
            <a:avLst>
              <a:gd name="adj" fmla="val 381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5" name="Text 3"/>
          <p:cNvSpPr/>
          <p:nvPr/>
        </p:nvSpPr>
        <p:spPr>
          <a:xfrm>
            <a:off x="749808" y="2313432"/>
            <a:ext cx="10661904" cy="1591056"/>
          </a:xfrm>
          <a:prstGeom prst="rect">
            <a:avLst/>
          </a:prstGeom>
          <a:noFill/>
          <a:ln/>
        </p:spPr>
        <p:txBody>
          <a:bodyPr wrap="square" lIns="0" tIns="0" rIns="0" bIns="0" rtlCol="0" anchor="t"/>
          <a:lstStyle/>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'DISALLOW_FILE_EDIT', true );  // no in-dashboard code editor</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'AUTOSAVE_INTERVAL', 120 );    // gentler autosave (seconds)</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'WP_POST_REVISIONS', 10 );     // cap revision-table bloat</a:t>
            </a:r>
            <a:endParaRPr lang="en-US" sz="1400" dirty="0"/>
          </a:p>
        </p:txBody>
      </p:sp>
      <p:sp>
        <p:nvSpPr>
          <p:cNvPr id="6" name="Shape 4"/>
          <p:cNvSpPr/>
          <p:nvPr/>
        </p:nvSpPr>
        <p:spPr>
          <a:xfrm>
            <a:off x="548640"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7" name="Shape 5"/>
          <p:cNvSpPr/>
          <p:nvPr/>
        </p:nvSpPr>
        <p:spPr>
          <a:xfrm>
            <a:off x="804672" y="4590288"/>
            <a:ext cx="457200" cy="457200"/>
          </a:xfrm>
          <a:prstGeom prst="ellipse">
            <a:avLst/>
          </a:prstGeom>
          <a:solidFill>
            <a:srgbClr val="27607A"/>
          </a:solidFill>
          <a:ln/>
        </p:spPr>
      </p:sp>
      <p:sp>
        <p:nvSpPr>
          <p:cNvPr id="8" name="Text 6"/>
          <p:cNvSpPr/>
          <p:nvPr/>
        </p:nvSpPr>
        <p:spPr>
          <a:xfrm>
            <a:off x="804672"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9" name="Text 7"/>
          <p:cNvSpPr/>
          <p:nvPr/>
        </p:nvSpPr>
        <p:spPr>
          <a:xfrm>
            <a:off x="1417320"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Kills the theme/plugin editor</a:t>
            </a:r>
            <a:endParaRPr lang="en-US" sz="1500" dirty="0"/>
          </a:p>
        </p:txBody>
      </p:sp>
      <p:sp>
        <p:nvSpPr>
          <p:cNvPr id="10" name="Text 8"/>
          <p:cNvSpPr/>
          <p:nvPr/>
        </p:nvSpPr>
        <p:spPr>
          <a:xfrm>
            <a:off x="804672"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stolen admin login can't rewrite your PHP.</a:t>
            </a:r>
            <a:endParaRPr lang="en-US" sz="1250" dirty="0"/>
          </a:p>
        </p:txBody>
      </p:sp>
      <p:sp>
        <p:nvSpPr>
          <p:cNvPr id="11" name="Shape 9"/>
          <p:cNvSpPr/>
          <p:nvPr/>
        </p:nvSpPr>
        <p:spPr>
          <a:xfrm>
            <a:off x="4270248"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4526280" y="4590288"/>
            <a:ext cx="457200" cy="457200"/>
          </a:xfrm>
          <a:prstGeom prst="ellipse">
            <a:avLst/>
          </a:prstGeom>
          <a:solidFill>
            <a:srgbClr val="27607A"/>
          </a:solidFill>
          <a:ln/>
        </p:spPr>
      </p:sp>
      <p:sp>
        <p:nvSpPr>
          <p:cNvPr id="13" name="Text 11"/>
          <p:cNvSpPr/>
          <p:nvPr/>
        </p:nvSpPr>
        <p:spPr>
          <a:xfrm>
            <a:off x="4526280"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4" name="Text 12"/>
          <p:cNvSpPr/>
          <p:nvPr/>
        </p:nvSpPr>
        <p:spPr>
          <a:xfrm>
            <a:off x="5138928"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Writes to the DB less often</a:t>
            </a:r>
            <a:endParaRPr lang="en-US" sz="1500" dirty="0"/>
          </a:p>
        </p:txBody>
      </p:sp>
      <p:sp>
        <p:nvSpPr>
          <p:cNvPr id="15" name="Text 13"/>
          <p:cNvSpPr/>
          <p:nvPr/>
        </p:nvSpPr>
        <p:spPr>
          <a:xfrm>
            <a:off x="4526280"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Fewer autosave revisions during long edits.</a:t>
            </a:r>
            <a:endParaRPr lang="en-US" sz="1250" dirty="0"/>
          </a:p>
        </p:txBody>
      </p:sp>
      <p:sp>
        <p:nvSpPr>
          <p:cNvPr id="16" name="Shape 14"/>
          <p:cNvSpPr/>
          <p:nvPr/>
        </p:nvSpPr>
        <p:spPr>
          <a:xfrm>
            <a:off x="7991856"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7" name="Shape 15"/>
          <p:cNvSpPr/>
          <p:nvPr/>
        </p:nvSpPr>
        <p:spPr>
          <a:xfrm>
            <a:off x="8247888" y="4590288"/>
            <a:ext cx="457200" cy="457200"/>
          </a:xfrm>
          <a:prstGeom prst="ellipse">
            <a:avLst/>
          </a:prstGeom>
          <a:solidFill>
            <a:srgbClr val="27607A"/>
          </a:solidFill>
          <a:ln/>
        </p:spPr>
      </p:sp>
      <p:sp>
        <p:nvSpPr>
          <p:cNvPr id="18" name="Text 16"/>
          <p:cNvSpPr/>
          <p:nvPr/>
        </p:nvSpPr>
        <p:spPr>
          <a:xfrm>
            <a:off x="8247888"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9" name="Text 17"/>
          <p:cNvSpPr/>
          <p:nvPr/>
        </p:nvSpPr>
        <p:spPr>
          <a:xfrm>
            <a:off x="8860536"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Keeps revisions in check</a:t>
            </a:r>
            <a:endParaRPr lang="en-US" sz="1500" dirty="0"/>
          </a:p>
        </p:txBody>
      </p:sp>
      <p:sp>
        <p:nvSpPr>
          <p:cNvPr id="20" name="Text 18"/>
          <p:cNvSpPr/>
          <p:nvPr/>
        </p:nvSpPr>
        <p:spPr>
          <a:xfrm>
            <a:off x="8247888"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Ten per post instead of unbounded growth.</a:t>
            </a:r>
            <a:endParaRPr lang="en-US" sz="1250" dirty="0"/>
          </a:p>
        </p:txBody>
      </p:sp>
      <p:sp>
        <p:nvSpPr>
          <p:cNvPr id="21" name="Text 19"/>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2" name="Text 20"/>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F2733"/>
        </a:solidFill>
      </p:bgPr>
    </p:bg>
    <p:spTree>
      <p:nvGrpSpPr>
        <p:cNvPr id="1" name=""/>
        <p:cNvGrpSpPr/>
        <p:nvPr/>
      </p:nvGrpSpPr>
      <p:grpSpPr>
        <a:xfrm>
          <a:off x="0" y="0"/>
          <a:ext cx="0" cy="0"/>
          <a:chOff x="0" y="0"/>
          <a:chExt cx="0" cy="0"/>
        </a:xfrm>
      </p:grpSpPr>
      <p:sp>
        <p:nvSpPr>
          <p:cNvPr id="2" name="Text 0"/>
          <p:cNvSpPr/>
          <p:nvPr/>
        </p:nvSpPr>
        <p:spPr>
          <a:xfrm>
            <a:off x="640080" y="548640"/>
            <a:ext cx="100584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How the plugin is built</a:t>
            </a:r>
            <a:endParaRPr lang="en-US" sz="3200" dirty="0"/>
          </a:p>
        </p:txBody>
      </p:sp>
      <p:sp>
        <p:nvSpPr>
          <p:cNvPr id="3" name="Text 1"/>
          <p:cNvSpPr/>
          <p:nvPr/>
        </p:nvSpPr>
        <p:spPr>
          <a:xfrm>
            <a:off x="640080" y="1325880"/>
            <a:ext cx="10515600" cy="548640"/>
          </a:xfrm>
          <a:prstGeom prst="rect">
            <a:avLst/>
          </a:prstGeom>
          <a:noFill/>
          <a:ln/>
        </p:spPr>
        <p:txBody>
          <a:bodyPr wrap="square" lIns="0" tIns="0" rIns="0" bIns="0" rtlCol="0" anchor="ctr"/>
          <a:lstStyle/>
          <a:p>
            <a:pPr indent="0" marL="0">
              <a:buNone/>
            </a:pPr>
            <a:r>
              <a:rPr lang="en-US" sz="1600" i="1" dirty="0">
                <a:solidFill>
                  <a:srgbClr val="D7E5EC"/>
                </a:solidFill>
                <a:latin typeface="Calibri" pitchFamily="34" charset="0"/>
                <a:ea typeface="Calibri" pitchFamily="34" charset="-122"/>
                <a:cs typeface="Calibri" pitchFamily="34" charset="-120"/>
              </a:rPr>
              <a:t>One array is the whole map. Read it and you understand the plugin.</a:t>
            </a:r>
            <a:endParaRPr lang="en-US" sz="1600" dirty="0"/>
          </a:p>
        </p:txBody>
      </p:sp>
      <p:sp>
        <p:nvSpPr>
          <p:cNvPr id="4" name="Shape 2"/>
          <p:cNvSpPr/>
          <p:nvPr/>
        </p:nvSpPr>
        <p:spPr>
          <a:xfrm>
            <a:off x="640080" y="2148840"/>
            <a:ext cx="3429000" cy="2331720"/>
          </a:xfrm>
          <a:prstGeom prst="roundRect">
            <a:avLst>
              <a:gd name="adj" fmla="val 3922"/>
            </a:avLst>
          </a:prstGeom>
          <a:solidFill>
            <a:srgbClr val="16323F"/>
          </a:solidFill>
          <a:ln w="12700">
            <a:solidFill>
              <a:srgbClr val="27607A"/>
            </a:solidFill>
            <a:prstDash val="solid"/>
          </a:ln>
        </p:spPr>
      </p:sp>
      <p:sp>
        <p:nvSpPr>
          <p:cNvPr id="5" name="Shape 3"/>
          <p:cNvSpPr/>
          <p:nvPr/>
        </p:nvSpPr>
        <p:spPr>
          <a:xfrm>
            <a:off x="914400" y="2395728"/>
            <a:ext cx="566928" cy="566928"/>
          </a:xfrm>
          <a:prstGeom prst="ellipse">
            <a:avLst/>
          </a:prstGeom>
          <a:solidFill>
            <a:srgbClr val="E0A94B"/>
          </a:solidFill>
          <a:ln/>
        </p:spPr>
      </p:sp>
      <p:sp>
        <p:nvSpPr>
          <p:cNvPr id="6" name="Text 4"/>
          <p:cNvSpPr/>
          <p:nvPr/>
        </p:nvSpPr>
        <p:spPr>
          <a:xfrm>
            <a:off x="91440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1</a:t>
            </a:r>
            <a:endParaRPr lang="en-US" sz="1612" dirty="0"/>
          </a:p>
        </p:txBody>
      </p:sp>
      <p:sp>
        <p:nvSpPr>
          <p:cNvPr id="7" name="Text 5"/>
          <p:cNvSpPr/>
          <p:nvPr/>
        </p:nvSpPr>
        <p:spPr>
          <a:xfrm>
            <a:off x="164592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schema()</a:t>
            </a:r>
            <a:endParaRPr lang="en-US" sz="1600" dirty="0"/>
          </a:p>
        </p:txBody>
      </p:sp>
      <p:sp>
        <p:nvSpPr>
          <p:cNvPr id="8" name="Text 6"/>
          <p:cNvSpPr/>
          <p:nvPr/>
        </p:nvSpPr>
        <p:spPr>
          <a:xfrm>
            <a:off x="93268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One array: every setting, its default, type &amp; group. The single source of truth.</a:t>
            </a:r>
            <a:endParaRPr lang="en-US" sz="1400" dirty="0"/>
          </a:p>
        </p:txBody>
      </p:sp>
      <p:sp>
        <p:nvSpPr>
          <p:cNvPr id="9" name="Text 7"/>
          <p:cNvSpPr/>
          <p:nvPr/>
        </p:nvSpPr>
        <p:spPr>
          <a:xfrm>
            <a:off x="404164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4389120" y="2148840"/>
            <a:ext cx="3429000" cy="2331720"/>
          </a:xfrm>
          <a:prstGeom prst="roundRect">
            <a:avLst>
              <a:gd name="adj" fmla="val 3922"/>
            </a:avLst>
          </a:prstGeom>
          <a:solidFill>
            <a:srgbClr val="16323F"/>
          </a:solidFill>
          <a:ln w="12700">
            <a:solidFill>
              <a:srgbClr val="27607A"/>
            </a:solidFill>
            <a:prstDash val="solid"/>
          </a:ln>
        </p:spPr>
      </p:sp>
      <p:sp>
        <p:nvSpPr>
          <p:cNvPr id="11" name="Shape 9"/>
          <p:cNvSpPr/>
          <p:nvPr/>
        </p:nvSpPr>
        <p:spPr>
          <a:xfrm>
            <a:off x="4663440" y="2395728"/>
            <a:ext cx="566928" cy="566928"/>
          </a:xfrm>
          <a:prstGeom prst="ellipse">
            <a:avLst/>
          </a:prstGeom>
          <a:solidFill>
            <a:srgbClr val="E0A94B"/>
          </a:solidFill>
          <a:ln/>
        </p:spPr>
      </p:sp>
      <p:sp>
        <p:nvSpPr>
          <p:cNvPr id="12" name="Text 10"/>
          <p:cNvSpPr/>
          <p:nvPr/>
        </p:nvSpPr>
        <p:spPr>
          <a:xfrm>
            <a:off x="466344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2</a:t>
            </a:r>
            <a:endParaRPr lang="en-US" sz="1612" dirty="0"/>
          </a:p>
        </p:txBody>
      </p:sp>
      <p:sp>
        <p:nvSpPr>
          <p:cNvPr id="13" name="Text 11"/>
          <p:cNvSpPr/>
          <p:nvPr/>
        </p:nvSpPr>
        <p:spPr>
          <a:xfrm>
            <a:off x="539496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settings page</a:t>
            </a:r>
            <a:endParaRPr lang="en-US" sz="1600" dirty="0"/>
          </a:p>
        </p:txBody>
      </p:sp>
      <p:sp>
        <p:nvSpPr>
          <p:cNvPr id="14" name="Text 12"/>
          <p:cNvSpPr/>
          <p:nvPr/>
        </p:nvSpPr>
        <p:spPr>
          <a:xfrm>
            <a:off x="468172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Loops the schema to render toggles under Settings → Better by Default.</a:t>
            </a:r>
            <a:endParaRPr lang="en-US" sz="1400" dirty="0"/>
          </a:p>
        </p:txBody>
      </p:sp>
      <p:sp>
        <p:nvSpPr>
          <p:cNvPr id="15" name="Text 13"/>
          <p:cNvSpPr/>
          <p:nvPr/>
        </p:nvSpPr>
        <p:spPr>
          <a:xfrm>
            <a:off x="779068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6" name="Shape 14"/>
          <p:cNvSpPr/>
          <p:nvPr/>
        </p:nvSpPr>
        <p:spPr>
          <a:xfrm>
            <a:off x="8138160" y="2148840"/>
            <a:ext cx="3429000" cy="2331720"/>
          </a:xfrm>
          <a:prstGeom prst="roundRect">
            <a:avLst>
              <a:gd name="adj" fmla="val 3922"/>
            </a:avLst>
          </a:prstGeom>
          <a:solidFill>
            <a:srgbClr val="16323F"/>
          </a:solidFill>
          <a:ln w="12700">
            <a:solidFill>
              <a:srgbClr val="27607A"/>
            </a:solidFill>
            <a:prstDash val="solid"/>
          </a:ln>
        </p:spPr>
      </p:sp>
      <p:sp>
        <p:nvSpPr>
          <p:cNvPr id="17" name="Shape 15"/>
          <p:cNvSpPr/>
          <p:nvPr/>
        </p:nvSpPr>
        <p:spPr>
          <a:xfrm>
            <a:off x="8412480" y="2395728"/>
            <a:ext cx="566928" cy="566928"/>
          </a:xfrm>
          <a:prstGeom prst="ellipse">
            <a:avLst/>
          </a:prstGeom>
          <a:solidFill>
            <a:srgbClr val="E0A94B"/>
          </a:solidFill>
          <a:ln/>
        </p:spPr>
      </p:sp>
      <p:sp>
        <p:nvSpPr>
          <p:cNvPr id="18" name="Text 16"/>
          <p:cNvSpPr/>
          <p:nvPr/>
        </p:nvSpPr>
        <p:spPr>
          <a:xfrm>
            <a:off x="841248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3</a:t>
            </a:r>
            <a:endParaRPr lang="en-US" sz="1612" dirty="0"/>
          </a:p>
        </p:txBody>
      </p:sp>
      <p:sp>
        <p:nvSpPr>
          <p:cNvPr id="19" name="Text 17"/>
          <p:cNvSpPr/>
          <p:nvPr/>
        </p:nvSpPr>
        <p:spPr>
          <a:xfrm>
            <a:off x="914400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bootstrap()</a:t>
            </a:r>
            <a:endParaRPr lang="en-US" sz="1600" dirty="0"/>
          </a:p>
        </p:txBody>
      </p:sp>
      <p:sp>
        <p:nvSpPr>
          <p:cNvPr id="20" name="Text 18"/>
          <p:cNvSpPr/>
          <p:nvPr/>
        </p:nvSpPr>
        <p:spPr>
          <a:xfrm>
            <a:off x="843076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For each ENABLED key, wires its add_filter / add_action to the right hook.</a:t>
            </a:r>
            <a:endParaRPr lang="en-US" sz="1400" dirty="0"/>
          </a:p>
        </p:txBody>
      </p:sp>
      <p:sp>
        <p:nvSpPr>
          <p:cNvPr id="21" name="Shape 19"/>
          <p:cNvSpPr/>
          <p:nvPr/>
        </p:nvSpPr>
        <p:spPr>
          <a:xfrm>
            <a:off x="640080" y="4709160"/>
            <a:ext cx="10927080" cy="1234440"/>
          </a:xfrm>
          <a:prstGeom prst="roundRect">
            <a:avLst>
              <a:gd name="adj" fmla="val 5926"/>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22" name="Text 20"/>
          <p:cNvSpPr/>
          <p:nvPr/>
        </p:nvSpPr>
        <p:spPr>
          <a:xfrm>
            <a:off x="841248" y="4873752"/>
            <a:ext cx="10524744" cy="90525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$stored = get_option('wpyeg_better_by_default');   // read once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foreach ( wpyeg_defaults_schema() as $key =&gt; $field ) { /* render + wire */ }</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Hands-on: install &amp; flip switches</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Upload the plugin</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Plugins → Add New → Upload Plugin → choose sane-defaults.zip → Activate.</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Open the settings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Settings → Better by Default; every toggle grouped by category.</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Verify a default</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Visit /wp-json/wp/v2/users logged out → 401 or empty, not a list of usernames.</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Toggle &amp; re-check</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Flip a switch off, reload, watch the behaviour change.</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0A94B"/>
                </a:solidFill>
                <a:latin typeface="Courier New" pitchFamily="34" charset="0"/>
                <a:ea typeface="Courier New" pitchFamily="34" charset="-122"/>
                <a:cs typeface="Courier New" pitchFamily="34" charset="-120"/>
              </a:rPr>
              <a:t>prefer the terminal?   </a:t>
            </a:r>
            <a:pPr indent="0" marL="0">
              <a:buNone/>
            </a:pPr>
            <a:r>
              <a:rPr lang="en-US" sz="1300" dirty="0">
                <a:solidFill>
                  <a:srgbClr val="E7C070"/>
                </a:solidFill>
                <a:latin typeface="Courier New" pitchFamily="34" charset="0"/>
                <a:ea typeface="Courier New" pitchFamily="34" charset="-122"/>
                <a:cs typeface="Courier New" pitchFamily="34" charset="-120"/>
              </a:rPr>
              <a:t>wp plugin install ./sane-defaults.zip --activate</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7607A"/>
        </a:solidFill>
      </p:bgPr>
    </p:bg>
    <p:spTree>
      <p:nvGrpSpPr>
        <p:cNvPr id="1" name=""/>
        <p:cNvGrpSpPr/>
        <p:nvPr/>
      </p:nvGrpSpPr>
      <p:grpSpPr>
        <a:xfrm>
          <a:off x="0" y="0"/>
          <a:ext cx="0" cy="0"/>
          <a:chOff x="0" y="0"/>
          <a:chExt cx="0" cy="0"/>
        </a:xfrm>
      </p:grpSpPr>
      <p:sp>
        <p:nvSpPr>
          <p:cNvPr id="2" name="Text 0"/>
          <p:cNvSpPr/>
          <p:nvPr/>
        </p:nvSpPr>
        <p:spPr>
          <a:xfrm>
            <a:off x="731520" y="822960"/>
            <a:ext cx="10058400" cy="64008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Your turn</a:t>
            </a:r>
            <a:endParaRPr lang="en-US" sz="1800" dirty="0"/>
          </a:p>
        </p:txBody>
      </p:sp>
      <p:sp>
        <p:nvSpPr>
          <p:cNvPr id="3" name="Text 1"/>
          <p:cNvSpPr/>
          <p:nvPr/>
        </p:nvSpPr>
        <p:spPr>
          <a:xfrm>
            <a:off x="731520" y="1371600"/>
            <a:ext cx="10607040" cy="91440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Add one new default to the plugin</a:t>
            </a:r>
            <a:endParaRPr lang="en-US" sz="3600" dirty="0"/>
          </a:p>
        </p:txBody>
      </p:sp>
      <p:sp>
        <p:nvSpPr>
          <p:cNvPr id="4" name="Text 2"/>
          <p:cNvSpPr/>
          <p:nvPr/>
        </p:nvSpPr>
        <p:spPr>
          <a:xfrm>
            <a:off x="731520" y="2468880"/>
            <a:ext cx="10515600" cy="640080"/>
          </a:xfrm>
          <a:prstGeom prst="rect">
            <a:avLst/>
          </a:prstGeom>
          <a:noFill/>
          <a:ln/>
        </p:spPr>
        <p:txBody>
          <a:bodyPr wrap="square" lIns="0" tIns="0" rIns="0" bIns="0" rtlCol="0" anchor="t"/>
          <a:lstStyle/>
          <a:p>
            <a:pPr indent="0" marL="0">
              <a:buNone/>
            </a:pPr>
            <a:r>
              <a:rPr lang="en-US" sz="1700" i="1" dirty="0">
                <a:solidFill>
                  <a:srgbClr val="D7E5EC"/>
                </a:solidFill>
                <a:latin typeface="Calibri" pitchFamily="34" charset="0"/>
                <a:ea typeface="Calibri" pitchFamily="34" charset="-122"/>
                <a:cs typeface="Calibri" pitchFamily="34" charset="-120"/>
              </a:rPr>
              <a:t>Goal: disable the WordPress dashboard “Welcome” panel. Two small edits — no new settings-page code.</a:t>
            </a:r>
            <a:endParaRPr lang="en-US" sz="1700" dirty="0"/>
          </a:p>
        </p:txBody>
      </p:sp>
      <p:sp>
        <p:nvSpPr>
          <p:cNvPr id="5" name="Shape 3"/>
          <p:cNvSpPr/>
          <p:nvPr/>
        </p:nvSpPr>
        <p:spPr>
          <a:xfrm>
            <a:off x="731520" y="3246120"/>
            <a:ext cx="10698480" cy="2468880"/>
          </a:xfrm>
          <a:prstGeom prst="roundRect">
            <a:avLst>
              <a:gd name="adj" fmla="val 2963"/>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3410712"/>
            <a:ext cx="10296144" cy="2139696"/>
          </a:xfrm>
          <a:prstGeom prst="rect">
            <a:avLst/>
          </a:prstGeom>
          <a:noFill/>
          <a:ln/>
        </p:spPr>
        <p:txBody>
          <a:bodyPr wrap="square" lIns="0" tIns="0" rIns="0" bIns="0" rtlCol="0" anchor="t"/>
          <a:lstStyle/>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1) add a schema entry in wpyeg_defaults_schema()</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'hide_welcome_panel' =&gt; array(</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'default' =&gt; 'yes', 'type' =&gt; 'toggle', 'group' =&gt; 'ux',</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'label' =&gt; 'Hide dashboard welcome panel',</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a:t>
            </a:r>
            <a:endParaRPr lang="en-US" sz="1300" dirty="0"/>
          </a:p>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2) wire it inside wpyeg_defaults_bootstrap()</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if ( wpyeg_defaults_enabled( 'hide_welcome_panel' ) ) {</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remove_action( 'welcome_panel', 'wp_welcome_panel' );</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security surfaces and credentials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Exact keys and defaults from wpyeg_defaults_schema().</a:t>
            </a:r>
            <a:endParaRPr lang="en-US" sz="14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restrict_rest_user_discovery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rest_endpoints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disable_rest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rest_authentication_errors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xmlrpc_methods / 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xmlrpc_allow_remote_publishing</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xmlrpc_methods / discovery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xmlrpc_allow_multicall</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wp_xmlrpc_server_class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block_xmlrpc_endpoint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disable_application_passwords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wp_is_application_passwords_available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require_strong_passwords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server-side password validation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security policy and updates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Plugin defaults and the policies intentionally left to other layers.</a:t>
            </a:r>
            <a:endParaRPr lang="en-US" sz="14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remove_version</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 / the_generator</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security_headers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frame_options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SAMEORIGIN</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disable_ai_connectors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wp_supports_ai / Connectors screen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core_update_policy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minor</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automatic core-update filters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Translation files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inherit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WordPress / host / fleet tooling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Plugin and theme code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per-item</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WordPress per-item choices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WP_AUTO_UPDATE_CORE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operator</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 wins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content and everyday UX</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The schema group is authoritative; emoji removal is a Content setting.</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disable_comments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comments, UI, post-type support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default ping options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disable_self_pingbacks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pre_ping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disable_author_archives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redirect_attachment_pages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disable_emojis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init removes emoji assets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limit_unfiltered_html_to_admins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user_has_cap drops the cap for non-admins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disable_post_passwords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CSS hides the editor's password option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force_classic_editor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four editor gates answered false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lowercase_upload_filenames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sanitize_file_name at priority 20</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media_sizes_panel</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read-only meta box on attachments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title_only_admin_search</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post_search_columns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frontend_admin_bar_behavior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show_admin_bar</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login, branding, and performance</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Schema keys live in one option array; constants remain above plugins.</a:t>
            </a:r>
            <a:endParaRPr lang="en-US" sz="14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disable_remember_me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login UI / cookie 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session_regular_days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2</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auth_cookie_expiration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remember_me_days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14</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auth_cookie_expiration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login_logo_behavior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keep_default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login header presentation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throttle_heartbeat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Heartbeat settings / enqueue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wpyeg_better_by_default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array</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the only wp_options row</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DISALLOW_FILE_EDIT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manual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revisions / autosave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manual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 constants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212080"/>
            <a:ext cx="12188952" cy="1645920"/>
          </a:xfrm>
          <a:prstGeom prst="rect">
            <a:avLst/>
          </a:prstGeom>
          <a:solidFill>
            <a:srgbClr val="16323F"/>
          </a:solidFill>
          <a:ln/>
        </p:spPr>
      </p:sp>
      <p:sp>
        <p:nvSpPr>
          <p:cNvPr id="3" name="Shape 1"/>
          <p:cNvSpPr/>
          <p:nvPr/>
        </p:nvSpPr>
        <p:spPr>
          <a:xfrm>
            <a:off x="777240" y="777240"/>
            <a:ext cx="640080" cy="640080"/>
          </a:xfrm>
          <a:prstGeom prst="ellipse">
            <a:avLst/>
          </a:prstGeom>
          <a:solidFill>
            <a:srgbClr val="E0A94B"/>
          </a:solidFill>
          <a:ln/>
        </p:spPr>
      </p:sp>
      <p:sp>
        <p:nvSpPr>
          <p:cNvPr id="4" name="Text 2"/>
          <p:cNvSpPr/>
          <p:nvPr/>
        </p:nvSpPr>
        <p:spPr>
          <a:xfrm>
            <a:off x="777240" y="77724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 }</a:t>
            </a:r>
            <a:endParaRPr lang="en-US" sz="1820" dirty="0"/>
          </a:p>
        </p:txBody>
      </p:sp>
      <p:sp>
        <p:nvSpPr>
          <p:cNvPr id="5" name="Text 3"/>
          <p:cNvSpPr/>
          <p:nvPr/>
        </p:nvSpPr>
        <p:spPr>
          <a:xfrm>
            <a:off x="777240" y="1737360"/>
            <a:ext cx="10607040" cy="10972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Thanks, WPYEG!</a:t>
            </a:r>
            <a:endParaRPr lang="en-US" sz="5000" dirty="0"/>
          </a:p>
        </p:txBody>
      </p:sp>
      <p:sp>
        <p:nvSpPr>
          <p:cNvPr id="6" name="Text 4"/>
          <p:cNvSpPr/>
          <p:nvPr/>
        </p:nvSpPr>
        <p:spPr>
          <a:xfrm>
            <a:off x="822960" y="2926080"/>
            <a:ext cx="10058400" cy="82296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Set your defaults wisely.</a:t>
            </a:r>
            <a:endParaRPr lang="en-US" sz="1900" dirty="0"/>
          </a:p>
        </p:txBody>
      </p:sp>
      <p:sp>
        <p:nvSpPr>
          <p:cNvPr id="7" name="Text 5"/>
          <p:cNvSpPr/>
          <p:nvPr/>
        </p:nvSpPr>
        <p:spPr>
          <a:xfrm>
            <a:off x="822960" y="4023360"/>
            <a:ext cx="10515600" cy="457200"/>
          </a:xfrm>
          <a:prstGeom prst="rect">
            <a:avLst/>
          </a:prstGeom>
          <a:noFill/>
          <a:ln/>
        </p:spPr>
        <p:txBody>
          <a:bodyPr wrap="square" lIns="0" tIns="0" rIns="0" bIns="0" rtlCol="0" anchor="ctr"/>
          <a:lstStyle/>
          <a:p>
            <a:pPr indent="0" marL="0">
              <a:buNone/>
            </a:pPr>
            <a:r>
              <a:rPr lang="en-US" sz="1400" b="1" dirty="0">
                <a:solidFill>
                  <a:srgbClr val="E0A94B"/>
                </a:solidFill>
                <a:latin typeface="Courier New" pitchFamily="34" charset="0"/>
                <a:ea typeface="Courier New" pitchFamily="34" charset="-122"/>
                <a:cs typeface="Courier New" pitchFamily="34" charset="-120"/>
              </a:rPr>
              <a:t>Files:  </a:t>
            </a:r>
            <a:pPr indent="0" marL="0">
              <a:buNone/>
            </a:pPr>
            <a:r>
              <a:rPr lang="en-US" sz="1400" dirty="0">
                <a:solidFill>
                  <a:srgbClr val="D7E5EC"/>
                </a:solidFill>
                <a:latin typeface="Courier New" pitchFamily="34" charset="0"/>
                <a:ea typeface="Courier New" pitchFamily="34" charset="-122"/>
                <a:cs typeface="Courier New" pitchFamily="34" charset="-120"/>
              </a:rPr>
              <a:t>sane-defaults.zip</a:t>
            </a:r>
            <a:pPr indent="0" marL="0">
              <a:buNone/>
            </a:pPr>
            <a:r>
              <a:rPr lang="en-US" sz="1400" dirty="0">
                <a:solidFill>
                  <a:srgbClr val="8A9AA3"/>
                </a:solidFill>
                <a:latin typeface="Courier New" pitchFamily="34" charset="0"/>
                <a:ea typeface="Courier New" pitchFamily="34" charset="-122"/>
                <a:cs typeface="Courier New" pitchFamily="34" charset="-120"/>
              </a:rPr>
              <a:t>   ·   </a:t>
            </a:r>
            <a:pPr indent="0" marL="0">
              <a:buNone/>
            </a:pPr>
            <a:r>
              <a:rPr lang="en-US" sz="1400" dirty="0">
                <a:solidFill>
                  <a:srgbClr val="D7E5EC"/>
                </a:solidFill>
                <a:latin typeface="Courier New" pitchFamily="34" charset="0"/>
                <a:ea typeface="Courier New" pitchFamily="34" charset="-122"/>
                <a:cs typeface="Courier New" pitchFamily="34" charset="-120"/>
              </a:rPr>
              <a:t>wordpress-default-settings.md</a:t>
            </a:r>
            <a:endParaRPr lang="en-US" sz="1400" dirty="0"/>
          </a:p>
        </p:txBody>
      </p:sp>
      <p:sp>
        <p:nvSpPr>
          <p:cNvPr id="8" name="Text 6"/>
          <p:cNvSpPr/>
          <p:nvPr/>
        </p:nvSpPr>
        <p:spPr>
          <a:xfrm>
            <a:off x="822960" y="5623560"/>
            <a:ext cx="10515600" cy="5486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Questions?  </a:t>
            </a:r>
            <a:pPr indent="0" marL="0">
              <a:buNone/>
            </a:pPr>
            <a:r>
              <a:rPr lang="en-US" sz="1600" dirty="0">
                <a:solidFill>
                  <a:srgbClr val="D7E5EC"/>
                </a:solidFill>
                <a:latin typeface="Calibri" pitchFamily="34" charset="0"/>
                <a:ea typeface="Calibri" pitchFamily="34" charset="-122"/>
                <a:cs typeface="Calibri" pitchFamily="34" charset="-120"/>
              </a:rPr>
              <a:t>License GPL-3.0-or-later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Better by Default</dc:title>
  <dc:subject>PptxGenJS Presentation</dc:subject>
  <dc:creator>WPYEG</dc:creator>
  <cp:lastModifiedBy>WPYEG</cp:lastModifiedBy>
  <cp:revision>1</cp:revision>
  <dcterms:created xsi:type="dcterms:W3CDTF">2026-08-04T06:23:17Z</dcterms:created>
  <dcterms:modified xsi:type="dcterms:W3CDTF">2026-08-04T06:23:17Z</dcterms:modified>
</cp:coreProperties>
</file>