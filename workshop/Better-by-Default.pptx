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WPYEG. Tonight we build one small plugin that flips a menu of sensible defaults on any WordPress site. Whether you write PHP daily or just manage sites, you'll leave knowing WHY each default matters and HOW to toggle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aren't hypothetical. Every one is a default you can flip. The rest of the talk is: which doors, and the one line of code that closes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remember nothing else: a default is an add_filter behind an if( option ). Once you see that shape, the entire plugin is just twenty variations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non-devs: an action is a doorbell (do something at a moment); a filter is a mail slot (change a value in transit). __return_false is a tiny helper that just hands back false — perfect for switching a feature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We'll spend most time on security and content, then move fast through UX, login, branding, performance, and end at the plugin that bundles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first. The theme: close what you don't use. You can't exploit an endpoint that isn't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Author enumeration is step one of most brute-force scripts. This closes it for logged-out requests only, so your editor and integrations keep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with the client before disabling if they use the WordPress mobile app or older Jetpack features over XML-RPC. Most sites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One-liner. The only caveat: if the site talks to an external app via REST auth, leave the feature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Never trust the client. The JS meter is UX; the server-side rule is enforcement. 12 chars + mixed classes is a reasonable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 hiding is obscurity, not security — but it cuts automated noise. The three headers are safe defaults; a full CSP is a bigger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red switch. Default off on purpose. Great teaching moment: not every default should default to ON — some are opt-in because they trade functionality for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section. These reduce spam surface and clean up thin, duplicate URLs that hurt SEO.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client wants comments, leave this off — but still consider closing pingbacks/trackbacks, which are almost pure spam.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template_redirect fires before a template loads — the perfect place to bounce a request. Same hook, two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win, but it's on literally every page. Good example of a 'why is this even on?'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quality-of-life defaults. These are more about daily experience and session safety than raw hardening.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 is_admin() guard — we scope the search change so we never touch the visitor-facing search. Scoping filters correctly is the craft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ships handy time constants — DAY_IN_SECONDS, HOUR_IN_SECONDS — so you never hand-count seconds. Good habit to point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pair of sections: a branding touch on the login screen, then two performance levers.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Swap display:none for a background-image to drop in the client's own logo. Tiny detail clients always notice.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 by default because deferring scripts can break plugins that expect synchronous jQuery. Test before shipping — hence opt-in.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constants can't be options because they must load before plugins do. Put them in your standard wp-config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lesson: a data-driven plugin. Adding a new default = one array entry + one if-block in bootstrap. No new settings-page code. That's the pattern to steal.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if there's a sandbox. The /wp-json/wp/v2/users check is the crowd-pleaser — before/after is instantly visible. For the terminal crowd, the WP-CLI one-liner installs and activates from the zip in one shot; swap the local path for a URL if the zip is hosted.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Great confidence-builder. It proves the data-driven pattern: they touch two spots and a real feature toggles. If time is short, walk it verbally.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Screenshot slide. Everything ON-by-default in one view, mapped to the core hook so they can find it in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 hand out the zip and the reference doc. Invite them to add their own favorite default to the schema and share it back with the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394960"/>
            <a:ext cx="12188952" cy="1463040"/>
          </a:xfrm>
          <a:prstGeom prst="rect">
            <a:avLst/>
          </a:prstGeom>
          <a:solidFill>
            <a:srgbClr val="16323F"/>
          </a:solidFill>
          <a:ln/>
        </p:spPr>
      </p:sp>
      <p:sp>
        <p:nvSpPr>
          <p:cNvPr id="3" name="Shape 1"/>
          <p:cNvSpPr/>
          <p:nvPr/>
        </p:nvSpPr>
        <p:spPr>
          <a:xfrm>
            <a:off x="777240" y="731520"/>
            <a:ext cx="658368" cy="658368"/>
          </a:xfrm>
          <a:prstGeom prst="ellipse">
            <a:avLst/>
          </a:prstGeom>
          <a:solidFill>
            <a:srgbClr val="E0A94B"/>
          </a:solidFill>
          <a:ln/>
        </p:spPr>
      </p:sp>
      <p:sp>
        <p:nvSpPr>
          <p:cNvPr id="4" name="Text 2"/>
          <p:cNvSpPr/>
          <p:nvPr/>
        </p:nvSpPr>
        <p:spPr>
          <a:xfrm>
            <a:off x="777240" y="731520"/>
            <a:ext cx="658368" cy="658368"/>
          </a:xfrm>
          <a:prstGeom prst="rect">
            <a:avLst/>
          </a:prstGeom>
          <a:noFill/>
          <a:ln/>
        </p:spPr>
        <p:txBody>
          <a:bodyPr wrap="square" lIns="0" tIns="0" rIns="0" bIns="0" rtlCol="0" anchor="ctr"/>
          <a:lstStyle/>
          <a:p>
            <a:pPr algn="ctr" indent="0" marL="0">
              <a:buNone/>
            </a:pPr>
            <a:r>
              <a:rPr lang="en-US" sz="1872" b="1" dirty="0">
                <a:solidFill>
                  <a:srgbClr val="0F2733"/>
                </a:solidFill>
                <a:latin typeface="Cambria" pitchFamily="34" charset="0"/>
                <a:ea typeface="Cambria" pitchFamily="34" charset="-122"/>
                <a:cs typeface="Cambria" pitchFamily="34" charset="-120"/>
              </a:rPr>
              <a:t>{ }</a:t>
            </a:r>
            <a:endParaRPr lang="en-US" sz="1872" dirty="0"/>
          </a:p>
        </p:txBody>
      </p:sp>
      <p:sp>
        <p:nvSpPr>
          <p:cNvPr id="5" name="Text 3"/>
          <p:cNvSpPr/>
          <p:nvPr/>
        </p:nvSpPr>
        <p:spPr>
          <a:xfrm>
            <a:off x="1600200" y="822960"/>
            <a:ext cx="8229600" cy="457200"/>
          </a:xfrm>
          <a:prstGeom prst="rect">
            <a:avLst/>
          </a:prstGeom>
          <a:noFill/>
          <a:ln/>
        </p:spPr>
        <p:txBody>
          <a:bodyPr wrap="square" lIns="0" tIns="0" rIns="0" bIns="0" rtlCol="0" anchor="ctr"/>
          <a:lstStyle/>
          <a:p>
            <a:pPr indent="0" marL="0">
              <a:buNone/>
            </a:pPr>
            <a:r>
              <a:rPr lang="en-US" sz="1500" b="1" dirty="0">
                <a:solidFill>
                  <a:srgbClr val="E0A94B"/>
                </a:solidFill>
                <a:latin typeface="Calibri" pitchFamily="34" charset="0"/>
                <a:ea typeface="Calibri" pitchFamily="34" charset="-122"/>
                <a:cs typeface="Calibri" pitchFamily="34" charset="-120"/>
              </a:rPr>
              <a:t>WPYEG · Edmonton WordPress Meetup</a:t>
            </a:r>
            <a:endParaRPr lang="en-US" sz="1500" dirty="0"/>
          </a:p>
        </p:txBody>
      </p:sp>
      <p:sp>
        <p:nvSpPr>
          <p:cNvPr id="6" name="Text 4"/>
          <p:cNvSpPr/>
          <p:nvPr/>
        </p:nvSpPr>
        <p:spPr>
          <a:xfrm>
            <a:off x="777240" y="2148840"/>
            <a:ext cx="10789920" cy="1371600"/>
          </a:xfrm>
          <a:prstGeom prst="rect">
            <a:avLst/>
          </a:prstGeom>
          <a:noFill/>
          <a:ln/>
        </p:spPr>
        <p:txBody>
          <a:bodyPr wrap="square" lIns="0" tIns="0" rIns="0" bIns="0" rtlCol="0" anchor="ctr"/>
          <a:lstStyle/>
          <a:p>
            <a:pPr indent="0" marL="0">
              <a:lnSpc>
                <a:spcPct val="102000"/>
              </a:lnSpc>
              <a:buNone/>
            </a:pPr>
            <a:r>
              <a:rPr lang="en-US" sz="6800" b="1" dirty="0">
                <a:solidFill>
                  <a:srgbClr val="FFFFFF"/>
                </a:solidFill>
                <a:latin typeface="Cambria" pitchFamily="34" charset="0"/>
                <a:ea typeface="Cambria" pitchFamily="34" charset="-122"/>
                <a:cs typeface="Cambria" pitchFamily="34" charset="-120"/>
              </a:rPr>
              <a:t>Better by Default</a:t>
            </a:r>
            <a:endParaRPr lang="en-US" sz="6800" dirty="0"/>
          </a:p>
        </p:txBody>
      </p:sp>
      <p:sp>
        <p:nvSpPr>
          <p:cNvPr id="7" name="Text 5"/>
          <p:cNvSpPr/>
          <p:nvPr/>
        </p:nvSpPr>
        <p:spPr>
          <a:xfrm>
            <a:off x="822960" y="3977640"/>
            <a:ext cx="10241280" cy="640080"/>
          </a:xfrm>
          <a:prstGeom prst="rect">
            <a:avLst/>
          </a:prstGeom>
          <a:noFill/>
          <a:ln/>
        </p:spPr>
        <p:txBody>
          <a:bodyPr wrap="square" lIns="0" tIns="0" rIns="0" bIns="0" rtlCol="0" anchor="ctr"/>
          <a:lstStyle/>
          <a:p>
            <a:pPr indent="0" marL="0">
              <a:buNone/>
            </a:pPr>
            <a:r>
              <a:rPr lang="en-US" sz="2100" i="1" dirty="0">
                <a:solidFill>
                  <a:srgbClr val="D7E5EC"/>
                </a:solidFill>
                <a:latin typeface="Calibri" pitchFamily="34" charset="0"/>
                <a:ea typeface="Calibri" pitchFamily="34" charset="-122"/>
                <a:cs typeface="Calibri" pitchFamily="34" charset="-120"/>
              </a:rPr>
              <a:t>Sane defaults for every new WordPress site — one toggle at a time.</a:t>
            </a:r>
            <a:endParaRPr lang="en-US" sz="2100" dirty="0"/>
          </a:p>
        </p:txBody>
      </p:sp>
      <p:sp>
        <p:nvSpPr>
          <p:cNvPr id="8" name="Text 6"/>
          <p:cNvSpPr/>
          <p:nvPr/>
        </p:nvSpPr>
        <p:spPr>
          <a:xfrm>
            <a:off x="822960" y="5715000"/>
            <a:ext cx="10515600" cy="457200"/>
          </a:xfrm>
          <a:prstGeom prst="rect">
            <a:avLst/>
          </a:prstGeom>
          <a:noFill/>
          <a:ln/>
        </p:spPr>
        <p:txBody>
          <a:bodyPr wrap="square" lIns="0" tIns="0" rIns="0" bIns="0" rtlCol="0" anchor="ctr"/>
          <a:lstStyle/>
          <a:p>
            <a:pPr indent="0" marL="0">
              <a:buNone/>
            </a:pPr>
            <a:r>
              <a:rPr lang="en-US" sz="1400" dirty="0">
                <a:solidFill>
                  <a:srgbClr val="D7E5EC"/>
                </a:solidFill>
                <a:latin typeface="Courier New" pitchFamily="34" charset="0"/>
                <a:ea typeface="Courier New" pitchFamily="34" charset="-122"/>
                <a:cs typeface="Courier New" pitchFamily="34" charset="-120"/>
              </a:rPr>
              <a:t>A hands-on workshop  </a:t>
            </a:r>
            <a:pPr indent="0" marL="0">
              <a:buNone/>
            </a:pPr>
            <a:r>
              <a:rPr lang="en-US" sz="1400" dirty="0">
                <a:solidFill>
                  <a:srgbClr val="E0A94B"/>
                </a:solidFill>
                <a:latin typeface="Courier New" pitchFamily="34" charset="0"/>
                <a:ea typeface="Courier New" pitchFamily="34" charset="-122"/>
                <a:cs typeface="Courier New" pitchFamily="34" charset="-120"/>
              </a:rPr>
              <a:t>·  the better-by-default plugin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82296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A fresh WordPress install ships wide open</a:t>
            </a:r>
            <a:endParaRPr lang="en-US" sz="3400" dirty="0"/>
          </a:p>
        </p:txBody>
      </p:sp>
      <p:sp>
        <p:nvSpPr>
          <p:cNvPr id="3" name="Text 1"/>
          <p:cNvSpPr/>
          <p:nvPr/>
        </p:nvSpPr>
        <p:spPr>
          <a:xfrm>
            <a:off x="548640" y="1371600"/>
            <a:ext cx="10789920" cy="82296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Out of the box, core leaves a lot of doors ajar and a lot of noise switched on. None of it is a bug — it's just defaults chosen for maximum compatibility, not for your site.</a:t>
            </a:r>
            <a:endParaRPr lang="en-US" sz="1600" dirty="0"/>
          </a:p>
        </p:txBody>
      </p:sp>
      <p:sp>
        <p:nvSpPr>
          <p:cNvPr id="4" name="Shape 2"/>
          <p:cNvSpPr/>
          <p:nvPr/>
        </p:nvSpPr>
        <p:spPr>
          <a:xfrm>
            <a:off x="54864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22960" y="2743200"/>
            <a:ext cx="502920" cy="502920"/>
          </a:xfrm>
          <a:prstGeom prst="ellipse">
            <a:avLst/>
          </a:prstGeom>
          <a:solidFill>
            <a:srgbClr val="E07A5F"/>
          </a:solidFill>
          <a:ln/>
        </p:spPr>
      </p:sp>
      <p:sp>
        <p:nvSpPr>
          <p:cNvPr id="6" name="Text 4"/>
          <p:cNvSpPr/>
          <p:nvPr/>
        </p:nvSpPr>
        <p:spPr>
          <a:xfrm>
            <a:off x="82296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7" name="Text 5"/>
          <p:cNvSpPr/>
          <p:nvPr/>
        </p:nvSpPr>
        <p:spPr>
          <a:xfrm>
            <a:off x="150876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Usernames leak</a:t>
            </a:r>
            <a:endParaRPr lang="en-US" sz="1900" dirty="0"/>
          </a:p>
        </p:txBody>
      </p:sp>
      <p:sp>
        <p:nvSpPr>
          <p:cNvPr id="8" name="Text 6"/>
          <p:cNvSpPr/>
          <p:nvPr/>
        </p:nvSpPr>
        <p:spPr>
          <a:xfrm>
            <a:off x="150876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REST + author archives happily list every login name to anonymous visitors.</a:t>
            </a:r>
            <a:endParaRPr lang="en-US" sz="1400" dirty="0"/>
          </a:p>
        </p:txBody>
      </p:sp>
      <p:sp>
        <p:nvSpPr>
          <p:cNvPr id="9" name="Shape 7"/>
          <p:cNvSpPr/>
          <p:nvPr/>
        </p:nvSpPr>
        <p:spPr>
          <a:xfrm>
            <a:off x="635508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0" name="Shape 8"/>
          <p:cNvSpPr/>
          <p:nvPr/>
        </p:nvSpPr>
        <p:spPr>
          <a:xfrm>
            <a:off x="6629400" y="2743200"/>
            <a:ext cx="502920" cy="502920"/>
          </a:xfrm>
          <a:prstGeom prst="ellipse">
            <a:avLst/>
          </a:prstGeom>
          <a:solidFill>
            <a:srgbClr val="E07A5F"/>
          </a:solidFill>
          <a:ln/>
        </p:spPr>
      </p:sp>
      <p:sp>
        <p:nvSpPr>
          <p:cNvPr id="11" name="Text 9"/>
          <p:cNvSpPr/>
          <p:nvPr/>
        </p:nvSpPr>
        <p:spPr>
          <a:xfrm>
            <a:off x="662940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2" name="Text 10"/>
          <p:cNvSpPr/>
          <p:nvPr/>
        </p:nvSpPr>
        <p:spPr>
          <a:xfrm>
            <a:off x="731520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Legacy endpoints open</a:t>
            </a:r>
            <a:endParaRPr lang="en-US" sz="1900" dirty="0"/>
          </a:p>
        </p:txBody>
      </p:sp>
      <p:sp>
        <p:nvSpPr>
          <p:cNvPr id="13" name="Text 11"/>
          <p:cNvSpPr/>
          <p:nvPr/>
        </p:nvSpPr>
        <p:spPr>
          <a:xfrm>
            <a:off x="731520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XML-RPC and Application Passwords stay on — classic brute-force amplifiers.</a:t>
            </a:r>
            <a:endParaRPr lang="en-US" sz="1400" dirty="0"/>
          </a:p>
        </p:txBody>
      </p:sp>
      <p:sp>
        <p:nvSpPr>
          <p:cNvPr id="14" name="Shape 12"/>
          <p:cNvSpPr/>
          <p:nvPr/>
        </p:nvSpPr>
        <p:spPr>
          <a:xfrm>
            <a:off x="54864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5" name="Shape 13"/>
          <p:cNvSpPr/>
          <p:nvPr/>
        </p:nvSpPr>
        <p:spPr>
          <a:xfrm>
            <a:off x="822960" y="4846320"/>
            <a:ext cx="502920" cy="502920"/>
          </a:xfrm>
          <a:prstGeom prst="ellipse">
            <a:avLst/>
          </a:prstGeom>
          <a:solidFill>
            <a:srgbClr val="C88F33"/>
          </a:solidFill>
          <a:ln/>
        </p:spPr>
      </p:sp>
      <p:sp>
        <p:nvSpPr>
          <p:cNvPr id="16" name="Text 14"/>
          <p:cNvSpPr/>
          <p:nvPr/>
        </p:nvSpPr>
        <p:spPr>
          <a:xfrm>
            <a:off x="82296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7" name="Text 15"/>
          <p:cNvSpPr/>
          <p:nvPr/>
        </p:nvSpPr>
        <p:spPr>
          <a:xfrm>
            <a:off x="150876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Dead weight loads</a:t>
            </a:r>
            <a:endParaRPr lang="en-US" sz="1900" dirty="0"/>
          </a:p>
        </p:txBody>
      </p:sp>
      <p:sp>
        <p:nvSpPr>
          <p:cNvPr id="18" name="Text 16"/>
          <p:cNvSpPr/>
          <p:nvPr/>
        </p:nvSpPr>
        <p:spPr>
          <a:xfrm>
            <a:off x="150876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Emoji scripts, version tags, and RSD links ship on every single page view.</a:t>
            </a:r>
            <a:endParaRPr lang="en-US" sz="1400" dirty="0"/>
          </a:p>
        </p:txBody>
      </p:sp>
      <p:sp>
        <p:nvSpPr>
          <p:cNvPr id="19" name="Shape 17"/>
          <p:cNvSpPr/>
          <p:nvPr/>
        </p:nvSpPr>
        <p:spPr>
          <a:xfrm>
            <a:off x="635508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0" name="Shape 18"/>
          <p:cNvSpPr/>
          <p:nvPr/>
        </p:nvSpPr>
        <p:spPr>
          <a:xfrm>
            <a:off x="6629400" y="4846320"/>
            <a:ext cx="502920" cy="502920"/>
          </a:xfrm>
          <a:prstGeom prst="ellipse">
            <a:avLst/>
          </a:prstGeom>
          <a:solidFill>
            <a:srgbClr val="C88F33"/>
          </a:solidFill>
          <a:ln/>
        </p:spPr>
      </p:sp>
      <p:sp>
        <p:nvSpPr>
          <p:cNvPr id="21" name="Text 19"/>
          <p:cNvSpPr/>
          <p:nvPr/>
        </p:nvSpPr>
        <p:spPr>
          <a:xfrm>
            <a:off x="662940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22" name="Text 20"/>
          <p:cNvSpPr/>
          <p:nvPr/>
        </p:nvSpPr>
        <p:spPr>
          <a:xfrm>
            <a:off x="731520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Spam surface invites</a:t>
            </a:r>
            <a:endParaRPr lang="en-US" sz="1900" dirty="0"/>
          </a:p>
        </p:txBody>
      </p:sp>
      <p:sp>
        <p:nvSpPr>
          <p:cNvPr id="23" name="Text 21"/>
          <p:cNvSpPr/>
          <p:nvPr/>
        </p:nvSpPr>
        <p:spPr>
          <a:xfrm>
            <a:off x="731520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Comments, pingbacks, and trackbacks are open by default on new content.</a:t>
            </a:r>
            <a:endParaRPr lang="en-US" sz="1400" dirty="0"/>
          </a:p>
        </p:txBody>
      </p:sp>
      <p:sp>
        <p:nvSpPr>
          <p:cNvPr id="24" name="Text 2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5" name="Text 2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7607A"/>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7607A"/>
          </a:solidFill>
          <a:ln/>
        </p:spPr>
      </p:sp>
      <p:sp>
        <p:nvSpPr>
          <p:cNvPr id="3" name="Text 1"/>
          <p:cNvSpPr/>
          <p:nvPr/>
        </p:nvSpPr>
        <p:spPr>
          <a:xfrm>
            <a:off x="731520" y="1051560"/>
            <a:ext cx="10058400" cy="54864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The one idea to take home</a:t>
            </a:r>
            <a:endParaRPr lang="en-US" sz="1800" dirty="0"/>
          </a:p>
        </p:txBody>
      </p:sp>
      <p:sp>
        <p:nvSpPr>
          <p:cNvPr id="4" name="Text 2"/>
          <p:cNvSpPr/>
          <p:nvPr/>
        </p:nvSpPr>
        <p:spPr>
          <a:xfrm>
            <a:off x="731520" y="1737360"/>
            <a:ext cx="10698480" cy="219456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A “default” is just an</a:t>
            </a:r>
            <a:endParaRPr lang="en-US" sz="4400" dirty="0"/>
          </a:p>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opinionated filter behind a toggle.</a:t>
            </a:r>
            <a:endParaRPr lang="en-US" sz="4400" dirty="0"/>
          </a:p>
        </p:txBody>
      </p:sp>
      <p:sp>
        <p:nvSpPr>
          <p:cNvPr id="5" name="Shape 3"/>
          <p:cNvSpPr/>
          <p:nvPr/>
        </p:nvSpPr>
        <p:spPr>
          <a:xfrm>
            <a:off x="731520" y="4114800"/>
            <a:ext cx="10698480" cy="1737360"/>
          </a:xfrm>
          <a:prstGeom prst="roundRect">
            <a:avLst>
              <a:gd name="adj" fmla="val 4211"/>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4279392"/>
            <a:ext cx="10296144" cy="1408176"/>
          </a:xfrm>
          <a:prstGeom prst="rect">
            <a:avLst/>
          </a:prstGeom>
          <a:noFill/>
          <a:ln/>
        </p:spPr>
        <p:txBody>
          <a:bodyPr wrap="square" lIns="0" tIns="0" rIns="0" bIns="0" rtlCol="0" anchor="t"/>
          <a:lstStyle/>
          <a:p>
            <a:pPr algn="l" indent="0" marL="0">
              <a:lnSpc>
                <a:spcPct val="108000"/>
              </a:lnSpc>
              <a:buNone/>
            </a:pPr>
            <a:r>
              <a:rPr lang="en-US" sz="1500" dirty="0">
                <a:solidFill>
                  <a:srgbClr val="DCEAF1"/>
                </a:solidFill>
                <a:latin typeface="Courier New" pitchFamily="34" charset="0"/>
                <a:ea typeface="Courier New" pitchFamily="34" charset="-122"/>
                <a:cs typeface="Courier New" pitchFamily="34" charset="-120"/>
              </a:rPr>
              <a:t>if ( wpyeg_defaults_enabled( 'disable_xmlrpc' ) ) {</a:t>
            </a:r>
            <a:endParaRPr lang="en-US" sz="1500" dirty="0"/>
          </a:p>
          <a:p>
            <a:pPr algn="l" indent="0" marL="0">
              <a:lnSpc>
                <a:spcPct val="108000"/>
              </a:lnSpc>
              <a:buNone/>
            </a:pPr>
            <a:r>
              <a:rPr lang="en-US" sz="1500" dirty="0">
                <a:solidFill>
                  <a:srgbClr val="E7C070"/>
                </a:solidFill>
                <a:latin typeface="Courier New" pitchFamily="34" charset="0"/>
                <a:ea typeface="Courier New" pitchFamily="34" charset="-122"/>
                <a:cs typeface="Courier New" pitchFamily="34" charset="-120"/>
              </a:rPr>
              <a:t>    add_filter( 'xmlrpc_enabled', '__return_false' );</a:t>
            </a:r>
            <a:endParaRPr lang="en-US" sz="1500" dirty="0"/>
          </a:p>
          <a:p>
            <a:pPr algn="l" indent="0" marL="0">
              <a:lnSpc>
                <a:spcPct val="108000"/>
              </a:lnSpc>
              <a:buNone/>
            </a:pPr>
            <a:r>
              <a:rPr lang="en-US" sz="1500" dirty="0">
                <a:solidFill>
                  <a:srgbClr val="8FBF9F"/>
                </a:solidFill>
                <a:latin typeface="Courier New" pitchFamily="34" charset="0"/>
                <a:ea typeface="Courier New" pitchFamily="34" charset="-122"/>
                <a:cs typeface="Courier New" pitchFamily="34" charset="-120"/>
              </a:rPr>
              <a:t>}   // that's the whole pattern, repeated ~20 times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Two words, gently: hooks &amp; filters</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WordPress is built to be interrupted on purpose. You don't edit core — you hop in at labeled moments.</a:t>
            </a:r>
            <a:endParaRPr lang="en-US" sz="1600" dirty="0"/>
          </a:p>
        </p:txBody>
      </p:sp>
      <p:sp>
        <p:nvSpPr>
          <p:cNvPr id="4" name="Shape 2"/>
          <p:cNvSpPr/>
          <p:nvPr/>
        </p:nvSpPr>
        <p:spPr>
          <a:xfrm>
            <a:off x="548640" y="214884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68680" y="2651760"/>
            <a:ext cx="640080" cy="640080"/>
          </a:xfrm>
          <a:prstGeom prst="ellipse">
            <a:avLst/>
          </a:prstGeom>
          <a:solidFill>
            <a:srgbClr val="27607A"/>
          </a:solidFill>
          <a:ln/>
        </p:spPr>
      </p:sp>
      <p:sp>
        <p:nvSpPr>
          <p:cNvPr id="6" name="Text 4"/>
          <p:cNvSpPr/>
          <p:nvPr/>
        </p:nvSpPr>
        <p:spPr>
          <a:xfrm>
            <a:off x="868680" y="265176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A</a:t>
            </a:r>
            <a:endParaRPr lang="en-US" sz="1820" dirty="0"/>
          </a:p>
        </p:txBody>
      </p:sp>
      <p:sp>
        <p:nvSpPr>
          <p:cNvPr id="7" name="Text 5"/>
          <p:cNvSpPr/>
          <p:nvPr/>
        </p:nvSpPr>
        <p:spPr>
          <a:xfrm>
            <a:off x="1737360" y="235000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Action</a:t>
            </a:r>
            <a:endParaRPr lang="en-US" sz="2200" dirty="0"/>
          </a:p>
        </p:txBody>
      </p:sp>
      <p:sp>
        <p:nvSpPr>
          <p:cNvPr id="8" name="Text 6"/>
          <p:cNvSpPr/>
          <p:nvPr/>
        </p:nvSpPr>
        <p:spPr>
          <a:xfrm>
            <a:off x="1737360" y="283464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“When you reach this moment, also DO this.” A doorbell you answer.</a:t>
            </a:r>
            <a:endParaRPr lang="en-US" sz="1450" dirty="0"/>
          </a:p>
        </p:txBody>
      </p:sp>
      <p:sp>
        <p:nvSpPr>
          <p:cNvPr id="9" name="Shape 7"/>
          <p:cNvSpPr/>
          <p:nvPr/>
        </p:nvSpPr>
        <p:spPr>
          <a:xfrm>
            <a:off x="7772400" y="2606040"/>
            <a:ext cx="3611880" cy="731520"/>
          </a:xfrm>
          <a:prstGeom prst="roundRect">
            <a:avLst>
              <a:gd name="adj" fmla="val 7500"/>
            </a:avLst>
          </a:prstGeom>
          <a:solidFill>
            <a:srgbClr val="0E2836"/>
          </a:solidFill>
          <a:ln/>
        </p:spPr>
      </p:sp>
      <p:sp>
        <p:nvSpPr>
          <p:cNvPr id="10" name="Text 8"/>
          <p:cNvSpPr/>
          <p:nvPr/>
        </p:nvSpPr>
        <p:spPr>
          <a:xfrm>
            <a:off x="7909560" y="260604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add_action( 'init', fn );</a:t>
            </a:r>
            <a:endParaRPr lang="en-US" sz="1050" dirty="0"/>
          </a:p>
        </p:txBody>
      </p:sp>
      <p:sp>
        <p:nvSpPr>
          <p:cNvPr id="11" name="Shape 9"/>
          <p:cNvSpPr/>
          <p:nvPr/>
        </p:nvSpPr>
        <p:spPr>
          <a:xfrm>
            <a:off x="548640" y="402336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868680" y="4526280"/>
            <a:ext cx="640080" cy="640080"/>
          </a:xfrm>
          <a:prstGeom prst="ellipse">
            <a:avLst/>
          </a:prstGeom>
          <a:solidFill>
            <a:srgbClr val="27607A"/>
          </a:solidFill>
          <a:ln/>
        </p:spPr>
      </p:sp>
      <p:sp>
        <p:nvSpPr>
          <p:cNvPr id="13" name="Text 11"/>
          <p:cNvSpPr/>
          <p:nvPr/>
        </p:nvSpPr>
        <p:spPr>
          <a:xfrm>
            <a:off x="868680" y="452628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F</a:t>
            </a:r>
            <a:endParaRPr lang="en-US" sz="1820" dirty="0"/>
          </a:p>
        </p:txBody>
      </p:sp>
      <p:sp>
        <p:nvSpPr>
          <p:cNvPr id="14" name="Text 12"/>
          <p:cNvSpPr/>
          <p:nvPr/>
        </p:nvSpPr>
        <p:spPr>
          <a:xfrm>
            <a:off x="1737360" y="422452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Filter</a:t>
            </a:r>
            <a:endParaRPr lang="en-US" sz="2200" dirty="0"/>
          </a:p>
        </p:txBody>
      </p:sp>
      <p:sp>
        <p:nvSpPr>
          <p:cNvPr id="15" name="Text 13"/>
          <p:cNvSpPr/>
          <p:nvPr/>
        </p:nvSpPr>
        <p:spPr>
          <a:xfrm>
            <a:off x="1737360" y="470916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“Before you use this value, let me CHANGE it first.” A mail slot that edits the letter.</a:t>
            </a:r>
            <a:endParaRPr lang="en-US" sz="1450" dirty="0"/>
          </a:p>
        </p:txBody>
      </p:sp>
      <p:sp>
        <p:nvSpPr>
          <p:cNvPr id="16" name="Shape 14"/>
          <p:cNvSpPr/>
          <p:nvPr/>
        </p:nvSpPr>
        <p:spPr>
          <a:xfrm>
            <a:off x="7772400" y="4480560"/>
            <a:ext cx="3611880" cy="731520"/>
          </a:xfrm>
          <a:prstGeom prst="roundRect">
            <a:avLst>
              <a:gd name="adj" fmla="val 7500"/>
            </a:avLst>
          </a:prstGeom>
          <a:solidFill>
            <a:srgbClr val="0E2836"/>
          </a:solidFill>
          <a:ln/>
        </p:spPr>
      </p:sp>
      <p:sp>
        <p:nvSpPr>
          <p:cNvPr id="17" name="Text 15"/>
          <p:cNvSpPr/>
          <p:nvPr/>
        </p:nvSpPr>
        <p:spPr>
          <a:xfrm>
            <a:off x="7909560" y="448056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add_filter( 'xmlrpc_enabled', '__return_false' );</a:t>
            </a:r>
            <a:endParaRPr lang="en-US" sz="1050" dirty="0"/>
          </a:p>
        </p:txBody>
      </p:sp>
      <p:sp>
        <p:nvSpPr>
          <p:cNvPr id="18" name="Text 16"/>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9" name="Text 17"/>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Six categories of default</a:t>
            </a:r>
            <a:endParaRPr lang="en-US" sz="3400" dirty="0"/>
          </a:p>
        </p:txBody>
      </p:sp>
      <p:sp>
        <p:nvSpPr>
          <p:cNvPr id="3" name="Shape 1"/>
          <p:cNvSpPr/>
          <p:nvPr/>
        </p:nvSpPr>
        <p:spPr>
          <a:xfrm>
            <a:off x="548640" y="1554480"/>
            <a:ext cx="3502152"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4" name="Shape 2"/>
          <p:cNvSpPr/>
          <p:nvPr/>
        </p:nvSpPr>
        <p:spPr>
          <a:xfrm>
            <a:off x="868680" y="1874520"/>
            <a:ext cx="640080" cy="640080"/>
          </a:xfrm>
          <a:prstGeom prst="ellipse">
            <a:avLst/>
          </a:prstGeom>
          <a:solidFill>
            <a:srgbClr val="E0A94B"/>
          </a:solidFill>
          <a:ln/>
        </p:spPr>
      </p:sp>
      <p:sp>
        <p:nvSpPr>
          <p:cNvPr id="5" name="Text 3"/>
          <p:cNvSpPr/>
          <p:nvPr/>
        </p:nvSpPr>
        <p:spPr>
          <a:xfrm>
            <a:off x="868680"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1</a:t>
            </a:r>
            <a:endParaRPr lang="en-US" sz="1820" dirty="0"/>
          </a:p>
        </p:txBody>
      </p:sp>
      <p:sp>
        <p:nvSpPr>
          <p:cNvPr id="6" name="Text 4"/>
          <p:cNvSpPr/>
          <p:nvPr/>
        </p:nvSpPr>
        <p:spPr>
          <a:xfrm>
            <a:off x="868680" y="2606040"/>
            <a:ext cx="2862072" cy="457200"/>
          </a:xfrm>
          <a:prstGeom prst="rect">
            <a:avLst/>
          </a:prstGeom>
          <a:noFill/>
          <a:ln/>
        </p:spPr>
        <p:txBody>
          <a:bodyPr wrap="square" lIns="0" tIns="0" rIns="0" bIns="0" rtlCol="0" anchor="ctr"/>
          <a:lstStyle/>
          <a:p>
            <a:pPr indent="0" marL="0">
              <a:buNone/>
            </a:pPr>
            <a:r>
              <a:rPr lang="en-US" sz="2100" b="1" dirty="0">
                <a:solidFill>
                  <a:srgbClr val="0F2733"/>
                </a:solidFill>
                <a:latin typeface="Cambria" pitchFamily="34" charset="0"/>
                <a:ea typeface="Cambria" pitchFamily="34" charset="-122"/>
                <a:cs typeface="Cambria" pitchFamily="34" charset="-120"/>
              </a:rPr>
              <a:t>Security</a:t>
            </a:r>
            <a:endParaRPr lang="en-US" sz="2100" dirty="0"/>
          </a:p>
        </p:txBody>
      </p:sp>
      <p:sp>
        <p:nvSpPr>
          <p:cNvPr id="7" name="Text 5"/>
          <p:cNvSpPr/>
          <p:nvPr/>
        </p:nvSpPr>
        <p:spPr>
          <a:xfrm>
            <a:off x="868680" y="3017520"/>
            <a:ext cx="2862072" cy="411480"/>
          </a:xfrm>
          <a:prstGeom prst="rect">
            <a:avLst/>
          </a:prstGeom>
          <a:noFill/>
          <a:ln/>
        </p:spPr>
        <p:txBody>
          <a:bodyPr wrap="square" lIns="0" tIns="0" rIns="0" bIns="0" rtlCol="0" anchor="ctr"/>
          <a:lstStyle/>
          <a:p>
            <a:pPr indent="0" marL="0">
              <a:buNone/>
            </a:pPr>
            <a:r>
              <a:rPr lang="en-US" sz="1350" dirty="0">
                <a:solidFill>
                  <a:srgbClr val="4A5A63"/>
                </a:solidFill>
                <a:latin typeface="Calibri" pitchFamily="34" charset="0"/>
                <a:ea typeface="Calibri" pitchFamily="34" charset="-122"/>
                <a:cs typeface="Calibri" pitchFamily="34" charset="-120"/>
              </a:rPr>
              <a:t>Shrink the attack surface</a:t>
            </a:r>
            <a:endParaRPr lang="en-US" sz="1350" dirty="0"/>
          </a:p>
        </p:txBody>
      </p:sp>
      <p:sp>
        <p:nvSpPr>
          <p:cNvPr id="8" name="Shape 6"/>
          <p:cNvSpPr/>
          <p:nvPr/>
        </p:nvSpPr>
        <p:spPr>
          <a:xfrm>
            <a:off x="4507992" y="1554480"/>
            <a:ext cx="3502152"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9" name="Shape 7"/>
          <p:cNvSpPr/>
          <p:nvPr/>
        </p:nvSpPr>
        <p:spPr>
          <a:xfrm>
            <a:off x="4828032" y="1874520"/>
            <a:ext cx="640080" cy="640080"/>
          </a:xfrm>
          <a:prstGeom prst="ellipse">
            <a:avLst/>
          </a:prstGeom>
          <a:solidFill>
            <a:srgbClr val="E0A94B"/>
          </a:solidFill>
          <a:ln/>
        </p:spPr>
      </p:sp>
      <p:sp>
        <p:nvSpPr>
          <p:cNvPr id="10" name="Text 8"/>
          <p:cNvSpPr/>
          <p:nvPr/>
        </p:nvSpPr>
        <p:spPr>
          <a:xfrm>
            <a:off x="4828032"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2</a:t>
            </a:r>
            <a:endParaRPr lang="en-US" sz="1820" dirty="0"/>
          </a:p>
        </p:txBody>
      </p:sp>
      <p:sp>
        <p:nvSpPr>
          <p:cNvPr id="11" name="Text 9"/>
          <p:cNvSpPr/>
          <p:nvPr/>
        </p:nvSpPr>
        <p:spPr>
          <a:xfrm>
            <a:off x="4828032" y="2606040"/>
            <a:ext cx="2862072" cy="457200"/>
          </a:xfrm>
          <a:prstGeom prst="rect">
            <a:avLst/>
          </a:prstGeom>
          <a:noFill/>
          <a:ln/>
        </p:spPr>
        <p:txBody>
          <a:bodyPr wrap="square" lIns="0" tIns="0" rIns="0" bIns="0" rtlCol="0" anchor="ctr"/>
          <a:lstStyle/>
          <a:p>
            <a:pPr indent="0" marL="0">
              <a:buNone/>
            </a:pPr>
            <a:r>
              <a:rPr lang="en-US" sz="2100" b="1" dirty="0">
                <a:solidFill>
                  <a:srgbClr val="0F2733"/>
                </a:solidFill>
                <a:latin typeface="Cambria" pitchFamily="34" charset="0"/>
                <a:ea typeface="Cambria" pitchFamily="34" charset="-122"/>
                <a:cs typeface="Cambria" pitchFamily="34" charset="-120"/>
              </a:rPr>
              <a:t>Content</a:t>
            </a:r>
            <a:endParaRPr lang="en-US" sz="2100" dirty="0"/>
          </a:p>
        </p:txBody>
      </p:sp>
      <p:sp>
        <p:nvSpPr>
          <p:cNvPr id="12" name="Text 10"/>
          <p:cNvSpPr/>
          <p:nvPr/>
        </p:nvSpPr>
        <p:spPr>
          <a:xfrm>
            <a:off x="4828032" y="3017520"/>
            <a:ext cx="2862072" cy="411480"/>
          </a:xfrm>
          <a:prstGeom prst="rect">
            <a:avLst/>
          </a:prstGeom>
          <a:noFill/>
          <a:ln/>
        </p:spPr>
        <p:txBody>
          <a:bodyPr wrap="square" lIns="0" tIns="0" rIns="0" bIns="0" rtlCol="0" anchor="ctr"/>
          <a:lstStyle/>
          <a:p>
            <a:pPr indent="0" marL="0">
              <a:buNone/>
            </a:pPr>
            <a:r>
              <a:rPr lang="en-US" sz="1350" dirty="0">
                <a:solidFill>
                  <a:srgbClr val="4A5A63"/>
                </a:solidFill>
                <a:latin typeface="Calibri" pitchFamily="34" charset="0"/>
                <a:ea typeface="Calibri" pitchFamily="34" charset="-122"/>
                <a:cs typeface="Calibri" pitchFamily="34" charset="-120"/>
              </a:rPr>
              <a:t>Close public spam &amp; leaks</a:t>
            </a:r>
            <a:endParaRPr lang="en-US" sz="1350" dirty="0"/>
          </a:p>
        </p:txBody>
      </p:sp>
      <p:sp>
        <p:nvSpPr>
          <p:cNvPr id="13" name="Shape 11"/>
          <p:cNvSpPr/>
          <p:nvPr/>
        </p:nvSpPr>
        <p:spPr>
          <a:xfrm>
            <a:off x="8467344" y="1554480"/>
            <a:ext cx="3502152"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4" name="Shape 12"/>
          <p:cNvSpPr/>
          <p:nvPr/>
        </p:nvSpPr>
        <p:spPr>
          <a:xfrm>
            <a:off x="8787384" y="1874520"/>
            <a:ext cx="640080" cy="640080"/>
          </a:xfrm>
          <a:prstGeom prst="ellipse">
            <a:avLst/>
          </a:prstGeom>
          <a:solidFill>
            <a:srgbClr val="E0A94B"/>
          </a:solidFill>
          <a:ln/>
        </p:spPr>
      </p:sp>
      <p:sp>
        <p:nvSpPr>
          <p:cNvPr id="15" name="Text 13"/>
          <p:cNvSpPr/>
          <p:nvPr/>
        </p:nvSpPr>
        <p:spPr>
          <a:xfrm>
            <a:off x="8787384"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3</a:t>
            </a:r>
            <a:endParaRPr lang="en-US" sz="1820" dirty="0"/>
          </a:p>
        </p:txBody>
      </p:sp>
      <p:sp>
        <p:nvSpPr>
          <p:cNvPr id="16" name="Text 14"/>
          <p:cNvSpPr/>
          <p:nvPr/>
        </p:nvSpPr>
        <p:spPr>
          <a:xfrm>
            <a:off x="8787384" y="2606040"/>
            <a:ext cx="2862072" cy="457200"/>
          </a:xfrm>
          <a:prstGeom prst="rect">
            <a:avLst/>
          </a:prstGeom>
          <a:noFill/>
          <a:ln/>
        </p:spPr>
        <p:txBody>
          <a:bodyPr wrap="square" lIns="0" tIns="0" rIns="0" bIns="0" rtlCol="0" anchor="ctr"/>
          <a:lstStyle/>
          <a:p>
            <a:pPr indent="0" marL="0">
              <a:buNone/>
            </a:pPr>
            <a:r>
              <a:rPr lang="en-US" sz="2100" b="1" dirty="0">
                <a:solidFill>
                  <a:srgbClr val="0F2733"/>
                </a:solidFill>
                <a:latin typeface="Cambria" pitchFamily="34" charset="0"/>
                <a:ea typeface="Cambria" pitchFamily="34" charset="-122"/>
                <a:cs typeface="Cambria" pitchFamily="34" charset="-120"/>
              </a:rPr>
              <a:t>Admin UX</a:t>
            </a:r>
            <a:endParaRPr lang="en-US" sz="2100" dirty="0"/>
          </a:p>
        </p:txBody>
      </p:sp>
      <p:sp>
        <p:nvSpPr>
          <p:cNvPr id="17" name="Text 15"/>
          <p:cNvSpPr/>
          <p:nvPr/>
        </p:nvSpPr>
        <p:spPr>
          <a:xfrm>
            <a:off x="8787384" y="3017520"/>
            <a:ext cx="2862072" cy="411480"/>
          </a:xfrm>
          <a:prstGeom prst="rect">
            <a:avLst/>
          </a:prstGeom>
          <a:noFill/>
          <a:ln/>
        </p:spPr>
        <p:txBody>
          <a:bodyPr wrap="square" lIns="0" tIns="0" rIns="0" bIns="0" rtlCol="0" anchor="ctr"/>
          <a:lstStyle/>
          <a:p>
            <a:pPr indent="0" marL="0">
              <a:buNone/>
            </a:pPr>
            <a:r>
              <a:rPr lang="en-US" sz="1350" dirty="0">
                <a:solidFill>
                  <a:srgbClr val="4A5A63"/>
                </a:solidFill>
                <a:latin typeface="Calibri" pitchFamily="34" charset="0"/>
                <a:ea typeface="Calibri" pitchFamily="34" charset="-122"/>
                <a:cs typeface="Calibri" pitchFamily="34" charset="-120"/>
              </a:rPr>
              <a:t>Calmer, faster dashboard</a:t>
            </a:r>
            <a:endParaRPr lang="en-US" sz="1350" dirty="0"/>
          </a:p>
        </p:txBody>
      </p:sp>
      <p:sp>
        <p:nvSpPr>
          <p:cNvPr id="18" name="Shape 16"/>
          <p:cNvSpPr/>
          <p:nvPr/>
        </p:nvSpPr>
        <p:spPr>
          <a:xfrm>
            <a:off x="548640" y="3977640"/>
            <a:ext cx="3502152"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9" name="Shape 17"/>
          <p:cNvSpPr/>
          <p:nvPr/>
        </p:nvSpPr>
        <p:spPr>
          <a:xfrm>
            <a:off x="868680" y="4297680"/>
            <a:ext cx="640080" cy="640080"/>
          </a:xfrm>
          <a:prstGeom prst="ellipse">
            <a:avLst/>
          </a:prstGeom>
          <a:solidFill>
            <a:srgbClr val="E0A94B"/>
          </a:solidFill>
          <a:ln/>
        </p:spPr>
      </p:sp>
      <p:sp>
        <p:nvSpPr>
          <p:cNvPr id="20" name="Text 18"/>
          <p:cNvSpPr/>
          <p:nvPr/>
        </p:nvSpPr>
        <p:spPr>
          <a:xfrm>
            <a:off x="868680"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4</a:t>
            </a:r>
            <a:endParaRPr lang="en-US" sz="1820" dirty="0"/>
          </a:p>
        </p:txBody>
      </p:sp>
      <p:sp>
        <p:nvSpPr>
          <p:cNvPr id="21" name="Text 19"/>
          <p:cNvSpPr/>
          <p:nvPr/>
        </p:nvSpPr>
        <p:spPr>
          <a:xfrm>
            <a:off x="868680" y="5029200"/>
            <a:ext cx="2862072" cy="457200"/>
          </a:xfrm>
          <a:prstGeom prst="rect">
            <a:avLst/>
          </a:prstGeom>
          <a:noFill/>
          <a:ln/>
        </p:spPr>
        <p:txBody>
          <a:bodyPr wrap="square" lIns="0" tIns="0" rIns="0" bIns="0" rtlCol="0" anchor="ctr"/>
          <a:lstStyle/>
          <a:p>
            <a:pPr indent="0" marL="0">
              <a:buNone/>
            </a:pPr>
            <a:r>
              <a:rPr lang="en-US" sz="2100" b="1" dirty="0">
                <a:solidFill>
                  <a:srgbClr val="0F2733"/>
                </a:solidFill>
                <a:latin typeface="Cambria" pitchFamily="34" charset="0"/>
                <a:ea typeface="Cambria" pitchFamily="34" charset="-122"/>
                <a:cs typeface="Cambria" pitchFamily="34" charset="-120"/>
              </a:rPr>
              <a:t>Login</a:t>
            </a:r>
            <a:endParaRPr lang="en-US" sz="2100" dirty="0"/>
          </a:p>
        </p:txBody>
      </p:sp>
      <p:sp>
        <p:nvSpPr>
          <p:cNvPr id="22" name="Text 20"/>
          <p:cNvSpPr/>
          <p:nvPr/>
        </p:nvSpPr>
        <p:spPr>
          <a:xfrm>
            <a:off x="868680" y="5440680"/>
            <a:ext cx="2862072" cy="411480"/>
          </a:xfrm>
          <a:prstGeom prst="rect">
            <a:avLst/>
          </a:prstGeom>
          <a:noFill/>
          <a:ln/>
        </p:spPr>
        <p:txBody>
          <a:bodyPr wrap="square" lIns="0" tIns="0" rIns="0" bIns="0" rtlCol="0" anchor="ctr"/>
          <a:lstStyle/>
          <a:p>
            <a:pPr indent="0" marL="0">
              <a:buNone/>
            </a:pPr>
            <a:r>
              <a:rPr lang="en-US" sz="1350" dirty="0">
                <a:solidFill>
                  <a:srgbClr val="4A5A63"/>
                </a:solidFill>
                <a:latin typeface="Calibri" pitchFamily="34" charset="0"/>
                <a:ea typeface="Calibri" pitchFamily="34" charset="-122"/>
                <a:cs typeface="Calibri" pitchFamily="34" charset="-120"/>
              </a:rPr>
              <a:t>Sessions &amp; credentials</a:t>
            </a:r>
            <a:endParaRPr lang="en-US" sz="1350" dirty="0"/>
          </a:p>
        </p:txBody>
      </p:sp>
      <p:sp>
        <p:nvSpPr>
          <p:cNvPr id="23" name="Shape 21"/>
          <p:cNvSpPr/>
          <p:nvPr/>
        </p:nvSpPr>
        <p:spPr>
          <a:xfrm>
            <a:off x="4507992" y="3977640"/>
            <a:ext cx="3502152"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4" name="Shape 22"/>
          <p:cNvSpPr/>
          <p:nvPr/>
        </p:nvSpPr>
        <p:spPr>
          <a:xfrm>
            <a:off x="4828032" y="4297680"/>
            <a:ext cx="640080" cy="640080"/>
          </a:xfrm>
          <a:prstGeom prst="ellipse">
            <a:avLst/>
          </a:prstGeom>
          <a:solidFill>
            <a:srgbClr val="E0A94B"/>
          </a:solidFill>
          <a:ln/>
        </p:spPr>
      </p:sp>
      <p:sp>
        <p:nvSpPr>
          <p:cNvPr id="25" name="Text 23"/>
          <p:cNvSpPr/>
          <p:nvPr/>
        </p:nvSpPr>
        <p:spPr>
          <a:xfrm>
            <a:off x="4828032"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5</a:t>
            </a:r>
            <a:endParaRPr lang="en-US" sz="1820" dirty="0"/>
          </a:p>
        </p:txBody>
      </p:sp>
      <p:sp>
        <p:nvSpPr>
          <p:cNvPr id="26" name="Text 24"/>
          <p:cNvSpPr/>
          <p:nvPr/>
        </p:nvSpPr>
        <p:spPr>
          <a:xfrm>
            <a:off x="4828032" y="5029200"/>
            <a:ext cx="2862072" cy="457200"/>
          </a:xfrm>
          <a:prstGeom prst="rect">
            <a:avLst/>
          </a:prstGeom>
          <a:noFill/>
          <a:ln/>
        </p:spPr>
        <p:txBody>
          <a:bodyPr wrap="square" lIns="0" tIns="0" rIns="0" bIns="0" rtlCol="0" anchor="ctr"/>
          <a:lstStyle/>
          <a:p>
            <a:pPr indent="0" marL="0">
              <a:buNone/>
            </a:pPr>
            <a:r>
              <a:rPr lang="en-US" sz="2100" b="1" dirty="0">
                <a:solidFill>
                  <a:srgbClr val="0F2733"/>
                </a:solidFill>
                <a:latin typeface="Cambria" pitchFamily="34" charset="0"/>
                <a:ea typeface="Cambria" pitchFamily="34" charset="-122"/>
                <a:cs typeface="Cambria" pitchFamily="34" charset="-120"/>
              </a:rPr>
              <a:t>Branding</a:t>
            </a:r>
            <a:endParaRPr lang="en-US" sz="2100" dirty="0"/>
          </a:p>
        </p:txBody>
      </p:sp>
      <p:sp>
        <p:nvSpPr>
          <p:cNvPr id="27" name="Text 25"/>
          <p:cNvSpPr/>
          <p:nvPr/>
        </p:nvSpPr>
        <p:spPr>
          <a:xfrm>
            <a:off x="4828032" y="5440680"/>
            <a:ext cx="2862072" cy="411480"/>
          </a:xfrm>
          <a:prstGeom prst="rect">
            <a:avLst/>
          </a:prstGeom>
          <a:noFill/>
          <a:ln/>
        </p:spPr>
        <p:txBody>
          <a:bodyPr wrap="square" lIns="0" tIns="0" rIns="0" bIns="0" rtlCol="0" anchor="ctr"/>
          <a:lstStyle/>
          <a:p>
            <a:pPr indent="0" marL="0">
              <a:buNone/>
            </a:pPr>
            <a:r>
              <a:rPr lang="en-US" sz="1350" dirty="0">
                <a:solidFill>
                  <a:srgbClr val="4A5A63"/>
                </a:solidFill>
                <a:latin typeface="Calibri" pitchFamily="34" charset="0"/>
                <a:ea typeface="Calibri" pitchFamily="34" charset="-122"/>
                <a:cs typeface="Calibri" pitchFamily="34" charset="-120"/>
              </a:rPr>
              <a:t>Own the login screen</a:t>
            </a:r>
            <a:endParaRPr lang="en-US" sz="1350" dirty="0"/>
          </a:p>
        </p:txBody>
      </p:sp>
      <p:sp>
        <p:nvSpPr>
          <p:cNvPr id="28" name="Shape 26"/>
          <p:cNvSpPr/>
          <p:nvPr/>
        </p:nvSpPr>
        <p:spPr>
          <a:xfrm>
            <a:off x="8467344" y="3977640"/>
            <a:ext cx="3502152"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9" name="Shape 27"/>
          <p:cNvSpPr/>
          <p:nvPr/>
        </p:nvSpPr>
        <p:spPr>
          <a:xfrm>
            <a:off x="8787384" y="4297680"/>
            <a:ext cx="640080" cy="640080"/>
          </a:xfrm>
          <a:prstGeom prst="ellipse">
            <a:avLst/>
          </a:prstGeom>
          <a:solidFill>
            <a:srgbClr val="E0A94B"/>
          </a:solidFill>
          <a:ln/>
        </p:spPr>
      </p:sp>
      <p:sp>
        <p:nvSpPr>
          <p:cNvPr id="30" name="Text 28"/>
          <p:cNvSpPr/>
          <p:nvPr/>
        </p:nvSpPr>
        <p:spPr>
          <a:xfrm>
            <a:off x="8787384"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6</a:t>
            </a:r>
            <a:endParaRPr lang="en-US" sz="1820" dirty="0"/>
          </a:p>
        </p:txBody>
      </p:sp>
      <p:sp>
        <p:nvSpPr>
          <p:cNvPr id="31" name="Text 29"/>
          <p:cNvSpPr/>
          <p:nvPr/>
        </p:nvSpPr>
        <p:spPr>
          <a:xfrm>
            <a:off x="8787384" y="5029200"/>
            <a:ext cx="2862072" cy="457200"/>
          </a:xfrm>
          <a:prstGeom prst="rect">
            <a:avLst/>
          </a:prstGeom>
          <a:noFill/>
          <a:ln/>
        </p:spPr>
        <p:txBody>
          <a:bodyPr wrap="square" lIns="0" tIns="0" rIns="0" bIns="0" rtlCol="0" anchor="ctr"/>
          <a:lstStyle/>
          <a:p>
            <a:pPr indent="0" marL="0">
              <a:buNone/>
            </a:pPr>
            <a:r>
              <a:rPr lang="en-US" sz="2100" b="1" dirty="0">
                <a:solidFill>
                  <a:srgbClr val="0F2733"/>
                </a:solidFill>
                <a:latin typeface="Cambria" pitchFamily="34" charset="0"/>
                <a:ea typeface="Cambria" pitchFamily="34" charset="-122"/>
                <a:cs typeface="Cambria" pitchFamily="34" charset="-120"/>
              </a:rPr>
              <a:t>Performance</a:t>
            </a:r>
            <a:endParaRPr lang="en-US" sz="2100" dirty="0"/>
          </a:p>
        </p:txBody>
      </p:sp>
      <p:sp>
        <p:nvSpPr>
          <p:cNvPr id="32" name="Text 30"/>
          <p:cNvSpPr/>
          <p:nvPr/>
        </p:nvSpPr>
        <p:spPr>
          <a:xfrm>
            <a:off x="8787384" y="5440680"/>
            <a:ext cx="2862072" cy="411480"/>
          </a:xfrm>
          <a:prstGeom prst="rect">
            <a:avLst/>
          </a:prstGeom>
          <a:noFill/>
          <a:ln/>
        </p:spPr>
        <p:txBody>
          <a:bodyPr wrap="square" lIns="0" tIns="0" rIns="0" bIns="0" rtlCol="0" anchor="ctr"/>
          <a:lstStyle/>
          <a:p>
            <a:pPr indent="0" marL="0">
              <a:buNone/>
            </a:pPr>
            <a:r>
              <a:rPr lang="en-US" sz="1350" dirty="0">
                <a:solidFill>
                  <a:srgbClr val="4A5A63"/>
                </a:solidFill>
                <a:latin typeface="Calibri" pitchFamily="34" charset="0"/>
                <a:ea typeface="Calibri" pitchFamily="34" charset="-122"/>
                <a:cs typeface="Calibri" pitchFamily="34" charset="-120"/>
              </a:rPr>
              <a:t>Trim the page weight</a:t>
            </a:r>
            <a:endParaRPr lang="en-US" sz="1350" dirty="0"/>
          </a:p>
        </p:txBody>
      </p:sp>
      <p:sp>
        <p:nvSpPr>
          <p:cNvPr id="33" name="Text 31"/>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34" name="Text 32"/>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1</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ONE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Security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Attack Surface</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Every item here removes something an attacker can poke — usually in one line.</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1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Restrict REST API user discovery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/wp/v2/users endpoint hands out every author's login name to anyone — half of a brute-force guess, free. We keep REST working for logged-in tools but slam the door on anonymous enumeration.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wpyeg_restrict_rest_user_discovery</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'rest_endpoints', function ( $ep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unset( $ep['/wp/v2/users']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unset(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$ep['/wp/v2/users/(?P&lt;id&gt;[\d]+)']</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$ep;</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2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XML-RPC</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xmlrpc.php is a classic amplifier: one request can attempt hundreds of logins, and its pingback method has been used to bounce DDoS traffic. Unless you rely on the legacy mobile app or some Jetpack paths, switch it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wpyeg_disable_xmlrpc</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'xmlrpc_enabled',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'__return_false'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stop bots probing the discovery header</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'wp_headers', function ( $h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unset( $h['X-Pingback']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$h;</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remove_action( 'wp_head', 'rsd_link'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3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Application Passwords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Application Passwords mint long-lived credentials for the REST API. Great for headless setups — but if nobody's using them, they're just a secret waiting to leak. No feature, nothing to steal.</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wpyeg_disable_application_passwords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add_filter(</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'wp_is_application_passwords_available',</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'__return_false'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t>
            </a:r>
            <a:endParaRPr lang="en-US" sz="1250" dirty="0"/>
          </a:p>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Turn this OFF again if you run a</a:t>
            </a:r>
            <a:endParaRPr lang="en-US" sz="1250" dirty="0"/>
          </a:p>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headless / external integration.</a:t>
            </a:r>
            <a:endParaRPr lang="en-US" sz="12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4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Require strong passwords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Core shows a strength meter but never enforces it — a determined user can still save “password1”. We validate server-side on profile save and password reset, turning the warning into a wall.</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wpyeg_require_strong_passwords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hooked on user_profile_update_errors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$ok = strlen( $pw ) &gt;= 12</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&amp;&amp; preg_match( '/[A-Z]/', $pw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&amp;&amp; preg_match( '/[a-z]/', $pw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&amp;&amp; preg_match( '/[0-9]/', $pw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&amp;&amp; preg_match( '/[^A-Za-z0-9]/', $pw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if ( ! $ok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$errors-&gt;add( 'weak', 'Too weak.'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5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Remove fingerprints, add headers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Two quick wins: stop broadcasting your exact core version to vulnerability scanners, and send three low-risk security headers that most sites can adopt without breaking anything.</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wpyeg_remove_version / _security_headers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remove_action( 'wp_head', 'wp_generator'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'wp_headers', function ( $h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$h['X-Content-Type-Options'] = 'nosniff';</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$h['X-Frame-Options']        = 'SAMEORIGIN';</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$h['Referrer-Policy']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'strict-origin-when-cross-origin';</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$h;</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6 of 6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REST to logged-in users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nuclear option. Requiring auth for ALL REST calls stops anonymous scraping cold — but it also breaks the block editor and many blocks. That's why it ships OFF. Reach for it only on pure brochure sites.</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wpyeg_disable_rest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'rest_authentication_errors',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function ( $result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empty( $result ) )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return new WP_Error(</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'rest_not_logged_in', 'Auth required.',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array( 'status' =&gt; 401 )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2</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TWO</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Content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Public Surfaces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Close the spam funnels and the thin pages Google (and bots) love to crawl.</a:t>
            </a:r>
            <a:endParaRPr lang="en-US" sz="1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1 of 3</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comments, trackbacks &amp; pingbacks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For most business sites, comments are a spam magnet with little upside. We close them everywhere, hide existing threads, drop the admin menu, and default new posts to pings-closed.</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wpyeg_disable_comments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'comments_open', '__return_false',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'pings_open',    '__return_false',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'comments_array',</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'__return_empty_array',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remove_post_type_support() on init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remove_menu_page('edit-comments.php')</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drop the admin-bar comments node</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2 of 3</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Redirect author &amp; attachment pages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Two thin-content leaks, same fix. Author archives expose login slugs; attachment pages are near-empty media wrappers. Both dilute SEO and add surface. Send them home with a 301.</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wpyeg_disable_author_archives / _redirect_attachment_pages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is_author()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wp_safe_redirect( home_url('/'), 301 );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exit;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is_attachment()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301 to parent post, or home</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3 of 3</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the emoji script</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Core injects an emoji-detection script and inline CSS on every page load, plus a DNS-prefetch hint. Modern browsers render emoji natively, so this is pure dead weight you can shed.</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wpyeg_disable_emojis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'init',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'wp_head',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'print_emoji_detection_script', 7 );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'wp_print_styles',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'print_emoji_styles'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...admin + feed + mail variants too</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add_filter( 'emoji_svg_url',</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'__return_false'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3</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THREE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Admin UX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Login Sessions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Small quality-of-life defaults: a calmer dashboard and sensible session policy.</a:t>
            </a:r>
            <a:endParaRPr lang="en-US" sz="1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ADMIN UX</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Faster search, quieter admin bar</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On big sites the admin list-table search scans post content and crawls. Title-only search is far faster (off by default — it changes editor expectations). And the floating front-end admin bar can be hidden for non-admins.</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wpyeg_title_only_admin_search / _frontend_admin_bar_behavior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title-only admin search (scoped!)</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'posts_search', function ( $sql, $q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is_admin() || ! $q-&gt;is_main_query()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return $sql;   // front-end untouched</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...match post_title only</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10, 2 );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hide bar for non-admins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'show_admin_bar', fn( $s ) =&gt;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current_user_can('manage_options') ? $s : false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LOGIN &amp; SESSIONS</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Right-size the login session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Core's “Remember Me” lasts 14 days — often too long. Cap it (say 5 days), optionally shorten regular logins, or hide the checkbox entirely for shared machines. One filter does all three.</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wpyeg_remember_me_days / _session_regular_hours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5 / 0</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'auth_cookie_expiration',</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function ( $exp, $uid, $remember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$remember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return 5 * DAY_IN_SECONDS;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return 12 * HOUR_IN_SECONDS;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 10, 3 );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DAY_IN_SECONDS: core time constant</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4</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FOUR</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Branding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Performance</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Own the login screen, then shave the last bit of weight off every page.</a:t>
            </a:r>
            <a:endParaRPr lang="en-US" sz="1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BRANDING</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Own the login screen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default WordPress “W” on wp-login.php links out to wordpress.org — a subtle trust and brand leak on the one page where trust matters most. Remove or replace it, and point the link back home.</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wpyeg_login_logo_behavior / _login_logo_link_home</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remove_logo / 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add_action( 'login_head', function () {</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  echo '&lt;style&gt;#login h1 a{display:none}&lt;/style&gt;';</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 </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add_filter( 'login_headerurl', 'home_url'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add_filter( 'login_headertext', fn() =&gt;</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            get_bloginfo( 'name' ) );</a:t>
            </a:r>
            <a:endParaRPr lang="en-US" sz="12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PERFORMANCE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Throttle Heartbeat, defer scripts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Two opt-in levers. The Heartbeat API polls admin-ajax every 15–60s — throttle it (and drop it on the dashboard home) to ease shared hosting. And defer non-critical front-end scripts so they stop blocking render.</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wpyeg_throttle_heartbeat / _defer_scripts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no</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'heartbeat_settings', fn( $s ) =&gt;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$s['interval'] = 60; return $s;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'script_loader_tag',</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function ( $tag, $handle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add ' defer' (skip jquery-core)</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$tag;</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10, 2 );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Three things a plugin can't toggle</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Some defaults live in wp-config.php, above the plugin layer. Document these as manual steps in your onboarding checklist.</a:t>
            </a:r>
            <a:endParaRPr lang="en-US" sz="1600" dirty="0"/>
          </a:p>
        </p:txBody>
      </p:sp>
      <p:sp>
        <p:nvSpPr>
          <p:cNvPr id="4" name="Shape 2"/>
          <p:cNvSpPr/>
          <p:nvPr/>
        </p:nvSpPr>
        <p:spPr>
          <a:xfrm>
            <a:off x="548640" y="2148840"/>
            <a:ext cx="11064240" cy="1920240"/>
          </a:xfrm>
          <a:prstGeom prst="roundRect">
            <a:avLst>
              <a:gd name="adj" fmla="val 381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5" name="Text 3"/>
          <p:cNvSpPr/>
          <p:nvPr/>
        </p:nvSpPr>
        <p:spPr>
          <a:xfrm>
            <a:off x="749808" y="2313432"/>
            <a:ext cx="10661904" cy="1591056"/>
          </a:xfrm>
          <a:prstGeom prst="rect">
            <a:avLst/>
          </a:prstGeom>
          <a:noFill/>
          <a:ln/>
        </p:spPr>
        <p:txBody>
          <a:bodyPr wrap="square" lIns="0" tIns="0" rIns="0" bIns="0" rtlCol="0" anchor="t"/>
          <a:lstStyle/>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'DISALLOW_FILE_EDIT', true );  // no in-dashboard code editor</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'AUTOSAVE_INTERVAL', 120 );    // gentler autosave (seconds)</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'WP_POST_REVISIONS', 10 );     // cap revision-table bloat</a:t>
            </a:r>
            <a:endParaRPr lang="en-US" sz="1400" dirty="0"/>
          </a:p>
        </p:txBody>
      </p:sp>
      <p:sp>
        <p:nvSpPr>
          <p:cNvPr id="6" name="Shape 4"/>
          <p:cNvSpPr/>
          <p:nvPr/>
        </p:nvSpPr>
        <p:spPr>
          <a:xfrm>
            <a:off x="548640"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7" name="Shape 5"/>
          <p:cNvSpPr/>
          <p:nvPr/>
        </p:nvSpPr>
        <p:spPr>
          <a:xfrm>
            <a:off x="804672" y="4590288"/>
            <a:ext cx="457200" cy="457200"/>
          </a:xfrm>
          <a:prstGeom prst="ellipse">
            <a:avLst/>
          </a:prstGeom>
          <a:solidFill>
            <a:srgbClr val="27607A"/>
          </a:solidFill>
          <a:ln/>
        </p:spPr>
      </p:sp>
      <p:sp>
        <p:nvSpPr>
          <p:cNvPr id="8" name="Text 6"/>
          <p:cNvSpPr/>
          <p:nvPr/>
        </p:nvSpPr>
        <p:spPr>
          <a:xfrm>
            <a:off x="804672"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9" name="Text 7"/>
          <p:cNvSpPr/>
          <p:nvPr/>
        </p:nvSpPr>
        <p:spPr>
          <a:xfrm>
            <a:off x="1417320"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Kills the theme/plugin editor</a:t>
            </a:r>
            <a:endParaRPr lang="en-US" sz="1500" dirty="0"/>
          </a:p>
        </p:txBody>
      </p:sp>
      <p:sp>
        <p:nvSpPr>
          <p:cNvPr id="10" name="Text 8"/>
          <p:cNvSpPr/>
          <p:nvPr/>
        </p:nvSpPr>
        <p:spPr>
          <a:xfrm>
            <a:off x="804672"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stolen admin login can't rewrite your PHP from the dashboard.</a:t>
            </a:r>
            <a:endParaRPr lang="en-US" sz="1250" dirty="0"/>
          </a:p>
        </p:txBody>
      </p:sp>
      <p:sp>
        <p:nvSpPr>
          <p:cNvPr id="11" name="Shape 9"/>
          <p:cNvSpPr/>
          <p:nvPr/>
        </p:nvSpPr>
        <p:spPr>
          <a:xfrm>
            <a:off x="4270248"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4526280" y="4590288"/>
            <a:ext cx="457200" cy="457200"/>
          </a:xfrm>
          <a:prstGeom prst="ellipse">
            <a:avLst/>
          </a:prstGeom>
          <a:solidFill>
            <a:srgbClr val="27607A"/>
          </a:solidFill>
          <a:ln/>
        </p:spPr>
      </p:sp>
      <p:sp>
        <p:nvSpPr>
          <p:cNvPr id="13" name="Text 11"/>
          <p:cNvSpPr/>
          <p:nvPr/>
        </p:nvSpPr>
        <p:spPr>
          <a:xfrm>
            <a:off x="4526280"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4" name="Text 12"/>
          <p:cNvSpPr/>
          <p:nvPr/>
        </p:nvSpPr>
        <p:spPr>
          <a:xfrm>
            <a:off x="5138928"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Writes to the DB less often</a:t>
            </a:r>
            <a:endParaRPr lang="en-US" sz="1500" dirty="0"/>
          </a:p>
        </p:txBody>
      </p:sp>
      <p:sp>
        <p:nvSpPr>
          <p:cNvPr id="15" name="Text 13"/>
          <p:cNvSpPr/>
          <p:nvPr/>
        </p:nvSpPr>
        <p:spPr>
          <a:xfrm>
            <a:off x="4526280"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Fewer autosave revisions during long edits.</a:t>
            </a:r>
            <a:endParaRPr lang="en-US" sz="1250" dirty="0"/>
          </a:p>
        </p:txBody>
      </p:sp>
      <p:sp>
        <p:nvSpPr>
          <p:cNvPr id="16" name="Shape 14"/>
          <p:cNvSpPr/>
          <p:nvPr/>
        </p:nvSpPr>
        <p:spPr>
          <a:xfrm>
            <a:off x="7991856"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7" name="Shape 15"/>
          <p:cNvSpPr/>
          <p:nvPr/>
        </p:nvSpPr>
        <p:spPr>
          <a:xfrm>
            <a:off x="8247888" y="4590288"/>
            <a:ext cx="457200" cy="457200"/>
          </a:xfrm>
          <a:prstGeom prst="ellipse">
            <a:avLst/>
          </a:prstGeom>
          <a:solidFill>
            <a:srgbClr val="27607A"/>
          </a:solidFill>
          <a:ln/>
        </p:spPr>
      </p:sp>
      <p:sp>
        <p:nvSpPr>
          <p:cNvPr id="18" name="Text 16"/>
          <p:cNvSpPr/>
          <p:nvPr/>
        </p:nvSpPr>
        <p:spPr>
          <a:xfrm>
            <a:off x="8247888"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9" name="Text 17"/>
          <p:cNvSpPr/>
          <p:nvPr/>
        </p:nvSpPr>
        <p:spPr>
          <a:xfrm>
            <a:off x="8860536"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Keeps revisions in check</a:t>
            </a:r>
            <a:endParaRPr lang="en-US" sz="1500" dirty="0"/>
          </a:p>
        </p:txBody>
      </p:sp>
      <p:sp>
        <p:nvSpPr>
          <p:cNvPr id="20" name="Text 18"/>
          <p:cNvSpPr/>
          <p:nvPr/>
        </p:nvSpPr>
        <p:spPr>
          <a:xfrm>
            <a:off x="8247888"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Ten per post instead of unbounded growth.</a:t>
            </a:r>
            <a:endParaRPr lang="en-US" sz="1250" dirty="0"/>
          </a:p>
        </p:txBody>
      </p:sp>
      <p:sp>
        <p:nvSpPr>
          <p:cNvPr id="21" name="Text 19"/>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2" name="Text 20"/>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2733"/>
        </a:solidFill>
      </p:bgPr>
    </p:bg>
    <p:spTree>
      <p:nvGrpSpPr>
        <p:cNvPr id="1" name=""/>
        <p:cNvGrpSpPr/>
        <p:nvPr/>
      </p:nvGrpSpPr>
      <p:grpSpPr>
        <a:xfrm>
          <a:off x="0" y="0"/>
          <a:ext cx="0" cy="0"/>
          <a:chOff x="0" y="0"/>
          <a:chExt cx="0" cy="0"/>
        </a:xfrm>
      </p:grpSpPr>
      <p:sp>
        <p:nvSpPr>
          <p:cNvPr id="2" name="Text 0"/>
          <p:cNvSpPr/>
          <p:nvPr/>
        </p:nvSpPr>
        <p:spPr>
          <a:xfrm>
            <a:off x="640080" y="548640"/>
            <a:ext cx="1005840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How the plugin is built</a:t>
            </a:r>
            <a:endParaRPr lang="en-US" sz="3200" dirty="0"/>
          </a:p>
        </p:txBody>
      </p:sp>
      <p:sp>
        <p:nvSpPr>
          <p:cNvPr id="3" name="Text 1"/>
          <p:cNvSpPr/>
          <p:nvPr/>
        </p:nvSpPr>
        <p:spPr>
          <a:xfrm>
            <a:off x="640080" y="1325880"/>
            <a:ext cx="10515600" cy="548640"/>
          </a:xfrm>
          <a:prstGeom prst="rect">
            <a:avLst/>
          </a:prstGeom>
          <a:noFill/>
          <a:ln/>
        </p:spPr>
        <p:txBody>
          <a:bodyPr wrap="square" lIns="0" tIns="0" rIns="0" bIns="0" rtlCol="0" anchor="ctr"/>
          <a:lstStyle/>
          <a:p>
            <a:pPr indent="0" marL="0">
              <a:buNone/>
            </a:pPr>
            <a:r>
              <a:rPr lang="en-US" sz="1600" i="1" dirty="0">
                <a:solidFill>
                  <a:srgbClr val="D7E5EC"/>
                </a:solidFill>
                <a:latin typeface="Calibri" pitchFamily="34" charset="0"/>
                <a:ea typeface="Calibri" pitchFamily="34" charset="-122"/>
                <a:cs typeface="Calibri" pitchFamily="34" charset="-120"/>
              </a:rPr>
              <a:t>One array is the whole map. Read it and you understand the plugin.</a:t>
            </a:r>
            <a:endParaRPr lang="en-US" sz="1600" dirty="0"/>
          </a:p>
        </p:txBody>
      </p:sp>
      <p:sp>
        <p:nvSpPr>
          <p:cNvPr id="4" name="Shape 2"/>
          <p:cNvSpPr/>
          <p:nvPr/>
        </p:nvSpPr>
        <p:spPr>
          <a:xfrm>
            <a:off x="640080" y="2148840"/>
            <a:ext cx="3429000" cy="2331720"/>
          </a:xfrm>
          <a:prstGeom prst="roundRect">
            <a:avLst>
              <a:gd name="adj" fmla="val 3922"/>
            </a:avLst>
          </a:prstGeom>
          <a:solidFill>
            <a:srgbClr val="16323F"/>
          </a:solidFill>
          <a:ln w="12700">
            <a:solidFill>
              <a:srgbClr val="27607A"/>
            </a:solidFill>
            <a:prstDash val="solid"/>
          </a:ln>
        </p:spPr>
      </p:sp>
      <p:sp>
        <p:nvSpPr>
          <p:cNvPr id="5" name="Shape 3"/>
          <p:cNvSpPr/>
          <p:nvPr/>
        </p:nvSpPr>
        <p:spPr>
          <a:xfrm>
            <a:off x="914400" y="2395728"/>
            <a:ext cx="566928" cy="566928"/>
          </a:xfrm>
          <a:prstGeom prst="ellipse">
            <a:avLst/>
          </a:prstGeom>
          <a:solidFill>
            <a:srgbClr val="E0A94B"/>
          </a:solidFill>
          <a:ln/>
        </p:spPr>
      </p:sp>
      <p:sp>
        <p:nvSpPr>
          <p:cNvPr id="6" name="Text 4"/>
          <p:cNvSpPr/>
          <p:nvPr/>
        </p:nvSpPr>
        <p:spPr>
          <a:xfrm>
            <a:off x="91440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1</a:t>
            </a:r>
            <a:endParaRPr lang="en-US" sz="1612" dirty="0"/>
          </a:p>
        </p:txBody>
      </p:sp>
      <p:sp>
        <p:nvSpPr>
          <p:cNvPr id="7" name="Text 5"/>
          <p:cNvSpPr/>
          <p:nvPr/>
        </p:nvSpPr>
        <p:spPr>
          <a:xfrm>
            <a:off x="164592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schema()</a:t>
            </a:r>
            <a:endParaRPr lang="en-US" sz="1600" dirty="0"/>
          </a:p>
        </p:txBody>
      </p:sp>
      <p:sp>
        <p:nvSpPr>
          <p:cNvPr id="8" name="Text 6"/>
          <p:cNvSpPr/>
          <p:nvPr/>
        </p:nvSpPr>
        <p:spPr>
          <a:xfrm>
            <a:off x="93268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One array: every setting, its default, type &amp; group. The single source of truth.</a:t>
            </a:r>
            <a:endParaRPr lang="en-US" sz="1400" dirty="0"/>
          </a:p>
        </p:txBody>
      </p:sp>
      <p:sp>
        <p:nvSpPr>
          <p:cNvPr id="9" name="Text 7"/>
          <p:cNvSpPr/>
          <p:nvPr/>
        </p:nvSpPr>
        <p:spPr>
          <a:xfrm>
            <a:off x="404164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4389120" y="2148840"/>
            <a:ext cx="3429000" cy="2331720"/>
          </a:xfrm>
          <a:prstGeom prst="roundRect">
            <a:avLst>
              <a:gd name="adj" fmla="val 3922"/>
            </a:avLst>
          </a:prstGeom>
          <a:solidFill>
            <a:srgbClr val="16323F"/>
          </a:solidFill>
          <a:ln w="12700">
            <a:solidFill>
              <a:srgbClr val="27607A"/>
            </a:solidFill>
            <a:prstDash val="solid"/>
          </a:ln>
        </p:spPr>
      </p:sp>
      <p:sp>
        <p:nvSpPr>
          <p:cNvPr id="11" name="Shape 9"/>
          <p:cNvSpPr/>
          <p:nvPr/>
        </p:nvSpPr>
        <p:spPr>
          <a:xfrm>
            <a:off x="4663440" y="2395728"/>
            <a:ext cx="566928" cy="566928"/>
          </a:xfrm>
          <a:prstGeom prst="ellipse">
            <a:avLst/>
          </a:prstGeom>
          <a:solidFill>
            <a:srgbClr val="E0A94B"/>
          </a:solidFill>
          <a:ln/>
        </p:spPr>
      </p:sp>
      <p:sp>
        <p:nvSpPr>
          <p:cNvPr id="12" name="Text 10"/>
          <p:cNvSpPr/>
          <p:nvPr/>
        </p:nvSpPr>
        <p:spPr>
          <a:xfrm>
            <a:off x="466344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2</a:t>
            </a:r>
            <a:endParaRPr lang="en-US" sz="1612" dirty="0"/>
          </a:p>
        </p:txBody>
      </p:sp>
      <p:sp>
        <p:nvSpPr>
          <p:cNvPr id="13" name="Text 11"/>
          <p:cNvSpPr/>
          <p:nvPr/>
        </p:nvSpPr>
        <p:spPr>
          <a:xfrm>
            <a:off x="539496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settings page</a:t>
            </a:r>
            <a:endParaRPr lang="en-US" sz="1600" dirty="0"/>
          </a:p>
        </p:txBody>
      </p:sp>
      <p:sp>
        <p:nvSpPr>
          <p:cNvPr id="14" name="Text 12"/>
          <p:cNvSpPr/>
          <p:nvPr/>
        </p:nvSpPr>
        <p:spPr>
          <a:xfrm>
            <a:off x="468172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Loops the schema to render toggles under Settings → Better by Default.</a:t>
            </a:r>
            <a:endParaRPr lang="en-US" sz="1400" dirty="0"/>
          </a:p>
        </p:txBody>
      </p:sp>
      <p:sp>
        <p:nvSpPr>
          <p:cNvPr id="15" name="Text 13"/>
          <p:cNvSpPr/>
          <p:nvPr/>
        </p:nvSpPr>
        <p:spPr>
          <a:xfrm>
            <a:off x="779068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6" name="Shape 14"/>
          <p:cNvSpPr/>
          <p:nvPr/>
        </p:nvSpPr>
        <p:spPr>
          <a:xfrm>
            <a:off x="8138160" y="2148840"/>
            <a:ext cx="3429000" cy="2331720"/>
          </a:xfrm>
          <a:prstGeom prst="roundRect">
            <a:avLst>
              <a:gd name="adj" fmla="val 3922"/>
            </a:avLst>
          </a:prstGeom>
          <a:solidFill>
            <a:srgbClr val="16323F"/>
          </a:solidFill>
          <a:ln w="12700">
            <a:solidFill>
              <a:srgbClr val="27607A"/>
            </a:solidFill>
            <a:prstDash val="solid"/>
          </a:ln>
        </p:spPr>
      </p:sp>
      <p:sp>
        <p:nvSpPr>
          <p:cNvPr id="17" name="Shape 15"/>
          <p:cNvSpPr/>
          <p:nvPr/>
        </p:nvSpPr>
        <p:spPr>
          <a:xfrm>
            <a:off x="8412480" y="2395728"/>
            <a:ext cx="566928" cy="566928"/>
          </a:xfrm>
          <a:prstGeom prst="ellipse">
            <a:avLst/>
          </a:prstGeom>
          <a:solidFill>
            <a:srgbClr val="E0A94B"/>
          </a:solidFill>
          <a:ln/>
        </p:spPr>
      </p:sp>
      <p:sp>
        <p:nvSpPr>
          <p:cNvPr id="18" name="Text 16"/>
          <p:cNvSpPr/>
          <p:nvPr/>
        </p:nvSpPr>
        <p:spPr>
          <a:xfrm>
            <a:off x="841248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3</a:t>
            </a:r>
            <a:endParaRPr lang="en-US" sz="1612" dirty="0"/>
          </a:p>
        </p:txBody>
      </p:sp>
      <p:sp>
        <p:nvSpPr>
          <p:cNvPr id="19" name="Text 17"/>
          <p:cNvSpPr/>
          <p:nvPr/>
        </p:nvSpPr>
        <p:spPr>
          <a:xfrm>
            <a:off x="914400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bootstrap()</a:t>
            </a:r>
            <a:endParaRPr lang="en-US" sz="1600" dirty="0"/>
          </a:p>
        </p:txBody>
      </p:sp>
      <p:sp>
        <p:nvSpPr>
          <p:cNvPr id="20" name="Text 18"/>
          <p:cNvSpPr/>
          <p:nvPr/>
        </p:nvSpPr>
        <p:spPr>
          <a:xfrm>
            <a:off x="843076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For each ENABLED key, wires its add_filter / add_action to the right hook.</a:t>
            </a:r>
            <a:endParaRPr lang="en-US" sz="1400" dirty="0"/>
          </a:p>
        </p:txBody>
      </p:sp>
      <p:sp>
        <p:nvSpPr>
          <p:cNvPr id="21" name="Shape 19"/>
          <p:cNvSpPr/>
          <p:nvPr/>
        </p:nvSpPr>
        <p:spPr>
          <a:xfrm>
            <a:off x="640080" y="4709160"/>
            <a:ext cx="10927080" cy="1234440"/>
          </a:xfrm>
          <a:prstGeom prst="roundRect">
            <a:avLst>
              <a:gd name="adj" fmla="val 5926"/>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22" name="Text 20"/>
          <p:cNvSpPr/>
          <p:nvPr/>
        </p:nvSpPr>
        <p:spPr>
          <a:xfrm>
            <a:off x="841248" y="4873752"/>
            <a:ext cx="10524744" cy="90525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$stored = get_option('wpyeg_better_by_default');   // read once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foreach ( wpyeg_defaults_schema() as $key =&gt; $field ) { /* render + wire */ }</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Hands-on: install &amp; flip switches</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Upload the plugin</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Plugins → Add New → Upload Plugin → choose better-by-default.zip → Activate.</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Open the settings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Settings → Better by Default. Every toggle is grouped by category.</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Verify a default</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Visit /wp-json/wp/v2/users logged out — 401 or empty, not a list of usernames.</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Toggle &amp; re-check</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Flip a switch off, reload, watch the behavior change. That's the filter turning on and off.</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0A94B"/>
                </a:solidFill>
                <a:latin typeface="Courier New" pitchFamily="34" charset="0"/>
                <a:ea typeface="Courier New" pitchFamily="34" charset="-122"/>
                <a:cs typeface="Courier New" pitchFamily="34" charset="-120"/>
              </a:rPr>
              <a:t>prefer the terminal?   </a:t>
            </a:r>
            <a:pPr indent="0" marL="0">
              <a:buNone/>
            </a:pPr>
            <a:r>
              <a:rPr lang="en-US" sz="1300" dirty="0">
                <a:solidFill>
                  <a:srgbClr val="E7C070"/>
                </a:solidFill>
                <a:latin typeface="Courier New" pitchFamily="34" charset="0"/>
                <a:ea typeface="Courier New" pitchFamily="34" charset="-122"/>
                <a:cs typeface="Courier New" pitchFamily="34" charset="-120"/>
              </a:rPr>
              <a:t>wp plugin install ./better-by-default.zip --activate</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27607A"/>
        </a:solidFill>
      </p:bgPr>
    </p:bg>
    <p:spTree>
      <p:nvGrpSpPr>
        <p:cNvPr id="1" name=""/>
        <p:cNvGrpSpPr/>
        <p:nvPr/>
      </p:nvGrpSpPr>
      <p:grpSpPr>
        <a:xfrm>
          <a:off x="0" y="0"/>
          <a:ext cx="0" cy="0"/>
          <a:chOff x="0" y="0"/>
          <a:chExt cx="0" cy="0"/>
        </a:xfrm>
      </p:grpSpPr>
      <p:sp>
        <p:nvSpPr>
          <p:cNvPr id="2" name="Text 0"/>
          <p:cNvSpPr/>
          <p:nvPr/>
        </p:nvSpPr>
        <p:spPr>
          <a:xfrm>
            <a:off x="731520" y="822960"/>
            <a:ext cx="10058400" cy="64008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Your turn</a:t>
            </a:r>
            <a:endParaRPr lang="en-US" sz="1800" dirty="0"/>
          </a:p>
        </p:txBody>
      </p:sp>
      <p:sp>
        <p:nvSpPr>
          <p:cNvPr id="3" name="Text 1"/>
          <p:cNvSpPr/>
          <p:nvPr/>
        </p:nvSpPr>
        <p:spPr>
          <a:xfrm>
            <a:off x="731520" y="1371600"/>
            <a:ext cx="10607040" cy="91440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Add one new default to the plugin</a:t>
            </a:r>
            <a:endParaRPr lang="en-US" sz="3600" dirty="0"/>
          </a:p>
        </p:txBody>
      </p:sp>
      <p:sp>
        <p:nvSpPr>
          <p:cNvPr id="4" name="Text 2"/>
          <p:cNvSpPr/>
          <p:nvPr/>
        </p:nvSpPr>
        <p:spPr>
          <a:xfrm>
            <a:off x="731520" y="2468880"/>
            <a:ext cx="10515600" cy="640080"/>
          </a:xfrm>
          <a:prstGeom prst="rect">
            <a:avLst/>
          </a:prstGeom>
          <a:noFill/>
          <a:ln/>
        </p:spPr>
        <p:txBody>
          <a:bodyPr wrap="square" lIns="0" tIns="0" rIns="0" bIns="0" rtlCol="0" anchor="t"/>
          <a:lstStyle/>
          <a:p>
            <a:pPr indent="0" marL="0">
              <a:buNone/>
            </a:pPr>
            <a:r>
              <a:rPr lang="en-US" sz="1700" i="1" dirty="0">
                <a:solidFill>
                  <a:srgbClr val="D7E5EC"/>
                </a:solidFill>
                <a:latin typeface="Calibri" pitchFamily="34" charset="0"/>
                <a:ea typeface="Calibri" pitchFamily="34" charset="-122"/>
                <a:cs typeface="Calibri" pitchFamily="34" charset="-120"/>
              </a:rPr>
              <a:t>Goal: disable the WordPress dashboard “Welcome” panel. Two small edits — no new settings-page code.</a:t>
            </a:r>
            <a:endParaRPr lang="en-US" sz="1700" dirty="0"/>
          </a:p>
        </p:txBody>
      </p:sp>
      <p:sp>
        <p:nvSpPr>
          <p:cNvPr id="5" name="Shape 3"/>
          <p:cNvSpPr/>
          <p:nvPr/>
        </p:nvSpPr>
        <p:spPr>
          <a:xfrm>
            <a:off x="731520" y="3246120"/>
            <a:ext cx="10698480" cy="2468880"/>
          </a:xfrm>
          <a:prstGeom prst="roundRect">
            <a:avLst>
              <a:gd name="adj" fmla="val 2963"/>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3410712"/>
            <a:ext cx="10296144" cy="2139696"/>
          </a:xfrm>
          <a:prstGeom prst="rect">
            <a:avLst/>
          </a:prstGeom>
          <a:noFill/>
          <a:ln/>
        </p:spPr>
        <p:txBody>
          <a:bodyPr wrap="square" lIns="0" tIns="0" rIns="0" bIns="0" rtlCol="0" anchor="t"/>
          <a:lstStyle/>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1) add a schema entry in wpyeg_defaults_schema()</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'hide_welcome_panel' =&gt; array(</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'default' =&gt; 'yes', 'type' =&gt; 'toggle', 'group' =&gt; 'ux',</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'label' =&gt; 'Hide dashboard welcome panel',</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a:t>
            </a:r>
            <a:endParaRPr lang="en-US" sz="1300" dirty="0"/>
          </a:p>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2) wire it inside wpyeg_defaults_bootstrap()</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if ( wpyeg_defaults_enabled( 'hide_welcome_panel' ) ) {</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remove_action( 'welcome_panel', 'wp_welcome_panel' );</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The cheat sheet</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Defaults that ship ON — safe for nearly any site.</a:t>
            </a:r>
            <a:endParaRPr lang="en-US" sz="14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572000"/>
                <a:gridCol w="4480560"/>
                <a:gridCol w="201168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Default</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Core hook</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Category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Restrict REST user discovery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rest_endpoints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Security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 XML-RPC</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xmlrpc_enabled</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Security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 Application 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wp_is_application_passwords_available</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Security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Require strong 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user_profile_update_errors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Security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Remove version + security headers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wp_generator / wp_headers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Security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 comments &amp; 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comments_open / pings_open</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Content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Redirect author + attachment pages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template_redirect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Content / SEO</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 emoji script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init (remove_action)</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Performance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Own the login logo + link</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login_head / login_headerurl</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Branding</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212080"/>
            <a:ext cx="12188952" cy="1645920"/>
          </a:xfrm>
          <a:prstGeom prst="rect">
            <a:avLst/>
          </a:prstGeom>
          <a:solidFill>
            <a:srgbClr val="16323F"/>
          </a:solidFill>
          <a:ln/>
        </p:spPr>
      </p:sp>
      <p:sp>
        <p:nvSpPr>
          <p:cNvPr id="3" name="Shape 1"/>
          <p:cNvSpPr/>
          <p:nvPr/>
        </p:nvSpPr>
        <p:spPr>
          <a:xfrm>
            <a:off x="777240" y="777240"/>
            <a:ext cx="640080" cy="640080"/>
          </a:xfrm>
          <a:prstGeom prst="ellipse">
            <a:avLst/>
          </a:prstGeom>
          <a:solidFill>
            <a:srgbClr val="E0A94B"/>
          </a:solidFill>
          <a:ln/>
        </p:spPr>
      </p:sp>
      <p:sp>
        <p:nvSpPr>
          <p:cNvPr id="4" name="Text 2"/>
          <p:cNvSpPr/>
          <p:nvPr/>
        </p:nvSpPr>
        <p:spPr>
          <a:xfrm>
            <a:off x="777240" y="77724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 }</a:t>
            </a:r>
            <a:endParaRPr lang="en-US" sz="1820" dirty="0"/>
          </a:p>
        </p:txBody>
      </p:sp>
      <p:sp>
        <p:nvSpPr>
          <p:cNvPr id="5" name="Text 3"/>
          <p:cNvSpPr/>
          <p:nvPr/>
        </p:nvSpPr>
        <p:spPr>
          <a:xfrm>
            <a:off x="777240" y="1737360"/>
            <a:ext cx="10607040" cy="10972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Thanks, WPYEG!</a:t>
            </a:r>
            <a:endParaRPr lang="en-US" sz="5000" dirty="0"/>
          </a:p>
        </p:txBody>
      </p:sp>
      <p:sp>
        <p:nvSpPr>
          <p:cNvPr id="6" name="Text 4"/>
          <p:cNvSpPr/>
          <p:nvPr/>
        </p:nvSpPr>
        <p:spPr>
          <a:xfrm>
            <a:off x="822960" y="2926080"/>
            <a:ext cx="10058400" cy="82296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Take the plugin, fork it, teach it. A default is just an opinionated filter behind a toggle.</a:t>
            </a:r>
            <a:endParaRPr lang="en-US" sz="1900" dirty="0"/>
          </a:p>
        </p:txBody>
      </p:sp>
      <p:sp>
        <p:nvSpPr>
          <p:cNvPr id="7" name="Text 5"/>
          <p:cNvSpPr/>
          <p:nvPr/>
        </p:nvSpPr>
        <p:spPr>
          <a:xfrm>
            <a:off x="822960" y="4023360"/>
            <a:ext cx="10515600" cy="457200"/>
          </a:xfrm>
          <a:prstGeom prst="rect">
            <a:avLst/>
          </a:prstGeom>
          <a:noFill/>
          <a:ln/>
        </p:spPr>
        <p:txBody>
          <a:bodyPr wrap="square" lIns="0" tIns="0" rIns="0" bIns="0" rtlCol="0" anchor="ctr"/>
          <a:lstStyle/>
          <a:p>
            <a:pPr indent="0" marL="0">
              <a:buNone/>
            </a:pPr>
            <a:r>
              <a:rPr lang="en-US" sz="1400" b="1" dirty="0">
                <a:solidFill>
                  <a:srgbClr val="E0A94B"/>
                </a:solidFill>
                <a:latin typeface="Courier New" pitchFamily="34" charset="0"/>
                <a:ea typeface="Courier New" pitchFamily="34" charset="-122"/>
                <a:cs typeface="Courier New" pitchFamily="34" charset="-120"/>
              </a:rPr>
              <a:t>Files:  </a:t>
            </a:r>
            <a:pPr indent="0" marL="0">
              <a:buNone/>
            </a:pPr>
            <a:r>
              <a:rPr lang="en-US" sz="1400" dirty="0">
                <a:solidFill>
                  <a:srgbClr val="D7E5EC"/>
                </a:solidFill>
                <a:latin typeface="Courier New" pitchFamily="34" charset="0"/>
                <a:ea typeface="Courier New" pitchFamily="34" charset="-122"/>
                <a:cs typeface="Courier New" pitchFamily="34" charset="-120"/>
              </a:rPr>
              <a:t>better-by-default.zip</a:t>
            </a:r>
            <a:pPr indent="0" marL="0">
              <a:buNone/>
            </a:pPr>
            <a:r>
              <a:rPr lang="en-US" sz="1400" dirty="0">
                <a:solidFill>
                  <a:srgbClr val="8A9AA3"/>
                </a:solidFill>
                <a:latin typeface="Courier New" pitchFamily="34" charset="0"/>
                <a:ea typeface="Courier New" pitchFamily="34" charset="-122"/>
                <a:cs typeface="Courier New" pitchFamily="34" charset="-120"/>
              </a:rPr>
              <a:t>   ·   </a:t>
            </a:r>
            <a:pPr indent="0" marL="0">
              <a:buNone/>
            </a:pPr>
            <a:r>
              <a:rPr lang="en-US" sz="1400" dirty="0">
                <a:solidFill>
                  <a:srgbClr val="D7E5EC"/>
                </a:solidFill>
                <a:latin typeface="Courier New" pitchFamily="34" charset="0"/>
                <a:ea typeface="Courier New" pitchFamily="34" charset="-122"/>
                <a:cs typeface="Courier New" pitchFamily="34" charset="-120"/>
              </a:rPr>
              <a:t>wordpress-default-settings.md</a:t>
            </a:r>
            <a:endParaRPr lang="en-US" sz="1400" dirty="0"/>
          </a:p>
        </p:txBody>
      </p:sp>
      <p:sp>
        <p:nvSpPr>
          <p:cNvPr id="8" name="Text 6"/>
          <p:cNvSpPr/>
          <p:nvPr/>
        </p:nvSpPr>
        <p:spPr>
          <a:xfrm>
            <a:off x="822960" y="5623560"/>
            <a:ext cx="10515600" cy="5486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Questions?  </a:t>
            </a:r>
            <a:pPr indent="0" marL="0">
              <a:buNone/>
            </a:pPr>
            <a:r>
              <a:rPr lang="en-US" sz="1600" dirty="0">
                <a:solidFill>
                  <a:srgbClr val="D7E5EC"/>
                </a:solidFill>
                <a:latin typeface="Calibri" pitchFamily="34" charset="0"/>
                <a:ea typeface="Calibri" pitchFamily="34" charset="-122"/>
                <a:cs typeface="Calibri" pitchFamily="34" charset="-120"/>
              </a:rPr>
              <a:t>License GPL-2.0-or-later — ship it.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Better by Default</dc:title>
  <dc:subject>PptxGenJS Presentation</dc:subject>
  <dc:creator>WPYEG</dc:creator>
  <cp:lastModifiedBy>WPYEG</cp:lastModifiedBy>
  <cp:revision>1</cp:revision>
  <dcterms:created xsi:type="dcterms:W3CDTF">2026-07-16T16:59:19Z</dcterms:created>
  <dcterms:modified xsi:type="dcterms:W3CDTF">2026-07-16T16:59:19Z</dcterms:modified>
</cp:coreProperties>
</file>