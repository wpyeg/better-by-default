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16989642454075" /><Relationship Type="http://schemas.openxmlformats.org/officeDocument/2006/relationships/extended-properties" Target="/docProps/app.xml" Id="Rdfe8b195af5b49dc" /><Relationship Type="http://schemas.openxmlformats.org/officeDocument/2006/relationships/officeDocument" Target="/ppt/presentation.xml" Id="Rfae3c12f62a64a25" /></Relationships>
</file>

<file path=ppt/presentation.xml><?xml version="1.0" encoding="utf-8"?>
<p:presentation xmlns:p="http://schemas.openxmlformats.org/presentationml/2006/main">
  <p:sldMasterIdLst>
    <p:sldMasterId xmlns:r="http://schemas.openxmlformats.org/officeDocument/2006/relationships" id="2147483648" r:id="R19e63118fa5243cd"/>
  </p:sldMasterIdLst>
  <p:notesMasterIdLst>
    <p:notesMasterId xmlns:r="http://schemas.openxmlformats.org/officeDocument/2006/relationships" r:id="R99c6c82f934e4c10"/>
  </p:notesMasterIdLst>
  <p:sldIdLst>
    <p:sldId xmlns:r="http://schemas.openxmlformats.org/officeDocument/2006/relationships" id="256" r:id="R2893c7c987214600"/>
    <p:sldId xmlns:r="http://schemas.openxmlformats.org/officeDocument/2006/relationships" id="257" r:id="R5959d31c753f4b74"/>
    <p:sldId xmlns:r="http://schemas.openxmlformats.org/officeDocument/2006/relationships" id="258" r:id="Rc4625387da9d4fa7"/>
    <p:sldId xmlns:r="http://schemas.openxmlformats.org/officeDocument/2006/relationships" id="259" r:id="R6eca5d66b5f84e26"/>
    <p:sldId xmlns:r="http://schemas.openxmlformats.org/officeDocument/2006/relationships" id="260" r:id="R37c4b11bc5c24877"/>
    <p:sldId xmlns:r="http://schemas.openxmlformats.org/officeDocument/2006/relationships" id="261" r:id="R70ae0efb383541d6"/>
    <p:sldId xmlns:r="http://schemas.openxmlformats.org/officeDocument/2006/relationships" id="262" r:id="R70b271d1fd5240b0"/>
    <p:sldId xmlns:r="http://schemas.openxmlformats.org/officeDocument/2006/relationships" id="263" r:id="Rf009976b8119445e"/>
    <p:sldId xmlns:r="http://schemas.openxmlformats.org/officeDocument/2006/relationships" id="264" r:id="Rfb6690e0989d4332"/>
    <p:sldId xmlns:r="http://schemas.openxmlformats.org/officeDocument/2006/relationships" id="265" r:id="Rb10c85df08264900"/>
    <p:sldId xmlns:r="http://schemas.openxmlformats.org/officeDocument/2006/relationships" id="266" r:id="R5200956965b748e2"/>
    <p:sldId xmlns:r="http://schemas.openxmlformats.org/officeDocument/2006/relationships" id="267" r:id="Re635cf75e0194078"/>
    <p:sldId xmlns:r="http://schemas.openxmlformats.org/officeDocument/2006/relationships" id="268" r:id="R7240500407c64515"/>
    <p:sldId xmlns:r="http://schemas.openxmlformats.org/officeDocument/2006/relationships" id="269" r:id="R0f7cad944877433b"/>
    <p:sldId xmlns:r="http://schemas.openxmlformats.org/officeDocument/2006/relationships" id="270" r:id="Rc4a17772311b4197"/>
    <p:sldId xmlns:r="http://schemas.openxmlformats.org/officeDocument/2006/relationships" id="271" r:id="Ra7c3c84b63784216"/>
    <p:sldId xmlns:r="http://schemas.openxmlformats.org/officeDocument/2006/relationships" id="272" r:id="R40e875e538594699"/>
    <p:sldId xmlns:r="http://schemas.openxmlformats.org/officeDocument/2006/relationships" id="273" r:id="Rbea82253a93b44d2"/>
    <p:sldId xmlns:r="http://schemas.openxmlformats.org/officeDocument/2006/relationships" id="274" r:id="R065a0d9400c64a61"/>
    <p:sldId xmlns:r="http://schemas.openxmlformats.org/officeDocument/2006/relationships" id="275" r:id="R84747724b90e4e9a"/>
    <p:sldId xmlns:r="http://schemas.openxmlformats.org/officeDocument/2006/relationships" id="276" r:id="R30e7499b652643bc"/>
    <p:sldId xmlns:r="http://schemas.openxmlformats.org/officeDocument/2006/relationships" id="277" r:id="Ref3c8d5f22014760"/>
    <p:sldId xmlns:r="http://schemas.openxmlformats.org/officeDocument/2006/relationships" id="278" r:id="R87905324e9b94569"/>
    <p:sldId xmlns:r="http://schemas.openxmlformats.org/officeDocument/2006/relationships" id="279" r:id="R1d4bf08469f64302"/>
    <p:sldId xmlns:r="http://schemas.openxmlformats.org/officeDocument/2006/relationships" id="280" r:id="R7c472f3843364659"/>
    <p:sldId xmlns:r="http://schemas.openxmlformats.org/officeDocument/2006/relationships" id="281" r:id="R79eff36843104d40"/>
    <p:sldId xmlns:r="http://schemas.openxmlformats.org/officeDocument/2006/relationships" id="282" r:id="R1747da2959dd4b9d"/>
    <p:sldId xmlns:r="http://schemas.openxmlformats.org/officeDocument/2006/relationships" id="283" r:id="R7948b5f1dd5c417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a1d3824d9e34ba0" /><Relationship Type="http://schemas.openxmlformats.org/officeDocument/2006/relationships/slideMaster" Target="/ppt/slideMasters/slideMaster1.xml" Id="R19e63118fa5243cd" /><Relationship Type="http://schemas.openxmlformats.org/officeDocument/2006/relationships/notesMaster" Target="/ppt/notesMasters/notesMaster1.xml" Id="R99c6c82f934e4c10" /><Relationship Type="http://schemas.openxmlformats.org/officeDocument/2006/relationships/presProps" Target="/ppt/presProps.xml" Id="Rc39f72ede15e4466" /><Relationship Type="http://schemas.openxmlformats.org/officeDocument/2006/relationships/viewProps" Target="/ppt/viewProps.xml" Id="R37fa242b065e45ab" /><Relationship Type="http://schemas.openxmlformats.org/officeDocument/2006/relationships/tableStyles" Target="/ppt/tableStyles.xml" Id="R83d7b7502e9f4fbb" /><Relationship Type="http://schemas.openxmlformats.org/officeDocument/2006/relationships/slide" Target="/ppt/slides/slide1.xml" Id="R2893c7c987214600" /><Relationship Type="http://schemas.openxmlformats.org/officeDocument/2006/relationships/slide" Target="/ppt/slides/slide2.xml" Id="R5959d31c753f4b74" /><Relationship Type="http://schemas.openxmlformats.org/officeDocument/2006/relationships/slide" Target="/ppt/slides/slide3.xml" Id="Rc4625387da9d4fa7" /><Relationship Type="http://schemas.openxmlformats.org/officeDocument/2006/relationships/slide" Target="/ppt/slides/slide4.xml" Id="R6eca5d66b5f84e26" /><Relationship Type="http://schemas.openxmlformats.org/officeDocument/2006/relationships/slide" Target="/ppt/slides/slide5.xml" Id="R37c4b11bc5c24877" /><Relationship Type="http://schemas.openxmlformats.org/officeDocument/2006/relationships/slide" Target="/ppt/slides/slide6.xml" Id="R70ae0efb383541d6" /><Relationship Type="http://schemas.openxmlformats.org/officeDocument/2006/relationships/slide" Target="/ppt/slides/slide7.xml" Id="R70b271d1fd5240b0" /><Relationship Type="http://schemas.openxmlformats.org/officeDocument/2006/relationships/slide" Target="/ppt/slides/slide8.xml" Id="Rf009976b8119445e" /><Relationship Type="http://schemas.openxmlformats.org/officeDocument/2006/relationships/slide" Target="/ppt/slides/slide9.xml" Id="Rfb6690e0989d4332" /><Relationship Type="http://schemas.openxmlformats.org/officeDocument/2006/relationships/slide" Target="/ppt/slides/slide10.xml" Id="Rb10c85df08264900" /><Relationship Type="http://schemas.openxmlformats.org/officeDocument/2006/relationships/slide" Target="/ppt/slides/slide11.xml" Id="R5200956965b748e2" /><Relationship Type="http://schemas.openxmlformats.org/officeDocument/2006/relationships/slide" Target="/ppt/slides/slide12.xml" Id="Re635cf75e0194078" /><Relationship Type="http://schemas.openxmlformats.org/officeDocument/2006/relationships/slide" Target="/ppt/slides/slide13.xml" Id="R7240500407c64515" /><Relationship Type="http://schemas.openxmlformats.org/officeDocument/2006/relationships/slide" Target="/ppt/slides/slide14.xml" Id="R0f7cad944877433b" /><Relationship Type="http://schemas.openxmlformats.org/officeDocument/2006/relationships/slide" Target="/ppt/slides/slide15.xml" Id="Rc4a17772311b4197" /><Relationship Type="http://schemas.openxmlformats.org/officeDocument/2006/relationships/slide" Target="/ppt/slides/slide16.xml" Id="Ra7c3c84b63784216" /><Relationship Type="http://schemas.openxmlformats.org/officeDocument/2006/relationships/slide" Target="/ppt/slides/slide17.xml" Id="R40e875e538594699" /><Relationship Type="http://schemas.openxmlformats.org/officeDocument/2006/relationships/slide" Target="/ppt/slides/slide18.xml" Id="Rbea82253a93b44d2" /><Relationship Type="http://schemas.openxmlformats.org/officeDocument/2006/relationships/slide" Target="/ppt/slides/slide19.xml" Id="R065a0d9400c64a61" /><Relationship Type="http://schemas.openxmlformats.org/officeDocument/2006/relationships/slide" Target="/ppt/slides/slide20.xml" Id="R84747724b90e4e9a" /><Relationship Type="http://schemas.openxmlformats.org/officeDocument/2006/relationships/slide" Target="/ppt/slides/slide21.xml" Id="R30e7499b652643bc" /><Relationship Type="http://schemas.openxmlformats.org/officeDocument/2006/relationships/slide" Target="/ppt/slides/slide22.xml" Id="Ref3c8d5f22014760" /><Relationship Type="http://schemas.openxmlformats.org/officeDocument/2006/relationships/slide" Target="/ppt/slides/slide23.xml" Id="R87905324e9b94569" /><Relationship Type="http://schemas.openxmlformats.org/officeDocument/2006/relationships/slide" Target="/ppt/slides/slide24.xml" Id="R1d4bf08469f64302" /><Relationship Type="http://schemas.openxmlformats.org/officeDocument/2006/relationships/slide" Target="/ppt/slides/slide25.xml" Id="R7c472f3843364659" /><Relationship Type="http://schemas.openxmlformats.org/officeDocument/2006/relationships/slide" Target="/ppt/slides/slide26.xml" Id="R79eff36843104d40" /><Relationship Type="http://schemas.openxmlformats.org/officeDocument/2006/relationships/slide" Target="/ppt/slides/slide27.xml" Id="R1747da2959dd4b9d" /><Relationship Type="http://schemas.openxmlformats.org/officeDocument/2006/relationships/slide" Target="/ppt/slides/slide28.xml" Id="R7948b5f1dd5c41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d68da5523c48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9193b71de504cf0" /><Relationship Type="http://schemas.openxmlformats.org/officeDocument/2006/relationships/notesMaster" Target="/ppt/notesMasters/notesMaster1.xml" Id="R0ccf322142194a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40d7db025944af" /><Relationship Type="http://schemas.openxmlformats.org/officeDocument/2006/relationships/notesMaster" Target="/ppt/notesMasters/notesMaster1.xml" Id="R7840a2277bf84d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b49c638be644c5" /><Relationship Type="http://schemas.openxmlformats.org/officeDocument/2006/relationships/notesMaster" Target="/ppt/notesMasters/notesMaster1.xml" Id="R8ad781cbe94a4d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1ee683b51e4180" /><Relationship Type="http://schemas.openxmlformats.org/officeDocument/2006/relationships/notesMaster" Target="/ppt/notesMasters/notesMaster1.xml" Id="R7a62fd305a294b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ddab9467b6426b" /><Relationship Type="http://schemas.openxmlformats.org/officeDocument/2006/relationships/notesMaster" Target="/ppt/notesMasters/notesMaster1.xml" Id="R21cfd65052df4b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e4aee787bc4290" /><Relationship Type="http://schemas.openxmlformats.org/officeDocument/2006/relationships/notesMaster" Target="/ppt/notesMasters/notesMaster1.xml" Id="R64dda179762840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8a124e5ec44bc8" /><Relationship Type="http://schemas.openxmlformats.org/officeDocument/2006/relationships/notesMaster" Target="/ppt/notesMasters/notesMaster1.xml" Id="Red8e1ec7a1834a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9c66e3dfb84b97" /><Relationship Type="http://schemas.openxmlformats.org/officeDocument/2006/relationships/notesMaster" Target="/ppt/notesMasters/notesMaster1.xml" Id="Rbbadad0d8c1f4c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6b8c58cb17044b2" /><Relationship Type="http://schemas.openxmlformats.org/officeDocument/2006/relationships/notesMaster" Target="/ppt/notesMasters/notesMaster1.xml" Id="Rbf1a7b1bb8da47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4fa6e0bf074f8f" /><Relationship Type="http://schemas.openxmlformats.org/officeDocument/2006/relationships/notesMaster" Target="/ppt/notesMasters/notesMaster1.xml" Id="R435791a54e524f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cb10fd40cb43ef" /><Relationship Type="http://schemas.openxmlformats.org/officeDocument/2006/relationships/notesMaster" Target="/ppt/notesMasters/notesMaster1.xml" Id="R6a02faffe63d44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af91a6fbe574a87" /><Relationship Type="http://schemas.openxmlformats.org/officeDocument/2006/relationships/notesMaster" Target="/ppt/notesMasters/notesMaster1.xml" Id="Rdc2d8ed4593345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cdee88c8d4343be" /><Relationship Type="http://schemas.openxmlformats.org/officeDocument/2006/relationships/notesMaster" Target="/ppt/notesMasters/notesMaster1.xml" Id="Rdcecc4161ce44fd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cfaa35fe7c54f91" /><Relationship Type="http://schemas.openxmlformats.org/officeDocument/2006/relationships/notesMaster" Target="/ppt/notesMasters/notesMaster1.xml" Id="Reba236f824f34f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df310ed8ade44e9" /><Relationship Type="http://schemas.openxmlformats.org/officeDocument/2006/relationships/notesMaster" Target="/ppt/notesMasters/notesMaster1.xml" Id="R7bf59ff2788b41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b75f5ad9ef74902" /><Relationship Type="http://schemas.openxmlformats.org/officeDocument/2006/relationships/notesMaster" Target="/ppt/notesMasters/notesMaster1.xml" Id="R67b0faad18f542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75f3e492374be3" /><Relationship Type="http://schemas.openxmlformats.org/officeDocument/2006/relationships/notesMaster" Target="/ppt/notesMasters/notesMaster1.xml" Id="R94ca6efd47e0488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b72c0bf1c5d451d" /><Relationship Type="http://schemas.openxmlformats.org/officeDocument/2006/relationships/notesMaster" Target="/ppt/notesMasters/notesMaster1.xml" Id="R814d0737d32b4e6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7c4de540b14596" /><Relationship Type="http://schemas.openxmlformats.org/officeDocument/2006/relationships/notesMaster" Target="/ppt/notesMasters/notesMaster1.xml" Id="Rc337708a17f54ec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2ea4039e9774420" /><Relationship Type="http://schemas.openxmlformats.org/officeDocument/2006/relationships/notesMaster" Target="/ppt/notesMasters/notesMaster1.xml" Id="R7c9685e0bdd845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1ec85816b74364" /><Relationship Type="http://schemas.openxmlformats.org/officeDocument/2006/relationships/notesMaster" Target="/ppt/notesMasters/notesMaster1.xml" Id="Ra4193ab6e8c64c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52487b6b1a04854" /><Relationship Type="http://schemas.openxmlformats.org/officeDocument/2006/relationships/notesMaster" Target="/ppt/notesMasters/notesMaster1.xml" Id="Re5bbf5fbf7dd465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e930ab36eaa471c" /><Relationship Type="http://schemas.openxmlformats.org/officeDocument/2006/relationships/notesMaster" Target="/ppt/notesMasters/notesMaster1.xml" Id="R402d3017dd6f41f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408fd9275c4a57" /><Relationship Type="http://schemas.openxmlformats.org/officeDocument/2006/relationships/notesMaster" Target="/ppt/notesMasters/notesMaster1.xml" Id="R8e583d06f86441b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6af7d8b3a8944e9" /><Relationship Type="http://schemas.openxmlformats.org/officeDocument/2006/relationships/notesMaster" Target="/ppt/notesMasters/notesMaster1.xml" Id="Ra2d05617321b421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c36d69a5bc642fb" /><Relationship Type="http://schemas.openxmlformats.org/officeDocument/2006/relationships/notesMaster" Target="/ppt/notesMasters/notesMaster1.xml" Id="R849eada6d30649e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c3349c0db5b43aa" /><Relationship Type="http://schemas.openxmlformats.org/officeDocument/2006/relationships/notesMaster" Target="/ppt/notesMasters/notesMaster1.xml" Id="Rf84eb2400e9049f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8db3b3583674222" /><Relationship Type="http://schemas.openxmlformats.org/officeDocument/2006/relationships/notesMaster" Target="/ppt/notesMasters/notesMaster1.xml" Id="R56bbd68e1b5344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demo plugin, a default is an add_filter behind an if ( option ). We have twenty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WordPress is built to be interrupted at labeled moments (hooks) so you never edit core code. __return_false is a tiny built-in helper that just hands back false — perfect for switching a feature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We'll spend most of our time on security and content, then move quickly through UX, login, branding, and performance, and end up with a plugin that covers them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item in this section removes something an attacker can poke — usually in one line. The theme is simple: disable what you don't use. You can't exploit an endpoint that isn't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XML-RPC is a legitimate but aging API,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reduce channels for spam and clean up the thin, duplicate URLs that bots and search engines get lost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many sites, comments are a spam magnet with little upside. Here we close them everywhere, hide existing threads, and drop the admin menu. If you want comments, leave this tuned off — but consider closing pingbacks and trackbacks, which are almost pure spam.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quality-of-life defaults. These are more about your daily user experience and session safety than raw hardening.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pair brands the login screen. Then we end with two performance levers to shave some weight off every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defaults live in wp-config.php, above the plugin layer, because they must load before plugins do. They can't be options — so document them as manual steps in your onboarding checklist and put them in your standard wp-config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lesson is a data-driven plugin. Adding a new default equals one array entry plus one if-block in bootstrap — no new settings-page code. That's the pattern to steal for your own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this live if there's a sandbox. The /wp-json/wp/v2/users check is the crowd-pleaser — before/after is instantly visible. For the terminal crowd, the WP-CLI one-liner installs and activates from the zip in one shot; swap the local path for a URL if the zip is hosted.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great confidence-builder: it proves the data-driven pattern. Touch two spots and a real feature toggles. If time is short, walk it through verbally instead of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your screenshot slide — everything on-by-default in one view, mapped to the core hook. The plugin installs maintenance/security core releases automatically while major core releases wait for testing. Translation files retain WordPress's existing automatic-update behavior, and plugin/theme code keeps its per-item WordPress setting because version numbers do not reliably identify risk. Three deliberate non-defaults worth calling out: Application Passwords stay AVAILABLE, the login logo is LEFT ALONE, and removing the version fingerprint is OFF because it is obscurity rather than hardening.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Hand out the zip and the reference doc. Invite everyone to add their own favorite default to the schema and share it back with the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8725e6851e406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86cfc8c2dd4880" /><Relationship Type="http://schemas.openxmlformats.org/officeDocument/2006/relationships/slideLayout" Target="/ppt/slideLayouts/slideLayout1.xml" Id="Ree31e7fc2f0f4b15"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31e7fc2f0f4b1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1e87abf3444e3e" /><Relationship Type="http://schemas.openxmlformats.org/officeDocument/2006/relationships/notesSlide" Target="/ppt/notesSlides/notesSlide1.xml" Id="R305d7b4847de4b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57862eb88ae4e3f" /><Relationship Type="http://schemas.openxmlformats.org/officeDocument/2006/relationships/notesSlide" Target="/ppt/notesSlides/notesSlide2.xml" Id="R420cc82c761b40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dcbff4cc0fc4730" /><Relationship Type="http://schemas.openxmlformats.org/officeDocument/2006/relationships/notesSlide" Target="/ppt/notesSlides/notesSlide3.xml" Id="Rcd2222ae14fe4c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95fde8dece488f" /><Relationship Type="http://schemas.openxmlformats.org/officeDocument/2006/relationships/notesSlide" Target="/ppt/notesSlides/notesSlide4.xml" Id="R9173cb64ddc743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baecb701ed4480a" /><Relationship Type="http://schemas.openxmlformats.org/officeDocument/2006/relationships/notesSlide" Target="/ppt/notesSlides/notesSlide5.xml" Id="R8ad0c93d3ee841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0608316308436c" /><Relationship Type="http://schemas.openxmlformats.org/officeDocument/2006/relationships/notesSlide" Target="/ppt/notesSlides/notesSlide6.xml" Id="R6c1a216bd7ff4ad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72e93fc01214c75" /><Relationship Type="http://schemas.openxmlformats.org/officeDocument/2006/relationships/notesSlide" Target="/ppt/notesSlides/notesSlide7.xml" Id="R77d86032ad584f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94d0a1b1ccc4b28" /><Relationship Type="http://schemas.openxmlformats.org/officeDocument/2006/relationships/notesSlide" Target="/ppt/notesSlides/notesSlide8.xml" Id="R52c3d38446c0487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8768fc928554a46" /><Relationship Type="http://schemas.openxmlformats.org/officeDocument/2006/relationships/notesSlide" Target="/ppt/notesSlides/notesSlide9.xml" Id="R871dde87186a48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a4af79c88904c68" /><Relationship Type="http://schemas.openxmlformats.org/officeDocument/2006/relationships/notesSlide" Target="/ppt/notesSlides/notesSlide10.xml" Id="Rd7611ac0a4424c7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cc35d7408a3403f" /><Relationship Type="http://schemas.openxmlformats.org/officeDocument/2006/relationships/notesSlide" Target="/ppt/notesSlides/notesSlide11.xml" Id="R928cabfc149a4f4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aea384692c4d17" /><Relationship Type="http://schemas.openxmlformats.org/officeDocument/2006/relationships/notesSlide" Target="/ppt/notesSlides/notesSlide12.xml" Id="Rde9b8244c59648f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4373aab4e094877" /><Relationship Type="http://schemas.openxmlformats.org/officeDocument/2006/relationships/notesSlide" Target="/ppt/notesSlides/notesSlide13.xml" Id="Raf8e426717bf4f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52b332d5e984dd1" /><Relationship Type="http://schemas.openxmlformats.org/officeDocument/2006/relationships/notesSlide" Target="/ppt/notesSlides/notesSlide14.xml" Id="R58d0b663bc6c48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82698cd8e8a4bc1" /><Relationship Type="http://schemas.openxmlformats.org/officeDocument/2006/relationships/notesSlide" Target="/ppt/notesSlides/notesSlide15.xml" Id="Rdaa31e45337a4f9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2d57ba766974096" /><Relationship Type="http://schemas.openxmlformats.org/officeDocument/2006/relationships/notesSlide" Target="/ppt/notesSlides/notesSlide16.xml" Id="R2c300a292b4c44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4bb7581d3fd43a7" /><Relationship Type="http://schemas.openxmlformats.org/officeDocument/2006/relationships/notesSlide" Target="/ppt/notesSlides/notesSlide17.xml" Id="Raf0feb62b10b4f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300db4c188249fe" /><Relationship Type="http://schemas.openxmlformats.org/officeDocument/2006/relationships/notesSlide" Target="/ppt/notesSlides/notesSlide18.xml" Id="R892c5156a5b9424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3580ba9d414ff7" /><Relationship Type="http://schemas.openxmlformats.org/officeDocument/2006/relationships/notesSlide" Target="/ppt/notesSlides/notesSlide19.xml" Id="R3982bb73e5824e9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e9a89a4231c486c" /><Relationship Type="http://schemas.openxmlformats.org/officeDocument/2006/relationships/notesSlide" Target="/ppt/notesSlides/notesSlide20.xml" Id="R717c04ba6d79464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abdda3023e5475b" /><Relationship Type="http://schemas.openxmlformats.org/officeDocument/2006/relationships/notesSlide" Target="/ppt/notesSlides/notesSlide21.xml" Id="Rf8676b2914ff42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061fc285a4f4190" /><Relationship Type="http://schemas.openxmlformats.org/officeDocument/2006/relationships/notesSlide" Target="/ppt/notesSlides/notesSlide22.xml" Id="Rcdf76416c9ab44c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1c5afbe8c324407" /><Relationship Type="http://schemas.openxmlformats.org/officeDocument/2006/relationships/notesSlide" Target="/ppt/notesSlides/notesSlide23.xml" Id="Red5eb29ca59b458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9334856a3374676" /><Relationship Type="http://schemas.openxmlformats.org/officeDocument/2006/relationships/notesSlide" Target="/ppt/notesSlides/notesSlide24.xml" Id="R17a3785537d4433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7cecff3eade4f6c" /><Relationship Type="http://schemas.openxmlformats.org/officeDocument/2006/relationships/notesSlide" Target="/ppt/notesSlides/notesSlide25.xml" Id="R2c48c424515d429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c10aaeb48ed4f15" /><Relationship Type="http://schemas.openxmlformats.org/officeDocument/2006/relationships/notesSlide" Target="/ppt/notesSlides/notesSlide26.xml" Id="Radf5c0a27f9545c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ce4d6c17c584054" /><Relationship Type="http://schemas.openxmlformats.org/officeDocument/2006/relationships/notesSlide" Target="/ppt/notesSlides/notesSlide27.xml" Id="R3ecbbef9aab340b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a1a60ff98a84af4" /><Relationship Type="http://schemas.openxmlformats.org/officeDocument/2006/relationships/notesSlide" Target="/ppt/notesSlides/notesSlide28.xml" Id="R83167518131a416d" /></Relationships>
</file>

<file path=ppt/slides/slide1.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351847D-2FFE-4513-9418-FD0962505F45}"/>
              </a:ext>
            </a:extLst>
          </p:cNvPr>
          <p:cNvSpPr>
            <a:spLocks xmlns:a="http://schemas.openxmlformats.org/drawingml/2006/main" noGrp="1"/>
          </p:cNvSpPr>
          <p:nvPr/>
        </p:nvSpPr>
        <p:spPr>
          <a:xfrm xmlns:a="http://schemas.openxmlformats.org/drawingml/2006/main">
            <a:off x="0" y="5394960"/>
            <a:ext cx="12188952" cy="146304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1AC5B65-2182-47E5-9458-8227744C1E5E}"/>
              </a:ext>
            </a:extLst>
          </p:cNvPr>
          <p:cNvSpPr>
            <a:spLocks xmlns:a="http://schemas.openxmlformats.org/drawingml/2006/main" noGrp="1"/>
          </p:cNvSpPr>
          <p:nvPr/>
        </p:nvSpPr>
        <p:spPr>
          <a:xfrm xmlns:a="http://schemas.openxmlformats.org/drawingml/2006/main">
            <a:off x="777240" y="731520"/>
            <a:ext cx="658368" cy="658368"/>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551629BC-27D7-4836-8575-E96C0E395FDF}"/>
              </a:ext>
            </a:extLst>
          </p:cNvPr>
          <p:cNvSpPr>
            <a:spLocks xmlns:a="http://schemas.openxmlformats.org/drawingml/2006/main" noGrp="1"/>
          </p:cNvSpPr>
          <p:nvPr/>
        </p:nvSpPr>
        <p:spPr>
          <a:xfrm xmlns:a="http://schemas.openxmlformats.org/drawingml/2006/main">
            <a:off x="777240" y="731520"/>
            <a:ext cx="65836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72" b="1">
                <a:solidFill>
                  <a:srgbClr val="0F2733"/>
                </a:solidFill>
                <a:latin typeface="Cambria"/>
                <a:ea typeface="Cambria"/>
                <a:cs typeface="Cambria"/>
              </a:rPr>
              <a:t>{ }</a:t>
            </a:r>
          </a:p>
        </p:txBody>
      </p:sp>
      <p:sp>
        <p:nvSpPr>
          <p:cNvPr id="5" name="Text 3">
            <a:extLst xmlns:a="http://schemas.openxmlformats.org/drawingml/2006/main">
              <a:ext uri="{FF2B5EF4-FFF2-40B4-BE49-F238E27FC236}">
                <a16:creationId xmlns:a16="http://schemas.microsoft.com/office/drawing/2014/main" id="{85041555-1C06-4E34-9955-9EDDEDF8B5A1}"/>
              </a:ext>
            </a:extLst>
          </p:cNvPr>
          <p:cNvSpPr>
            <a:spLocks xmlns:a="http://schemas.openxmlformats.org/drawingml/2006/main" noGrp="1"/>
          </p:cNvSpPr>
          <p:nvPr/>
        </p:nvSpPr>
        <p:spPr>
          <a:xfrm xmlns:a="http://schemas.openxmlformats.org/drawingml/2006/main">
            <a:off x="1600200" y="82296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E0A94B"/>
                </a:solidFill>
                <a:latin typeface="Calibri"/>
                <a:ea typeface="Calibri"/>
                <a:cs typeface="Calibri"/>
              </a:rPr>
              <a:t>WPYEG · Edmonton WordPress Meetup</a:t>
            </a:r>
          </a:p>
        </p:txBody>
      </p:sp>
      <p:sp>
        <p:nvSpPr>
          <p:cNvPr id="6" name="Text 4">
            <a:extLst xmlns:a="http://schemas.openxmlformats.org/drawingml/2006/main">
              <a:ext uri="{FF2B5EF4-FFF2-40B4-BE49-F238E27FC236}">
                <a16:creationId xmlns:a16="http://schemas.microsoft.com/office/drawing/2014/main" id="{5D0D9FB9-A3C2-4C5F-A372-F09C1EFE9919}"/>
              </a:ext>
            </a:extLst>
          </p:cNvPr>
          <p:cNvSpPr>
            <a:spLocks xmlns:a="http://schemas.openxmlformats.org/drawingml/2006/main" noGrp="1"/>
          </p:cNvSpPr>
          <p:nvPr/>
        </p:nvSpPr>
        <p:spPr>
          <a:xfrm xmlns:a="http://schemas.openxmlformats.org/drawingml/2006/main">
            <a:off x="777240" y="2148840"/>
            <a:ext cx="107899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6800" b="1">
                <a:solidFill>
                  <a:srgbClr val="FFFFFF"/>
                </a:solidFill>
                <a:latin typeface="Cambria"/>
                <a:ea typeface="Cambria"/>
                <a:cs typeface="Cambria"/>
              </a:rPr>
              <a:t>Better by Default</a:t>
            </a:r>
          </a:p>
        </p:txBody>
      </p:sp>
      <p:sp>
        <p:nvSpPr>
          <p:cNvPr id="7" name="Text 5">
            <a:extLst xmlns:a="http://schemas.openxmlformats.org/drawingml/2006/main">
              <a:ext uri="{FF2B5EF4-FFF2-40B4-BE49-F238E27FC236}">
                <a16:creationId xmlns:a16="http://schemas.microsoft.com/office/drawing/2014/main" id="{F3EB48DB-7D22-45A9-B08A-BBAA7E00F2BD}"/>
              </a:ext>
            </a:extLst>
          </p:cNvPr>
          <p:cNvSpPr>
            <a:spLocks xmlns:a="http://schemas.openxmlformats.org/drawingml/2006/main" noGrp="1"/>
          </p:cNvSpPr>
          <p:nvPr/>
        </p:nvSpPr>
        <p:spPr>
          <a:xfrm xmlns:a="http://schemas.openxmlformats.org/drawingml/2006/main">
            <a:off x="822960" y="3977640"/>
            <a:ext cx="102412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i="1">
                <a:solidFill>
                  <a:srgbClr val="D7E5EC"/>
                </a:solidFill>
                <a:latin typeface="Calibri"/>
                <a:ea typeface="Calibri"/>
                <a:cs typeface="Calibri"/>
              </a:rPr>
              <a:t>Secure defaults for every WordPress site.</a:t>
            </a:r>
          </a:p>
        </p:txBody>
      </p:sp>
      <p:sp>
        <p:nvSpPr>
          <p:cNvPr id="8" name="Text 6">
            <a:extLst xmlns:a="http://schemas.openxmlformats.org/drawingml/2006/main">
              <a:ext uri="{FF2B5EF4-FFF2-40B4-BE49-F238E27FC236}">
                <a16:creationId xmlns:a16="http://schemas.microsoft.com/office/drawing/2014/main" id="{27E9DA24-5883-4175-8B86-73A1234EF453}"/>
              </a:ext>
            </a:extLst>
          </p:cNvPr>
          <p:cNvSpPr>
            <a:spLocks xmlns:a="http://schemas.openxmlformats.org/drawingml/2006/main" noGrp="1"/>
          </p:cNvSpPr>
          <p:nvPr/>
        </p:nvSpPr>
        <p:spPr>
          <a:xfrm xmlns:a="http://schemas.openxmlformats.org/drawingml/2006/main">
            <a:off x="822960" y="5715000"/>
            <a:ext cx="10515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D7E5EC"/>
                </a:solidFill>
                <a:latin typeface="Courier New"/>
                <a:ea typeface="Courier New"/>
                <a:cs typeface="Courier New"/>
              </a:rPr>
              <a:t>a hands-on workshop  </a:t>
            </a:r>
            <a:r>
              <a:rPr sz="1400">
                <a:solidFill>
                  <a:srgbClr val="E0A94B"/>
                </a:solidFill>
                <a:latin typeface="Courier New"/>
                <a:ea typeface="Courier New"/>
                <a:cs typeface="Courier New"/>
              </a:rPr>
              <a:t>·  build the “sane-defaults” plugin</a:t>
            </a:r>
          </a:p>
        </p:txBody>
      </p:sp>
    </p:spTree>
    <p:extLst>
      <p:ext uri="{BB962C8B-B14F-4D97-AF65-F5344CB8AC3E}">
        <p14:creationId xmlns:p14="http://schemas.microsoft.com/office/powerpoint/2010/main" val="1850838830"/>
      </p:ext>
    </p:extLst>
  </p:cSld>
</p:sld>
</file>

<file path=ppt/slides/slide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01C258-65F7-47FA-A60F-4ED0775CA6D2}"/>
              </a:ext>
            </a:extLst>
          </p:cNvPr>
          <p:cNvSpPr>
            <a:spLocks xmlns:a="http://schemas.openxmlformats.org/drawingml/2006/main" noGrp="1"/>
          </p:cNvSpPr>
          <p:nvPr/>
        </p:nvSpPr>
        <p:spPr>
          <a:xfrm xmlns:a="http://schemas.openxmlformats.org/drawingml/2006/main">
            <a:off x="548640" y="502920"/>
            <a:ext cx="109728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0F2733"/>
                </a:solidFill>
                <a:latin typeface="Cambria"/>
                <a:ea typeface="Cambria"/>
                <a:cs typeface="Cambria"/>
              </a:rPr>
              <a:t>WordPress is open by default; hosts vary in what they close.</a:t>
            </a:r>
          </a:p>
        </p:txBody>
      </p:sp>
      <p:sp>
        <p:nvSpPr>
          <p:cNvPr id="3" name="Text 1">
            <a:extLst xmlns:a="http://schemas.openxmlformats.org/drawingml/2006/main">
              <a:ext uri="{FF2B5EF4-FFF2-40B4-BE49-F238E27FC236}">
                <a16:creationId xmlns:a16="http://schemas.microsoft.com/office/drawing/2014/main" id="{3CC08ABD-8147-4ECF-AA4F-8B5386E69471}"/>
              </a:ext>
            </a:extLst>
          </p:cNvPr>
          <p:cNvSpPr>
            <a:spLocks xmlns:a="http://schemas.openxmlformats.org/drawingml/2006/main" noGrp="1"/>
          </p:cNvSpPr>
          <p:nvPr/>
        </p:nvSpPr>
        <p:spPr>
          <a:xfrm xmlns:a="http://schemas.openxmlformats.org/drawingml/2006/main">
            <a:off x="548640" y="137160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None of these are bugs. They are defaults chosen for maximum compatibility on a 20+ year-old web application — you probably don't need them.</a:t>
            </a:r>
          </a:p>
        </p:txBody>
      </p:sp>
      <p:sp>
        <p:nvSpPr>
          <p:cNvPr id="4" name="Shape 2">
            <a:extLst xmlns:a="http://schemas.openxmlformats.org/drawingml/2006/main">
              <a:ext uri="{FF2B5EF4-FFF2-40B4-BE49-F238E27FC236}">
                <a16:creationId xmlns:a16="http://schemas.microsoft.com/office/drawing/2014/main" id="{0C19BF85-8E2D-42C5-A2E6-380BCE412F8C}"/>
              </a:ext>
            </a:extLst>
          </p:cNvPr>
          <p:cNvSpPr>
            <a:spLocks xmlns:a="http://schemas.openxmlformats.org/drawingml/2006/main" noGrp="1"/>
          </p:cNvSpPr>
          <p:nvPr/>
        </p:nvSpPr>
        <p:spPr>
          <a:xfrm xmlns:a="http://schemas.openxmlformats.org/drawingml/2006/main">
            <a:off x="548640" y="242316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5" name="Shape 3">
            <a:extLst xmlns:a="http://schemas.openxmlformats.org/drawingml/2006/main">
              <a:ext uri="{FF2B5EF4-FFF2-40B4-BE49-F238E27FC236}">
                <a16:creationId xmlns:a16="http://schemas.microsoft.com/office/drawing/2014/main" id="{88C191AD-45D4-49C7-9149-AEC211434ACE}"/>
              </a:ext>
            </a:extLst>
          </p:cNvPr>
          <p:cNvSpPr>
            <a:spLocks xmlns:a="http://schemas.openxmlformats.org/drawingml/2006/main" noGrp="1"/>
          </p:cNvSpPr>
          <p:nvPr/>
        </p:nvSpPr>
        <p:spPr>
          <a:xfrm xmlns:a="http://schemas.openxmlformats.org/drawingml/2006/main">
            <a:off x="822960" y="2743200"/>
            <a:ext cx="502920" cy="502920"/>
          </a:xfrm>
          <a:prstGeom xmlns:a="http://schemas.openxmlformats.org/drawingml/2006/main" prst="ellipse">
            <a:avLst/>
          </a:prstGeom>
          <a:solidFill xmlns:a="http://schemas.openxmlformats.org/drawingml/2006/main">
            <a:srgbClr val="E07A5F"/>
          </a:solidFill>
        </p:spPr>
      </p:sp>
      <p:sp>
        <p:nvSpPr>
          <p:cNvPr id="6" name="Text 4">
            <a:extLst xmlns:a="http://schemas.openxmlformats.org/drawingml/2006/main">
              <a:ext uri="{FF2B5EF4-FFF2-40B4-BE49-F238E27FC236}">
                <a16:creationId xmlns:a16="http://schemas.microsoft.com/office/drawing/2014/main" id="{02A45E65-D2BD-4211-BA51-E258D2E42876}"/>
              </a:ext>
            </a:extLst>
          </p:cNvPr>
          <p:cNvSpPr>
            <a:spLocks xmlns:a="http://schemas.openxmlformats.org/drawingml/2006/main" noGrp="1"/>
          </p:cNvSpPr>
          <p:nvPr/>
        </p:nvSpPr>
        <p:spPr>
          <a:xfrm xmlns:a="http://schemas.openxmlformats.org/drawingml/2006/main">
            <a:off x="822960" y="2743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7" name="Text 5">
            <a:extLst xmlns:a="http://schemas.openxmlformats.org/drawingml/2006/main">
              <a:ext uri="{FF2B5EF4-FFF2-40B4-BE49-F238E27FC236}">
                <a16:creationId xmlns:a16="http://schemas.microsoft.com/office/drawing/2014/main" id="{DE062B14-9E2F-424C-B8C9-88118C2AC876}"/>
              </a:ext>
            </a:extLst>
          </p:cNvPr>
          <p:cNvSpPr>
            <a:spLocks xmlns:a="http://schemas.openxmlformats.org/drawingml/2006/main" noGrp="1"/>
          </p:cNvSpPr>
          <p:nvPr/>
        </p:nvSpPr>
        <p:spPr>
          <a:xfrm xmlns:a="http://schemas.openxmlformats.org/drawingml/2006/main">
            <a:off x="1508760" y="269748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Usernames leak</a:t>
            </a:r>
          </a:p>
        </p:txBody>
      </p:sp>
      <p:sp>
        <p:nvSpPr>
          <p:cNvPr id="8" name="Text 6">
            <a:extLst xmlns:a="http://schemas.openxmlformats.org/drawingml/2006/main">
              <a:ext uri="{FF2B5EF4-FFF2-40B4-BE49-F238E27FC236}">
                <a16:creationId xmlns:a16="http://schemas.microsoft.com/office/drawing/2014/main" id="{C838956B-99A5-4EC2-935D-FEB87B5BB90B}"/>
              </a:ext>
            </a:extLst>
          </p:cNvPr>
          <p:cNvSpPr>
            <a:spLocks xmlns:a="http://schemas.openxmlformats.org/drawingml/2006/main" noGrp="1"/>
          </p:cNvSpPr>
          <p:nvPr/>
        </p:nvSpPr>
        <p:spPr>
          <a:xfrm xmlns:a="http://schemas.openxmlformats.org/drawingml/2006/main">
            <a:off x="1508760" y="317296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REST + author archives list every login name to anonymous visitors.</a:t>
            </a:r>
          </a:p>
        </p:txBody>
      </p:sp>
      <p:sp>
        <p:nvSpPr>
          <p:cNvPr id="9" name="Shape 7">
            <a:extLst xmlns:a="http://schemas.openxmlformats.org/drawingml/2006/main">
              <a:ext uri="{FF2B5EF4-FFF2-40B4-BE49-F238E27FC236}">
                <a16:creationId xmlns:a16="http://schemas.microsoft.com/office/drawing/2014/main" id="{4ABB5F83-9E58-444B-A9ED-1E847AFA0044}"/>
              </a:ext>
            </a:extLst>
          </p:cNvPr>
          <p:cNvSpPr>
            <a:spLocks xmlns:a="http://schemas.openxmlformats.org/drawingml/2006/main" noGrp="1"/>
          </p:cNvSpPr>
          <p:nvPr/>
        </p:nvSpPr>
        <p:spPr>
          <a:xfrm xmlns:a="http://schemas.openxmlformats.org/drawingml/2006/main">
            <a:off x="6355080" y="242316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0" name="Shape 8">
            <a:extLst xmlns:a="http://schemas.openxmlformats.org/drawingml/2006/main">
              <a:ext uri="{FF2B5EF4-FFF2-40B4-BE49-F238E27FC236}">
                <a16:creationId xmlns:a16="http://schemas.microsoft.com/office/drawing/2014/main" id="{55D71171-F1DA-4FA7-890D-3DBAEC3585F2}"/>
              </a:ext>
            </a:extLst>
          </p:cNvPr>
          <p:cNvSpPr>
            <a:spLocks xmlns:a="http://schemas.openxmlformats.org/drawingml/2006/main" noGrp="1"/>
          </p:cNvSpPr>
          <p:nvPr/>
        </p:nvSpPr>
        <p:spPr>
          <a:xfrm xmlns:a="http://schemas.openxmlformats.org/drawingml/2006/main">
            <a:off x="6629400" y="2743200"/>
            <a:ext cx="502920" cy="502920"/>
          </a:xfrm>
          <a:prstGeom xmlns:a="http://schemas.openxmlformats.org/drawingml/2006/main" prst="ellipse">
            <a:avLst/>
          </a:prstGeom>
          <a:solidFill xmlns:a="http://schemas.openxmlformats.org/drawingml/2006/main">
            <a:srgbClr val="E07A5F"/>
          </a:solidFill>
        </p:spPr>
      </p:sp>
      <p:sp>
        <p:nvSpPr>
          <p:cNvPr id="11" name="Text 9">
            <a:extLst xmlns:a="http://schemas.openxmlformats.org/drawingml/2006/main">
              <a:ext uri="{FF2B5EF4-FFF2-40B4-BE49-F238E27FC236}">
                <a16:creationId xmlns:a16="http://schemas.microsoft.com/office/drawing/2014/main" id="{1CA20AAC-C0BB-4ADC-99CE-DF4D983E10C4}"/>
              </a:ext>
            </a:extLst>
          </p:cNvPr>
          <p:cNvSpPr>
            <a:spLocks xmlns:a="http://schemas.openxmlformats.org/drawingml/2006/main" noGrp="1"/>
          </p:cNvSpPr>
          <p:nvPr/>
        </p:nvSpPr>
        <p:spPr>
          <a:xfrm xmlns:a="http://schemas.openxmlformats.org/drawingml/2006/main">
            <a:off x="6629400" y="2743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12" name="Text 10">
            <a:extLst xmlns:a="http://schemas.openxmlformats.org/drawingml/2006/main">
              <a:ext uri="{FF2B5EF4-FFF2-40B4-BE49-F238E27FC236}">
                <a16:creationId xmlns:a16="http://schemas.microsoft.com/office/drawing/2014/main" id="{507585B1-C0AE-4E33-BC31-0BE5900F52C6}"/>
              </a:ext>
            </a:extLst>
          </p:cNvPr>
          <p:cNvSpPr>
            <a:spLocks xmlns:a="http://schemas.openxmlformats.org/drawingml/2006/main" noGrp="1"/>
          </p:cNvSpPr>
          <p:nvPr/>
        </p:nvSpPr>
        <p:spPr>
          <a:xfrm xmlns:a="http://schemas.openxmlformats.org/drawingml/2006/main">
            <a:off x="7315200" y="269748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Aging XML-RPC exposed</a:t>
            </a:r>
          </a:p>
        </p:txBody>
      </p:sp>
      <p:sp>
        <p:nvSpPr>
          <p:cNvPr id="13" name="Text 11">
            <a:extLst xmlns:a="http://schemas.openxmlformats.org/drawingml/2006/main">
              <a:ext uri="{FF2B5EF4-FFF2-40B4-BE49-F238E27FC236}">
                <a16:creationId xmlns:a16="http://schemas.microsoft.com/office/drawing/2014/main" id="{9FD4261E-90B8-463D-BACA-18C452BE8E25}"/>
              </a:ext>
            </a:extLst>
          </p:cNvPr>
          <p:cNvSpPr>
            <a:spLocks xmlns:a="http://schemas.openxmlformats.org/drawingml/2006/main" noGrp="1"/>
          </p:cNvSpPr>
          <p:nvPr/>
        </p:nvSpPr>
        <p:spPr>
          <a:xfrm xmlns:a="http://schemas.openxmlformats.org/drawingml/2006/main">
            <a:off x="7315200" y="317296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Unwanted pingbacks and unused methods add work and attack surface.</a:t>
            </a:r>
          </a:p>
        </p:txBody>
      </p:sp>
      <p:sp>
        <p:nvSpPr>
          <p:cNvPr id="14" name="Shape 12">
            <a:extLst xmlns:a="http://schemas.openxmlformats.org/drawingml/2006/main">
              <a:ext uri="{FF2B5EF4-FFF2-40B4-BE49-F238E27FC236}">
                <a16:creationId xmlns:a16="http://schemas.microsoft.com/office/drawing/2014/main" id="{99346CF4-5408-4129-88DF-A001F7B152B9}"/>
              </a:ext>
            </a:extLst>
          </p:cNvPr>
          <p:cNvSpPr>
            <a:spLocks xmlns:a="http://schemas.openxmlformats.org/drawingml/2006/main" noGrp="1"/>
          </p:cNvSpPr>
          <p:nvPr/>
        </p:nvSpPr>
        <p:spPr>
          <a:xfrm xmlns:a="http://schemas.openxmlformats.org/drawingml/2006/main">
            <a:off x="548640" y="452628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5" name="Shape 13">
            <a:extLst xmlns:a="http://schemas.openxmlformats.org/drawingml/2006/main">
              <a:ext uri="{FF2B5EF4-FFF2-40B4-BE49-F238E27FC236}">
                <a16:creationId xmlns:a16="http://schemas.microsoft.com/office/drawing/2014/main" id="{0AFF868F-8CAA-4641-AA57-9A7897B69D13}"/>
              </a:ext>
            </a:extLst>
          </p:cNvPr>
          <p:cNvSpPr>
            <a:spLocks xmlns:a="http://schemas.openxmlformats.org/drawingml/2006/main" noGrp="1"/>
          </p:cNvSpPr>
          <p:nvPr/>
        </p:nvSpPr>
        <p:spPr>
          <a:xfrm xmlns:a="http://schemas.openxmlformats.org/drawingml/2006/main">
            <a:off x="822960" y="4846320"/>
            <a:ext cx="502920" cy="502920"/>
          </a:xfrm>
          <a:prstGeom xmlns:a="http://schemas.openxmlformats.org/drawingml/2006/main" prst="ellipse">
            <a:avLst/>
          </a:prstGeom>
          <a:solidFill xmlns:a="http://schemas.openxmlformats.org/drawingml/2006/main">
            <a:srgbClr val="C88F33"/>
          </a:solidFill>
        </p:spPr>
      </p:sp>
      <p:sp>
        <p:nvSpPr>
          <p:cNvPr id="16" name="Text 14">
            <a:extLst xmlns:a="http://schemas.openxmlformats.org/drawingml/2006/main">
              <a:ext uri="{FF2B5EF4-FFF2-40B4-BE49-F238E27FC236}">
                <a16:creationId xmlns:a16="http://schemas.microsoft.com/office/drawing/2014/main" id="{CEF69030-578A-455C-84D3-B60745285FE9}"/>
              </a:ext>
            </a:extLst>
          </p:cNvPr>
          <p:cNvSpPr>
            <a:spLocks xmlns:a="http://schemas.openxmlformats.org/drawingml/2006/main" noGrp="1"/>
          </p:cNvSpPr>
          <p:nvPr/>
        </p:nvSpPr>
        <p:spPr>
          <a:xfrm xmlns:a="http://schemas.openxmlformats.org/drawingml/2006/main">
            <a:off x="822960" y="4846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17" name="Text 15">
            <a:extLst xmlns:a="http://schemas.openxmlformats.org/drawingml/2006/main">
              <a:ext uri="{FF2B5EF4-FFF2-40B4-BE49-F238E27FC236}">
                <a16:creationId xmlns:a16="http://schemas.microsoft.com/office/drawing/2014/main" id="{BD96EB11-C072-4E7A-B97C-AC9E06F141CB}"/>
              </a:ext>
            </a:extLst>
          </p:cNvPr>
          <p:cNvSpPr>
            <a:spLocks xmlns:a="http://schemas.openxmlformats.org/drawingml/2006/main" noGrp="1"/>
          </p:cNvSpPr>
          <p:nvPr/>
        </p:nvSpPr>
        <p:spPr>
          <a:xfrm xmlns:a="http://schemas.openxmlformats.org/drawingml/2006/main">
            <a:off x="1508760" y="480060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Dead weight loads</a:t>
            </a:r>
          </a:p>
        </p:txBody>
      </p:sp>
      <p:sp>
        <p:nvSpPr>
          <p:cNvPr id="18" name="Text 16">
            <a:extLst xmlns:a="http://schemas.openxmlformats.org/drawingml/2006/main">
              <a:ext uri="{FF2B5EF4-FFF2-40B4-BE49-F238E27FC236}">
                <a16:creationId xmlns:a16="http://schemas.microsoft.com/office/drawing/2014/main" id="{8704AFCB-8104-45F6-B634-E3CDD099FAA0}"/>
              </a:ext>
            </a:extLst>
          </p:cNvPr>
          <p:cNvSpPr>
            <a:spLocks xmlns:a="http://schemas.openxmlformats.org/drawingml/2006/main" noGrp="1"/>
          </p:cNvSpPr>
          <p:nvPr/>
        </p:nvSpPr>
        <p:spPr>
          <a:xfrm xmlns:a="http://schemas.openxmlformats.org/drawingml/2006/main">
            <a:off x="1508760" y="527608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Emoji scripts, version tags, and RSD links on every page.</a:t>
            </a:r>
          </a:p>
        </p:txBody>
      </p:sp>
      <p:sp>
        <p:nvSpPr>
          <p:cNvPr id="19" name="Shape 17">
            <a:extLst xmlns:a="http://schemas.openxmlformats.org/drawingml/2006/main">
              <a:ext uri="{FF2B5EF4-FFF2-40B4-BE49-F238E27FC236}">
                <a16:creationId xmlns:a16="http://schemas.microsoft.com/office/drawing/2014/main" id="{1371A281-7097-4FEA-A2FC-CC5BD421F710}"/>
              </a:ext>
            </a:extLst>
          </p:cNvPr>
          <p:cNvSpPr>
            <a:spLocks xmlns:a="http://schemas.openxmlformats.org/drawingml/2006/main" noGrp="1"/>
          </p:cNvSpPr>
          <p:nvPr/>
        </p:nvSpPr>
        <p:spPr>
          <a:xfrm xmlns:a="http://schemas.openxmlformats.org/drawingml/2006/main">
            <a:off x="6355080" y="452628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0" name="Shape 18">
            <a:extLst xmlns:a="http://schemas.openxmlformats.org/drawingml/2006/main">
              <a:ext uri="{FF2B5EF4-FFF2-40B4-BE49-F238E27FC236}">
                <a16:creationId xmlns:a16="http://schemas.microsoft.com/office/drawing/2014/main" id="{C8151CDC-CA7D-4930-BE7E-3AC48903495E}"/>
              </a:ext>
            </a:extLst>
          </p:cNvPr>
          <p:cNvSpPr>
            <a:spLocks xmlns:a="http://schemas.openxmlformats.org/drawingml/2006/main" noGrp="1"/>
          </p:cNvSpPr>
          <p:nvPr/>
        </p:nvSpPr>
        <p:spPr>
          <a:xfrm xmlns:a="http://schemas.openxmlformats.org/drawingml/2006/main">
            <a:off x="6629400" y="4846320"/>
            <a:ext cx="502920" cy="502920"/>
          </a:xfrm>
          <a:prstGeom xmlns:a="http://schemas.openxmlformats.org/drawingml/2006/main" prst="ellipse">
            <a:avLst/>
          </a:prstGeom>
          <a:solidFill xmlns:a="http://schemas.openxmlformats.org/drawingml/2006/main">
            <a:srgbClr val="C88F33"/>
          </a:solidFill>
        </p:spPr>
      </p:sp>
      <p:sp>
        <p:nvSpPr>
          <p:cNvPr id="21" name="Text 19">
            <a:extLst xmlns:a="http://schemas.openxmlformats.org/drawingml/2006/main">
              <a:ext uri="{FF2B5EF4-FFF2-40B4-BE49-F238E27FC236}">
                <a16:creationId xmlns:a16="http://schemas.microsoft.com/office/drawing/2014/main" id="{8B096782-95D9-4B30-A40C-A7B8A607478A}"/>
              </a:ext>
            </a:extLst>
          </p:cNvPr>
          <p:cNvSpPr>
            <a:spLocks xmlns:a="http://schemas.openxmlformats.org/drawingml/2006/main" noGrp="1"/>
          </p:cNvSpPr>
          <p:nvPr/>
        </p:nvSpPr>
        <p:spPr>
          <a:xfrm xmlns:a="http://schemas.openxmlformats.org/drawingml/2006/main">
            <a:off x="6629400" y="4846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22" name="Text 20">
            <a:extLst xmlns:a="http://schemas.openxmlformats.org/drawingml/2006/main">
              <a:ext uri="{FF2B5EF4-FFF2-40B4-BE49-F238E27FC236}">
                <a16:creationId xmlns:a16="http://schemas.microsoft.com/office/drawing/2014/main" id="{FBC9B2F7-8620-4B7A-86A7-CA02161CCA9C}"/>
              </a:ext>
            </a:extLst>
          </p:cNvPr>
          <p:cNvSpPr>
            <a:spLocks xmlns:a="http://schemas.openxmlformats.org/drawingml/2006/main" noGrp="1"/>
          </p:cNvSpPr>
          <p:nvPr/>
        </p:nvSpPr>
        <p:spPr>
          <a:xfrm xmlns:a="http://schemas.openxmlformats.org/drawingml/2006/main">
            <a:off x="7315200" y="480060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Spam surface invites</a:t>
            </a:r>
          </a:p>
        </p:txBody>
      </p:sp>
      <p:sp>
        <p:nvSpPr>
          <p:cNvPr id="23" name="Text 21">
            <a:extLst xmlns:a="http://schemas.openxmlformats.org/drawingml/2006/main">
              <a:ext uri="{FF2B5EF4-FFF2-40B4-BE49-F238E27FC236}">
                <a16:creationId xmlns:a16="http://schemas.microsoft.com/office/drawing/2014/main" id="{76B6654C-28AD-4960-A66D-9050E51147FB}"/>
              </a:ext>
            </a:extLst>
          </p:cNvPr>
          <p:cNvSpPr>
            <a:spLocks xmlns:a="http://schemas.openxmlformats.org/drawingml/2006/main" noGrp="1"/>
          </p:cNvSpPr>
          <p:nvPr/>
        </p:nvSpPr>
        <p:spPr>
          <a:xfrm xmlns:a="http://schemas.openxmlformats.org/drawingml/2006/main">
            <a:off x="7315200" y="527608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Comments, pingbacks, and trackbacks open by default.</a:t>
            </a:r>
          </a:p>
        </p:txBody>
      </p:sp>
      <p:sp>
        <p:nvSpPr>
          <p:cNvPr id="24" name="Text 22">
            <a:extLst xmlns:a="http://schemas.openxmlformats.org/drawingml/2006/main">
              <a:ext uri="{FF2B5EF4-FFF2-40B4-BE49-F238E27FC236}">
                <a16:creationId xmlns:a16="http://schemas.microsoft.com/office/drawing/2014/main" id="{5D9B4938-FD0B-4F8B-8ACC-033CF93D1654}"/>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5" name="Text 23">
            <a:extLst xmlns:a="http://schemas.openxmlformats.org/drawingml/2006/main">
              <a:ext uri="{FF2B5EF4-FFF2-40B4-BE49-F238E27FC236}">
                <a16:creationId xmlns:a16="http://schemas.microsoft.com/office/drawing/2014/main" id="{4F353EC5-148B-41B4-A3CD-00B18141371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a:t>
            </a:r>
          </a:p>
        </p:txBody>
      </p:sp>
    </p:spTree>
    <p:extLst>
      <p:ext uri="{BB962C8B-B14F-4D97-AF65-F5344CB8AC3E}">
        <p14:creationId xmlns:p14="http://schemas.microsoft.com/office/powerpoint/2010/main" val="370471106"/>
      </p:ext>
    </p:extLst>
  </p:cSld>
</p:sld>
</file>

<file path=ppt/slides/slide3.xml><?xml version="1.0" encoding="utf-8"?>
<p:sld xmlns:p="http://schemas.openxmlformats.org/presentationml/2006/main">
  <p:cSld>
    <p:bg>
      <p:bgPr>
        <a:solidFill xmlns:a="http://schemas.openxmlformats.org/drawingml/2006/main">
          <a:srgbClr val="27607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0DD2D2C-6E09-4593-8681-DEF9C21A9428}"/>
              </a:ext>
            </a:extLst>
          </p:cNvPr>
          <p:cNvSpPr>
            <a:spLocks xmlns:a="http://schemas.openxmlformats.org/drawingml/2006/main" noGrp="1"/>
          </p:cNvSpPr>
          <p:nvPr/>
        </p:nvSpPr>
        <p:spPr>
          <a:xfrm xmlns:a="http://schemas.openxmlformats.org/drawingml/2006/main">
            <a:off x="0" y="0"/>
            <a:ext cx="12188952" cy="6858000"/>
          </a:xfrm>
          <a:prstGeom xmlns:a="http://schemas.openxmlformats.org/drawingml/2006/main" prst="rect">
            <a:avLst/>
          </a:prstGeom>
          <a:solidFill xmlns:a="http://schemas.openxmlformats.org/drawingml/2006/main">
            <a:srgbClr val="27607A"/>
          </a:solidFill>
        </p:spPr>
      </p:sp>
      <p:sp>
        <p:nvSpPr>
          <p:cNvPr id="3" name="Text 1">
            <a:extLst xmlns:a="http://schemas.openxmlformats.org/drawingml/2006/main">
              <a:ext uri="{FF2B5EF4-FFF2-40B4-BE49-F238E27FC236}">
                <a16:creationId xmlns:a16="http://schemas.microsoft.com/office/drawing/2014/main" id="{ED6672BE-A5A8-492B-AF6E-E6248F2AD25E}"/>
              </a:ext>
            </a:extLst>
          </p:cNvPr>
          <p:cNvSpPr>
            <a:spLocks xmlns:a="http://schemas.openxmlformats.org/drawingml/2006/main" noGrp="1"/>
          </p:cNvSpPr>
          <p:nvPr/>
        </p:nvSpPr>
        <p:spPr>
          <a:xfrm xmlns:a="http://schemas.openxmlformats.org/drawingml/2006/main">
            <a:off x="731520" y="1051560"/>
            <a:ext cx="10058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E0A94B"/>
                </a:solidFill>
                <a:latin typeface="Calibri"/>
                <a:ea typeface="Calibri"/>
                <a:cs typeface="Calibri"/>
              </a:rPr>
              <a:t>The one idea to take home</a:t>
            </a:r>
          </a:p>
        </p:txBody>
      </p:sp>
      <p:sp>
        <p:nvSpPr>
          <p:cNvPr id="4" name="Text 2">
            <a:extLst xmlns:a="http://schemas.openxmlformats.org/drawingml/2006/main">
              <a:ext uri="{FF2B5EF4-FFF2-40B4-BE49-F238E27FC236}">
                <a16:creationId xmlns:a16="http://schemas.microsoft.com/office/drawing/2014/main" id="{880FADC4-BD37-4031-AC0B-34BDFD123FD5}"/>
              </a:ext>
            </a:extLst>
          </p:cNvPr>
          <p:cNvSpPr>
            <a:spLocks xmlns:a="http://schemas.openxmlformats.org/drawingml/2006/main" noGrp="1"/>
          </p:cNvSpPr>
          <p:nvPr/>
        </p:nvSpPr>
        <p:spPr>
          <a:xfrm xmlns:a="http://schemas.openxmlformats.org/drawingml/2006/main">
            <a:off x="731520" y="1737360"/>
            <a:ext cx="1069848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FFFFFF"/>
                </a:solidFill>
                <a:latin typeface="Cambria"/>
                <a:ea typeface="Cambria"/>
                <a:cs typeface="Cambria"/>
              </a:rPr>
              <a:t>A “default” is just an</a:t>
            </a:r>
          </a:p>
          <a:p xmlns:a="http://schemas.openxmlformats.org/drawingml/2006/main">
            <a:pPr marL="0" indent="0">
              <a:lnSpc>
                <a:spcPct val="105000"/>
              </a:lnSpc>
              <a:buNone/>
            </a:pPr>
            <a:r>
              <a:rPr sz="4400" b="1">
                <a:solidFill>
                  <a:srgbClr val="FFFFFF"/>
                </a:solidFill>
                <a:latin typeface="Cambria"/>
                <a:ea typeface="Cambria"/>
                <a:cs typeface="Cambria"/>
              </a:rPr>
              <a:t>opinionated filter behind a toggle.</a:t>
            </a:r>
          </a:p>
        </p:txBody>
      </p:sp>
      <p:sp>
        <p:nvSpPr>
          <p:cNvPr id="5" name="Shape 3">
            <a:extLst xmlns:a="http://schemas.openxmlformats.org/drawingml/2006/main">
              <a:ext uri="{FF2B5EF4-FFF2-40B4-BE49-F238E27FC236}">
                <a16:creationId xmlns:a16="http://schemas.microsoft.com/office/drawing/2014/main" id="{0C0E4816-34C2-4A05-872F-8C16CFFCB5F1}"/>
              </a:ext>
            </a:extLst>
          </p:cNvPr>
          <p:cNvSpPr>
            <a:spLocks xmlns:a="http://schemas.openxmlformats.org/drawingml/2006/main" noGrp="1"/>
          </p:cNvSpPr>
          <p:nvPr/>
        </p:nvSpPr>
        <p:spPr>
          <a:xfrm xmlns:a="http://schemas.openxmlformats.org/drawingml/2006/main">
            <a:off x="731520" y="4114800"/>
            <a:ext cx="10698480" cy="1737360"/>
          </a:xfrm>
          <a:prstGeom xmlns:a="http://schemas.openxmlformats.org/drawingml/2006/main" prst="roundRect">
            <a:avLst>
              <a:gd name="adj" fmla="val 4211"/>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6" name="Text 4">
            <a:extLst xmlns:a="http://schemas.openxmlformats.org/drawingml/2006/main">
              <a:ext uri="{FF2B5EF4-FFF2-40B4-BE49-F238E27FC236}">
                <a16:creationId xmlns:a16="http://schemas.microsoft.com/office/drawing/2014/main" id="{E4FD7BDF-D7EB-403B-99E4-61FA78375A36}"/>
              </a:ext>
            </a:extLst>
          </p:cNvPr>
          <p:cNvSpPr>
            <a:spLocks xmlns:a="http://schemas.openxmlformats.org/drawingml/2006/main" noGrp="1"/>
          </p:cNvSpPr>
          <p:nvPr/>
        </p:nvSpPr>
        <p:spPr>
          <a:xfrm xmlns:a="http://schemas.openxmlformats.org/drawingml/2006/main">
            <a:off x="932688" y="4279392"/>
            <a:ext cx="10296144"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500">
                <a:solidFill>
                  <a:srgbClr val="DCEAF1"/>
                </a:solidFill>
                <a:latin typeface="Courier New"/>
                <a:ea typeface="Courier New"/>
                <a:cs typeface="Courier New"/>
              </a:rPr>
              <a:t>if ( wpyeg_defaults_enabled( 'restrict_rest_user_discovery' ) ) {</a:t>
            </a:r>
          </a:p>
          <a:p xmlns:a="http://schemas.openxmlformats.org/drawingml/2006/main">
            <a:pPr marL="0" indent="0" algn="l">
              <a:lnSpc>
                <a:spcPct val="108000"/>
              </a:lnSpc>
              <a:buNone/>
            </a:pPr>
            <a:r>
              <a:rPr sz="1500">
                <a:solidFill>
                  <a:srgbClr val="E7C070"/>
                </a:solidFill>
                <a:latin typeface="Courier New"/>
                <a:ea typeface="Courier New"/>
                <a:cs typeface="Courier New"/>
              </a:rPr>
              <a:t>    add_filter( 'rest_endpoints', $hide_users_endpoint );</a:t>
            </a:r>
          </a:p>
          <a:p xmlns:a="http://schemas.openxmlformats.org/drawingml/2006/main">
            <a:pPr marL="0" indent="0" algn="l">
              <a:lnSpc>
                <a:spcPct val="108000"/>
              </a:lnSpc>
              <a:buNone/>
            </a:pPr>
            <a:r>
              <a:rPr sz="1500">
                <a:solidFill>
                  <a:srgbClr val="8FBF9F"/>
                </a:solidFill>
                <a:latin typeface="Courier New"/>
                <a:ea typeface="Courier New"/>
                <a:cs typeface="Courier New"/>
              </a:rPr>
              <a:t>}   // that's the whole pattern, repeated ~20 times</a:t>
            </a:r>
          </a:p>
        </p:txBody>
      </p:sp>
    </p:spTree>
    <p:extLst>
      <p:ext uri="{BB962C8B-B14F-4D97-AF65-F5344CB8AC3E}">
        <p14:creationId xmlns:p14="http://schemas.microsoft.com/office/powerpoint/2010/main" val="630068411"/>
      </p:ext>
    </p:extLst>
  </p:cSld>
</p:sld>
</file>

<file path=ppt/slides/slide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A3ACB4B-B609-489C-8674-E4C240AA2CE2}"/>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0F2733"/>
                </a:solidFill>
                <a:latin typeface="Cambria"/>
                <a:ea typeface="Cambria"/>
                <a:cs typeface="Cambria"/>
              </a:rPr>
              <a:t>Hooks &amp; filters</a:t>
            </a:r>
          </a:p>
        </p:txBody>
      </p:sp>
      <p:sp>
        <p:nvSpPr>
          <p:cNvPr id="3" name="Text 1">
            <a:extLst xmlns:a="http://schemas.openxmlformats.org/drawingml/2006/main">
              <a:ext uri="{FF2B5EF4-FFF2-40B4-BE49-F238E27FC236}">
                <a16:creationId xmlns:a16="http://schemas.microsoft.com/office/drawing/2014/main" id="{C86713D2-A167-4E58-87B1-10A0B3AE4E17}"/>
              </a:ext>
            </a:extLst>
          </p:cNvPr>
          <p:cNvSpPr>
            <a:spLocks xmlns:a="http://schemas.openxmlformats.org/drawingml/2006/main" noGrp="1"/>
          </p:cNvSpPr>
          <p:nvPr/>
        </p:nvSpPr>
        <p:spPr>
          <a:xfrm xmlns:a="http://schemas.openxmlformats.org/drawingml/2006/main">
            <a:off x="548640" y="12801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WordPress is built to be interrupted at labeled moments (hooks) so you never edit core code.</a:t>
            </a:r>
          </a:p>
        </p:txBody>
      </p:sp>
      <p:sp>
        <p:nvSpPr>
          <p:cNvPr id="4" name="Shape 2">
            <a:extLst xmlns:a="http://schemas.openxmlformats.org/drawingml/2006/main">
              <a:ext uri="{FF2B5EF4-FFF2-40B4-BE49-F238E27FC236}">
                <a16:creationId xmlns:a16="http://schemas.microsoft.com/office/drawing/2014/main" id="{018E86F6-0879-4C2C-AB60-6DCD71B58D97}"/>
              </a:ext>
            </a:extLst>
          </p:cNvPr>
          <p:cNvSpPr>
            <a:spLocks xmlns:a="http://schemas.openxmlformats.org/drawingml/2006/main" noGrp="1"/>
          </p:cNvSpPr>
          <p:nvPr/>
        </p:nvSpPr>
        <p:spPr>
          <a:xfrm xmlns:a="http://schemas.openxmlformats.org/drawingml/2006/main">
            <a:off x="548640" y="2148840"/>
            <a:ext cx="11064240" cy="16459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5" name="Shape 3">
            <a:extLst xmlns:a="http://schemas.openxmlformats.org/drawingml/2006/main">
              <a:ext uri="{FF2B5EF4-FFF2-40B4-BE49-F238E27FC236}">
                <a16:creationId xmlns:a16="http://schemas.microsoft.com/office/drawing/2014/main" id="{D22AF10D-538A-4E82-9070-BAC087B129BE}"/>
              </a:ext>
            </a:extLst>
          </p:cNvPr>
          <p:cNvSpPr>
            <a:spLocks xmlns:a="http://schemas.openxmlformats.org/drawingml/2006/main" noGrp="1"/>
          </p:cNvSpPr>
          <p:nvPr/>
        </p:nvSpPr>
        <p:spPr>
          <a:xfrm xmlns:a="http://schemas.openxmlformats.org/drawingml/2006/main">
            <a:off x="868680" y="2651760"/>
            <a:ext cx="640080" cy="640080"/>
          </a:xfrm>
          <a:prstGeom xmlns:a="http://schemas.openxmlformats.org/drawingml/2006/main" prst="ellipse">
            <a:avLst/>
          </a:prstGeom>
          <a:solidFill xmlns:a="http://schemas.openxmlformats.org/drawingml/2006/main">
            <a:srgbClr val="27607A"/>
          </a:solidFill>
        </p:spPr>
      </p:sp>
      <p:sp>
        <p:nvSpPr>
          <p:cNvPr id="6" name="Text 4">
            <a:extLst xmlns:a="http://schemas.openxmlformats.org/drawingml/2006/main">
              <a:ext uri="{FF2B5EF4-FFF2-40B4-BE49-F238E27FC236}">
                <a16:creationId xmlns:a16="http://schemas.microsoft.com/office/drawing/2014/main" id="{9A63A5CC-3EE9-47DD-8E22-F22F6B0FDB6A}"/>
              </a:ext>
            </a:extLst>
          </p:cNvPr>
          <p:cNvSpPr>
            <a:spLocks xmlns:a="http://schemas.openxmlformats.org/drawingml/2006/main" noGrp="1"/>
          </p:cNvSpPr>
          <p:nvPr/>
        </p:nvSpPr>
        <p:spPr>
          <a:xfrm xmlns:a="http://schemas.openxmlformats.org/drawingml/2006/main">
            <a:off x="868680" y="265176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FFFFFF"/>
                </a:solidFill>
                <a:latin typeface="Cambria"/>
                <a:ea typeface="Cambria"/>
                <a:cs typeface="Cambria"/>
              </a:rPr>
              <a:t>A</a:t>
            </a:r>
          </a:p>
        </p:txBody>
      </p:sp>
      <p:sp>
        <p:nvSpPr>
          <p:cNvPr id="7" name="Text 5">
            <a:extLst xmlns:a="http://schemas.openxmlformats.org/drawingml/2006/main">
              <a:ext uri="{FF2B5EF4-FFF2-40B4-BE49-F238E27FC236}">
                <a16:creationId xmlns:a16="http://schemas.microsoft.com/office/drawing/2014/main" id="{51531DFD-7F31-431A-86E0-1E5BF2CF236B}"/>
              </a:ext>
            </a:extLst>
          </p:cNvPr>
          <p:cNvSpPr>
            <a:spLocks xmlns:a="http://schemas.openxmlformats.org/drawingml/2006/main" noGrp="1"/>
          </p:cNvSpPr>
          <p:nvPr/>
        </p:nvSpPr>
        <p:spPr>
          <a:xfrm xmlns:a="http://schemas.openxmlformats.org/drawingml/2006/main">
            <a:off x="1737360" y="2350008"/>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27607A"/>
                </a:solidFill>
                <a:latin typeface="Cambria"/>
                <a:ea typeface="Cambria"/>
                <a:cs typeface="Cambria"/>
              </a:rPr>
              <a:t>Action</a:t>
            </a:r>
          </a:p>
        </p:txBody>
      </p:sp>
      <p:sp>
        <p:nvSpPr>
          <p:cNvPr id="8" name="Text 6">
            <a:extLst xmlns:a="http://schemas.openxmlformats.org/drawingml/2006/main">
              <a:ext uri="{FF2B5EF4-FFF2-40B4-BE49-F238E27FC236}">
                <a16:creationId xmlns:a16="http://schemas.microsoft.com/office/drawing/2014/main" id="{89DCAFDB-F1BF-4717-96A1-62D31251EE6F}"/>
              </a:ext>
            </a:extLst>
          </p:cNvPr>
          <p:cNvSpPr>
            <a:spLocks xmlns:a="http://schemas.openxmlformats.org/drawingml/2006/main" noGrp="1"/>
          </p:cNvSpPr>
          <p:nvPr/>
        </p:nvSpPr>
        <p:spPr>
          <a:xfrm xmlns:a="http://schemas.openxmlformats.org/drawingml/2006/main">
            <a:off x="1737360" y="2834640"/>
            <a:ext cx="5852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50">
                <a:solidFill>
                  <a:srgbClr val="4A5A63"/>
                </a:solidFill>
                <a:latin typeface="Calibri"/>
                <a:ea typeface="Calibri"/>
                <a:cs typeface="Calibri"/>
              </a:rPr>
              <a:t>“When you reach this moment, also DO this.”</a:t>
            </a:r>
          </a:p>
        </p:txBody>
      </p:sp>
      <p:sp>
        <p:nvSpPr>
          <p:cNvPr id="9" name="Shape 7">
            <a:extLst xmlns:a="http://schemas.openxmlformats.org/drawingml/2006/main">
              <a:ext uri="{FF2B5EF4-FFF2-40B4-BE49-F238E27FC236}">
                <a16:creationId xmlns:a16="http://schemas.microsoft.com/office/drawing/2014/main" id="{519A399A-2B72-458B-A5EA-2E3DD8B9E478}"/>
              </a:ext>
            </a:extLst>
          </p:cNvPr>
          <p:cNvSpPr>
            <a:spLocks xmlns:a="http://schemas.openxmlformats.org/drawingml/2006/main" noGrp="1"/>
          </p:cNvSpPr>
          <p:nvPr/>
        </p:nvSpPr>
        <p:spPr>
          <a:xfrm xmlns:a="http://schemas.openxmlformats.org/drawingml/2006/main">
            <a:off x="7772400" y="2606040"/>
            <a:ext cx="3611880" cy="731520"/>
          </a:xfrm>
          <a:prstGeom xmlns:a="http://schemas.openxmlformats.org/drawingml/2006/main" prst="roundRect">
            <a:avLst>
              <a:gd name="adj" fmla="val 7500"/>
            </a:avLst>
          </a:prstGeom>
          <a:solidFill xmlns:a="http://schemas.openxmlformats.org/drawingml/2006/main">
            <a:srgbClr val="0E2836"/>
          </a:solidFill>
        </p:spPr>
      </p:sp>
      <p:sp>
        <p:nvSpPr>
          <p:cNvPr id="10" name="Text 8">
            <a:extLst xmlns:a="http://schemas.openxmlformats.org/drawingml/2006/main">
              <a:ext uri="{FF2B5EF4-FFF2-40B4-BE49-F238E27FC236}">
                <a16:creationId xmlns:a16="http://schemas.microsoft.com/office/drawing/2014/main" id="{B14BBA41-7A6C-481A-8D03-CB9F264DA582}"/>
              </a:ext>
            </a:extLst>
          </p:cNvPr>
          <p:cNvSpPr>
            <a:spLocks xmlns:a="http://schemas.openxmlformats.org/drawingml/2006/main" noGrp="1"/>
          </p:cNvSpPr>
          <p:nvPr/>
        </p:nvSpPr>
        <p:spPr>
          <a:xfrm xmlns:a="http://schemas.openxmlformats.org/drawingml/2006/main">
            <a:off x="7909560" y="2606040"/>
            <a:ext cx="3383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7C070"/>
                </a:solidFill>
                <a:latin typeface="Courier New"/>
                <a:ea typeface="Courier New"/>
                <a:cs typeface="Courier New"/>
              </a:rPr>
              <a:t>add_action( 'init', fn );</a:t>
            </a:r>
          </a:p>
        </p:txBody>
      </p:sp>
      <p:sp>
        <p:nvSpPr>
          <p:cNvPr id="11" name="Shape 9">
            <a:extLst xmlns:a="http://schemas.openxmlformats.org/drawingml/2006/main">
              <a:ext uri="{FF2B5EF4-FFF2-40B4-BE49-F238E27FC236}">
                <a16:creationId xmlns:a16="http://schemas.microsoft.com/office/drawing/2014/main" id="{D6B95E77-5530-47EB-BF26-BF057DAA694F}"/>
              </a:ext>
            </a:extLst>
          </p:cNvPr>
          <p:cNvSpPr>
            <a:spLocks xmlns:a="http://schemas.openxmlformats.org/drawingml/2006/main" noGrp="1"/>
          </p:cNvSpPr>
          <p:nvPr/>
        </p:nvSpPr>
        <p:spPr>
          <a:xfrm xmlns:a="http://schemas.openxmlformats.org/drawingml/2006/main">
            <a:off x="548640" y="4023360"/>
            <a:ext cx="11064240" cy="16459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2" name="Shape 10">
            <a:extLst xmlns:a="http://schemas.openxmlformats.org/drawingml/2006/main">
              <a:ext uri="{FF2B5EF4-FFF2-40B4-BE49-F238E27FC236}">
                <a16:creationId xmlns:a16="http://schemas.microsoft.com/office/drawing/2014/main" id="{981B59CA-5413-41AF-AB90-FE333F7F0409}"/>
              </a:ext>
            </a:extLst>
          </p:cNvPr>
          <p:cNvSpPr>
            <a:spLocks xmlns:a="http://schemas.openxmlformats.org/drawingml/2006/main" noGrp="1"/>
          </p:cNvSpPr>
          <p:nvPr/>
        </p:nvSpPr>
        <p:spPr>
          <a:xfrm xmlns:a="http://schemas.openxmlformats.org/drawingml/2006/main">
            <a:off x="868680" y="4526280"/>
            <a:ext cx="640080" cy="640080"/>
          </a:xfrm>
          <a:prstGeom xmlns:a="http://schemas.openxmlformats.org/drawingml/2006/main" prst="ellipse">
            <a:avLst/>
          </a:prstGeom>
          <a:solidFill xmlns:a="http://schemas.openxmlformats.org/drawingml/2006/main">
            <a:srgbClr val="27607A"/>
          </a:solidFill>
        </p:spPr>
      </p:sp>
      <p:sp>
        <p:nvSpPr>
          <p:cNvPr id="13" name="Text 11">
            <a:extLst xmlns:a="http://schemas.openxmlformats.org/drawingml/2006/main">
              <a:ext uri="{FF2B5EF4-FFF2-40B4-BE49-F238E27FC236}">
                <a16:creationId xmlns:a16="http://schemas.microsoft.com/office/drawing/2014/main" id="{2F4E2318-3D33-4F6C-9071-6BF2F8D10298}"/>
              </a:ext>
            </a:extLst>
          </p:cNvPr>
          <p:cNvSpPr>
            <a:spLocks xmlns:a="http://schemas.openxmlformats.org/drawingml/2006/main" noGrp="1"/>
          </p:cNvSpPr>
          <p:nvPr/>
        </p:nvSpPr>
        <p:spPr>
          <a:xfrm xmlns:a="http://schemas.openxmlformats.org/drawingml/2006/main">
            <a:off x="868680" y="45262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FFFFFF"/>
                </a:solidFill>
                <a:latin typeface="Cambria"/>
                <a:ea typeface="Cambria"/>
                <a:cs typeface="Cambria"/>
              </a:rPr>
              <a:t>F</a:t>
            </a:r>
          </a:p>
        </p:txBody>
      </p:sp>
      <p:sp>
        <p:nvSpPr>
          <p:cNvPr id="14" name="Text 12">
            <a:extLst xmlns:a="http://schemas.openxmlformats.org/drawingml/2006/main">
              <a:ext uri="{FF2B5EF4-FFF2-40B4-BE49-F238E27FC236}">
                <a16:creationId xmlns:a16="http://schemas.microsoft.com/office/drawing/2014/main" id="{CB92AEFA-4785-4FFC-9E8B-CBB715B7A93E}"/>
              </a:ext>
            </a:extLst>
          </p:cNvPr>
          <p:cNvSpPr>
            <a:spLocks xmlns:a="http://schemas.openxmlformats.org/drawingml/2006/main" noGrp="1"/>
          </p:cNvSpPr>
          <p:nvPr/>
        </p:nvSpPr>
        <p:spPr>
          <a:xfrm xmlns:a="http://schemas.openxmlformats.org/drawingml/2006/main">
            <a:off x="1737360" y="4224528"/>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27607A"/>
                </a:solidFill>
                <a:latin typeface="Cambria"/>
                <a:ea typeface="Cambria"/>
                <a:cs typeface="Cambria"/>
              </a:rPr>
              <a:t>Filter</a:t>
            </a:r>
          </a:p>
        </p:txBody>
      </p:sp>
      <p:sp>
        <p:nvSpPr>
          <p:cNvPr id="15" name="Text 13">
            <a:extLst xmlns:a="http://schemas.openxmlformats.org/drawingml/2006/main">
              <a:ext uri="{FF2B5EF4-FFF2-40B4-BE49-F238E27FC236}">
                <a16:creationId xmlns:a16="http://schemas.microsoft.com/office/drawing/2014/main" id="{944CB186-CE4C-4966-8B1B-B1814556A174}"/>
              </a:ext>
            </a:extLst>
          </p:cNvPr>
          <p:cNvSpPr>
            <a:spLocks xmlns:a="http://schemas.openxmlformats.org/drawingml/2006/main" noGrp="1"/>
          </p:cNvSpPr>
          <p:nvPr/>
        </p:nvSpPr>
        <p:spPr>
          <a:xfrm xmlns:a="http://schemas.openxmlformats.org/drawingml/2006/main">
            <a:off x="1737360" y="4709160"/>
            <a:ext cx="5852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50">
                <a:solidFill>
                  <a:srgbClr val="4A5A63"/>
                </a:solidFill>
                <a:latin typeface="Calibri"/>
                <a:ea typeface="Calibri"/>
                <a:cs typeface="Calibri"/>
              </a:rPr>
              <a:t>“Before you use this value, let me CHANGE it first.”</a:t>
            </a:r>
          </a:p>
        </p:txBody>
      </p:sp>
      <p:sp>
        <p:nvSpPr>
          <p:cNvPr id="16" name="Shape 14">
            <a:extLst xmlns:a="http://schemas.openxmlformats.org/drawingml/2006/main">
              <a:ext uri="{FF2B5EF4-FFF2-40B4-BE49-F238E27FC236}">
                <a16:creationId xmlns:a16="http://schemas.microsoft.com/office/drawing/2014/main" id="{9A335755-DE73-4E1C-B4F7-7BB92D4112FE}"/>
              </a:ext>
            </a:extLst>
          </p:cNvPr>
          <p:cNvSpPr>
            <a:spLocks xmlns:a="http://schemas.openxmlformats.org/drawingml/2006/main" noGrp="1"/>
          </p:cNvSpPr>
          <p:nvPr/>
        </p:nvSpPr>
        <p:spPr>
          <a:xfrm xmlns:a="http://schemas.openxmlformats.org/drawingml/2006/main">
            <a:off x="7772400" y="4480560"/>
            <a:ext cx="3611880" cy="731520"/>
          </a:xfrm>
          <a:prstGeom xmlns:a="http://schemas.openxmlformats.org/drawingml/2006/main" prst="roundRect">
            <a:avLst>
              <a:gd name="adj" fmla="val 7500"/>
            </a:avLst>
          </a:prstGeom>
          <a:solidFill xmlns:a="http://schemas.openxmlformats.org/drawingml/2006/main">
            <a:srgbClr val="0E2836"/>
          </a:solidFill>
        </p:spPr>
      </p:sp>
      <p:sp>
        <p:nvSpPr>
          <p:cNvPr id="17" name="Text 15">
            <a:extLst xmlns:a="http://schemas.openxmlformats.org/drawingml/2006/main">
              <a:ext uri="{FF2B5EF4-FFF2-40B4-BE49-F238E27FC236}">
                <a16:creationId xmlns:a16="http://schemas.microsoft.com/office/drawing/2014/main" id="{58636F3C-507E-412C-A162-0C3FE3D77F1E}"/>
              </a:ext>
            </a:extLst>
          </p:cNvPr>
          <p:cNvSpPr>
            <a:spLocks xmlns:a="http://schemas.openxmlformats.org/drawingml/2006/main" noGrp="1"/>
          </p:cNvSpPr>
          <p:nvPr/>
        </p:nvSpPr>
        <p:spPr>
          <a:xfrm xmlns:a="http://schemas.openxmlformats.org/drawingml/2006/main">
            <a:off x="7909560" y="4480560"/>
            <a:ext cx="3383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7C070"/>
                </a:solidFill>
                <a:latin typeface="Courier New"/>
                <a:ea typeface="Courier New"/>
                <a:cs typeface="Courier New"/>
              </a:rPr>
              <a:t>add_filter( 'xmlrpc_enabled', '__return_false' );</a:t>
            </a:r>
          </a:p>
        </p:txBody>
      </p:sp>
      <p:sp>
        <p:nvSpPr>
          <p:cNvPr id="18" name="Text 16">
            <a:extLst xmlns:a="http://schemas.openxmlformats.org/drawingml/2006/main">
              <a:ext uri="{FF2B5EF4-FFF2-40B4-BE49-F238E27FC236}">
                <a16:creationId xmlns:a16="http://schemas.microsoft.com/office/drawing/2014/main" id="{027868F1-AC44-431D-81DD-298889CD4D80}"/>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9" name="Text 17">
            <a:extLst xmlns:a="http://schemas.openxmlformats.org/drawingml/2006/main">
              <a:ext uri="{FF2B5EF4-FFF2-40B4-BE49-F238E27FC236}">
                <a16:creationId xmlns:a16="http://schemas.microsoft.com/office/drawing/2014/main" id="{ACF7901B-6A67-4FEB-89BF-19FB382E6FB0}"/>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4</a:t>
            </a:r>
          </a:p>
        </p:txBody>
      </p:sp>
    </p:spTree>
    <p:extLst>
      <p:ext uri="{BB962C8B-B14F-4D97-AF65-F5344CB8AC3E}">
        <p14:creationId xmlns:p14="http://schemas.microsoft.com/office/powerpoint/2010/main" val="1757282997"/>
      </p:ext>
    </p:extLst>
  </p:cSld>
</p:sld>
</file>

<file path=ppt/slides/slide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8E8EA8-8D04-4282-BC35-93E88C3537D3}"/>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0F2733"/>
                </a:solidFill>
                <a:latin typeface="Cambria"/>
                <a:ea typeface="Cambria"/>
                <a:cs typeface="Cambria"/>
              </a:rPr>
              <a:t>Six categories of defaults</a:t>
            </a:r>
          </a:p>
        </p:txBody>
      </p:sp>
      <p:sp>
        <p:nvSpPr>
          <p:cNvPr id="3" name="Shape 1">
            <a:extLst xmlns:a="http://schemas.openxmlformats.org/drawingml/2006/main">
              <a:ext uri="{FF2B5EF4-FFF2-40B4-BE49-F238E27FC236}">
                <a16:creationId xmlns:a16="http://schemas.microsoft.com/office/drawing/2014/main" id="{BEA72D20-3708-46A0-AF3A-EDD767F7D594}"/>
              </a:ext>
            </a:extLst>
          </p:cNvPr>
          <p:cNvSpPr>
            <a:spLocks xmlns:a="http://schemas.openxmlformats.org/drawingml/2006/main" noGrp="1"/>
          </p:cNvSpPr>
          <p:nvPr/>
        </p:nvSpPr>
        <p:spPr>
          <a:xfrm xmlns:a="http://schemas.openxmlformats.org/drawingml/2006/main">
            <a:off x="548640"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4" name="Shape 2">
            <a:extLst xmlns:a="http://schemas.openxmlformats.org/drawingml/2006/main">
              <a:ext uri="{FF2B5EF4-FFF2-40B4-BE49-F238E27FC236}">
                <a16:creationId xmlns:a16="http://schemas.microsoft.com/office/drawing/2014/main" id="{A79F8561-27ED-4832-BC82-9C9C0A40565D}"/>
              </a:ext>
            </a:extLst>
          </p:cNvPr>
          <p:cNvSpPr>
            <a:spLocks xmlns:a="http://schemas.openxmlformats.org/drawingml/2006/main" noGrp="1"/>
          </p:cNvSpPr>
          <p:nvPr/>
        </p:nvSpPr>
        <p:spPr>
          <a:xfrm xmlns:a="http://schemas.openxmlformats.org/drawingml/2006/main">
            <a:off x="868680" y="1874520"/>
            <a:ext cx="640080" cy="640080"/>
          </a:xfrm>
          <a:prstGeom xmlns:a="http://schemas.openxmlformats.org/drawingml/2006/main" prst="ellipse">
            <a:avLst/>
          </a:prstGeom>
          <a:solidFill xmlns:a="http://schemas.openxmlformats.org/drawingml/2006/main">
            <a:srgbClr val="E0A94B"/>
          </a:solidFill>
        </p:spPr>
      </p:sp>
      <p:sp>
        <p:nvSpPr>
          <p:cNvPr id="5" name="Text 3">
            <a:extLst xmlns:a="http://schemas.openxmlformats.org/drawingml/2006/main">
              <a:ext uri="{FF2B5EF4-FFF2-40B4-BE49-F238E27FC236}">
                <a16:creationId xmlns:a16="http://schemas.microsoft.com/office/drawing/2014/main" id="{1D500169-8E11-48FE-90AC-70EF2CF8D451}"/>
              </a:ext>
            </a:extLst>
          </p:cNvPr>
          <p:cNvSpPr>
            <a:spLocks xmlns:a="http://schemas.openxmlformats.org/drawingml/2006/main" noGrp="1"/>
          </p:cNvSpPr>
          <p:nvPr/>
        </p:nvSpPr>
        <p:spPr>
          <a:xfrm xmlns:a="http://schemas.openxmlformats.org/drawingml/2006/main">
            <a:off x="868680"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1</a:t>
            </a:r>
          </a:p>
        </p:txBody>
      </p:sp>
      <p:sp>
        <p:nvSpPr>
          <p:cNvPr id="6" name="Text 4">
            <a:extLst xmlns:a="http://schemas.openxmlformats.org/drawingml/2006/main">
              <a:ext uri="{FF2B5EF4-FFF2-40B4-BE49-F238E27FC236}">
                <a16:creationId xmlns:a16="http://schemas.microsoft.com/office/drawing/2014/main" id="{CFE7ABB4-E3D6-4F49-B9E0-7B28D430CC88}"/>
              </a:ext>
            </a:extLst>
          </p:cNvPr>
          <p:cNvSpPr>
            <a:spLocks xmlns:a="http://schemas.openxmlformats.org/drawingml/2006/main" noGrp="1"/>
          </p:cNvSpPr>
          <p:nvPr/>
        </p:nvSpPr>
        <p:spPr>
          <a:xfrm xmlns:a="http://schemas.openxmlformats.org/drawingml/2006/main">
            <a:off x="868680"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Security</a:t>
            </a:r>
          </a:p>
        </p:txBody>
      </p:sp>
      <p:sp>
        <p:nvSpPr>
          <p:cNvPr id="7" name="Text 5">
            <a:extLst xmlns:a="http://schemas.openxmlformats.org/drawingml/2006/main">
              <a:ext uri="{FF2B5EF4-FFF2-40B4-BE49-F238E27FC236}">
                <a16:creationId xmlns:a16="http://schemas.microsoft.com/office/drawing/2014/main" id="{1600EB36-BFA2-4FC0-A6E7-0E5996396236}"/>
              </a:ext>
            </a:extLst>
          </p:cNvPr>
          <p:cNvSpPr>
            <a:spLocks xmlns:a="http://schemas.openxmlformats.org/drawingml/2006/main" noGrp="1"/>
          </p:cNvSpPr>
          <p:nvPr/>
        </p:nvSpPr>
        <p:spPr>
          <a:xfrm xmlns:a="http://schemas.openxmlformats.org/drawingml/2006/main">
            <a:off x="868680"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Shrink the attack surface</a:t>
            </a:r>
          </a:p>
        </p:txBody>
      </p:sp>
      <p:sp>
        <p:nvSpPr>
          <p:cNvPr id="8" name="Shape 6">
            <a:extLst xmlns:a="http://schemas.openxmlformats.org/drawingml/2006/main">
              <a:ext uri="{FF2B5EF4-FFF2-40B4-BE49-F238E27FC236}">
                <a16:creationId xmlns:a16="http://schemas.microsoft.com/office/drawing/2014/main" id="{DF1E14A6-F983-4C36-8C63-52D7E066FDF3}"/>
              </a:ext>
            </a:extLst>
          </p:cNvPr>
          <p:cNvSpPr>
            <a:spLocks xmlns:a="http://schemas.openxmlformats.org/drawingml/2006/main" noGrp="1"/>
          </p:cNvSpPr>
          <p:nvPr/>
        </p:nvSpPr>
        <p:spPr>
          <a:xfrm xmlns:a="http://schemas.openxmlformats.org/drawingml/2006/main">
            <a:off x="4507992"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9" name="Shape 7">
            <a:extLst xmlns:a="http://schemas.openxmlformats.org/drawingml/2006/main">
              <a:ext uri="{FF2B5EF4-FFF2-40B4-BE49-F238E27FC236}">
                <a16:creationId xmlns:a16="http://schemas.microsoft.com/office/drawing/2014/main" id="{1C6D586F-75E6-4D6D-906A-77D5663CE8FC}"/>
              </a:ext>
            </a:extLst>
          </p:cNvPr>
          <p:cNvSpPr>
            <a:spLocks xmlns:a="http://schemas.openxmlformats.org/drawingml/2006/main" noGrp="1"/>
          </p:cNvSpPr>
          <p:nvPr/>
        </p:nvSpPr>
        <p:spPr>
          <a:xfrm xmlns:a="http://schemas.openxmlformats.org/drawingml/2006/main">
            <a:off x="4828032" y="1874520"/>
            <a:ext cx="640080" cy="640080"/>
          </a:xfrm>
          <a:prstGeom xmlns:a="http://schemas.openxmlformats.org/drawingml/2006/main" prst="ellipse">
            <a:avLst/>
          </a:prstGeom>
          <a:solidFill xmlns:a="http://schemas.openxmlformats.org/drawingml/2006/main">
            <a:srgbClr val="E0A94B"/>
          </a:solidFill>
        </p:spPr>
      </p:sp>
      <p:sp>
        <p:nvSpPr>
          <p:cNvPr id="10" name="Text 8">
            <a:extLst xmlns:a="http://schemas.openxmlformats.org/drawingml/2006/main">
              <a:ext uri="{FF2B5EF4-FFF2-40B4-BE49-F238E27FC236}">
                <a16:creationId xmlns:a16="http://schemas.microsoft.com/office/drawing/2014/main" id="{FE7A3A2A-D2C3-4D83-B795-29AF41F29F75}"/>
              </a:ext>
            </a:extLst>
          </p:cNvPr>
          <p:cNvSpPr>
            <a:spLocks xmlns:a="http://schemas.openxmlformats.org/drawingml/2006/main" noGrp="1"/>
          </p:cNvSpPr>
          <p:nvPr/>
        </p:nvSpPr>
        <p:spPr>
          <a:xfrm xmlns:a="http://schemas.openxmlformats.org/drawingml/2006/main">
            <a:off x="4828032"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2</a:t>
            </a:r>
          </a:p>
        </p:txBody>
      </p:sp>
      <p:sp>
        <p:nvSpPr>
          <p:cNvPr id="11" name="Text 9">
            <a:extLst xmlns:a="http://schemas.openxmlformats.org/drawingml/2006/main">
              <a:ext uri="{FF2B5EF4-FFF2-40B4-BE49-F238E27FC236}">
                <a16:creationId xmlns:a16="http://schemas.microsoft.com/office/drawing/2014/main" id="{94B7A794-9F60-46E3-8DA1-39BE52E94A5E}"/>
              </a:ext>
            </a:extLst>
          </p:cNvPr>
          <p:cNvSpPr>
            <a:spLocks xmlns:a="http://schemas.openxmlformats.org/drawingml/2006/main" noGrp="1"/>
          </p:cNvSpPr>
          <p:nvPr/>
        </p:nvSpPr>
        <p:spPr>
          <a:xfrm xmlns:a="http://schemas.openxmlformats.org/drawingml/2006/main">
            <a:off x="4828032"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Content</a:t>
            </a:r>
          </a:p>
        </p:txBody>
      </p:sp>
      <p:sp>
        <p:nvSpPr>
          <p:cNvPr id="12" name="Text 10">
            <a:extLst xmlns:a="http://schemas.openxmlformats.org/drawingml/2006/main">
              <a:ext uri="{FF2B5EF4-FFF2-40B4-BE49-F238E27FC236}">
                <a16:creationId xmlns:a16="http://schemas.microsoft.com/office/drawing/2014/main" id="{33D0B804-032B-4F3C-A811-A38E9BFE8083}"/>
              </a:ext>
            </a:extLst>
          </p:cNvPr>
          <p:cNvSpPr>
            <a:spLocks xmlns:a="http://schemas.openxmlformats.org/drawingml/2006/main" noGrp="1"/>
          </p:cNvSpPr>
          <p:nvPr/>
        </p:nvSpPr>
        <p:spPr>
          <a:xfrm xmlns:a="http://schemas.openxmlformats.org/drawingml/2006/main">
            <a:off x="4828032"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Close spam channels &amp; info leaks</a:t>
            </a:r>
          </a:p>
        </p:txBody>
      </p:sp>
      <p:sp>
        <p:nvSpPr>
          <p:cNvPr id="13" name="Shape 11">
            <a:extLst xmlns:a="http://schemas.openxmlformats.org/drawingml/2006/main">
              <a:ext uri="{FF2B5EF4-FFF2-40B4-BE49-F238E27FC236}">
                <a16:creationId xmlns:a16="http://schemas.microsoft.com/office/drawing/2014/main" id="{583DA055-423F-4AD2-AD5E-6AFA54DC3162}"/>
              </a:ext>
            </a:extLst>
          </p:cNvPr>
          <p:cNvSpPr>
            <a:spLocks xmlns:a="http://schemas.openxmlformats.org/drawingml/2006/main" noGrp="1"/>
          </p:cNvSpPr>
          <p:nvPr/>
        </p:nvSpPr>
        <p:spPr>
          <a:xfrm xmlns:a="http://schemas.openxmlformats.org/drawingml/2006/main">
            <a:off x="8467344"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4" name="Shape 12">
            <a:extLst xmlns:a="http://schemas.openxmlformats.org/drawingml/2006/main">
              <a:ext uri="{FF2B5EF4-FFF2-40B4-BE49-F238E27FC236}">
                <a16:creationId xmlns:a16="http://schemas.microsoft.com/office/drawing/2014/main" id="{4E34392C-458C-48C7-8388-2EBA14F4827C}"/>
              </a:ext>
            </a:extLst>
          </p:cNvPr>
          <p:cNvSpPr>
            <a:spLocks xmlns:a="http://schemas.openxmlformats.org/drawingml/2006/main" noGrp="1"/>
          </p:cNvSpPr>
          <p:nvPr/>
        </p:nvSpPr>
        <p:spPr>
          <a:xfrm xmlns:a="http://schemas.openxmlformats.org/drawingml/2006/main">
            <a:off x="8787384" y="1874520"/>
            <a:ext cx="640080" cy="640080"/>
          </a:xfrm>
          <a:prstGeom xmlns:a="http://schemas.openxmlformats.org/drawingml/2006/main" prst="ellipse">
            <a:avLst/>
          </a:prstGeom>
          <a:solidFill xmlns:a="http://schemas.openxmlformats.org/drawingml/2006/main">
            <a:srgbClr val="E0A94B"/>
          </a:solidFill>
        </p:spPr>
      </p:sp>
      <p:sp>
        <p:nvSpPr>
          <p:cNvPr id="15" name="Text 13">
            <a:extLst xmlns:a="http://schemas.openxmlformats.org/drawingml/2006/main">
              <a:ext uri="{FF2B5EF4-FFF2-40B4-BE49-F238E27FC236}">
                <a16:creationId xmlns:a16="http://schemas.microsoft.com/office/drawing/2014/main" id="{FE5FDE26-3EE7-4408-BAE0-25EF9EFCE3FA}"/>
              </a:ext>
            </a:extLst>
          </p:cNvPr>
          <p:cNvSpPr>
            <a:spLocks xmlns:a="http://schemas.openxmlformats.org/drawingml/2006/main" noGrp="1"/>
          </p:cNvSpPr>
          <p:nvPr/>
        </p:nvSpPr>
        <p:spPr>
          <a:xfrm xmlns:a="http://schemas.openxmlformats.org/drawingml/2006/main">
            <a:off x="8787384"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3</a:t>
            </a:r>
          </a:p>
        </p:txBody>
      </p:sp>
      <p:sp>
        <p:nvSpPr>
          <p:cNvPr id="16" name="Text 14">
            <a:extLst xmlns:a="http://schemas.openxmlformats.org/drawingml/2006/main">
              <a:ext uri="{FF2B5EF4-FFF2-40B4-BE49-F238E27FC236}">
                <a16:creationId xmlns:a16="http://schemas.microsoft.com/office/drawing/2014/main" id="{00C4B795-DA55-40B0-A203-2D941695F49F}"/>
              </a:ext>
            </a:extLst>
          </p:cNvPr>
          <p:cNvSpPr>
            <a:spLocks xmlns:a="http://schemas.openxmlformats.org/drawingml/2006/main" noGrp="1"/>
          </p:cNvSpPr>
          <p:nvPr/>
        </p:nvSpPr>
        <p:spPr>
          <a:xfrm xmlns:a="http://schemas.openxmlformats.org/drawingml/2006/main">
            <a:off x="8787384"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Admin UX</a:t>
            </a:r>
          </a:p>
        </p:txBody>
      </p:sp>
      <p:sp>
        <p:nvSpPr>
          <p:cNvPr id="17" name="Text 15">
            <a:extLst xmlns:a="http://schemas.openxmlformats.org/drawingml/2006/main">
              <a:ext uri="{FF2B5EF4-FFF2-40B4-BE49-F238E27FC236}">
                <a16:creationId xmlns:a16="http://schemas.microsoft.com/office/drawing/2014/main" id="{4DC32C18-E829-46C5-AF82-94462D65CAC6}"/>
              </a:ext>
            </a:extLst>
          </p:cNvPr>
          <p:cNvSpPr>
            <a:spLocks xmlns:a="http://schemas.openxmlformats.org/drawingml/2006/main" noGrp="1"/>
          </p:cNvSpPr>
          <p:nvPr/>
        </p:nvSpPr>
        <p:spPr>
          <a:xfrm xmlns:a="http://schemas.openxmlformats.org/drawingml/2006/main">
            <a:off x="8787384"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A calmer, faster dashboard</a:t>
            </a:r>
          </a:p>
        </p:txBody>
      </p:sp>
      <p:sp>
        <p:nvSpPr>
          <p:cNvPr id="18" name="Shape 16">
            <a:extLst xmlns:a="http://schemas.openxmlformats.org/drawingml/2006/main">
              <a:ext uri="{FF2B5EF4-FFF2-40B4-BE49-F238E27FC236}">
                <a16:creationId xmlns:a16="http://schemas.microsoft.com/office/drawing/2014/main" id="{1A90C253-56D1-4990-A40C-62BD2C5759AE}"/>
              </a:ext>
            </a:extLst>
          </p:cNvPr>
          <p:cNvSpPr>
            <a:spLocks xmlns:a="http://schemas.openxmlformats.org/drawingml/2006/main" noGrp="1"/>
          </p:cNvSpPr>
          <p:nvPr/>
        </p:nvSpPr>
        <p:spPr>
          <a:xfrm xmlns:a="http://schemas.openxmlformats.org/drawingml/2006/main">
            <a:off x="548640"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9" name="Shape 17">
            <a:extLst xmlns:a="http://schemas.openxmlformats.org/drawingml/2006/main">
              <a:ext uri="{FF2B5EF4-FFF2-40B4-BE49-F238E27FC236}">
                <a16:creationId xmlns:a16="http://schemas.microsoft.com/office/drawing/2014/main" id="{49D40184-43FD-4C07-8302-9B4BA898FCFB}"/>
              </a:ext>
            </a:extLst>
          </p:cNvPr>
          <p:cNvSpPr>
            <a:spLocks xmlns:a="http://schemas.openxmlformats.org/drawingml/2006/main" noGrp="1"/>
          </p:cNvSpPr>
          <p:nvPr/>
        </p:nvSpPr>
        <p:spPr>
          <a:xfrm xmlns:a="http://schemas.openxmlformats.org/drawingml/2006/main">
            <a:off x="868680" y="4297680"/>
            <a:ext cx="640080" cy="640080"/>
          </a:xfrm>
          <a:prstGeom xmlns:a="http://schemas.openxmlformats.org/drawingml/2006/main" prst="ellipse">
            <a:avLst/>
          </a:prstGeom>
          <a:solidFill xmlns:a="http://schemas.openxmlformats.org/drawingml/2006/main">
            <a:srgbClr val="E0A94B"/>
          </a:solidFill>
        </p:spPr>
      </p:sp>
      <p:sp>
        <p:nvSpPr>
          <p:cNvPr id="20" name="Text 18">
            <a:extLst xmlns:a="http://schemas.openxmlformats.org/drawingml/2006/main">
              <a:ext uri="{FF2B5EF4-FFF2-40B4-BE49-F238E27FC236}">
                <a16:creationId xmlns:a16="http://schemas.microsoft.com/office/drawing/2014/main" id="{1263724C-FA0A-4F8F-88D4-B4C10B25B7A6}"/>
              </a:ext>
            </a:extLst>
          </p:cNvPr>
          <p:cNvSpPr>
            <a:spLocks xmlns:a="http://schemas.openxmlformats.org/drawingml/2006/main" noGrp="1"/>
          </p:cNvSpPr>
          <p:nvPr/>
        </p:nvSpPr>
        <p:spPr>
          <a:xfrm xmlns:a="http://schemas.openxmlformats.org/drawingml/2006/main">
            <a:off x="868680"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4</a:t>
            </a:r>
          </a:p>
        </p:txBody>
      </p:sp>
      <p:sp>
        <p:nvSpPr>
          <p:cNvPr id="21" name="Text 19">
            <a:extLst xmlns:a="http://schemas.openxmlformats.org/drawingml/2006/main">
              <a:ext uri="{FF2B5EF4-FFF2-40B4-BE49-F238E27FC236}">
                <a16:creationId xmlns:a16="http://schemas.microsoft.com/office/drawing/2014/main" id="{51B920E6-BDBF-4362-A266-8B4B618C7EFF}"/>
              </a:ext>
            </a:extLst>
          </p:cNvPr>
          <p:cNvSpPr>
            <a:spLocks xmlns:a="http://schemas.openxmlformats.org/drawingml/2006/main" noGrp="1"/>
          </p:cNvSpPr>
          <p:nvPr/>
        </p:nvSpPr>
        <p:spPr>
          <a:xfrm xmlns:a="http://schemas.openxmlformats.org/drawingml/2006/main">
            <a:off x="868680"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Login</a:t>
            </a:r>
          </a:p>
        </p:txBody>
      </p:sp>
      <p:sp>
        <p:nvSpPr>
          <p:cNvPr id="22" name="Text 20">
            <a:extLst xmlns:a="http://schemas.openxmlformats.org/drawingml/2006/main">
              <a:ext uri="{FF2B5EF4-FFF2-40B4-BE49-F238E27FC236}">
                <a16:creationId xmlns:a16="http://schemas.microsoft.com/office/drawing/2014/main" id="{3D688FF8-4F00-4760-A96C-FDD6E08564F6}"/>
              </a:ext>
            </a:extLst>
          </p:cNvPr>
          <p:cNvSpPr>
            <a:spLocks xmlns:a="http://schemas.openxmlformats.org/drawingml/2006/main" noGrp="1"/>
          </p:cNvSpPr>
          <p:nvPr/>
        </p:nvSpPr>
        <p:spPr>
          <a:xfrm xmlns:a="http://schemas.openxmlformats.org/drawingml/2006/main">
            <a:off x="868680"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Sessions &amp; credentials</a:t>
            </a:r>
          </a:p>
        </p:txBody>
      </p:sp>
      <p:sp>
        <p:nvSpPr>
          <p:cNvPr id="23" name="Shape 21">
            <a:extLst xmlns:a="http://schemas.openxmlformats.org/drawingml/2006/main">
              <a:ext uri="{FF2B5EF4-FFF2-40B4-BE49-F238E27FC236}">
                <a16:creationId xmlns:a16="http://schemas.microsoft.com/office/drawing/2014/main" id="{4E5F0DCA-6D7F-48FB-890B-C36B42237960}"/>
              </a:ext>
            </a:extLst>
          </p:cNvPr>
          <p:cNvSpPr>
            <a:spLocks xmlns:a="http://schemas.openxmlformats.org/drawingml/2006/main" noGrp="1"/>
          </p:cNvSpPr>
          <p:nvPr/>
        </p:nvSpPr>
        <p:spPr>
          <a:xfrm xmlns:a="http://schemas.openxmlformats.org/drawingml/2006/main">
            <a:off x="4507992"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4" name="Shape 22">
            <a:extLst xmlns:a="http://schemas.openxmlformats.org/drawingml/2006/main">
              <a:ext uri="{FF2B5EF4-FFF2-40B4-BE49-F238E27FC236}">
                <a16:creationId xmlns:a16="http://schemas.microsoft.com/office/drawing/2014/main" id="{71A0D9BE-045F-47C6-9198-0B39DF4BBEA7}"/>
              </a:ext>
            </a:extLst>
          </p:cNvPr>
          <p:cNvSpPr>
            <a:spLocks xmlns:a="http://schemas.openxmlformats.org/drawingml/2006/main" noGrp="1"/>
          </p:cNvSpPr>
          <p:nvPr/>
        </p:nvSpPr>
        <p:spPr>
          <a:xfrm xmlns:a="http://schemas.openxmlformats.org/drawingml/2006/main">
            <a:off x="4828032" y="4297680"/>
            <a:ext cx="640080" cy="640080"/>
          </a:xfrm>
          <a:prstGeom xmlns:a="http://schemas.openxmlformats.org/drawingml/2006/main" prst="ellipse">
            <a:avLst/>
          </a:prstGeom>
          <a:solidFill xmlns:a="http://schemas.openxmlformats.org/drawingml/2006/main">
            <a:srgbClr val="E0A94B"/>
          </a:solidFill>
        </p:spPr>
      </p:sp>
      <p:sp>
        <p:nvSpPr>
          <p:cNvPr id="25" name="Text 23">
            <a:extLst xmlns:a="http://schemas.openxmlformats.org/drawingml/2006/main">
              <a:ext uri="{FF2B5EF4-FFF2-40B4-BE49-F238E27FC236}">
                <a16:creationId xmlns:a16="http://schemas.microsoft.com/office/drawing/2014/main" id="{1781823E-B5BF-4C67-8699-1C5C5A3A4DA0}"/>
              </a:ext>
            </a:extLst>
          </p:cNvPr>
          <p:cNvSpPr>
            <a:spLocks xmlns:a="http://schemas.openxmlformats.org/drawingml/2006/main" noGrp="1"/>
          </p:cNvSpPr>
          <p:nvPr/>
        </p:nvSpPr>
        <p:spPr>
          <a:xfrm xmlns:a="http://schemas.openxmlformats.org/drawingml/2006/main">
            <a:off x="4828032"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CCAA5532-838C-4700-8C47-FC74F4F75A65}"/>
              </a:ext>
            </a:extLst>
          </p:cNvPr>
          <p:cNvSpPr>
            <a:spLocks xmlns:a="http://schemas.openxmlformats.org/drawingml/2006/main" noGrp="1"/>
          </p:cNvSpPr>
          <p:nvPr/>
        </p:nvSpPr>
        <p:spPr>
          <a:xfrm xmlns:a="http://schemas.openxmlformats.org/drawingml/2006/main">
            <a:off x="4828032"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Branding</a:t>
            </a:r>
          </a:p>
        </p:txBody>
      </p:sp>
      <p:sp>
        <p:nvSpPr>
          <p:cNvPr id="27" name="Text 25">
            <a:extLst xmlns:a="http://schemas.openxmlformats.org/drawingml/2006/main">
              <a:ext uri="{FF2B5EF4-FFF2-40B4-BE49-F238E27FC236}">
                <a16:creationId xmlns:a16="http://schemas.microsoft.com/office/drawing/2014/main" id="{389A8C63-899D-4121-A63E-DA6790F84F0A}"/>
              </a:ext>
            </a:extLst>
          </p:cNvPr>
          <p:cNvSpPr>
            <a:spLocks xmlns:a="http://schemas.openxmlformats.org/drawingml/2006/main" noGrp="1"/>
          </p:cNvSpPr>
          <p:nvPr/>
        </p:nvSpPr>
        <p:spPr>
          <a:xfrm xmlns:a="http://schemas.openxmlformats.org/drawingml/2006/main">
            <a:off x="4828032"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Own the login screen</a:t>
            </a:r>
          </a:p>
        </p:txBody>
      </p:sp>
      <p:sp>
        <p:nvSpPr>
          <p:cNvPr id="28" name="Shape 26">
            <a:extLst xmlns:a="http://schemas.openxmlformats.org/drawingml/2006/main">
              <a:ext uri="{FF2B5EF4-FFF2-40B4-BE49-F238E27FC236}">
                <a16:creationId xmlns:a16="http://schemas.microsoft.com/office/drawing/2014/main" id="{8B855216-8063-4019-A069-A5CB8838D7D6}"/>
              </a:ext>
            </a:extLst>
          </p:cNvPr>
          <p:cNvSpPr>
            <a:spLocks xmlns:a="http://schemas.openxmlformats.org/drawingml/2006/main" noGrp="1"/>
          </p:cNvSpPr>
          <p:nvPr/>
        </p:nvSpPr>
        <p:spPr>
          <a:xfrm xmlns:a="http://schemas.openxmlformats.org/drawingml/2006/main">
            <a:off x="8467344"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9" name="Shape 27">
            <a:extLst xmlns:a="http://schemas.openxmlformats.org/drawingml/2006/main">
              <a:ext uri="{FF2B5EF4-FFF2-40B4-BE49-F238E27FC236}">
                <a16:creationId xmlns:a16="http://schemas.microsoft.com/office/drawing/2014/main" id="{C88599EE-A8FF-4DEB-A7A0-5F03FA566415}"/>
              </a:ext>
            </a:extLst>
          </p:cNvPr>
          <p:cNvSpPr>
            <a:spLocks xmlns:a="http://schemas.openxmlformats.org/drawingml/2006/main" noGrp="1"/>
          </p:cNvSpPr>
          <p:nvPr/>
        </p:nvSpPr>
        <p:spPr>
          <a:xfrm xmlns:a="http://schemas.openxmlformats.org/drawingml/2006/main">
            <a:off x="8787384" y="4297680"/>
            <a:ext cx="640080" cy="640080"/>
          </a:xfrm>
          <a:prstGeom xmlns:a="http://schemas.openxmlformats.org/drawingml/2006/main" prst="ellipse">
            <a:avLst/>
          </a:prstGeom>
          <a:solidFill xmlns:a="http://schemas.openxmlformats.org/drawingml/2006/main">
            <a:srgbClr val="E0A94B"/>
          </a:solidFill>
        </p:spPr>
      </p:sp>
      <p:sp>
        <p:nvSpPr>
          <p:cNvPr id="30" name="Text 28">
            <a:extLst xmlns:a="http://schemas.openxmlformats.org/drawingml/2006/main">
              <a:ext uri="{FF2B5EF4-FFF2-40B4-BE49-F238E27FC236}">
                <a16:creationId xmlns:a16="http://schemas.microsoft.com/office/drawing/2014/main" id="{EDAE97E2-45FC-416C-882F-6D57DE4E147C}"/>
              </a:ext>
            </a:extLst>
          </p:cNvPr>
          <p:cNvSpPr>
            <a:spLocks xmlns:a="http://schemas.openxmlformats.org/drawingml/2006/main" noGrp="1"/>
          </p:cNvSpPr>
          <p:nvPr/>
        </p:nvSpPr>
        <p:spPr>
          <a:xfrm xmlns:a="http://schemas.openxmlformats.org/drawingml/2006/main">
            <a:off x="8787384"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6</a:t>
            </a:r>
          </a:p>
        </p:txBody>
      </p:sp>
      <p:sp>
        <p:nvSpPr>
          <p:cNvPr id="31" name="Text 29">
            <a:extLst xmlns:a="http://schemas.openxmlformats.org/drawingml/2006/main">
              <a:ext uri="{FF2B5EF4-FFF2-40B4-BE49-F238E27FC236}">
                <a16:creationId xmlns:a16="http://schemas.microsoft.com/office/drawing/2014/main" id="{5CAB89EA-6907-4B4B-8058-EF0D3F3ECB12}"/>
              </a:ext>
            </a:extLst>
          </p:cNvPr>
          <p:cNvSpPr>
            <a:spLocks xmlns:a="http://schemas.openxmlformats.org/drawingml/2006/main" noGrp="1"/>
          </p:cNvSpPr>
          <p:nvPr/>
        </p:nvSpPr>
        <p:spPr>
          <a:xfrm xmlns:a="http://schemas.openxmlformats.org/drawingml/2006/main">
            <a:off x="8787384"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Performance</a:t>
            </a:r>
          </a:p>
        </p:txBody>
      </p:sp>
      <p:sp>
        <p:nvSpPr>
          <p:cNvPr id="32" name="Text 30">
            <a:extLst xmlns:a="http://schemas.openxmlformats.org/drawingml/2006/main">
              <a:ext uri="{FF2B5EF4-FFF2-40B4-BE49-F238E27FC236}">
                <a16:creationId xmlns:a16="http://schemas.microsoft.com/office/drawing/2014/main" id="{E50ABA2B-33F1-4891-AC9B-6EC8BAE04C0B}"/>
              </a:ext>
            </a:extLst>
          </p:cNvPr>
          <p:cNvSpPr>
            <a:spLocks xmlns:a="http://schemas.openxmlformats.org/drawingml/2006/main" noGrp="1"/>
          </p:cNvSpPr>
          <p:nvPr/>
        </p:nvSpPr>
        <p:spPr>
          <a:xfrm xmlns:a="http://schemas.openxmlformats.org/drawingml/2006/main">
            <a:off x="8787384"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Trim the page weight</a:t>
            </a:r>
          </a:p>
        </p:txBody>
      </p:sp>
      <p:sp>
        <p:nvSpPr>
          <p:cNvPr id="33" name="Text 31">
            <a:extLst xmlns:a="http://schemas.openxmlformats.org/drawingml/2006/main">
              <a:ext uri="{FF2B5EF4-FFF2-40B4-BE49-F238E27FC236}">
                <a16:creationId xmlns:a16="http://schemas.microsoft.com/office/drawing/2014/main" id="{2B51F75A-0337-4E88-9F15-A74527C88C79}"/>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34" name="Text 32">
            <a:extLst xmlns:a="http://schemas.openxmlformats.org/drawingml/2006/main">
              <a:ext uri="{FF2B5EF4-FFF2-40B4-BE49-F238E27FC236}">
                <a16:creationId xmlns:a16="http://schemas.microsoft.com/office/drawing/2014/main" id="{CBA3A39E-1E4A-44CC-9549-BBB4CC73D499}"/>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5</a:t>
            </a:r>
          </a:p>
        </p:txBody>
      </p:sp>
    </p:spTree>
    <p:extLst>
      <p:ext uri="{BB962C8B-B14F-4D97-AF65-F5344CB8AC3E}">
        <p14:creationId xmlns:p14="http://schemas.microsoft.com/office/powerpoint/2010/main" val="1639693144"/>
      </p:ext>
    </p:extLst>
  </p:cSld>
</p:sld>
</file>

<file path=ppt/slides/slide6.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3399737-A2C9-47F0-8913-8D9A8A4C9495}"/>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72F77C0-8572-4C05-82B0-4AAF2202AEE8}"/>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2F39887B-9A5E-403E-970B-30519A680F83}"/>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1</a:t>
            </a:r>
          </a:p>
        </p:txBody>
      </p:sp>
      <p:sp>
        <p:nvSpPr>
          <p:cNvPr id="5" name="Text 3">
            <a:extLst xmlns:a="http://schemas.openxmlformats.org/drawingml/2006/main">
              <a:ext uri="{FF2B5EF4-FFF2-40B4-BE49-F238E27FC236}">
                <a16:creationId xmlns:a16="http://schemas.microsoft.com/office/drawing/2014/main" id="{7B0728D2-5F0A-463A-B8AC-5E879E48EB04}"/>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ONE</a:t>
            </a:r>
          </a:p>
        </p:txBody>
      </p:sp>
      <p:sp>
        <p:nvSpPr>
          <p:cNvPr id="6" name="Text 4">
            <a:extLst xmlns:a="http://schemas.openxmlformats.org/drawingml/2006/main">
              <a:ext uri="{FF2B5EF4-FFF2-40B4-BE49-F238E27FC236}">
                <a16:creationId xmlns:a16="http://schemas.microsoft.com/office/drawing/2014/main" id="{1B82C924-4042-4398-AC7F-F91B36B1F9BE}"/>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Security &amp;</a:t>
            </a:r>
          </a:p>
          <a:p xmlns:a="http://schemas.openxmlformats.org/drawingml/2006/main">
            <a:pPr marL="0" indent="0">
              <a:buNone/>
            </a:pPr>
            <a:r>
              <a:rPr sz="4600" b="1">
                <a:solidFill>
                  <a:srgbClr val="FFFFFF"/>
                </a:solidFill>
                <a:latin typeface="Cambria"/>
                <a:ea typeface="Cambria"/>
                <a:cs typeface="Cambria"/>
              </a:rPr>
              <a:t>Attack Surface</a:t>
            </a:r>
          </a:p>
        </p:txBody>
      </p:sp>
      <p:sp>
        <p:nvSpPr>
          <p:cNvPr id="7" name="Text 5">
            <a:extLst xmlns:a="http://schemas.openxmlformats.org/drawingml/2006/main">
              <a:ext uri="{FF2B5EF4-FFF2-40B4-BE49-F238E27FC236}">
                <a16:creationId xmlns:a16="http://schemas.microsoft.com/office/drawing/2014/main" id="{325AD8FB-A12A-4B72-91C1-10668025FF58}"/>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Every item here removes something an attacker can poke — usually in one line.</a:t>
            </a:r>
          </a:p>
        </p:txBody>
      </p:sp>
    </p:spTree>
    <p:extLst>
      <p:ext uri="{BB962C8B-B14F-4D97-AF65-F5344CB8AC3E}">
        <p14:creationId xmlns:p14="http://schemas.microsoft.com/office/powerpoint/2010/main" val="1426793399"/>
      </p:ext>
    </p:extLst>
  </p:cSld>
</p:sld>
</file>

<file path=ppt/slides/slide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E5B7C3-2282-4149-A972-3A4BC3ACB4CC}"/>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1 of 6</a:t>
            </a:r>
          </a:p>
        </p:txBody>
      </p:sp>
      <p:sp>
        <p:nvSpPr>
          <p:cNvPr id="3" name="Text 1">
            <a:extLst xmlns:a="http://schemas.openxmlformats.org/drawingml/2006/main">
              <a:ext uri="{FF2B5EF4-FFF2-40B4-BE49-F238E27FC236}">
                <a16:creationId xmlns:a16="http://schemas.microsoft.com/office/drawing/2014/main" id="{A2DCCAD4-252E-4C0E-A913-63466D3CD652}"/>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Restrict REST API user discovery</a:t>
            </a:r>
          </a:p>
        </p:txBody>
      </p:sp>
      <p:sp>
        <p:nvSpPr>
          <p:cNvPr id="4" name="Text 2">
            <a:extLst xmlns:a="http://schemas.openxmlformats.org/drawingml/2006/main">
              <a:ext uri="{FF2B5EF4-FFF2-40B4-BE49-F238E27FC236}">
                <a16:creationId xmlns:a16="http://schemas.microsoft.com/office/drawing/2014/main" id="{E74D8F23-55A5-474A-88AD-401380E0497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/wp/v2/users endpoint hands out every author's login name to anyone — half of a brute-force guess, for free. Closing it for logged-out requests only keeps the editor and legit integrations working.</a:t>
            </a:r>
          </a:p>
        </p:txBody>
      </p:sp>
      <p:sp>
        <p:nvSpPr>
          <p:cNvPr id="5" name="Shape 3">
            <a:extLst xmlns:a="http://schemas.openxmlformats.org/drawingml/2006/main">
              <a:ext uri="{FF2B5EF4-FFF2-40B4-BE49-F238E27FC236}">
                <a16:creationId xmlns:a16="http://schemas.microsoft.com/office/drawing/2014/main" id="{F7D4C4D9-AD68-4B04-9DD0-EC7D7AC4B483}"/>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9E868F2D-5CC1-4383-B616-72377E63029D}"/>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wpyeg_restrict_rest_user_discovery</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30606E54-B009-4939-957E-3F5DFE3EB79A}"/>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909C298-E3A4-4B0B-8D5D-2AA81B346BF6}"/>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'rest_endpoints', function ( $ep ) {</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is_user_logged_in() ) {</a:t>
            </a:r>
          </a:p>
          <a:p xmlns:a="http://schemas.openxmlformats.org/drawingml/2006/main">
            <a:pPr marL="0" indent="0" algn="l">
              <a:lnSpc>
                <a:spcPct val="108000"/>
              </a:lnSpc>
              <a:buNone/>
            </a:pPr>
            <a:r>
              <a:rPr sz="1150">
                <a:solidFill>
                  <a:srgbClr val="E7C070"/>
                </a:solidFill>
                <a:latin typeface="Courier New"/>
                <a:ea typeface="Courier New"/>
                <a:cs typeface="Courier New"/>
              </a:rPr>
              <a:t>        unset( $ep['/wp/v2/users'] );</a:t>
            </a:r>
          </a:p>
          <a:p xmlns:a="http://schemas.openxmlformats.org/drawingml/2006/main">
            <a:pPr marL="0" indent="0" algn="l">
              <a:lnSpc>
                <a:spcPct val="108000"/>
              </a:lnSpc>
              <a:buNone/>
            </a:pPr>
            <a:r>
              <a:rPr sz="1150">
                <a:solidFill>
                  <a:srgbClr val="DCEAF1"/>
                </a:solidFill>
                <a:latin typeface="Courier New"/>
                <a:ea typeface="Courier New"/>
                <a:cs typeface="Courier New"/>
              </a:rPr>
              <a:t>        unset(</a:t>
            </a:r>
          </a:p>
          <a:p xmlns:a="http://schemas.openxmlformats.org/drawingml/2006/main">
            <a:pPr marL="0" indent="0" algn="l">
              <a:lnSpc>
                <a:spcPct val="108000"/>
              </a:lnSpc>
              <a:buNone/>
            </a:pPr>
            <a:r>
              <a:rPr sz="1150">
                <a:solidFill>
                  <a:srgbClr val="E7C070"/>
                </a:solidFill>
                <a:latin typeface="Courier New"/>
                <a:ea typeface="Courier New"/>
                <a:cs typeface="Courier New"/>
              </a:rPr>
              <a:t>          $ep['/wp/v2/users/(?P&lt;id&gt;[\d]+)']</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$ep;</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BAA03D75-B745-4F8D-825C-DF1A3DDB5B44}"/>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3E9D5767-8DC4-4DE7-895C-34BA1273DB3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7</a:t>
            </a:r>
          </a:p>
        </p:txBody>
      </p:sp>
    </p:spTree>
    <p:extLst>
      <p:ext uri="{BB962C8B-B14F-4D97-AF65-F5344CB8AC3E}">
        <p14:creationId xmlns:p14="http://schemas.microsoft.com/office/powerpoint/2010/main" val="1434785985"/>
      </p:ext>
    </p:extLst>
  </p:cSld>
</p:sld>
</file>

<file path=ppt/slides/slide8.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566193-3CDD-483C-8A50-A081E04AD8D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2 of 6 · opt-in</a:t>
            </a:r>
          </a:p>
        </p:txBody>
      </p:sp>
      <p:sp>
        <p:nvSpPr>
          <p:cNvPr id="3" name="Text 1">
            <a:extLst xmlns:a="http://schemas.openxmlformats.org/drawingml/2006/main">
              <a:ext uri="{FF2B5EF4-FFF2-40B4-BE49-F238E27FC236}">
                <a16:creationId xmlns:a16="http://schemas.microsoft.com/office/drawing/2014/main" id="{55ABD7D6-2A08-4CCA-8AC8-5BFDC53DA868}"/>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Lock REST to logged-in users (opt-in)</a:t>
            </a:r>
          </a:p>
        </p:txBody>
      </p:sp>
      <p:sp>
        <p:nvSpPr>
          <p:cNvPr id="4" name="Text 2">
            <a:extLst xmlns:a="http://schemas.openxmlformats.org/drawingml/2006/main">
              <a:ext uri="{FF2B5EF4-FFF2-40B4-BE49-F238E27FC236}">
                <a16:creationId xmlns:a16="http://schemas.microsoft.com/office/drawing/2014/main" id="{25205685-9FDA-4CE0-9BB2-7927175702C0}"/>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sledgehammer version of the slide before: requiring auth for ALL REST calls stops anonymous scraping cold. It breaks anonymous REST — front-end blocks, embeds, search, outside integrations — so it ships off.</a:t>
            </a:r>
          </a:p>
        </p:txBody>
      </p:sp>
      <p:sp>
        <p:nvSpPr>
          <p:cNvPr id="5" name="Shape 3">
            <a:extLst xmlns:a="http://schemas.openxmlformats.org/drawingml/2006/main">
              <a:ext uri="{FF2B5EF4-FFF2-40B4-BE49-F238E27FC236}">
                <a16:creationId xmlns:a16="http://schemas.microsoft.com/office/drawing/2014/main" id="{5AEDBFA5-A6C4-4812-B5B5-BB3AE0392DAC}"/>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013FEE0D-7BDF-4A08-B78D-4D658254CBF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wpyeg_disable_rest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a:t>
            </a:r>
          </a:p>
        </p:txBody>
      </p:sp>
      <p:sp>
        <p:nvSpPr>
          <p:cNvPr id="7" name="Shape 5">
            <a:extLst xmlns:a="http://schemas.openxmlformats.org/drawingml/2006/main">
              <a:ext uri="{FF2B5EF4-FFF2-40B4-BE49-F238E27FC236}">
                <a16:creationId xmlns:a16="http://schemas.microsoft.com/office/drawing/2014/main" id="{67F2B273-838A-4CC8-B317-3C61B3D4AFA5}"/>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C2F69309-976E-452C-8D04-927FB8E86ADF}"/>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'rest_authentication_errors',</a:t>
            </a:r>
          </a:p>
          <a:p xmlns:a="http://schemas.openxmlformats.org/drawingml/2006/main">
            <a:pPr marL="0" indent="0" algn="l">
              <a:lnSpc>
                <a:spcPct val="108000"/>
              </a:lnSpc>
              <a:buNone/>
            </a:pPr>
            <a:r>
              <a:rPr sz="1150">
                <a:solidFill>
                  <a:srgbClr val="DCEAF1"/>
                </a:solidFill>
                <a:latin typeface="Courier New"/>
                <a:ea typeface="Courier New"/>
                <a:cs typeface="Courier New"/>
              </a:rPr>
              <a:t>  function ( $result ) {</a:t>
            </a:r>
          </a:p>
          <a:p xmlns:a="http://schemas.openxmlformats.org/drawingml/2006/main">
            <a:pPr marL="0" indent="0" algn="l">
              <a:lnSpc>
                <a:spcPct val="108000"/>
              </a:lnSpc>
              <a:buNone/>
            </a:pPr>
            <a:r>
              <a:rPr sz="1150">
                <a:solidFill>
                  <a:srgbClr val="DCEAF1"/>
                </a:solidFill>
                <a:latin typeface="Courier New"/>
                <a:ea typeface="Courier New"/>
                <a:cs typeface="Courier New"/>
              </a:rPr>
              <a:t>    if ( ! empty( $result ) ) return $result;</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is_user_logged_in() )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new WP_Error(</a:t>
            </a:r>
          </a:p>
          <a:p xmlns:a="http://schemas.openxmlformats.org/drawingml/2006/main">
            <a:pPr marL="0" indent="0" algn="l">
              <a:lnSpc>
                <a:spcPct val="108000"/>
              </a:lnSpc>
              <a:buNone/>
            </a:pPr>
            <a:r>
              <a:rPr sz="1150">
                <a:solidFill>
                  <a:srgbClr val="E7C070"/>
                </a:solidFill>
                <a:latin typeface="Courier New"/>
                <a:ea typeface="Courier New"/>
                <a:cs typeface="Courier New"/>
              </a:rPr>
              <a:t>        'rest_not_logged_in', 'Auth required.',</a:t>
            </a:r>
          </a:p>
          <a:p xmlns:a="http://schemas.openxmlformats.org/drawingml/2006/main">
            <a:pPr marL="0" indent="0" algn="l">
              <a:lnSpc>
                <a:spcPct val="108000"/>
              </a:lnSpc>
              <a:buNone/>
            </a:pPr>
            <a:r>
              <a:rPr sz="1150">
                <a:solidFill>
                  <a:srgbClr val="E7C070"/>
                </a:solidFill>
                <a:latin typeface="Courier New"/>
                <a:ea typeface="Courier New"/>
                <a:cs typeface="Courier New"/>
              </a:rPr>
              <a:t>        array( 'status' =&gt; 401 )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$result;</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3A18F3D3-5467-42D6-AFCA-11DC5C110805}"/>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543FC1F-0A70-48C8-8382-15849CA54C93}"/>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8</a:t>
            </a:r>
          </a:p>
        </p:txBody>
      </p:sp>
    </p:spTree>
    <p:extLst>
      <p:ext uri="{BB962C8B-B14F-4D97-AF65-F5344CB8AC3E}">
        <p14:creationId xmlns:p14="http://schemas.microsoft.com/office/powerpoint/2010/main" val="1212028560"/>
      </p:ext>
    </p:extLst>
  </p:cSld>
</p:sld>
</file>

<file path=ppt/slides/slide9.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411277-9FFA-4BA6-99D9-5960492AB490}"/>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3 of 6</a:t>
            </a:r>
          </a:p>
        </p:txBody>
      </p:sp>
      <p:sp>
        <p:nvSpPr>
          <p:cNvPr id="3" name="Text 1">
            <a:extLst xmlns:a="http://schemas.openxmlformats.org/drawingml/2006/main">
              <a:ext uri="{FF2B5EF4-FFF2-40B4-BE49-F238E27FC236}">
                <a16:creationId xmlns:a16="http://schemas.microsoft.com/office/drawing/2014/main" id="{DBE1AAD8-B230-43BD-8C18-3854C772C378}"/>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Lock XML-RPC down by category</a:t>
            </a:r>
          </a:p>
        </p:txBody>
      </p:sp>
      <p:sp>
        <p:nvSpPr>
          <p:cNvPr id="4" name="Text 2">
            <a:extLst xmlns:a="http://schemas.openxmlformats.org/drawingml/2006/main">
              <a:ext uri="{FF2B5EF4-FFF2-40B4-BE49-F238E27FC236}">
                <a16:creationId xmlns:a16="http://schemas.microsoft.com/office/drawing/2014/main" id="{5C2F69CB-C086-41D2-8465-AC68B084BF98}"/>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XML-RPC is legitimate but aging — an extra surface, not a backdoor. We unplug unused method families while preserving the endpoint for integrations that need it.</a:t>
            </a:r>
          </a:p>
        </p:txBody>
      </p:sp>
      <p:sp>
        <p:nvSpPr>
          <p:cNvPr id="5" name="Shape 3">
            <a:extLst xmlns:a="http://schemas.openxmlformats.org/drawingml/2006/main">
              <a:ext uri="{FF2B5EF4-FFF2-40B4-BE49-F238E27FC236}">
                <a16:creationId xmlns:a16="http://schemas.microsoft.com/office/drawing/2014/main" id="{316062F2-20C5-4886-BB3B-5C02A64227A6}"/>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116DE40A-B0FA-4E20-9797-257702B9FBBC}"/>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wpyeg_xmlrpc_allow_* + _block_xmlrpc_endpoint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(all four)</a:t>
            </a:r>
          </a:p>
        </p:txBody>
      </p:sp>
      <p:sp>
        <p:nvSpPr>
          <p:cNvPr id="7" name="Shape 5">
            <a:extLst xmlns:a="http://schemas.openxmlformats.org/drawingml/2006/main">
              <a:ext uri="{FF2B5EF4-FFF2-40B4-BE49-F238E27FC236}">
                <a16:creationId xmlns:a16="http://schemas.microsoft.com/office/drawing/2014/main" id="{095CDF54-20D2-4EF6-9956-12412AE4D18E}"/>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28C663F-0FF9-41AA-81B6-E3FEF283D9D3}"/>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00">
                <a:solidFill>
                  <a:srgbClr val="8FBF9F"/>
                </a:solidFill>
                <a:latin typeface="Courier New"/>
                <a:ea typeface="Courier New"/>
                <a:cs typeface="Courier New"/>
              </a:rPr>
              <a:t>// each category off → remove its methods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'xmlrpc_methods', function ( $m ) {</a:t>
            </a:r>
          </a:p>
          <a:p xmlns:a="http://schemas.openxmlformats.org/drawingml/2006/main">
            <a:pPr marL="0" indent="0" algn="l">
              <a:lnSpc>
                <a:spcPct val="108000"/>
              </a:lnSpc>
              <a:buNone/>
            </a:pPr>
            <a:r>
              <a:rPr sz="1100">
                <a:solidFill>
                  <a:srgbClr val="DCEAF1"/>
                </a:solidFill>
                <a:latin typeface="Courier New"/>
                <a:ea typeface="Courier New"/>
                <a:cs typeface="Courier New"/>
              </a:rPr>
              <a:t>  if ( ! allow( 'pingbacks' ) )</a:t>
            </a:r>
          </a:p>
          <a:p xmlns:a="http://schemas.openxmlformats.org/drawingml/2006/main">
            <a:pPr marL="0" indent="0" algn="l">
              <a:lnSpc>
                <a:spcPct val="108000"/>
              </a:lnSpc>
              <a:buNone/>
            </a:pPr>
            <a:r>
              <a:rPr sz="1100">
                <a:solidFill>
                  <a:srgbClr val="E7C070"/>
                </a:solidFill>
                <a:latin typeface="Courier New"/>
                <a:ea typeface="Courier New"/>
                <a:cs typeface="Courier New"/>
              </a:rPr>
              <a:t>    unset( $m['pingback.ping'] );</a:t>
            </a:r>
          </a:p>
          <a:p xmlns:a="http://schemas.openxmlformats.org/drawingml/2006/main">
            <a:pPr marL="0" indent="0" algn="l">
              <a:lnSpc>
                <a:spcPct val="108000"/>
              </a:lnSpc>
              <a:buNone/>
            </a:pPr>
            <a:r>
              <a:rPr sz="1100">
                <a:solidFill>
                  <a:srgbClr val="DCEAF1"/>
                </a:solidFill>
                <a:latin typeface="Courier New"/>
                <a:ea typeface="Courier New"/>
                <a:cs typeface="Courier New"/>
              </a:rPr>
              <a:t>  if ( ! allow( 'remote_publishing' ) )</a:t>
            </a:r>
          </a:p>
          <a:p xmlns:a="http://schemas.openxmlformats.org/drawingml/2006/main">
            <a:pPr marL="0" indent="0" algn="l">
              <a:lnSpc>
                <a:spcPct val="108000"/>
              </a:lnSpc>
              <a:buNone/>
            </a:pPr>
            <a:r>
              <a:rPr sz="1100">
                <a:solidFill>
                  <a:srgbClr val="8FBF9F"/>
                </a:solidFill>
                <a:latin typeface="Courier New"/>
                <a:ea typeface="Courier New"/>
                <a:cs typeface="Courier New"/>
              </a:rPr>
              <a:t>    // drop wp.* metaWeblog.* mt.* blogger.*</a:t>
            </a:r>
          </a:p>
          <a:p xmlns:a="http://schemas.openxmlformats.org/drawingml/2006/main">
            <a:pPr marL="0" indent="0" algn="l">
              <a:lnSpc>
                <a:spcPct val="108000"/>
              </a:lnSpc>
              <a:buNone/>
            </a:pPr>
            <a:r>
              <a:rPr sz="1100">
                <a:solidFill>
                  <a:srgbClr val="DCEAF1"/>
                </a:solidFill>
                <a:latin typeface="Courier New"/>
                <a:ea typeface="Courier New"/>
                <a:cs typeface="Courier New"/>
              </a:rPr>
              <a:t>  return $m;</a:t>
            </a:r>
          </a:p>
          <a:p xmlns:a="http://schemas.openxmlformats.org/drawingml/2006/main">
            <a:pPr marL="0" indent="0" algn="l">
              <a:lnSpc>
                <a:spcPct val="108000"/>
              </a:lnSpc>
              <a:buNone/>
            </a:pPr>
            <a:r>
              <a:rPr sz="1100">
                <a:solidFill>
                  <a:srgbClr val="DCEAF1"/>
                </a:solidFill>
                <a:latin typeface="Courier New"/>
                <a:ea typeface="Courier New"/>
                <a:cs typeface="Courier New"/>
              </a:rPr>
              <a:t>} );</a:t>
            </a:r>
          </a:p>
          <a:p xmlns:a="http://schemas.openxmlformats.org/drawingml/2006/main">
            <a:pPr marL="0" indent="0" algn="l">
              <a:lnSpc>
                <a:spcPct val="108000"/>
              </a:lnSpc>
              <a:buNone/>
            </a:pPr>
            <a:r>
              <a:rPr sz="1100">
                <a:solidFill>
                  <a:srgbClr val="DCEAF1"/>
                </a:solidFill>
                <a:latin typeface="Courier New"/>
                <a:ea typeface="Courier New"/>
                <a:cs typeface="Courier New"/>
              </a:rPr>
              <a:t> </a:t>
            </a:r>
          </a:p>
          <a:p xmlns:a="http://schemas.openxmlformats.org/drawingml/2006/main">
            <a:pPr marL="0" indent="0" algn="l">
              <a:lnSpc>
                <a:spcPct val="108000"/>
              </a:lnSpc>
              <a:buNone/>
            </a:pPr>
            <a:r>
              <a:rPr sz="1100">
                <a:solidFill>
                  <a:srgbClr val="8FBF9F"/>
                </a:solidFill>
                <a:latin typeface="Courier New"/>
                <a:ea typeface="Courier New"/>
                <a:cs typeface="Courier New"/>
              </a:rPr>
              <a:t>// multicall can't be filtered off (IXR re-adds it)</a:t>
            </a:r>
          </a:p>
          <a:p xmlns:a="http://schemas.openxmlformats.org/drawingml/2006/main">
            <a:pPr marL="0" indent="0" algn="l">
              <a:lnSpc>
                <a:spcPct val="108000"/>
              </a:lnSpc>
              <a:buNone/>
            </a:pPr>
            <a:r>
              <a:rPr sz="1100">
                <a:solidFill>
                  <a:srgbClr val="8FBF9F"/>
                </a:solidFill>
                <a:latin typeface="Courier New"/>
                <a:ea typeface="Courier New"/>
                <a:cs typeface="Courier New"/>
              </a:rPr>
              <a:t>// → swap in a server that refuses it</a:t>
            </a:r>
          </a:p>
          <a:p xmlns:a="http://schemas.openxmlformats.org/drawingml/2006/main">
            <a:pPr marL="0" indent="0" algn="l">
              <a:lnSpc>
                <a:spcPct val="108000"/>
              </a:lnSpc>
              <a:buNone/>
            </a:pPr>
            <a:r>
              <a:rPr sz="1100">
                <a:solidFill>
                  <a:srgbClr val="E7C070"/>
                </a:solidFill>
                <a:latin typeface="Courier New"/>
                <a:ea typeface="Courier New"/>
                <a:cs typeface="Courier New"/>
              </a:rPr>
              <a:t>add_filter( 'wp_xmlrpc_server_class', $refuse );</a:t>
            </a:r>
          </a:p>
        </p:txBody>
      </p:sp>
      <p:sp>
        <p:nvSpPr>
          <p:cNvPr id="9" name="Text 7">
            <a:extLst xmlns:a="http://schemas.openxmlformats.org/drawingml/2006/main">
              <a:ext uri="{FF2B5EF4-FFF2-40B4-BE49-F238E27FC236}">
                <a16:creationId xmlns:a16="http://schemas.microsoft.com/office/drawing/2014/main" id="{459119D9-8019-48CC-B52F-D0E7F7DF39F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1FA83A2-CD56-40E4-B027-1A02C2E563C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9</a:t>
            </a:r>
          </a:p>
        </p:txBody>
      </p:sp>
    </p:spTree>
    <p:extLst>
      <p:ext uri="{BB962C8B-B14F-4D97-AF65-F5344CB8AC3E}">
        <p14:creationId xmlns:p14="http://schemas.microsoft.com/office/powerpoint/2010/main" val="1107284664"/>
      </p:ext>
    </p:extLst>
  </p:cSld>
</p:sld>
</file>

<file path=ppt/slides/slide10.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3582C1-C919-4726-BD40-19A6E0DBF6F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4 of 6</a:t>
            </a:r>
          </a:p>
        </p:txBody>
      </p:sp>
      <p:sp>
        <p:nvSpPr>
          <p:cNvPr id="3" name="Text 1">
            <a:extLst xmlns:a="http://schemas.openxmlformats.org/drawingml/2006/main">
              <a:ext uri="{FF2B5EF4-FFF2-40B4-BE49-F238E27FC236}">
                <a16:creationId xmlns:a16="http://schemas.microsoft.com/office/drawing/2014/main" id="{6643937D-D44F-4F4B-AC69-8FE399E6457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Keep Application Passwords available</a:t>
            </a:r>
          </a:p>
        </p:txBody>
      </p:sp>
      <p:sp>
        <p:nvSpPr>
          <p:cNvPr id="4" name="Text 2">
            <a:extLst xmlns:a="http://schemas.openxmlformats.org/drawingml/2006/main">
              <a:ext uri="{FF2B5EF4-FFF2-40B4-BE49-F238E27FC236}">
                <a16:creationId xmlns:a16="http://schemas.microsoft.com/office/drawing/2014/main" id="{AD14723F-16DE-4734-870E-24347A711F89}"/>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This is an existing default we don't lock down. An Application Password is like a spare key cut for one app: hashed, per-application, revocable on its own — the safer REST credential, and the only one core accepts for REST Basic Auth.</a:t>
            </a:r>
          </a:p>
        </p:txBody>
      </p:sp>
      <p:sp>
        <p:nvSpPr>
          <p:cNvPr id="5" name="Shape 3">
            <a:extLst xmlns:a="http://schemas.openxmlformats.org/drawingml/2006/main">
              <a:ext uri="{FF2B5EF4-FFF2-40B4-BE49-F238E27FC236}">
                <a16:creationId xmlns:a16="http://schemas.microsoft.com/office/drawing/2014/main" id="{3011E391-D117-41A1-90E8-1A1EF4B8EC38}"/>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A93627F9-974E-4AED-AC11-46B96579A7AD}"/>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wpyeg_disable_application_passwords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(available)</a:t>
            </a:r>
          </a:p>
        </p:txBody>
      </p:sp>
      <p:sp>
        <p:nvSpPr>
          <p:cNvPr id="7" name="Shape 5">
            <a:extLst xmlns:a="http://schemas.openxmlformats.org/drawingml/2006/main">
              <a:ext uri="{FF2B5EF4-FFF2-40B4-BE49-F238E27FC236}">
                <a16:creationId xmlns:a16="http://schemas.microsoft.com/office/drawing/2014/main" id="{91B4B8CC-E69B-4894-8D8C-19DADF8C71D1}"/>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4D4F67BC-1A1F-41DD-A9A8-4DD18ADC3675}"/>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50">
                <a:solidFill>
                  <a:srgbClr val="8FBF9F"/>
                </a:solidFill>
                <a:latin typeface="Courier New"/>
                <a:ea typeface="Courier New"/>
                <a:cs typeface="Courier New"/>
              </a:rPr>
              <a:t>// available by default —</a:t>
            </a:r>
          </a:p>
          <a:p xmlns:a="http://schemas.openxmlformats.org/drawingml/2006/main">
            <a:pPr marL="0" indent="0" algn="l">
              <a:lnSpc>
                <a:spcPct val="108000"/>
              </a:lnSpc>
              <a:buNone/>
            </a:pPr>
            <a:r>
              <a:rPr sz="1250">
                <a:solidFill>
                  <a:srgbClr val="8FBF9F"/>
                </a:solidFill>
                <a:latin typeface="Courier New"/>
                <a:ea typeface="Courier New"/>
                <a:cs typeface="Courier New"/>
              </a:rPr>
              <a:t>// prohibit only if opted in</a:t>
            </a:r>
          </a:p>
          <a:p xmlns:a="http://schemas.openxmlformats.org/drawingml/2006/main">
            <a:pPr marL="0" indent="0" algn="l">
              <a:lnSpc>
                <a:spcPct val="108000"/>
              </a:lnSpc>
              <a:buNone/>
            </a:pPr>
            <a:r>
              <a:rPr sz="1250">
                <a:solidFill>
                  <a:srgbClr val="DCEAF1"/>
                </a:solidFill>
                <a:latin typeface="Courier New"/>
                <a:ea typeface="Courier New"/>
                <a:cs typeface="Courier New"/>
              </a:rPr>
              <a:t>if ( wpyeg_defaults_enabled(</a:t>
            </a:r>
          </a:p>
          <a:p xmlns:a="http://schemas.openxmlformats.org/drawingml/2006/main">
            <a:pPr marL="0" indent="0" algn="l">
              <a:lnSpc>
                <a:spcPct val="108000"/>
              </a:lnSpc>
              <a:buNone/>
            </a:pPr>
            <a:r>
              <a:rPr sz="1250">
                <a:solidFill>
                  <a:srgbClr val="DCEAF1"/>
                </a:solidFill>
                <a:latin typeface="Courier New"/>
                <a:ea typeface="Courier New"/>
                <a:cs typeface="Courier New"/>
              </a:rPr>
              <a:t>       'disable_application_passwords' ) ) {</a:t>
            </a:r>
          </a:p>
          <a:p xmlns:a="http://schemas.openxmlformats.org/drawingml/2006/main">
            <a:pPr marL="0" indent="0" algn="l">
              <a:lnSpc>
                <a:spcPct val="108000"/>
              </a:lnSpc>
              <a:buNone/>
            </a:pPr>
            <a:r>
              <a:rPr sz="1250">
                <a:solidFill>
                  <a:srgbClr val="DCEAF1"/>
                </a:solidFill>
                <a:latin typeface="Courier New"/>
                <a:ea typeface="Courier New"/>
                <a:cs typeface="Courier New"/>
              </a:rPr>
              <a:t>  add_filter(</a:t>
            </a:r>
          </a:p>
          <a:p xmlns:a="http://schemas.openxmlformats.org/drawingml/2006/main">
            <a:pPr marL="0" indent="0" algn="l">
              <a:lnSpc>
                <a:spcPct val="108000"/>
              </a:lnSpc>
              <a:buNone/>
            </a:pPr>
            <a:r>
              <a:rPr sz="1250">
                <a:solidFill>
                  <a:srgbClr val="E7C070"/>
                </a:solidFill>
                <a:latin typeface="Courier New"/>
                <a:ea typeface="Courier New"/>
                <a:cs typeface="Courier New"/>
              </a:rPr>
              <a:t>    'wp_is_application_passwords_available',</a:t>
            </a:r>
          </a:p>
          <a:p xmlns:a="http://schemas.openxmlformats.org/drawingml/2006/main">
            <a:pPr marL="0" indent="0" algn="l">
              <a:lnSpc>
                <a:spcPct val="108000"/>
              </a:lnSpc>
              <a:buNone/>
            </a:pPr>
            <a:r>
              <a:rPr sz="1250">
                <a:solidFill>
                  <a:srgbClr val="E7C070"/>
                </a:solidFill>
                <a:latin typeface="Courier New"/>
                <a:ea typeface="Courier New"/>
                <a:cs typeface="Courier New"/>
              </a:rPr>
              <a:t>    '__return_false'</a:t>
            </a:r>
          </a:p>
          <a:p xmlns:a="http://schemas.openxmlformats.org/drawingml/2006/main">
            <a:pPr marL="0" indent="0" algn="l">
              <a:lnSpc>
                <a:spcPct val="108000"/>
              </a:lnSpc>
              <a:buNone/>
            </a:pPr>
            <a:r>
              <a:rPr sz="1250">
                <a:solidFill>
                  <a:srgbClr val="DCEAF1"/>
                </a:solidFill>
                <a:latin typeface="Courier New"/>
                <a:ea typeface="Courier New"/>
                <a:cs typeface="Courier New"/>
              </a:rPr>
              <a:t>  );</a:t>
            </a:r>
          </a:p>
          <a:p xmlns:a="http://schemas.openxmlformats.org/drawingml/2006/main">
            <a:pPr marL="0" indent="0" algn="l">
              <a:lnSpc>
                <a:spcPct val="108000"/>
              </a:lnSpc>
              <a:buNone/>
            </a:pPr>
            <a:r>
              <a:rPr sz="1250">
                <a:solidFill>
                  <a:srgbClr val="DCEAF1"/>
                </a:solidFill>
                <a:latin typeface="Courier New"/>
                <a:ea typeface="Courier New"/>
                <a:cs typeface="Courier New"/>
              </a:rPr>
              <a:t>}</a:t>
            </a:r>
          </a:p>
        </p:txBody>
      </p:sp>
      <p:sp>
        <p:nvSpPr>
          <p:cNvPr id="9" name="Text 7">
            <a:extLst xmlns:a="http://schemas.openxmlformats.org/drawingml/2006/main">
              <a:ext uri="{FF2B5EF4-FFF2-40B4-BE49-F238E27FC236}">
                <a16:creationId xmlns:a16="http://schemas.microsoft.com/office/drawing/2014/main" id="{BF653A58-5828-40CF-8FD6-21023823CBE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7D30152D-9BD9-4F73-9D8B-E8BE73B9B08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10</a:t>
            </a:r>
          </a:p>
        </p:txBody>
      </p:sp>
    </p:spTree>
    <p:extLst>
      <p:ext uri="{BB962C8B-B14F-4D97-AF65-F5344CB8AC3E}">
        <p14:creationId xmlns:p14="http://schemas.microsoft.com/office/powerpoint/2010/main" val="781013838"/>
      </p:ext>
    </p:extLst>
  </p:cSld>
</p:sld>
</file>

<file path=ppt/slides/slide1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514EDD-F4F9-4B40-8049-D5B5686AE071}"/>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5 of 6</a:t>
            </a:r>
          </a:p>
        </p:txBody>
      </p:sp>
      <p:sp>
        <p:nvSpPr>
          <p:cNvPr id="3" name="Text 1">
            <a:extLst xmlns:a="http://schemas.openxmlformats.org/drawingml/2006/main">
              <a:ext uri="{FF2B5EF4-FFF2-40B4-BE49-F238E27FC236}">
                <a16:creationId xmlns:a16="http://schemas.microsoft.com/office/drawing/2014/main" id="{41CCB56D-0E22-4ADA-92E2-886B3E7F73A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Require strong passwords</a:t>
            </a:r>
          </a:p>
        </p:txBody>
      </p:sp>
      <p:sp>
        <p:nvSpPr>
          <p:cNvPr id="4" name="Text 2">
            <a:extLst xmlns:a="http://schemas.openxmlformats.org/drawingml/2006/main">
              <a:ext uri="{FF2B5EF4-FFF2-40B4-BE49-F238E27FC236}">
                <a16:creationId xmlns:a16="http://schemas.microsoft.com/office/drawing/2014/main" id="{98EF94B6-90D1-4991-B493-8833B834F5DA}"/>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NIST 800-63B and OWASP now say length plus breach screening beats composition rules. So we require 15+ characters and screen every new password against Have I Been Pwned — all enforced server-side.</a:t>
            </a:r>
          </a:p>
        </p:txBody>
      </p:sp>
      <p:sp>
        <p:nvSpPr>
          <p:cNvPr id="5" name="Shape 3">
            <a:extLst xmlns:a="http://schemas.openxmlformats.org/drawingml/2006/main">
              <a:ext uri="{FF2B5EF4-FFF2-40B4-BE49-F238E27FC236}">
                <a16:creationId xmlns:a16="http://schemas.microsoft.com/office/drawing/2014/main" id="{90A264C7-8F8A-4888-8EDD-A2E74B90BC98}"/>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2D615D64-09D1-4E18-B138-D450B9DDA8B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wpyeg_require_strong_passwords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9B529A4D-C3EF-4789-924F-357C53F4B013}"/>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62131DDD-44D2-4322-B028-85460D58DCED}"/>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8FBF9F"/>
                </a:solidFill>
                <a:latin typeface="Courier New"/>
                <a:ea typeface="Courier New"/>
                <a:cs typeface="Courier New"/>
              </a:rPr>
              <a:t>// hooked on user_profile_update_errors</a:t>
            </a:r>
          </a:p>
          <a:p xmlns:a="http://schemas.openxmlformats.org/drawingml/2006/main">
            <a:pPr marL="0" indent="0" algn="l">
              <a:lnSpc>
                <a:spcPct val="108000"/>
              </a:lnSpc>
              <a:buNone/>
            </a:pPr>
            <a:r>
              <a:rPr sz="1150">
                <a:solidFill>
                  <a:srgbClr val="E7C070"/>
                </a:solidFill>
                <a:latin typeface="Courier New"/>
                <a:ea typeface="Courier New"/>
                <a:cs typeface="Courier New"/>
              </a:rPr>
              <a:t>if ( strlen( $pw ) &lt; 15 ) {</a:t>
            </a:r>
          </a:p>
          <a:p xmlns:a="http://schemas.openxmlformats.org/drawingml/2006/main">
            <a:pPr marL="0" indent="0" algn="l">
              <a:lnSpc>
                <a:spcPct val="108000"/>
              </a:lnSpc>
              <a:buNone/>
            </a:pPr>
            <a:r>
              <a:rPr sz="1150">
                <a:solidFill>
                  <a:srgbClr val="DCEAF1"/>
                </a:solidFill>
                <a:latin typeface="Courier New"/>
                <a:ea typeface="Courier New"/>
                <a:cs typeface="Courier New"/>
              </a:rPr>
              <a:t>    $errors-&gt;add( 'short', 'Use 15+ characters.' );</a:t>
            </a:r>
          </a:p>
          <a:p xmlns:a="http://schemas.openxmlformats.org/drawingml/2006/main">
            <a:pPr marL="0" indent="0" algn="l">
              <a:lnSpc>
                <a:spcPct val="108000"/>
              </a:lnSpc>
              <a:buNone/>
            </a:pPr>
            <a:r>
              <a:rPr sz="1150">
                <a:solidFill>
                  <a:srgbClr val="DCEAF1"/>
                </a:solidFill>
                <a:latin typeface="Courier New"/>
                <a:ea typeface="Courier New"/>
                <a:cs typeface="Courier New"/>
              </a:rPr>
              <a:t>}</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screen against known breaches (HIBP) —</a:t>
            </a:r>
          </a:p>
          <a:p xmlns:a="http://schemas.openxmlformats.org/drawingml/2006/main">
            <a:pPr marL="0" indent="0" algn="l">
              <a:lnSpc>
                <a:spcPct val="108000"/>
              </a:lnSpc>
              <a:buNone/>
            </a:pPr>
            <a:r>
              <a:rPr sz="1150">
                <a:solidFill>
                  <a:srgbClr val="8FBF9F"/>
                </a:solidFill>
                <a:latin typeface="Courier New"/>
                <a:ea typeface="Courier New"/>
                <a:cs typeface="Courier New"/>
              </a:rPr>
              <a:t>// length + screening, not composition rules</a:t>
            </a:r>
          </a:p>
          <a:p xmlns:a="http://schemas.openxmlformats.org/drawingml/2006/main">
            <a:pPr marL="0" indent="0" algn="l">
              <a:lnSpc>
                <a:spcPct val="108000"/>
              </a:lnSpc>
              <a:buNone/>
            </a:pPr>
            <a:r>
              <a:rPr sz="1150">
                <a:solidFill>
                  <a:srgbClr val="E7C070"/>
                </a:solidFill>
                <a:latin typeface="Courier New"/>
                <a:ea typeface="Courier New"/>
                <a:cs typeface="Courier New"/>
              </a:rPr>
              <a:t>if ( wpyeg_password_is_pwned( $pw ) ) {</a:t>
            </a:r>
          </a:p>
          <a:p xmlns:a="http://schemas.openxmlformats.org/drawingml/2006/main">
            <a:pPr marL="0" indent="0" algn="l">
              <a:lnSpc>
                <a:spcPct val="108000"/>
              </a:lnSpc>
              <a:buNone/>
            </a:pPr>
            <a:r>
              <a:rPr sz="1150">
                <a:solidFill>
                  <a:srgbClr val="DCEAF1"/>
                </a:solidFill>
                <a:latin typeface="Courier New"/>
                <a:ea typeface="Courier New"/>
                <a:cs typeface="Courier New"/>
              </a:rPr>
              <a:t>    $errors-&gt;add( 'pwned', 'Seen in a breach.' );</a:t>
            </a:r>
          </a:p>
          <a:p xmlns:a="http://schemas.openxmlformats.org/drawingml/2006/main">
            <a:pPr marL="0" indent="0" algn="l">
              <a:lnSpc>
                <a:spcPct val="108000"/>
              </a:lnSpc>
              <a:buNone/>
            </a:pPr>
            <a:r>
              <a:rPr sz="1150">
                <a:solidFill>
                  <a:srgbClr val="DCEAF1"/>
                </a:solidFill>
                <a:latin typeface="Courier New"/>
                <a:ea typeface="Courier New"/>
                <a:cs typeface="Courier New"/>
              </a:rPr>
              <a:t>}</a:t>
            </a:r>
          </a:p>
        </p:txBody>
      </p:sp>
      <p:sp>
        <p:nvSpPr>
          <p:cNvPr id="9" name="Text 7">
            <a:extLst xmlns:a="http://schemas.openxmlformats.org/drawingml/2006/main">
              <a:ext uri="{FF2B5EF4-FFF2-40B4-BE49-F238E27FC236}">
                <a16:creationId xmlns:a16="http://schemas.microsoft.com/office/drawing/2014/main" id="{745378CC-04A4-4EA4-9C91-99CCFA76764F}"/>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197F0890-ED0D-4072-AE63-E0FC5559674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11</a:t>
            </a:r>
          </a:p>
        </p:txBody>
      </p:sp>
    </p:spTree>
    <p:extLst>
      <p:ext uri="{BB962C8B-B14F-4D97-AF65-F5344CB8AC3E}">
        <p14:creationId xmlns:p14="http://schemas.microsoft.com/office/powerpoint/2010/main" val="1023462564"/>
      </p:ext>
    </p:extLst>
  </p:cSld>
</p:sld>
</file>

<file path=ppt/slides/slide1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7230C90-43CC-418B-AC34-2B278699289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6 of 6</a:t>
            </a:r>
          </a:p>
        </p:txBody>
      </p:sp>
      <p:sp>
        <p:nvSpPr>
          <p:cNvPr id="3" name="Text 1">
            <a:extLst xmlns:a="http://schemas.openxmlformats.org/drawingml/2006/main">
              <a:ext uri="{FF2B5EF4-FFF2-40B4-BE49-F238E27FC236}">
                <a16:creationId xmlns:a16="http://schemas.microsoft.com/office/drawing/2014/main" id="{9C255718-7E57-4092-8BEE-44A2484F8F46}"/>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Remove fingerprints, add headers</a:t>
            </a:r>
          </a:p>
        </p:txBody>
      </p:sp>
      <p:sp>
        <p:nvSpPr>
          <p:cNvPr id="4" name="Text 2">
            <a:extLst xmlns:a="http://schemas.openxmlformats.org/drawingml/2006/main">
              <a:ext uri="{FF2B5EF4-FFF2-40B4-BE49-F238E27FC236}">
                <a16:creationId xmlns:a16="http://schemas.microsoft.com/office/drawing/2014/main" id="{048A4941-B65D-45CA-BD64-42720EE46824}"/>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Two headers with no real downside ship on; framing is its own setting, because it is the only one that can break a working site. Hiding the version is obscurity, not hardening, so it ships off.</a:t>
            </a:r>
          </a:p>
        </p:txBody>
      </p:sp>
      <p:sp>
        <p:nvSpPr>
          <p:cNvPr id="5" name="Shape 3">
            <a:extLst xmlns:a="http://schemas.openxmlformats.org/drawingml/2006/main">
              <a:ext uri="{FF2B5EF4-FFF2-40B4-BE49-F238E27FC236}">
                <a16:creationId xmlns:a16="http://schemas.microsoft.com/office/drawing/2014/main" id="{580F9A75-2D3B-4962-9FFE-6C9215407755}"/>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F414396F-46A9-4D9A-83D6-FF53C278F1A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wpyeg_security_headers (yes) / wpyeg_frame_options (SAMEORIGIN)</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on / separate</a:t>
            </a:r>
          </a:p>
        </p:txBody>
      </p:sp>
      <p:sp>
        <p:nvSpPr>
          <p:cNvPr id="7" name="Shape 5">
            <a:extLst xmlns:a="http://schemas.openxmlformats.org/drawingml/2006/main">
              <a:ext uri="{FF2B5EF4-FFF2-40B4-BE49-F238E27FC236}">
                <a16:creationId xmlns:a16="http://schemas.microsoft.com/office/drawing/2014/main" id="{4594B9D9-4080-4EC9-9FB8-68A733A2FD66}"/>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74B1DE39-F676-4C5F-A0A2-CD2B1019A131}"/>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E7C070"/>
                </a:solidFill>
                <a:latin typeface="Courier New"/>
                <a:ea typeface="Courier New"/>
                <a:cs typeface="Courier New"/>
              </a:rPr>
              <a:t>remove_action( 'wp_head', 'wp_generator'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add_filter( 'wp_headers', function ( $h ) {</a:t>
            </a:r>
          </a:p>
          <a:p xmlns:a="http://schemas.openxmlformats.org/drawingml/2006/main">
            <a:pPr marL="0" indent="0" algn="l">
              <a:lnSpc>
                <a:spcPct val="108000"/>
              </a:lnSpc>
              <a:buNone/>
            </a:pPr>
            <a:r>
              <a:rPr sz="1150">
                <a:solidFill>
                  <a:srgbClr val="8FBF9F"/>
                </a:solidFill>
                <a:latin typeface="Courier New"/>
                <a:ea typeface="Courier New"/>
                <a:cs typeface="Courier New"/>
              </a:rPr>
              <a:t>  // only fill in what nothing else set</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isset( $h['X-Content-Type-Options'] ) )</a:t>
            </a:r>
          </a:p>
          <a:p xmlns:a="http://schemas.openxmlformats.org/drawingml/2006/main">
            <a:pPr marL="0" indent="0" algn="l">
              <a:lnSpc>
                <a:spcPct val="108000"/>
              </a:lnSpc>
              <a:buNone/>
            </a:pPr>
            <a:r>
              <a:rPr sz="1150">
                <a:solidFill>
                  <a:srgbClr val="E7C070"/>
                </a:solidFill>
                <a:latin typeface="Courier New"/>
                <a:ea typeface="Courier New"/>
                <a:cs typeface="Courier New"/>
              </a:rPr>
              <a:t>    $h['X-Content-Type-Options'] = 'nosniff';</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isset( $h['Referrer-Policy'] ) )</a:t>
            </a:r>
          </a:p>
          <a:p xmlns:a="http://schemas.openxmlformats.org/drawingml/2006/main">
            <a:pPr marL="0" indent="0" algn="l">
              <a:lnSpc>
                <a:spcPct val="108000"/>
              </a:lnSpc>
              <a:buNone/>
            </a:pPr>
            <a:r>
              <a:rPr sz="1150">
                <a:solidFill>
                  <a:srgbClr val="E7C070"/>
                </a:solidFill>
                <a:latin typeface="Courier New"/>
                <a:ea typeface="Courier New"/>
                <a:cs typeface="Courier New"/>
              </a:rPr>
              <a:t>    $h['Referrer-Policy'] =</a:t>
            </a:r>
          </a:p>
          <a:p xmlns:a="http://schemas.openxmlformats.org/drawingml/2006/main">
            <a:pPr marL="0" indent="0" algn="l">
              <a:lnSpc>
                <a:spcPct val="108000"/>
              </a:lnSpc>
              <a:buNone/>
            </a:pPr>
            <a:r>
              <a:rPr sz="1150">
                <a:solidFill>
                  <a:srgbClr val="E7C070"/>
                </a:solidFill>
                <a:latin typeface="Courier New"/>
                <a:ea typeface="Courier New"/>
                <a:cs typeface="Courier New"/>
              </a:rPr>
              <a:t>      'strict-origin-when-cross-origin';</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$h;</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framing is its own setting - see the notes</a:t>
            </a:r>
          </a:p>
        </p:txBody>
      </p:sp>
      <p:sp>
        <p:nvSpPr>
          <p:cNvPr id="9" name="Text 7">
            <a:extLst xmlns:a="http://schemas.openxmlformats.org/drawingml/2006/main">
              <a:ext uri="{FF2B5EF4-FFF2-40B4-BE49-F238E27FC236}">
                <a16:creationId xmlns:a16="http://schemas.microsoft.com/office/drawing/2014/main" id="{650B98AA-DAA8-4095-8CDA-B755EB5192B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4A0984B9-5154-4414-827B-CC5FE1A0130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12</a:t>
            </a:r>
          </a:p>
        </p:txBody>
      </p:sp>
    </p:spTree>
    <p:extLst>
      <p:ext uri="{BB962C8B-B14F-4D97-AF65-F5344CB8AC3E}">
        <p14:creationId xmlns:p14="http://schemas.microsoft.com/office/powerpoint/2010/main" val="219614781"/>
      </p:ext>
    </p:extLst>
  </p:cSld>
</p:sld>
</file>

<file path=ppt/slides/slide13.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6F8EE7-67BB-4542-9F73-16C0EBB9CD87}"/>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A9F9DF62-ED56-493B-A45D-7CAA5B108644}"/>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A5F77512-2761-4EB0-A6B7-91FD3BFC741F}"/>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2</a:t>
            </a:r>
          </a:p>
        </p:txBody>
      </p:sp>
      <p:sp>
        <p:nvSpPr>
          <p:cNvPr id="5" name="Text 3">
            <a:extLst xmlns:a="http://schemas.openxmlformats.org/drawingml/2006/main">
              <a:ext uri="{FF2B5EF4-FFF2-40B4-BE49-F238E27FC236}">
                <a16:creationId xmlns:a16="http://schemas.microsoft.com/office/drawing/2014/main" id="{74230459-94AF-491E-BA1B-0883104E9F44}"/>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TWO</a:t>
            </a:r>
          </a:p>
        </p:txBody>
      </p:sp>
      <p:sp>
        <p:nvSpPr>
          <p:cNvPr id="6" name="Text 4">
            <a:extLst xmlns:a="http://schemas.openxmlformats.org/drawingml/2006/main">
              <a:ext uri="{FF2B5EF4-FFF2-40B4-BE49-F238E27FC236}">
                <a16:creationId xmlns:a16="http://schemas.microsoft.com/office/drawing/2014/main" id="{D4369B20-2F5C-42AA-8AFE-A45ADE8DAAFC}"/>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Content &amp;</a:t>
            </a:r>
          </a:p>
          <a:p xmlns:a="http://schemas.openxmlformats.org/drawingml/2006/main">
            <a:pPr marL="0" indent="0">
              <a:buNone/>
            </a:pPr>
            <a:r>
              <a:rPr sz="4600" b="1">
                <a:solidFill>
                  <a:srgbClr val="FFFFFF"/>
                </a:solidFill>
                <a:latin typeface="Cambria"/>
                <a:ea typeface="Cambria"/>
                <a:cs typeface="Cambria"/>
              </a:rPr>
              <a:t>Public Surfaces</a:t>
            </a:r>
          </a:p>
        </p:txBody>
      </p:sp>
      <p:sp>
        <p:nvSpPr>
          <p:cNvPr id="7" name="Text 5">
            <a:extLst xmlns:a="http://schemas.openxmlformats.org/drawingml/2006/main">
              <a:ext uri="{FF2B5EF4-FFF2-40B4-BE49-F238E27FC236}">
                <a16:creationId xmlns:a16="http://schemas.microsoft.com/office/drawing/2014/main" id="{671D0D5D-B8B2-4ECF-9578-65A001AE107D}"/>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Close the spam funnels and the thin pages Google (and bots) love to crawl.</a:t>
            </a:r>
          </a:p>
        </p:txBody>
      </p:sp>
    </p:spTree>
    <p:extLst>
      <p:ext uri="{BB962C8B-B14F-4D97-AF65-F5344CB8AC3E}">
        <p14:creationId xmlns:p14="http://schemas.microsoft.com/office/powerpoint/2010/main" val="1261837813"/>
      </p:ext>
    </p:extLst>
  </p:cSld>
</p:sld>
</file>

<file path=ppt/slides/slide1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E67DF85-34F9-433C-B82E-D0B43811798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1 of 3</a:t>
            </a:r>
          </a:p>
        </p:txBody>
      </p:sp>
      <p:sp>
        <p:nvSpPr>
          <p:cNvPr id="3" name="Text 1">
            <a:extLst xmlns:a="http://schemas.openxmlformats.org/drawingml/2006/main">
              <a:ext uri="{FF2B5EF4-FFF2-40B4-BE49-F238E27FC236}">
                <a16:creationId xmlns:a16="http://schemas.microsoft.com/office/drawing/2014/main" id="{0BD84755-939C-4FC1-B808-137C24E6ABC7}"/>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Disable comments, trackbacks &amp; pingbacks</a:t>
            </a:r>
          </a:p>
        </p:txBody>
      </p:sp>
      <p:sp>
        <p:nvSpPr>
          <p:cNvPr id="4" name="Text 2">
            <a:extLst xmlns:a="http://schemas.openxmlformats.org/drawingml/2006/main">
              <a:ext uri="{FF2B5EF4-FFF2-40B4-BE49-F238E27FC236}">
                <a16:creationId xmlns:a16="http://schemas.microsoft.com/office/drawing/2014/main" id="{9C2453C5-5FF2-45DA-9F0C-68DF90717C3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For many sites, comments are a spam magnet with little upside. Here we close them everywhere, hide existing threads, and drop the admin menu.</a:t>
            </a:r>
          </a:p>
        </p:txBody>
      </p:sp>
      <p:sp>
        <p:nvSpPr>
          <p:cNvPr id="5" name="Shape 3">
            <a:extLst xmlns:a="http://schemas.openxmlformats.org/drawingml/2006/main">
              <a:ext uri="{FF2B5EF4-FFF2-40B4-BE49-F238E27FC236}">
                <a16:creationId xmlns:a16="http://schemas.microsoft.com/office/drawing/2014/main" id="{EBF6130F-E78D-4325-9374-B75A91AD7847}"/>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89A4D4E9-4C3F-4C40-BECA-8766F3C7220E}"/>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wpyeg_disable_comments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8E0106A9-CB21-4B54-8E60-2CA5A90530F3}"/>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CC7E1AA5-1A7A-40B1-8900-40EC782BF8D4}"/>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E7C070"/>
                </a:solidFill>
                <a:latin typeface="Courier New"/>
                <a:ea typeface="Courier New"/>
                <a:cs typeface="Courier New"/>
              </a:rPr>
              <a:t>add_filter( 'comments_open', '__return_false', 20 );</a:t>
            </a:r>
          </a:p>
          <a:p xmlns:a="http://schemas.openxmlformats.org/drawingml/2006/main">
            <a:pPr marL="0" indent="0" algn="l">
              <a:lnSpc>
                <a:spcPct val="108000"/>
              </a:lnSpc>
              <a:buNone/>
            </a:pPr>
            <a:r>
              <a:rPr sz="1150">
                <a:solidFill>
                  <a:srgbClr val="E7C070"/>
                </a:solidFill>
                <a:latin typeface="Courier New"/>
                <a:ea typeface="Courier New"/>
                <a:cs typeface="Courier New"/>
              </a:rPr>
              <a:t>add_filter( 'pings_open',    '__return_false', 20 );</a:t>
            </a:r>
          </a:p>
          <a:p xmlns:a="http://schemas.openxmlformats.org/drawingml/2006/main">
            <a:pPr marL="0" indent="0" algn="l">
              <a:lnSpc>
                <a:spcPct val="108000"/>
              </a:lnSpc>
              <a:buNone/>
            </a:pPr>
            <a:r>
              <a:rPr sz="1150">
                <a:solidFill>
                  <a:srgbClr val="DCEAF1"/>
                </a:solidFill>
                <a:latin typeface="Courier New"/>
                <a:ea typeface="Courier New"/>
                <a:cs typeface="Courier New"/>
              </a:rPr>
              <a:t>add_filter( 'comments_array',</a:t>
            </a:r>
          </a:p>
          <a:p xmlns:a="http://schemas.openxmlformats.org/drawingml/2006/main">
            <a:pPr marL="0" indent="0" algn="l">
              <a:lnSpc>
                <a:spcPct val="108000"/>
              </a:lnSpc>
              <a:buNone/>
            </a:pPr>
            <a:r>
              <a:rPr sz="1150">
                <a:solidFill>
                  <a:srgbClr val="DCEAF1"/>
                </a:solidFill>
                <a:latin typeface="Courier New"/>
                <a:ea typeface="Courier New"/>
                <a:cs typeface="Courier New"/>
              </a:rPr>
              <a:t>            '__return_empty_array', 20 );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 remove_post_type_support() on init</a:t>
            </a:r>
          </a:p>
          <a:p xmlns:a="http://schemas.openxmlformats.org/drawingml/2006/main">
            <a:pPr marL="0" indent="0" algn="l">
              <a:lnSpc>
                <a:spcPct val="108000"/>
              </a:lnSpc>
              <a:buNone/>
            </a:pPr>
            <a:r>
              <a:rPr sz="1150">
                <a:solidFill>
                  <a:srgbClr val="8FBF9F"/>
                </a:solidFill>
                <a:latin typeface="Courier New"/>
                <a:ea typeface="Courier New"/>
                <a:cs typeface="Courier New"/>
              </a:rPr>
              <a:t>// + remove_menu_page('edit-comments.php')</a:t>
            </a:r>
          </a:p>
          <a:p xmlns:a="http://schemas.openxmlformats.org/drawingml/2006/main">
            <a:pPr marL="0" indent="0" algn="l">
              <a:lnSpc>
                <a:spcPct val="108000"/>
              </a:lnSpc>
              <a:buNone/>
            </a:pPr>
            <a:r>
              <a:rPr sz="1150">
                <a:solidFill>
                  <a:srgbClr val="8FBF9F"/>
                </a:solidFill>
                <a:latin typeface="Courier New"/>
                <a:ea typeface="Courier New"/>
                <a:cs typeface="Courier New"/>
              </a:rPr>
              <a:t>// + drop the admin-bar comments node</a:t>
            </a:r>
          </a:p>
        </p:txBody>
      </p:sp>
      <p:sp>
        <p:nvSpPr>
          <p:cNvPr id="9" name="Text 7">
            <a:extLst xmlns:a="http://schemas.openxmlformats.org/drawingml/2006/main">
              <a:ext uri="{FF2B5EF4-FFF2-40B4-BE49-F238E27FC236}">
                <a16:creationId xmlns:a16="http://schemas.microsoft.com/office/drawing/2014/main" id="{18B0B00E-AD12-4C94-900E-EC231622F233}"/>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D82200A6-9E7E-4441-A9F5-6440DCB15648}"/>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14</a:t>
            </a:r>
          </a:p>
        </p:txBody>
      </p:sp>
    </p:spTree>
    <p:extLst>
      <p:ext uri="{BB962C8B-B14F-4D97-AF65-F5344CB8AC3E}">
        <p14:creationId xmlns:p14="http://schemas.microsoft.com/office/powerpoint/2010/main" val="1698930245"/>
      </p:ext>
    </p:extLst>
  </p:cSld>
</p:sld>
</file>

<file path=ppt/slides/slide1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03F41C-0285-41AC-85A7-C7455D3CEBE3}"/>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2 of 3</a:t>
            </a:r>
          </a:p>
        </p:txBody>
      </p:sp>
      <p:sp>
        <p:nvSpPr>
          <p:cNvPr id="3" name="Text 1">
            <a:extLst xmlns:a="http://schemas.openxmlformats.org/drawingml/2006/main">
              <a:ext uri="{FF2B5EF4-FFF2-40B4-BE49-F238E27FC236}">
                <a16:creationId xmlns:a16="http://schemas.microsoft.com/office/drawing/2014/main" id="{DD650998-D4CC-4E4A-8EA0-EA4510001BE9}"/>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Redirect author &amp; attachment pages</a:t>
            </a:r>
          </a:p>
        </p:txBody>
      </p:sp>
      <p:sp>
        <p:nvSpPr>
          <p:cNvPr id="4" name="Text 2">
            <a:extLst xmlns:a="http://schemas.openxmlformats.org/drawingml/2006/main">
              <a:ext uri="{FF2B5EF4-FFF2-40B4-BE49-F238E27FC236}">
                <a16:creationId xmlns:a16="http://schemas.microsoft.com/office/drawing/2014/main" id="{63CC66D7-3F84-4909-A99D-2535A6D7EDA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Author archives expose the authors' usernames in the URL, and attachment pages are near-empty media wrappers. Both dilute SEO and are targets for trouble. Same hook, two conditions.</a:t>
            </a:r>
          </a:p>
        </p:txBody>
      </p:sp>
      <p:sp>
        <p:nvSpPr>
          <p:cNvPr id="5" name="Shape 3">
            <a:extLst xmlns:a="http://schemas.openxmlformats.org/drawingml/2006/main">
              <a:ext uri="{FF2B5EF4-FFF2-40B4-BE49-F238E27FC236}">
                <a16:creationId xmlns:a16="http://schemas.microsoft.com/office/drawing/2014/main" id="{5BBDF500-69F5-4FDA-B8A3-D354FA5DDE3E}"/>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A2D51BC4-8A85-4B02-947E-9C4F3F3ECC4F}"/>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wpyeg_disable_author_archives / _redirect_attachment_pages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 / yes</a:t>
            </a:r>
          </a:p>
        </p:txBody>
      </p:sp>
      <p:sp>
        <p:nvSpPr>
          <p:cNvPr id="7" name="Shape 5">
            <a:extLst xmlns:a="http://schemas.openxmlformats.org/drawingml/2006/main">
              <a:ext uri="{FF2B5EF4-FFF2-40B4-BE49-F238E27FC236}">
                <a16:creationId xmlns:a16="http://schemas.microsoft.com/office/drawing/2014/main" id="{AF3CC886-6280-4EBD-AB35-9A48A0F7ACB7}"/>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2E004FDF-7B66-4B9E-B4EB-2D05025FD92B}"/>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add_action( 'template_redirect', function () {</a:t>
            </a:r>
          </a:p>
          <a:p xmlns:a="http://schemas.openxmlformats.org/drawingml/2006/main">
            <a:pPr marL="0" indent="0" algn="l">
              <a:lnSpc>
                <a:spcPct val="108000"/>
              </a:lnSpc>
              <a:buNone/>
            </a:pPr>
            <a:r>
              <a:rPr sz="1150">
                <a:solidFill>
                  <a:srgbClr val="E7C070"/>
                </a:solidFill>
                <a:latin typeface="Courier New"/>
                <a:ea typeface="Courier New"/>
                <a:cs typeface="Courier New"/>
              </a:rPr>
              <a:t>  if ( is_author() ) {</a:t>
            </a:r>
          </a:p>
          <a:p xmlns:a="http://schemas.openxmlformats.org/drawingml/2006/main">
            <a:pPr marL="0" indent="0" algn="l">
              <a:lnSpc>
                <a:spcPct val="108000"/>
              </a:lnSpc>
              <a:buNone/>
            </a:pPr>
            <a:r>
              <a:rPr sz="1150">
                <a:solidFill>
                  <a:srgbClr val="DCEAF1"/>
                </a:solidFill>
                <a:latin typeface="Courier New"/>
                <a:ea typeface="Courier New"/>
                <a:cs typeface="Courier New"/>
              </a:rPr>
              <a:t>    wp_safe_redirect( home_url('/'), 301 );</a:t>
            </a:r>
          </a:p>
          <a:p xmlns:a="http://schemas.openxmlformats.org/drawingml/2006/main">
            <a:pPr marL="0" indent="0" algn="l">
              <a:lnSpc>
                <a:spcPct val="108000"/>
              </a:lnSpc>
              <a:buNone/>
            </a:pPr>
            <a:r>
              <a:rPr sz="1150">
                <a:solidFill>
                  <a:srgbClr val="DCEAF1"/>
                </a:solidFill>
                <a:latin typeface="Courier New"/>
                <a:ea typeface="Courier New"/>
                <a:cs typeface="Courier New"/>
              </a:rPr>
              <a:t>    exit;</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E7C070"/>
                </a:solidFill>
                <a:latin typeface="Courier New"/>
                <a:ea typeface="Courier New"/>
                <a:cs typeface="Courier New"/>
              </a:rPr>
              <a:t>  if ( is_attachment() ) {</a:t>
            </a:r>
          </a:p>
          <a:p xmlns:a="http://schemas.openxmlformats.org/drawingml/2006/main">
            <a:pPr marL="0" indent="0" algn="l">
              <a:lnSpc>
                <a:spcPct val="108000"/>
              </a:lnSpc>
              <a:buNone/>
            </a:pPr>
            <a:r>
              <a:rPr sz="1150">
                <a:solidFill>
                  <a:srgbClr val="8FBF9F"/>
                </a:solidFill>
                <a:latin typeface="Courier New"/>
                <a:ea typeface="Courier New"/>
                <a:cs typeface="Courier New"/>
              </a:rPr>
              <a:t>    // parent post, else the FILE - never home</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8EF10298-99DA-4057-A9C5-05796796E9CA}"/>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76A2D334-1923-48C0-92CB-AE06E5AE365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15</a:t>
            </a:r>
          </a:p>
        </p:txBody>
      </p:sp>
    </p:spTree>
    <p:extLst>
      <p:ext uri="{BB962C8B-B14F-4D97-AF65-F5344CB8AC3E}">
        <p14:creationId xmlns:p14="http://schemas.microsoft.com/office/powerpoint/2010/main" val="343288435"/>
      </p:ext>
    </p:extLst>
  </p:cSld>
</p:sld>
</file>

<file path=ppt/slides/slide1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7CB7CB9-D9C5-4C86-9D35-1A830DF6D36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3 of 3</a:t>
            </a:r>
          </a:p>
        </p:txBody>
      </p:sp>
      <p:sp>
        <p:nvSpPr>
          <p:cNvPr id="3" name="Text 1">
            <a:extLst xmlns:a="http://schemas.openxmlformats.org/drawingml/2006/main">
              <a:ext uri="{FF2B5EF4-FFF2-40B4-BE49-F238E27FC236}">
                <a16:creationId xmlns:a16="http://schemas.microsoft.com/office/drawing/2014/main" id="{C58435D5-FA4B-4257-BC5E-74D1A769F23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Disable the emoji script</a:t>
            </a:r>
          </a:p>
        </p:txBody>
      </p:sp>
      <p:sp>
        <p:nvSpPr>
          <p:cNvPr id="4" name="Text 2">
            <a:extLst xmlns:a="http://schemas.openxmlformats.org/drawingml/2006/main">
              <a:ext uri="{FF2B5EF4-FFF2-40B4-BE49-F238E27FC236}">
                <a16:creationId xmlns:a16="http://schemas.microsoft.com/office/drawing/2014/main" id="{AD9437F8-FD1A-4F15-B080-F1F3CB88F243}"/>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WordPress core injects an emoji-detection script and inline CSS on every page load, plus a DNS-prefetch hint. Modern browsers render emoji natively, so this is pure dead weight.</a:t>
            </a:r>
          </a:p>
        </p:txBody>
      </p:sp>
      <p:sp>
        <p:nvSpPr>
          <p:cNvPr id="5" name="Shape 3">
            <a:extLst xmlns:a="http://schemas.openxmlformats.org/drawingml/2006/main">
              <a:ext uri="{FF2B5EF4-FFF2-40B4-BE49-F238E27FC236}">
                <a16:creationId xmlns:a16="http://schemas.microsoft.com/office/drawing/2014/main" id="{EC5A275D-CB6C-403F-ACD9-0B43BC59F005}"/>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58282837-407E-4B65-AC5A-B7A64BE81305}"/>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wpyeg_disable_emojis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3DE54C1A-C7BC-4145-9FED-EF1B23DBFDBF}"/>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1E780F81-C2B9-41FE-A0EA-A711261DAF7C}"/>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add_action( 'init', function () {</a:t>
            </a:r>
          </a:p>
          <a:p xmlns:a="http://schemas.openxmlformats.org/drawingml/2006/main">
            <a:pPr marL="0" indent="0" algn="l">
              <a:lnSpc>
                <a:spcPct val="108000"/>
              </a:lnSpc>
              <a:buNone/>
            </a:pPr>
            <a:r>
              <a:rPr sz="1150">
                <a:solidFill>
                  <a:srgbClr val="E7C070"/>
                </a:solidFill>
                <a:latin typeface="Courier New"/>
                <a:ea typeface="Courier New"/>
                <a:cs typeface="Courier New"/>
              </a:rPr>
              <a:t>  remove_action( 'wp_head',</a:t>
            </a:r>
          </a:p>
          <a:p xmlns:a="http://schemas.openxmlformats.org/drawingml/2006/main">
            <a:pPr marL="0" indent="0" algn="l">
              <a:lnSpc>
                <a:spcPct val="108000"/>
              </a:lnSpc>
              <a:buNone/>
            </a:pPr>
            <a:r>
              <a:rPr sz="1150">
                <a:solidFill>
                  <a:srgbClr val="E7C070"/>
                </a:solidFill>
                <a:latin typeface="Courier New"/>
                <a:ea typeface="Courier New"/>
                <a:cs typeface="Courier New"/>
              </a:rPr>
              <a:t>    'print_emoji_detection_script', 7 );</a:t>
            </a:r>
          </a:p>
          <a:p xmlns:a="http://schemas.openxmlformats.org/drawingml/2006/main">
            <a:pPr marL="0" indent="0" algn="l">
              <a:lnSpc>
                <a:spcPct val="108000"/>
              </a:lnSpc>
              <a:buNone/>
            </a:pPr>
            <a:r>
              <a:rPr sz="1150">
                <a:solidFill>
                  <a:srgbClr val="E7C070"/>
                </a:solidFill>
                <a:latin typeface="Courier New"/>
                <a:ea typeface="Courier New"/>
                <a:cs typeface="Courier New"/>
              </a:rPr>
              <a:t>  remove_action( 'wp_print_styles',</a:t>
            </a:r>
          </a:p>
          <a:p xmlns:a="http://schemas.openxmlformats.org/drawingml/2006/main">
            <a:pPr marL="0" indent="0" algn="l">
              <a:lnSpc>
                <a:spcPct val="108000"/>
              </a:lnSpc>
              <a:buNone/>
            </a:pPr>
            <a:r>
              <a:rPr sz="1150">
                <a:solidFill>
                  <a:srgbClr val="E7C070"/>
                </a:solidFill>
                <a:latin typeface="Courier New"/>
                <a:ea typeface="Courier New"/>
                <a:cs typeface="Courier New"/>
              </a:rPr>
              <a:t>    'print_emoji_styles' );</a:t>
            </a:r>
          </a:p>
          <a:p xmlns:a="http://schemas.openxmlformats.org/drawingml/2006/main">
            <a:pPr marL="0" indent="0" algn="l">
              <a:lnSpc>
                <a:spcPct val="108000"/>
              </a:lnSpc>
              <a:buNone/>
            </a:pPr>
            <a:r>
              <a:rPr sz="1150">
                <a:solidFill>
                  <a:srgbClr val="8FBF9F"/>
                </a:solidFill>
                <a:latin typeface="Courier New"/>
                <a:ea typeface="Courier New"/>
                <a:cs typeface="Courier New"/>
              </a:rPr>
              <a:t>  // ...admin + feed + mail variants too</a:t>
            </a:r>
          </a:p>
          <a:p xmlns:a="http://schemas.openxmlformats.org/drawingml/2006/main">
            <a:pPr marL="0" indent="0" algn="l">
              <a:lnSpc>
                <a:spcPct val="108000"/>
              </a:lnSpc>
              <a:buNone/>
            </a:pPr>
            <a:r>
              <a:rPr sz="1150">
                <a:solidFill>
                  <a:srgbClr val="DCEAF1"/>
                </a:solidFill>
                <a:latin typeface="Courier New"/>
                <a:ea typeface="Courier New"/>
                <a:cs typeface="Courier New"/>
              </a:rPr>
              <a:t>  add_filter( 'emoji_svg_url',</a:t>
            </a:r>
          </a:p>
          <a:p xmlns:a="http://schemas.openxmlformats.org/drawingml/2006/main">
            <a:pPr marL="0" indent="0" algn="l">
              <a:lnSpc>
                <a:spcPct val="108000"/>
              </a:lnSpc>
              <a:buNone/>
            </a:pPr>
            <a:r>
              <a:rPr sz="1150">
                <a:solidFill>
                  <a:srgbClr val="DCEAF1"/>
                </a:solidFill>
                <a:latin typeface="Courier New"/>
                <a:ea typeface="Courier New"/>
                <a:cs typeface="Courier New"/>
              </a:rPr>
              <a:t>              '__return_false'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B5D45175-9AA5-4E4F-94AF-54953C551E3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E5AC576-7E1B-47AD-8095-2F3C3DEDA93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16</a:t>
            </a:r>
          </a:p>
        </p:txBody>
      </p:sp>
    </p:spTree>
    <p:extLst>
      <p:ext uri="{BB962C8B-B14F-4D97-AF65-F5344CB8AC3E}">
        <p14:creationId xmlns:p14="http://schemas.microsoft.com/office/powerpoint/2010/main" val="794601280"/>
      </p:ext>
    </p:extLst>
  </p:cSld>
</p:sld>
</file>

<file path=ppt/slides/slide17.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13002FF-72BA-4833-B7A2-EE0B663D6E24}"/>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88F820EA-62DD-489C-B4F4-9D34F700BF5F}"/>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121E69B8-0D64-44E7-8131-5F67DD90F7E8}"/>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3</a:t>
            </a:r>
          </a:p>
        </p:txBody>
      </p:sp>
      <p:sp>
        <p:nvSpPr>
          <p:cNvPr id="5" name="Text 3">
            <a:extLst xmlns:a="http://schemas.openxmlformats.org/drawingml/2006/main">
              <a:ext uri="{FF2B5EF4-FFF2-40B4-BE49-F238E27FC236}">
                <a16:creationId xmlns:a16="http://schemas.microsoft.com/office/drawing/2014/main" id="{0EC0E733-9E3C-4EF6-8B38-B632189813CB}"/>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THREE</a:t>
            </a:r>
          </a:p>
        </p:txBody>
      </p:sp>
      <p:sp>
        <p:nvSpPr>
          <p:cNvPr id="6" name="Text 4">
            <a:extLst xmlns:a="http://schemas.openxmlformats.org/drawingml/2006/main">
              <a:ext uri="{FF2B5EF4-FFF2-40B4-BE49-F238E27FC236}">
                <a16:creationId xmlns:a16="http://schemas.microsoft.com/office/drawing/2014/main" id="{4F98B69C-3E58-4A11-8786-8C96369B1F9A}"/>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Admin UX &amp;</a:t>
            </a:r>
          </a:p>
          <a:p xmlns:a="http://schemas.openxmlformats.org/drawingml/2006/main">
            <a:pPr marL="0" indent="0">
              <a:buNone/>
            </a:pPr>
            <a:r>
              <a:rPr sz="4600" b="1">
                <a:solidFill>
                  <a:srgbClr val="FFFFFF"/>
                </a:solidFill>
                <a:latin typeface="Cambria"/>
                <a:ea typeface="Cambria"/>
                <a:cs typeface="Cambria"/>
              </a:rPr>
              <a:t>Login Sessions</a:t>
            </a:r>
          </a:p>
        </p:txBody>
      </p:sp>
      <p:sp>
        <p:nvSpPr>
          <p:cNvPr id="7" name="Text 5">
            <a:extLst xmlns:a="http://schemas.openxmlformats.org/drawingml/2006/main">
              <a:ext uri="{FF2B5EF4-FFF2-40B4-BE49-F238E27FC236}">
                <a16:creationId xmlns:a16="http://schemas.microsoft.com/office/drawing/2014/main" id="{D3835D8C-E3A5-4CC0-B80A-91A37F5FEBE4}"/>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Small quality-of-life defaults: a calmer dashboard and sensible session policy.</a:t>
            </a:r>
          </a:p>
        </p:txBody>
      </p:sp>
    </p:spTree>
    <p:extLst>
      <p:ext uri="{BB962C8B-B14F-4D97-AF65-F5344CB8AC3E}">
        <p14:creationId xmlns:p14="http://schemas.microsoft.com/office/powerpoint/2010/main" val="231836765"/>
      </p:ext>
    </p:extLst>
  </p:cSld>
</p:sld>
</file>

<file path=ppt/slides/slide18.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C6A84FF-654E-4291-9DF6-E0FE43BA0E69}"/>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ADMIN UX</a:t>
            </a:r>
          </a:p>
        </p:txBody>
      </p:sp>
      <p:sp>
        <p:nvSpPr>
          <p:cNvPr id="3" name="Text 1">
            <a:extLst xmlns:a="http://schemas.openxmlformats.org/drawingml/2006/main">
              <a:ext uri="{FF2B5EF4-FFF2-40B4-BE49-F238E27FC236}">
                <a16:creationId xmlns:a16="http://schemas.microsoft.com/office/drawing/2014/main" id="{8840DF85-4443-4A1C-AAE0-2B875585B6A6}"/>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Faster search, quieter admin bar</a:t>
            </a:r>
          </a:p>
        </p:txBody>
      </p:sp>
      <p:sp>
        <p:nvSpPr>
          <p:cNvPr id="4" name="Text 2">
            <a:extLst xmlns:a="http://schemas.openxmlformats.org/drawingml/2006/main">
              <a:ext uri="{FF2B5EF4-FFF2-40B4-BE49-F238E27FC236}">
                <a16:creationId xmlns:a16="http://schemas.microsoft.com/office/drawing/2014/main" id="{FC6F7C35-176D-4545-B15C-EA9EEFEC3F4C}"/>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Search the admin post list on a big site and WordPress reads every word of every post — like finding a book by reading the whole library. Title-only search checks just the spines, and it's far faster.</a:t>
            </a:r>
          </a:p>
        </p:txBody>
      </p:sp>
      <p:sp>
        <p:nvSpPr>
          <p:cNvPr id="5" name="Shape 3">
            <a:extLst xmlns:a="http://schemas.openxmlformats.org/drawingml/2006/main">
              <a:ext uri="{FF2B5EF4-FFF2-40B4-BE49-F238E27FC236}">
                <a16:creationId xmlns:a16="http://schemas.microsoft.com/office/drawing/2014/main" id="{0B05F898-1629-4C7E-BACE-E0689195D0FF}"/>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7326C487-F3A2-4905-87A9-DB0E46130016}"/>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wpyeg_title_only_admin_search / _frontend_admin_bar_behavior</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 ''</a:t>
            </a:r>
          </a:p>
        </p:txBody>
      </p:sp>
      <p:sp>
        <p:nvSpPr>
          <p:cNvPr id="7" name="Shape 5">
            <a:extLst xmlns:a="http://schemas.openxmlformats.org/drawingml/2006/main">
              <a:ext uri="{FF2B5EF4-FFF2-40B4-BE49-F238E27FC236}">
                <a16:creationId xmlns:a16="http://schemas.microsoft.com/office/drawing/2014/main" id="{EF8F7332-55F4-42E5-8FCA-F432A03EB387}"/>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8FF223D-BC78-4661-980F-A682BEB8096A}"/>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00">
                <a:solidFill>
                  <a:srgbClr val="8FBF9F"/>
                </a:solidFill>
                <a:latin typeface="Courier New"/>
                <a:ea typeface="Courier New"/>
                <a:cs typeface="Courier New"/>
              </a:rPr>
              <a:t>// title-only admin search — narrow the COLUMNS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'post_search_columns',</a:t>
            </a:r>
          </a:p>
          <a:p xmlns:a="http://schemas.openxmlformats.org/drawingml/2006/main">
            <a:pPr marL="0" indent="0" algn="l">
              <a:lnSpc>
                <a:spcPct val="108000"/>
              </a:lnSpc>
              <a:buNone/>
            </a:pPr>
            <a:r>
              <a:rPr sz="1100">
                <a:solidFill>
                  <a:srgbClr val="DCEAF1"/>
                </a:solidFill>
                <a:latin typeface="Courier New"/>
                <a:ea typeface="Courier New"/>
                <a:cs typeface="Courier New"/>
              </a:rPr>
              <a:t>  function ( $cols, $s, $q ) {</a:t>
            </a:r>
          </a:p>
          <a:p xmlns:a="http://schemas.openxmlformats.org/drawingml/2006/main">
            <a:pPr marL="0" indent="0" algn="l">
              <a:lnSpc>
                <a:spcPct val="108000"/>
              </a:lnSpc>
              <a:buNone/>
            </a:pPr>
            <a:r>
              <a:rPr sz="1100">
                <a:solidFill>
                  <a:srgbClr val="DCEAF1"/>
                </a:solidFill>
                <a:latin typeface="Courier New"/>
                <a:ea typeface="Courier New"/>
                <a:cs typeface="Courier New"/>
              </a:rPr>
              <a:t>    if ( is_admin() &amp;&amp; $q-&gt;is_main_query() )</a:t>
            </a:r>
          </a:p>
          <a:p xmlns:a="http://schemas.openxmlformats.org/drawingml/2006/main">
            <a:pPr marL="0" indent="0" algn="l">
              <a:lnSpc>
                <a:spcPct val="108000"/>
              </a:lnSpc>
              <a:buNone/>
            </a:pPr>
            <a:r>
              <a:rPr sz="1100">
                <a:solidFill>
                  <a:srgbClr val="E7C070"/>
                </a:solidFill>
                <a:latin typeface="Courier New"/>
                <a:ea typeface="Courier New"/>
                <a:cs typeface="Courier New"/>
              </a:rPr>
              <a:t>        return array( 'post_title' );</a:t>
            </a:r>
          </a:p>
          <a:p xmlns:a="http://schemas.openxmlformats.org/drawingml/2006/main">
            <a:pPr marL="0" indent="0" algn="l">
              <a:lnSpc>
                <a:spcPct val="108000"/>
              </a:lnSpc>
              <a:buNone/>
            </a:pPr>
            <a:r>
              <a:rPr sz="1100">
                <a:solidFill>
                  <a:srgbClr val="DCEAF1"/>
                </a:solidFill>
                <a:latin typeface="Courier New"/>
                <a:ea typeface="Courier New"/>
                <a:cs typeface="Courier New"/>
              </a:rPr>
              <a:t>    return $cols;   // front-end untouched</a:t>
            </a:r>
          </a:p>
          <a:p xmlns:a="http://schemas.openxmlformats.org/drawingml/2006/main">
            <a:pPr marL="0" indent="0" algn="l">
              <a:lnSpc>
                <a:spcPct val="108000"/>
              </a:lnSpc>
              <a:buNone/>
            </a:pPr>
            <a:r>
              <a:rPr sz="1100">
                <a:solidFill>
                  <a:srgbClr val="DCEAF1"/>
                </a:solidFill>
                <a:latin typeface="Courier New"/>
                <a:ea typeface="Courier New"/>
                <a:cs typeface="Courier New"/>
              </a:rPr>
              <a:t>  }, 10, 3 );</a:t>
            </a:r>
          </a:p>
          <a:p xmlns:a="http://schemas.openxmlformats.org/drawingml/2006/main">
            <a:pPr marL="0" indent="0" algn="l">
              <a:lnSpc>
                <a:spcPct val="108000"/>
              </a:lnSpc>
              <a:buNone/>
            </a:pPr>
            <a:r>
              <a:rPr sz="1100">
                <a:solidFill>
                  <a:srgbClr val="8FBF9F"/>
                </a:solidFill>
                <a:latin typeface="Courier New"/>
                <a:ea typeface="Courier New"/>
                <a:cs typeface="Courier New"/>
              </a:rPr>
              <a:t>// hide bar for non-admins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'show_admin_bar', fn( $s ) =&gt;</a:t>
            </a:r>
          </a:p>
          <a:p xmlns:a="http://schemas.openxmlformats.org/drawingml/2006/main">
            <a:pPr marL="0" indent="0" algn="l">
              <a:lnSpc>
                <a:spcPct val="108000"/>
              </a:lnSpc>
              <a:buNone/>
            </a:pPr>
            <a:r>
              <a:rPr sz="1100">
                <a:solidFill>
                  <a:srgbClr val="E7C070"/>
                </a:solidFill>
                <a:latin typeface="Courier New"/>
                <a:ea typeface="Courier New"/>
                <a:cs typeface="Courier New"/>
              </a:rPr>
              <a:t>  current_user_can('manage_options') ? $s : false );</a:t>
            </a:r>
          </a:p>
        </p:txBody>
      </p:sp>
      <p:sp>
        <p:nvSpPr>
          <p:cNvPr id="9" name="Text 7">
            <a:extLst xmlns:a="http://schemas.openxmlformats.org/drawingml/2006/main">
              <a:ext uri="{FF2B5EF4-FFF2-40B4-BE49-F238E27FC236}">
                <a16:creationId xmlns:a16="http://schemas.microsoft.com/office/drawing/2014/main" id="{2E5AE0DE-0794-4746-A83D-2CDC35B3DAD3}"/>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EE63048D-10F6-49AB-966F-0158650F2132}"/>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18</a:t>
            </a:r>
          </a:p>
        </p:txBody>
      </p:sp>
    </p:spTree>
    <p:extLst>
      <p:ext uri="{BB962C8B-B14F-4D97-AF65-F5344CB8AC3E}">
        <p14:creationId xmlns:p14="http://schemas.microsoft.com/office/powerpoint/2010/main" val="39541825"/>
      </p:ext>
    </p:extLst>
  </p:cSld>
</p:sld>
</file>

<file path=ppt/slides/slide19.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EC7358C-18E5-43C3-8A19-D9D3BC21C371}"/>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LOGIN &amp; SESSIONS</a:t>
            </a:r>
          </a:p>
        </p:txBody>
      </p:sp>
      <p:sp>
        <p:nvSpPr>
          <p:cNvPr id="3" name="Text 1">
            <a:extLst xmlns:a="http://schemas.openxmlformats.org/drawingml/2006/main">
              <a:ext uri="{FF2B5EF4-FFF2-40B4-BE49-F238E27FC236}">
                <a16:creationId xmlns:a16="http://schemas.microsoft.com/office/drawing/2014/main" id="{39918A8D-5372-49BE-8E2A-BCEDAA14D6F7}"/>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Right-size the login session</a:t>
            </a:r>
          </a:p>
        </p:txBody>
      </p:sp>
      <p:sp>
        <p:nvSpPr>
          <p:cNvPr id="4" name="Text 2">
            <a:extLst xmlns:a="http://schemas.openxmlformats.org/drawingml/2006/main">
              <a:ext uri="{FF2B5EF4-FFF2-40B4-BE49-F238E27FC236}">
                <a16:creationId xmlns:a16="http://schemas.microsoft.com/office/drawing/2014/main" id="{D24A65C6-3023-4519-9E7E-4D359A26F0B0}"/>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Click “Remember Me” and you stay logged in for 14 days. Cap that extended session, optionally shorten the regular one, or hide the checkbox entirely. One filter covers all three.</a:t>
            </a:r>
          </a:p>
        </p:txBody>
      </p:sp>
      <p:sp>
        <p:nvSpPr>
          <p:cNvPr id="5" name="Shape 3">
            <a:extLst xmlns:a="http://schemas.openxmlformats.org/drawingml/2006/main">
              <a:ext uri="{FF2B5EF4-FFF2-40B4-BE49-F238E27FC236}">
                <a16:creationId xmlns:a16="http://schemas.microsoft.com/office/drawing/2014/main" id="{66473415-5BFC-4412-B1F2-F5B72E146440}"/>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65DB451F-4B11-40E1-83AB-C886E515A38F}"/>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wpyeg_remember_me_days / _session_regular_hours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5 / 0</a:t>
            </a:r>
          </a:p>
        </p:txBody>
      </p:sp>
      <p:sp>
        <p:nvSpPr>
          <p:cNvPr id="7" name="Shape 5">
            <a:extLst xmlns:a="http://schemas.openxmlformats.org/drawingml/2006/main">
              <a:ext uri="{FF2B5EF4-FFF2-40B4-BE49-F238E27FC236}">
                <a16:creationId xmlns:a16="http://schemas.microsoft.com/office/drawing/2014/main" id="{BCD68E66-D6ED-4D39-AD29-88198D74B528}"/>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3816D4F1-D55D-4621-8F28-E640B2B8AA46}"/>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'auth_cookie_expiration',</a:t>
            </a:r>
          </a:p>
          <a:p xmlns:a="http://schemas.openxmlformats.org/drawingml/2006/main">
            <a:pPr marL="0" indent="0" algn="l">
              <a:lnSpc>
                <a:spcPct val="108000"/>
              </a:lnSpc>
              <a:buNone/>
            </a:pPr>
            <a:r>
              <a:rPr sz="1150">
                <a:solidFill>
                  <a:srgbClr val="DCEAF1"/>
                </a:solidFill>
                <a:latin typeface="Courier New"/>
                <a:ea typeface="Courier New"/>
                <a:cs typeface="Courier New"/>
              </a:rPr>
              <a:t>  function ( $exp, $uid, $remember ) {</a:t>
            </a:r>
          </a:p>
          <a:p xmlns:a="http://schemas.openxmlformats.org/drawingml/2006/main">
            <a:pPr marL="0" indent="0" algn="l">
              <a:lnSpc>
                <a:spcPct val="108000"/>
              </a:lnSpc>
              <a:buNone/>
            </a:pPr>
            <a:r>
              <a:rPr sz="1150">
                <a:solidFill>
                  <a:srgbClr val="DCEAF1"/>
                </a:solidFill>
                <a:latin typeface="Courier New"/>
                <a:ea typeface="Courier New"/>
                <a:cs typeface="Courier New"/>
              </a:rPr>
              <a:t>    if ( $remember )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5 * DAY_IN_SECONDS;</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12 * HOUR_IN_SECONDS;</a:t>
            </a:r>
          </a:p>
          <a:p xmlns:a="http://schemas.openxmlformats.org/drawingml/2006/main">
            <a:pPr marL="0" indent="0" algn="l">
              <a:lnSpc>
                <a:spcPct val="108000"/>
              </a:lnSpc>
              <a:buNone/>
            </a:pPr>
            <a:r>
              <a:rPr sz="1150">
                <a:solidFill>
                  <a:srgbClr val="DCEAF1"/>
                </a:solidFill>
                <a:latin typeface="Courier New"/>
                <a:ea typeface="Courier New"/>
                <a:cs typeface="Courier New"/>
              </a:rPr>
              <a:t>  }, 10, 3 );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DAY_IN_SECONDS: core time constant</a:t>
            </a:r>
          </a:p>
        </p:txBody>
      </p:sp>
      <p:sp>
        <p:nvSpPr>
          <p:cNvPr id="9" name="Text 7">
            <a:extLst xmlns:a="http://schemas.openxmlformats.org/drawingml/2006/main">
              <a:ext uri="{FF2B5EF4-FFF2-40B4-BE49-F238E27FC236}">
                <a16:creationId xmlns:a16="http://schemas.microsoft.com/office/drawing/2014/main" id="{A0C620C3-0ED5-465C-939A-585B75664D85}"/>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109912EB-56F7-45D4-9D7A-628DBB3253D6}"/>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19</a:t>
            </a:r>
          </a:p>
        </p:txBody>
      </p:sp>
    </p:spTree>
    <p:extLst>
      <p:ext uri="{BB962C8B-B14F-4D97-AF65-F5344CB8AC3E}">
        <p14:creationId xmlns:p14="http://schemas.microsoft.com/office/powerpoint/2010/main" val="53686041"/>
      </p:ext>
    </p:extLst>
  </p:cSld>
</p:sld>
</file>

<file path=ppt/slides/slide20.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EA60FB1-2577-4858-8E15-E442D6641785}"/>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3B15A6A6-AE6B-4171-B47C-3C6B8E20987C}"/>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16BFA9C5-F1FE-45A3-BFCC-EB93D6093041}"/>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4</a:t>
            </a:r>
          </a:p>
        </p:txBody>
      </p:sp>
      <p:sp>
        <p:nvSpPr>
          <p:cNvPr id="5" name="Text 3">
            <a:extLst xmlns:a="http://schemas.openxmlformats.org/drawingml/2006/main">
              <a:ext uri="{FF2B5EF4-FFF2-40B4-BE49-F238E27FC236}">
                <a16:creationId xmlns:a16="http://schemas.microsoft.com/office/drawing/2014/main" id="{22A2709F-50E1-4235-8AA1-28D7F271032D}"/>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FOUR</a:t>
            </a:r>
          </a:p>
        </p:txBody>
      </p:sp>
      <p:sp>
        <p:nvSpPr>
          <p:cNvPr id="6" name="Text 4">
            <a:extLst xmlns:a="http://schemas.openxmlformats.org/drawingml/2006/main">
              <a:ext uri="{FF2B5EF4-FFF2-40B4-BE49-F238E27FC236}">
                <a16:creationId xmlns:a16="http://schemas.microsoft.com/office/drawing/2014/main" id="{D83A0CD1-58B7-427E-A390-48924921A935}"/>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Branding &amp;</a:t>
            </a:r>
          </a:p>
          <a:p xmlns:a="http://schemas.openxmlformats.org/drawingml/2006/main">
            <a:pPr marL="0" indent="0">
              <a:buNone/>
            </a:pPr>
            <a:r>
              <a:rPr sz="4600" b="1">
                <a:solidFill>
                  <a:srgbClr val="FFFFFF"/>
                </a:solidFill>
                <a:latin typeface="Cambria"/>
                <a:ea typeface="Cambria"/>
                <a:cs typeface="Cambria"/>
              </a:rPr>
              <a:t>Performance</a:t>
            </a:r>
          </a:p>
        </p:txBody>
      </p:sp>
      <p:sp>
        <p:nvSpPr>
          <p:cNvPr id="7" name="Text 5">
            <a:extLst xmlns:a="http://schemas.openxmlformats.org/drawingml/2006/main">
              <a:ext uri="{FF2B5EF4-FFF2-40B4-BE49-F238E27FC236}">
                <a16:creationId xmlns:a16="http://schemas.microsoft.com/office/drawing/2014/main" id="{754A4955-C322-4DFE-BF7C-F6952FCE2FD8}"/>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Own the login screen, then shave the last bit of weight off every page.</a:t>
            </a:r>
          </a:p>
        </p:txBody>
      </p:sp>
    </p:spTree>
    <p:extLst>
      <p:ext uri="{BB962C8B-B14F-4D97-AF65-F5344CB8AC3E}">
        <p14:creationId xmlns:p14="http://schemas.microsoft.com/office/powerpoint/2010/main" val="1874293724"/>
      </p:ext>
    </p:extLst>
  </p:cSld>
</p:sld>
</file>

<file path=ppt/slides/slide2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4B6C92-24C2-4CE9-A260-FC53790933F3}"/>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BRANDING</a:t>
            </a:r>
          </a:p>
        </p:txBody>
      </p:sp>
      <p:sp>
        <p:nvSpPr>
          <p:cNvPr id="3" name="Text 1">
            <a:extLst xmlns:a="http://schemas.openxmlformats.org/drawingml/2006/main">
              <a:ext uri="{FF2B5EF4-FFF2-40B4-BE49-F238E27FC236}">
                <a16:creationId xmlns:a16="http://schemas.microsoft.com/office/drawing/2014/main" id="{5ADDA712-5DB0-41E5-9746-D8A44A594484}"/>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Own the login screen</a:t>
            </a:r>
          </a:p>
        </p:txBody>
      </p:sp>
      <p:sp>
        <p:nvSpPr>
          <p:cNvPr id="4" name="Text 2">
            <a:extLst xmlns:a="http://schemas.openxmlformats.org/drawingml/2006/main">
              <a:ext uri="{FF2B5EF4-FFF2-40B4-BE49-F238E27FC236}">
                <a16:creationId xmlns:a16="http://schemas.microsoft.com/office/drawing/2014/main" id="{AB3EF9DB-72F1-42C3-B771-B57648315BF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login page is a site's staff entrance, and by default the welcome mat links to someone else's house — that “W” points out to wordpress.org. Changing it uninvited is intrusive, so the default is to leave it alone.</a:t>
            </a:r>
          </a:p>
        </p:txBody>
      </p:sp>
      <p:sp>
        <p:nvSpPr>
          <p:cNvPr id="5" name="Shape 3">
            <a:extLst xmlns:a="http://schemas.openxmlformats.org/drawingml/2006/main">
              <a:ext uri="{FF2B5EF4-FFF2-40B4-BE49-F238E27FC236}">
                <a16:creationId xmlns:a16="http://schemas.microsoft.com/office/drawing/2014/main" id="{A01C0543-F336-40BC-AD41-1C83A276FD0C}"/>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72DFA685-50BE-41F2-B634-D89D3346CFF7}"/>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wpyeg_login_logo_behavior</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keep_default (keep / remove / unlink / replace)</a:t>
            </a:r>
          </a:p>
        </p:txBody>
      </p:sp>
      <p:sp>
        <p:nvSpPr>
          <p:cNvPr id="7" name="Shape 5">
            <a:extLst xmlns:a="http://schemas.openxmlformats.org/drawingml/2006/main">
              <a:ext uri="{FF2B5EF4-FFF2-40B4-BE49-F238E27FC236}">
                <a16:creationId xmlns:a16="http://schemas.microsoft.com/office/drawing/2014/main" id="{F3AD57F5-8F97-430D-B99B-8376B00DCD86}"/>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25EC5324-D3F0-4B42-8867-9A914CA6594A}"/>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00">
                <a:solidFill>
                  <a:srgbClr val="8FBF9F"/>
                </a:solidFill>
                <a:latin typeface="Courier New"/>
                <a:ea typeface="Courier New"/>
                <a:cs typeface="Courier New"/>
              </a:rPr>
              <a:t>// remove, unlink, or replace — a choice</a:t>
            </a:r>
          </a:p>
          <a:p xmlns:a="http://schemas.openxmlformats.org/drawingml/2006/main">
            <a:pPr marL="0" indent="0" algn="l">
              <a:lnSpc>
                <a:spcPct val="108000"/>
              </a:lnSpc>
              <a:buNone/>
            </a:pPr>
            <a:r>
              <a:rPr sz="1200">
                <a:solidFill>
                  <a:srgbClr val="E7C070"/>
                </a:solidFill>
                <a:latin typeface="Courier New"/>
                <a:ea typeface="Courier New"/>
                <a:cs typeface="Courier New"/>
              </a:rPr>
              <a:t>add_action( 'login_head', $logo_css );</a:t>
            </a:r>
          </a:p>
          <a:p xmlns:a="http://schemas.openxmlformats.org/drawingml/2006/main">
            <a:pPr marL="0" indent="0" algn="l">
              <a:lnSpc>
                <a:spcPct val="108000"/>
              </a:lnSpc>
              <a:buNone/>
            </a:pPr>
            <a:r>
              <a:rPr sz="1200">
                <a:solidFill>
                  <a:srgbClr val="DCEAF1"/>
                </a:solidFill>
                <a:latin typeface="Courier New"/>
                <a:ea typeface="Courier New"/>
                <a:cs typeface="Courier New"/>
              </a:rPr>
              <a:t> </a:t>
            </a:r>
          </a:p>
          <a:p xmlns:a="http://schemas.openxmlformats.org/drawingml/2006/main">
            <a:pPr marL="0" indent="0" algn="l">
              <a:lnSpc>
                <a:spcPct val="108000"/>
              </a:lnSpc>
              <a:buNone/>
            </a:pPr>
            <a:r>
              <a:rPr sz="1200">
                <a:solidFill>
                  <a:srgbClr val="8FBF9F"/>
                </a:solidFill>
                <a:latin typeface="Courier New"/>
                <a:ea typeface="Courier New"/>
                <a:cs typeface="Courier New"/>
              </a:rPr>
              <a:t>// any change points the link home</a:t>
            </a:r>
          </a:p>
          <a:p xmlns:a="http://schemas.openxmlformats.org/drawingml/2006/main">
            <a:pPr marL="0" indent="0" algn="l">
              <a:lnSpc>
                <a:spcPct val="108000"/>
              </a:lnSpc>
              <a:buNone/>
            </a:pPr>
            <a:r>
              <a:rPr sz="1200">
                <a:solidFill>
                  <a:srgbClr val="8FBF9F"/>
                </a:solidFill>
                <a:latin typeface="Courier New"/>
                <a:ea typeface="Courier New"/>
                <a:cs typeface="Courier New"/>
              </a:rPr>
              <a:t>// (no separate toggle)</a:t>
            </a:r>
          </a:p>
          <a:p xmlns:a="http://schemas.openxmlformats.org/drawingml/2006/main">
            <a:pPr marL="0" indent="0" algn="l">
              <a:lnSpc>
                <a:spcPct val="108000"/>
              </a:lnSpc>
              <a:buNone/>
            </a:pPr>
            <a:r>
              <a:rPr sz="1200">
                <a:solidFill>
                  <a:srgbClr val="E7C070"/>
                </a:solidFill>
                <a:latin typeface="Courier New"/>
                <a:ea typeface="Courier New"/>
                <a:cs typeface="Courier New"/>
              </a:rPr>
              <a:t>add_filter( 'login_headerurl', 'home_url' );</a:t>
            </a:r>
          </a:p>
          <a:p xmlns:a="http://schemas.openxmlformats.org/drawingml/2006/main">
            <a:pPr marL="0" indent="0" algn="l">
              <a:lnSpc>
                <a:spcPct val="108000"/>
              </a:lnSpc>
              <a:buNone/>
            </a:pPr>
            <a:r>
              <a:rPr sz="1200">
                <a:solidFill>
                  <a:srgbClr val="DCEAF1"/>
                </a:solidFill>
                <a:latin typeface="Courier New"/>
                <a:ea typeface="Courier New"/>
                <a:cs typeface="Courier New"/>
              </a:rPr>
              <a:t>add_filter( 'login_headertext', fn() =&gt;</a:t>
            </a:r>
          </a:p>
          <a:p xmlns:a="http://schemas.openxmlformats.org/drawingml/2006/main">
            <a:pPr marL="0" indent="0" algn="l">
              <a:lnSpc>
                <a:spcPct val="108000"/>
              </a:lnSpc>
              <a:buNone/>
            </a:pPr>
            <a:r>
              <a:rPr sz="1200">
                <a:solidFill>
                  <a:srgbClr val="E7C070"/>
                </a:solidFill>
                <a:latin typeface="Courier New"/>
                <a:ea typeface="Courier New"/>
                <a:cs typeface="Courier New"/>
              </a:rPr>
              <a:t>            get_bloginfo( 'name' ) );</a:t>
            </a:r>
          </a:p>
        </p:txBody>
      </p:sp>
      <p:sp>
        <p:nvSpPr>
          <p:cNvPr id="9" name="Text 7">
            <a:extLst xmlns:a="http://schemas.openxmlformats.org/drawingml/2006/main">
              <a:ext uri="{FF2B5EF4-FFF2-40B4-BE49-F238E27FC236}">
                <a16:creationId xmlns:a16="http://schemas.microsoft.com/office/drawing/2014/main" id="{26263BA1-C395-45D4-B252-39C52411C771}"/>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F15247F9-BCF1-443C-83D9-D3EB612BB81B}"/>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21</a:t>
            </a:r>
          </a:p>
        </p:txBody>
      </p:sp>
    </p:spTree>
    <p:extLst>
      <p:ext uri="{BB962C8B-B14F-4D97-AF65-F5344CB8AC3E}">
        <p14:creationId xmlns:p14="http://schemas.microsoft.com/office/powerpoint/2010/main" val="1167432529"/>
      </p:ext>
    </p:extLst>
  </p:cSld>
</p:sld>
</file>

<file path=ppt/slides/slide2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A38899E-5379-4773-A7EA-93CFEC3DB51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PERFORMANCE · opt-in</a:t>
            </a:r>
          </a:p>
        </p:txBody>
      </p:sp>
      <p:sp>
        <p:nvSpPr>
          <p:cNvPr id="3" name="Text 1">
            <a:extLst xmlns:a="http://schemas.openxmlformats.org/drawingml/2006/main">
              <a:ext uri="{FF2B5EF4-FFF2-40B4-BE49-F238E27FC236}">
                <a16:creationId xmlns:a16="http://schemas.microsoft.com/office/drawing/2014/main" id="{4C3DF3B4-4187-4123-A3CD-30EFE3AF8364}"/>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Throttle Heartbeat — and a default we deleted</a:t>
            </a:r>
          </a:p>
        </p:txBody>
      </p:sp>
      <p:sp>
        <p:nvSpPr>
          <p:cNvPr id="4" name="Text 2">
            <a:extLst xmlns:a="http://schemas.openxmlformats.org/drawingml/2006/main">
              <a:ext uri="{FF2B5EF4-FFF2-40B4-BE49-F238E27FC236}">
                <a16:creationId xmlns:a16="http://schemas.microsoft.com/office/drawing/2014/main" id="{56B85A1E-5F2C-4895-9ED2-396FCA59811D}"/>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Throttle Heartbeat to ease up on weak shared hosting. The more interesting half is the toggle that used to be here: WordPress 6.3 gave scripts a per-script loading strategy, so our blanket defer filter had to go.</a:t>
            </a:r>
          </a:p>
        </p:txBody>
      </p:sp>
      <p:sp>
        <p:nvSpPr>
          <p:cNvPr id="5" name="Shape 3">
            <a:extLst xmlns:a="http://schemas.openxmlformats.org/drawingml/2006/main">
              <a:ext uri="{FF2B5EF4-FFF2-40B4-BE49-F238E27FC236}">
                <a16:creationId xmlns:a16="http://schemas.microsoft.com/office/drawing/2014/main" id="{231E26A2-9BF6-4A2F-B132-8A877BCD9CBE}"/>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F4EDEC52-C5C4-42FA-9E18-DB8778D50D04}"/>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OPTION   </a:t>
            </a:r>
            <a:r>
              <a:rPr sz="1150" b="1">
                <a:solidFill>
                  <a:srgbClr val="0F2733"/>
                </a:solidFill>
                <a:latin typeface="Courier New"/>
                <a:ea typeface="Courier New"/>
                <a:cs typeface="Courier New"/>
              </a:rPr>
              <a:t>wpyeg_throttle_heartbeat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(opt-in)</a:t>
            </a:r>
          </a:p>
        </p:txBody>
      </p:sp>
      <p:sp>
        <p:nvSpPr>
          <p:cNvPr id="7" name="Shape 5">
            <a:extLst xmlns:a="http://schemas.openxmlformats.org/drawingml/2006/main">
              <a:ext uri="{FF2B5EF4-FFF2-40B4-BE49-F238E27FC236}">
                <a16:creationId xmlns:a16="http://schemas.microsoft.com/office/drawing/2014/main" id="{BD76FCC8-6298-4BAE-B9AE-1DAB7C5D471F}"/>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FC43CA54-3639-4D02-AD5F-F60E81737154}"/>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'heartbeat_settings', fn( $s ) =&gt; {</a:t>
            </a:r>
          </a:p>
          <a:p xmlns:a="http://schemas.openxmlformats.org/drawingml/2006/main">
            <a:pPr marL="0" indent="0" algn="l">
              <a:lnSpc>
                <a:spcPct val="108000"/>
              </a:lnSpc>
              <a:buNone/>
            </a:pPr>
            <a:r>
              <a:rPr sz="1150">
                <a:solidFill>
                  <a:srgbClr val="E7C070"/>
                </a:solidFill>
                <a:latin typeface="Courier New"/>
                <a:ea typeface="Courier New"/>
                <a:cs typeface="Courier New"/>
              </a:rPr>
              <a:t>  $s['interval'] = 60; return $s;</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Deferring is NOT a setting here. Since WP 6.3:</a:t>
            </a:r>
          </a:p>
          <a:p xmlns:a="http://schemas.openxmlformats.org/drawingml/2006/main">
            <a:pPr marL="0" indent="0" algn="l">
              <a:lnSpc>
                <a:spcPct val="108000"/>
              </a:lnSpc>
              <a:buNone/>
            </a:pPr>
            <a:r>
              <a:rPr sz="1150">
                <a:solidFill>
                  <a:srgbClr val="DCEAF1"/>
                </a:solidFill>
                <a:latin typeface="Courier New"/>
                <a:ea typeface="Courier New"/>
                <a:cs typeface="Courier New"/>
              </a:rPr>
              <a:t>wp_enqueue_script( 'front', $src, array(), '1.0',</a:t>
            </a:r>
          </a:p>
          <a:p xmlns:a="http://schemas.openxmlformats.org/drawingml/2006/main">
            <a:pPr marL="0" indent="0" algn="l">
              <a:lnSpc>
                <a:spcPct val="108000"/>
              </a:lnSpc>
              <a:buNone/>
            </a:pPr>
            <a:r>
              <a:rPr sz="1150">
                <a:solidFill>
                  <a:srgbClr val="E7C070"/>
                </a:solidFill>
                <a:latin typeface="Courier New"/>
                <a:ea typeface="Courier New"/>
                <a:cs typeface="Courier New"/>
              </a:rPr>
              <a:t>  array( 'strategy' =&gt; 'defer' ) );</a:t>
            </a:r>
          </a:p>
        </p:txBody>
      </p:sp>
      <p:sp>
        <p:nvSpPr>
          <p:cNvPr id="9" name="Text 7">
            <a:extLst xmlns:a="http://schemas.openxmlformats.org/drawingml/2006/main">
              <a:ext uri="{FF2B5EF4-FFF2-40B4-BE49-F238E27FC236}">
                <a16:creationId xmlns:a16="http://schemas.microsoft.com/office/drawing/2014/main" id="{C9A8750F-5641-4A4F-BC8D-0A54D2E33FFB}"/>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37C7AC04-C30B-4D9C-A077-2436EC57D16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22</a:t>
            </a:r>
          </a:p>
        </p:txBody>
      </p:sp>
    </p:spTree>
    <p:extLst>
      <p:ext uri="{BB962C8B-B14F-4D97-AF65-F5344CB8AC3E}">
        <p14:creationId xmlns:p14="http://schemas.microsoft.com/office/powerpoint/2010/main" val="1465580794"/>
      </p:ext>
    </p:extLst>
  </p:cSld>
</p:sld>
</file>

<file path=ppt/slides/slide2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CC4008-636B-4299-92CC-7F779B87103E}"/>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0F2733"/>
                </a:solidFill>
                <a:latin typeface="Cambria"/>
                <a:ea typeface="Cambria"/>
                <a:cs typeface="Cambria"/>
              </a:rPr>
              <a:t>Three things a plugin can't toggle</a:t>
            </a:r>
          </a:p>
        </p:txBody>
      </p:sp>
      <p:sp>
        <p:nvSpPr>
          <p:cNvPr id="3" name="Text 1">
            <a:extLst xmlns:a="http://schemas.openxmlformats.org/drawingml/2006/main">
              <a:ext uri="{FF2B5EF4-FFF2-40B4-BE49-F238E27FC236}">
                <a16:creationId xmlns:a16="http://schemas.microsoft.com/office/drawing/2014/main" id="{E9C4555E-8600-498F-9A6E-E17855F072FF}"/>
              </a:ext>
            </a:extLst>
          </p:cNvPr>
          <p:cNvSpPr>
            <a:spLocks xmlns:a="http://schemas.openxmlformats.org/drawingml/2006/main" noGrp="1"/>
          </p:cNvSpPr>
          <p:nvPr/>
        </p:nvSpPr>
        <p:spPr>
          <a:xfrm xmlns:a="http://schemas.openxmlformats.org/drawingml/2006/main">
            <a:off x="548640" y="12801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Some defaults live in wp-config.php, above the plugin layer, because they must load before plugins do. Document them as manual steps in your onboarding checklist.</a:t>
            </a:r>
          </a:p>
        </p:txBody>
      </p:sp>
      <p:sp>
        <p:nvSpPr>
          <p:cNvPr id="4" name="Shape 2">
            <a:extLst xmlns:a="http://schemas.openxmlformats.org/drawingml/2006/main">
              <a:ext uri="{FF2B5EF4-FFF2-40B4-BE49-F238E27FC236}">
                <a16:creationId xmlns:a16="http://schemas.microsoft.com/office/drawing/2014/main" id="{EAD5153A-4726-4F2D-B092-F6BFAF79CEB8}"/>
              </a:ext>
            </a:extLst>
          </p:cNvPr>
          <p:cNvSpPr>
            <a:spLocks xmlns:a="http://schemas.openxmlformats.org/drawingml/2006/main" noGrp="1"/>
          </p:cNvSpPr>
          <p:nvPr/>
        </p:nvSpPr>
        <p:spPr>
          <a:xfrm xmlns:a="http://schemas.openxmlformats.org/drawingml/2006/main">
            <a:off x="548640" y="2148840"/>
            <a:ext cx="11064240" cy="1920240"/>
          </a:xfrm>
          <a:prstGeom xmlns:a="http://schemas.openxmlformats.org/drawingml/2006/main" prst="roundRect">
            <a:avLst>
              <a:gd name="adj" fmla="val 381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5" name="Text 3">
            <a:extLst xmlns:a="http://schemas.openxmlformats.org/drawingml/2006/main">
              <a:ext uri="{FF2B5EF4-FFF2-40B4-BE49-F238E27FC236}">
                <a16:creationId xmlns:a16="http://schemas.microsoft.com/office/drawing/2014/main" id="{636EE0EE-1204-4908-ABAC-E5B09CA485B2}"/>
              </a:ext>
            </a:extLst>
          </p:cNvPr>
          <p:cNvSpPr>
            <a:spLocks xmlns:a="http://schemas.openxmlformats.org/drawingml/2006/main" noGrp="1"/>
          </p:cNvSpPr>
          <p:nvPr/>
        </p:nvSpPr>
        <p:spPr>
          <a:xfrm xmlns:a="http://schemas.openxmlformats.org/drawingml/2006/main">
            <a:off x="749808" y="2313432"/>
            <a:ext cx="10661904" cy="15910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400">
                <a:solidFill>
                  <a:srgbClr val="DCEAF1"/>
                </a:solidFill>
                <a:latin typeface="Courier New"/>
                <a:ea typeface="Courier New"/>
                <a:cs typeface="Courier New"/>
              </a:rPr>
              <a:t>define( 'DISALLOW_FILE_EDIT', true );  // no in-dashboard code editor</a:t>
            </a:r>
          </a:p>
          <a:p xmlns:a="http://schemas.openxmlformats.org/drawingml/2006/main">
            <a:pPr marL="0" indent="0" algn="l">
              <a:lnSpc>
                <a:spcPct val="108000"/>
              </a:lnSpc>
              <a:buNone/>
            </a:pPr>
            <a:r>
              <a:rPr sz="1400">
                <a:solidFill>
                  <a:srgbClr val="DCEAF1"/>
                </a:solidFill>
                <a:latin typeface="Courier New"/>
                <a:ea typeface="Courier New"/>
                <a:cs typeface="Courier New"/>
              </a:rPr>
              <a:t>define( 'AUTOSAVE_INTERVAL', 120 );    // gentler autosave (seconds)</a:t>
            </a:r>
          </a:p>
          <a:p xmlns:a="http://schemas.openxmlformats.org/drawingml/2006/main">
            <a:pPr marL="0" indent="0" algn="l">
              <a:lnSpc>
                <a:spcPct val="108000"/>
              </a:lnSpc>
              <a:buNone/>
            </a:pPr>
            <a:r>
              <a:rPr sz="1400">
                <a:solidFill>
                  <a:srgbClr val="DCEAF1"/>
                </a:solidFill>
                <a:latin typeface="Courier New"/>
                <a:ea typeface="Courier New"/>
                <a:cs typeface="Courier New"/>
              </a:rPr>
              <a:t>define( 'WP_POST_REVISIONS', 10 );     // cap revision-table bloat</a:t>
            </a:r>
          </a:p>
        </p:txBody>
      </p:sp>
      <p:sp>
        <p:nvSpPr>
          <p:cNvPr id="6" name="Shape 4">
            <a:extLst xmlns:a="http://schemas.openxmlformats.org/drawingml/2006/main">
              <a:ext uri="{FF2B5EF4-FFF2-40B4-BE49-F238E27FC236}">
                <a16:creationId xmlns:a16="http://schemas.microsoft.com/office/drawing/2014/main" id="{39AB61C7-99DC-432F-8103-799C7DC7292D}"/>
              </a:ext>
            </a:extLst>
          </p:cNvPr>
          <p:cNvSpPr>
            <a:spLocks xmlns:a="http://schemas.openxmlformats.org/drawingml/2006/main" noGrp="1"/>
          </p:cNvSpPr>
          <p:nvPr/>
        </p:nvSpPr>
        <p:spPr>
          <a:xfrm xmlns:a="http://schemas.openxmlformats.org/drawingml/2006/main">
            <a:off x="548640"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7" name="Shape 5">
            <a:extLst xmlns:a="http://schemas.openxmlformats.org/drawingml/2006/main">
              <a:ext uri="{FF2B5EF4-FFF2-40B4-BE49-F238E27FC236}">
                <a16:creationId xmlns:a16="http://schemas.microsoft.com/office/drawing/2014/main" id="{EAE66EA5-FDD1-409A-994B-DCF5C343369E}"/>
              </a:ext>
            </a:extLst>
          </p:cNvPr>
          <p:cNvSpPr>
            <a:spLocks xmlns:a="http://schemas.openxmlformats.org/drawingml/2006/main" noGrp="1"/>
          </p:cNvSpPr>
          <p:nvPr/>
        </p:nvSpPr>
        <p:spPr>
          <a:xfrm xmlns:a="http://schemas.openxmlformats.org/drawingml/2006/main">
            <a:off x="804672" y="4590288"/>
            <a:ext cx="457200" cy="457200"/>
          </a:xfrm>
          <a:prstGeom xmlns:a="http://schemas.openxmlformats.org/drawingml/2006/main" prst="ellipse">
            <a:avLst/>
          </a:prstGeom>
          <a:solidFill xmlns:a="http://schemas.openxmlformats.org/drawingml/2006/main">
            <a:srgbClr val="27607A"/>
          </a:solidFill>
        </p:spPr>
      </p:sp>
      <p:sp>
        <p:nvSpPr>
          <p:cNvPr id="8" name="Text 6">
            <a:extLst xmlns:a="http://schemas.openxmlformats.org/drawingml/2006/main">
              <a:ext uri="{FF2B5EF4-FFF2-40B4-BE49-F238E27FC236}">
                <a16:creationId xmlns:a16="http://schemas.microsoft.com/office/drawing/2014/main" id="{61F8CB6D-CC27-4427-BA5A-038FD183DD2E}"/>
              </a:ext>
            </a:extLst>
          </p:cNvPr>
          <p:cNvSpPr>
            <a:spLocks xmlns:a="http://schemas.openxmlformats.org/drawingml/2006/main" noGrp="1"/>
          </p:cNvSpPr>
          <p:nvPr/>
        </p:nvSpPr>
        <p:spPr>
          <a:xfrm xmlns:a="http://schemas.openxmlformats.org/drawingml/2006/main">
            <a:off x="804672"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1</a:t>
            </a:r>
          </a:p>
        </p:txBody>
      </p:sp>
      <p:sp>
        <p:nvSpPr>
          <p:cNvPr id="9" name="Text 7">
            <a:extLst xmlns:a="http://schemas.openxmlformats.org/drawingml/2006/main">
              <a:ext uri="{FF2B5EF4-FFF2-40B4-BE49-F238E27FC236}">
                <a16:creationId xmlns:a16="http://schemas.microsoft.com/office/drawing/2014/main" id="{CA520E30-63FB-4FDB-B61F-42DCB775F615}"/>
              </a:ext>
            </a:extLst>
          </p:cNvPr>
          <p:cNvSpPr>
            <a:spLocks xmlns:a="http://schemas.openxmlformats.org/drawingml/2006/main" noGrp="1"/>
          </p:cNvSpPr>
          <p:nvPr/>
        </p:nvSpPr>
        <p:spPr>
          <a:xfrm xmlns:a="http://schemas.openxmlformats.org/drawingml/2006/main">
            <a:off x="1417320"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Kills the theme/plugin editor</a:t>
            </a:r>
          </a:p>
        </p:txBody>
      </p:sp>
      <p:sp>
        <p:nvSpPr>
          <p:cNvPr id="10" name="Text 8">
            <a:extLst xmlns:a="http://schemas.openxmlformats.org/drawingml/2006/main">
              <a:ext uri="{FF2B5EF4-FFF2-40B4-BE49-F238E27FC236}">
                <a16:creationId xmlns:a16="http://schemas.microsoft.com/office/drawing/2014/main" id="{27C76501-9427-4B65-BCBF-0527F3AC8C8C}"/>
              </a:ext>
            </a:extLst>
          </p:cNvPr>
          <p:cNvSpPr>
            <a:spLocks xmlns:a="http://schemas.openxmlformats.org/drawingml/2006/main" noGrp="1"/>
          </p:cNvSpPr>
          <p:nvPr/>
        </p:nvSpPr>
        <p:spPr>
          <a:xfrm xmlns:a="http://schemas.openxmlformats.org/drawingml/2006/main">
            <a:off x="804672"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A stolen admin login can't rewrite your PHP.</a:t>
            </a:r>
          </a:p>
        </p:txBody>
      </p:sp>
      <p:sp>
        <p:nvSpPr>
          <p:cNvPr id="11" name="Shape 9">
            <a:extLst xmlns:a="http://schemas.openxmlformats.org/drawingml/2006/main">
              <a:ext uri="{FF2B5EF4-FFF2-40B4-BE49-F238E27FC236}">
                <a16:creationId xmlns:a16="http://schemas.microsoft.com/office/drawing/2014/main" id="{DFBE3680-2A26-40BF-8C12-0B914779919F}"/>
              </a:ext>
            </a:extLst>
          </p:cNvPr>
          <p:cNvSpPr>
            <a:spLocks xmlns:a="http://schemas.openxmlformats.org/drawingml/2006/main" noGrp="1"/>
          </p:cNvSpPr>
          <p:nvPr/>
        </p:nvSpPr>
        <p:spPr>
          <a:xfrm xmlns:a="http://schemas.openxmlformats.org/drawingml/2006/main">
            <a:off x="4270248"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2" name="Shape 10">
            <a:extLst xmlns:a="http://schemas.openxmlformats.org/drawingml/2006/main">
              <a:ext uri="{FF2B5EF4-FFF2-40B4-BE49-F238E27FC236}">
                <a16:creationId xmlns:a16="http://schemas.microsoft.com/office/drawing/2014/main" id="{97968CB7-C473-4469-8188-CC0DC45F1CFF}"/>
              </a:ext>
            </a:extLst>
          </p:cNvPr>
          <p:cNvSpPr>
            <a:spLocks xmlns:a="http://schemas.openxmlformats.org/drawingml/2006/main" noGrp="1"/>
          </p:cNvSpPr>
          <p:nvPr/>
        </p:nvSpPr>
        <p:spPr>
          <a:xfrm xmlns:a="http://schemas.openxmlformats.org/drawingml/2006/main">
            <a:off x="4526280" y="4590288"/>
            <a:ext cx="457200" cy="457200"/>
          </a:xfrm>
          <a:prstGeom xmlns:a="http://schemas.openxmlformats.org/drawingml/2006/main" prst="ellipse">
            <a:avLst/>
          </a:prstGeom>
          <a:solidFill xmlns:a="http://schemas.openxmlformats.org/drawingml/2006/main">
            <a:srgbClr val="27607A"/>
          </a:solidFill>
        </p:spPr>
      </p:sp>
      <p:sp>
        <p:nvSpPr>
          <p:cNvPr id="13" name="Text 11">
            <a:extLst xmlns:a="http://schemas.openxmlformats.org/drawingml/2006/main">
              <a:ext uri="{FF2B5EF4-FFF2-40B4-BE49-F238E27FC236}">
                <a16:creationId xmlns:a16="http://schemas.microsoft.com/office/drawing/2014/main" id="{E738D5F1-754A-40DD-BF90-E7F737ECA795}"/>
              </a:ext>
            </a:extLst>
          </p:cNvPr>
          <p:cNvSpPr>
            <a:spLocks xmlns:a="http://schemas.openxmlformats.org/drawingml/2006/main" noGrp="1"/>
          </p:cNvSpPr>
          <p:nvPr/>
        </p:nvSpPr>
        <p:spPr>
          <a:xfrm xmlns:a="http://schemas.openxmlformats.org/drawingml/2006/main">
            <a:off x="4526280"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2</a:t>
            </a:r>
          </a:p>
        </p:txBody>
      </p:sp>
      <p:sp>
        <p:nvSpPr>
          <p:cNvPr id="14" name="Text 12">
            <a:extLst xmlns:a="http://schemas.openxmlformats.org/drawingml/2006/main">
              <a:ext uri="{FF2B5EF4-FFF2-40B4-BE49-F238E27FC236}">
                <a16:creationId xmlns:a16="http://schemas.microsoft.com/office/drawing/2014/main" id="{D161B8EF-96AD-44B6-8D6E-9752BB0FCFA3}"/>
              </a:ext>
            </a:extLst>
          </p:cNvPr>
          <p:cNvSpPr>
            <a:spLocks xmlns:a="http://schemas.openxmlformats.org/drawingml/2006/main" noGrp="1"/>
          </p:cNvSpPr>
          <p:nvPr/>
        </p:nvSpPr>
        <p:spPr>
          <a:xfrm xmlns:a="http://schemas.openxmlformats.org/drawingml/2006/main">
            <a:off x="5138928"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Writes to the DB less often</a:t>
            </a:r>
          </a:p>
        </p:txBody>
      </p:sp>
      <p:sp>
        <p:nvSpPr>
          <p:cNvPr id="15" name="Text 13">
            <a:extLst xmlns:a="http://schemas.openxmlformats.org/drawingml/2006/main">
              <a:ext uri="{FF2B5EF4-FFF2-40B4-BE49-F238E27FC236}">
                <a16:creationId xmlns:a16="http://schemas.microsoft.com/office/drawing/2014/main" id="{4F3C7EC1-4EDD-403A-A53A-CF85AE4CA7B4}"/>
              </a:ext>
            </a:extLst>
          </p:cNvPr>
          <p:cNvSpPr>
            <a:spLocks xmlns:a="http://schemas.openxmlformats.org/drawingml/2006/main" noGrp="1"/>
          </p:cNvSpPr>
          <p:nvPr/>
        </p:nvSpPr>
        <p:spPr>
          <a:xfrm xmlns:a="http://schemas.openxmlformats.org/drawingml/2006/main">
            <a:off x="4526280"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Fewer autosave revisions during long edits.</a:t>
            </a:r>
          </a:p>
        </p:txBody>
      </p:sp>
      <p:sp>
        <p:nvSpPr>
          <p:cNvPr id="16" name="Shape 14">
            <a:extLst xmlns:a="http://schemas.openxmlformats.org/drawingml/2006/main">
              <a:ext uri="{FF2B5EF4-FFF2-40B4-BE49-F238E27FC236}">
                <a16:creationId xmlns:a16="http://schemas.microsoft.com/office/drawing/2014/main" id="{C32781C0-C463-426A-9B1C-1306D461DAA4}"/>
              </a:ext>
            </a:extLst>
          </p:cNvPr>
          <p:cNvSpPr>
            <a:spLocks xmlns:a="http://schemas.openxmlformats.org/drawingml/2006/main" noGrp="1"/>
          </p:cNvSpPr>
          <p:nvPr/>
        </p:nvSpPr>
        <p:spPr>
          <a:xfrm xmlns:a="http://schemas.openxmlformats.org/drawingml/2006/main">
            <a:off x="7991856"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7" name="Shape 15">
            <a:extLst xmlns:a="http://schemas.openxmlformats.org/drawingml/2006/main">
              <a:ext uri="{FF2B5EF4-FFF2-40B4-BE49-F238E27FC236}">
                <a16:creationId xmlns:a16="http://schemas.microsoft.com/office/drawing/2014/main" id="{72C9C9C7-596C-4E4C-A7B8-E296C7CDEB4D}"/>
              </a:ext>
            </a:extLst>
          </p:cNvPr>
          <p:cNvSpPr>
            <a:spLocks xmlns:a="http://schemas.openxmlformats.org/drawingml/2006/main" noGrp="1"/>
          </p:cNvSpPr>
          <p:nvPr/>
        </p:nvSpPr>
        <p:spPr>
          <a:xfrm xmlns:a="http://schemas.openxmlformats.org/drawingml/2006/main">
            <a:off x="8247888" y="4590288"/>
            <a:ext cx="457200" cy="457200"/>
          </a:xfrm>
          <a:prstGeom xmlns:a="http://schemas.openxmlformats.org/drawingml/2006/main" prst="ellipse">
            <a:avLst/>
          </a:prstGeom>
          <a:solidFill xmlns:a="http://schemas.openxmlformats.org/drawingml/2006/main">
            <a:srgbClr val="27607A"/>
          </a:solidFill>
        </p:spPr>
      </p:sp>
      <p:sp>
        <p:nvSpPr>
          <p:cNvPr id="18" name="Text 16">
            <a:extLst xmlns:a="http://schemas.openxmlformats.org/drawingml/2006/main">
              <a:ext uri="{FF2B5EF4-FFF2-40B4-BE49-F238E27FC236}">
                <a16:creationId xmlns:a16="http://schemas.microsoft.com/office/drawing/2014/main" id="{D590397D-3A1E-488A-9E6E-4EBA5BAB9515}"/>
              </a:ext>
            </a:extLst>
          </p:cNvPr>
          <p:cNvSpPr>
            <a:spLocks xmlns:a="http://schemas.openxmlformats.org/drawingml/2006/main" noGrp="1"/>
          </p:cNvSpPr>
          <p:nvPr/>
        </p:nvSpPr>
        <p:spPr>
          <a:xfrm xmlns:a="http://schemas.openxmlformats.org/drawingml/2006/main">
            <a:off x="8247888"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3</a:t>
            </a:r>
          </a:p>
        </p:txBody>
      </p:sp>
      <p:sp>
        <p:nvSpPr>
          <p:cNvPr id="19" name="Text 17">
            <a:extLst xmlns:a="http://schemas.openxmlformats.org/drawingml/2006/main">
              <a:ext uri="{FF2B5EF4-FFF2-40B4-BE49-F238E27FC236}">
                <a16:creationId xmlns:a16="http://schemas.microsoft.com/office/drawing/2014/main" id="{8DF03D59-979D-42AA-96A3-41FA10E9F0B3}"/>
              </a:ext>
            </a:extLst>
          </p:cNvPr>
          <p:cNvSpPr>
            <a:spLocks xmlns:a="http://schemas.openxmlformats.org/drawingml/2006/main" noGrp="1"/>
          </p:cNvSpPr>
          <p:nvPr/>
        </p:nvSpPr>
        <p:spPr>
          <a:xfrm xmlns:a="http://schemas.openxmlformats.org/drawingml/2006/main">
            <a:off x="8860536"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Keeps revisions in check</a:t>
            </a:r>
          </a:p>
        </p:txBody>
      </p:sp>
      <p:sp>
        <p:nvSpPr>
          <p:cNvPr id="20" name="Text 18">
            <a:extLst xmlns:a="http://schemas.openxmlformats.org/drawingml/2006/main">
              <a:ext uri="{FF2B5EF4-FFF2-40B4-BE49-F238E27FC236}">
                <a16:creationId xmlns:a16="http://schemas.microsoft.com/office/drawing/2014/main" id="{25E9E8C2-0FC8-4EE9-B392-F4F5FA8202AF}"/>
              </a:ext>
            </a:extLst>
          </p:cNvPr>
          <p:cNvSpPr>
            <a:spLocks xmlns:a="http://schemas.openxmlformats.org/drawingml/2006/main" noGrp="1"/>
          </p:cNvSpPr>
          <p:nvPr/>
        </p:nvSpPr>
        <p:spPr>
          <a:xfrm xmlns:a="http://schemas.openxmlformats.org/drawingml/2006/main">
            <a:off x="8247888"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Ten per post instead of unbounded growth.</a:t>
            </a:r>
          </a:p>
        </p:txBody>
      </p:sp>
      <p:sp>
        <p:nvSpPr>
          <p:cNvPr id="21" name="Text 19">
            <a:extLst xmlns:a="http://schemas.openxmlformats.org/drawingml/2006/main">
              <a:ext uri="{FF2B5EF4-FFF2-40B4-BE49-F238E27FC236}">
                <a16:creationId xmlns:a16="http://schemas.microsoft.com/office/drawing/2014/main" id="{91E4D1ED-7FAD-4E6C-B7AB-74E6B451AE4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2" name="Text 20">
            <a:extLst xmlns:a="http://schemas.openxmlformats.org/drawingml/2006/main">
              <a:ext uri="{FF2B5EF4-FFF2-40B4-BE49-F238E27FC236}">
                <a16:creationId xmlns:a16="http://schemas.microsoft.com/office/drawing/2014/main" id="{40A0CDDF-C4E9-4F07-991B-F7F2635F13A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23</a:t>
            </a:r>
          </a:p>
        </p:txBody>
      </p:sp>
    </p:spTree>
    <p:extLst>
      <p:ext uri="{BB962C8B-B14F-4D97-AF65-F5344CB8AC3E}">
        <p14:creationId xmlns:p14="http://schemas.microsoft.com/office/powerpoint/2010/main" val="996112210"/>
      </p:ext>
    </p:extLst>
  </p:cSld>
</p:sld>
</file>

<file path=ppt/slides/slide24.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CEBAD6-846E-466E-A4E6-8FABDF6ED8B9}"/>
              </a:ext>
            </a:extLst>
          </p:cNvPr>
          <p:cNvSpPr>
            <a:spLocks xmlns:a="http://schemas.openxmlformats.org/drawingml/2006/main" noGrp="1"/>
          </p:cNvSpPr>
          <p:nvPr/>
        </p:nvSpPr>
        <p:spPr>
          <a:xfrm xmlns:a="http://schemas.openxmlformats.org/drawingml/2006/main">
            <a:off x="640080" y="5486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Cambria"/>
                <a:ea typeface="Cambria"/>
                <a:cs typeface="Cambria"/>
              </a:rPr>
              <a:t>How the plugin is built</a:t>
            </a:r>
          </a:p>
        </p:txBody>
      </p:sp>
      <p:sp>
        <p:nvSpPr>
          <p:cNvPr id="3" name="Text 1">
            <a:extLst xmlns:a="http://schemas.openxmlformats.org/drawingml/2006/main">
              <a:ext uri="{FF2B5EF4-FFF2-40B4-BE49-F238E27FC236}">
                <a16:creationId xmlns:a16="http://schemas.microsoft.com/office/drawing/2014/main" id="{B766D935-2DD2-44E3-95D6-19B49270C4A2}"/>
              </a:ext>
            </a:extLst>
          </p:cNvPr>
          <p:cNvSpPr>
            <a:spLocks xmlns:a="http://schemas.openxmlformats.org/drawingml/2006/main" noGrp="1"/>
          </p:cNvSpPr>
          <p:nvPr/>
        </p:nvSpPr>
        <p:spPr>
          <a:xfrm xmlns:a="http://schemas.openxmlformats.org/drawingml/2006/main">
            <a:off x="640080" y="1325880"/>
            <a:ext cx="10515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i="1">
                <a:solidFill>
                  <a:srgbClr val="D7E5EC"/>
                </a:solidFill>
                <a:latin typeface="Calibri"/>
                <a:ea typeface="Calibri"/>
                <a:cs typeface="Calibri"/>
              </a:rPr>
              <a:t>One array is the whole map. Read it and you understand the plugin.</a:t>
            </a:r>
          </a:p>
        </p:txBody>
      </p:sp>
      <p:sp>
        <p:nvSpPr>
          <p:cNvPr id="4" name="Shape 2">
            <a:extLst xmlns:a="http://schemas.openxmlformats.org/drawingml/2006/main">
              <a:ext uri="{FF2B5EF4-FFF2-40B4-BE49-F238E27FC236}">
                <a16:creationId xmlns:a16="http://schemas.microsoft.com/office/drawing/2014/main" id="{D2E25746-B7D9-4913-BBD5-33E8EBEB6EBB}"/>
              </a:ext>
            </a:extLst>
          </p:cNvPr>
          <p:cNvSpPr>
            <a:spLocks xmlns:a="http://schemas.openxmlformats.org/drawingml/2006/main" noGrp="1"/>
          </p:cNvSpPr>
          <p:nvPr/>
        </p:nvSpPr>
        <p:spPr>
          <a:xfrm xmlns:a="http://schemas.openxmlformats.org/drawingml/2006/main">
            <a:off x="64008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5" name="Shape 3">
            <a:extLst xmlns:a="http://schemas.openxmlformats.org/drawingml/2006/main">
              <a:ext uri="{FF2B5EF4-FFF2-40B4-BE49-F238E27FC236}">
                <a16:creationId xmlns:a16="http://schemas.microsoft.com/office/drawing/2014/main" id="{FB0E30CD-F8B8-4FD7-8150-5A60EF522024}"/>
              </a:ext>
            </a:extLst>
          </p:cNvPr>
          <p:cNvSpPr>
            <a:spLocks xmlns:a="http://schemas.openxmlformats.org/drawingml/2006/main" noGrp="1"/>
          </p:cNvSpPr>
          <p:nvPr/>
        </p:nvSpPr>
        <p:spPr>
          <a:xfrm xmlns:a="http://schemas.openxmlformats.org/drawingml/2006/main">
            <a:off x="914400" y="2395728"/>
            <a:ext cx="566928" cy="566928"/>
          </a:xfrm>
          <a:prstGeom xmlns:a="http://schemas.openxmlformats.org/drawingml/2006/main" prst="ellipse">
            <a:avLst/>
          </a:prstGeom>
          <a:solidFill xmlns:a="http://schemas.openxmlformats.org/drawingml/2006/main">
            <a:srgbClr val="E0A94B"/>
          </a:solidFill>
        </p:spPr>
      </p:sp>
      <p:sp>
        <p:nvSpPr>
          <p:cNvPr id="6" name="Text 4">
            <a:extLst xmlns:a="http://schemas.openxmlformats.org/drawingml/2006/main">
              <a:ext uri="{FF2B5EF4-FFF2-40B4-BE49-F238E27FC236}">
                <a16:creationId xmlns:a16="http://schemas.microsoft.com/office/drawing/2014/main" id="{877C69EB-89B5-4294-BE2D-13E440BF1397}"/>
              </a:ext>
            </a:extLst>
          </p:cNvPr>
          <p:cNvSpPr>
            <a:spLocks xmlns:a="http://schemas.openxmlformats.org/drawingml/2006/main" noGrp="1"/>
          </p:cNvSpPr>
          <p:nvPr/>
        </p:nvSpPr>
        <p:spPr>
          <a:xfrm xmlns:a="http://schemas.openxmlformats.org/drawingml/2006/main">
            <a:off x="91440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1</a:t>
            </a:r>
          </a:p>
        </p:txBody>
      </p:sp>
      <p:sp>
        <p:nvSpPr>
          <p:cNvPr id="7" name="Text 5">
            <a:extLst xmlns:a="http://schemas.openxmlformats.org/drawingml/2006/main">
              <a:ext uri="{FF2B5EF4-FFF2-40B4-BE49-F238E27FC236}">
                <a16:creationId xmlns:a16="http://schemas.microsoft.com/office/drawing/2014/main" id="{BFF5202E-8F27-4AB3-9FE6-7B28E51787EC}"/>
              </a:ext>
            </a:extLst>
          </p:cNvPr>
          <p:cNvSpPr>
            <a:spLocks xmlns:a="http://schemas.openxmlformats.org/drawingml/2006/main" noGrp="1"/>
          </p:cNvSpPr>
          <p:nvPr/>
        </p:nvSpPr>
        <p:spPr>
          <a:xfrm xmlns:a="http://schemas.openxmlformats.org/drawingml/2006/main">
            <a:off x="164592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schema()</a:t>
            </a:r>
          </a:p>
        </p:txBody>
      </p:sp>
      <p:sp>
        <p:nvSpPr>
          <p:cNvPr id="8" name="Text 6">
            <a:extLst xmlns:a="http://schemas.openxmlformats.org/drawingml/2006/main">
              <a:ext uri="{FF2B5EF4-FFF2-40B4-BE49-F238E27FC236}">
                <a16:creationId xmlns:a16="http://schemas.microsoft.com/office/drawing/2014/main" id="{D97370FF-3A59-465F-856A-F69ACE20A943}"/>
              </a:ext>
            </a:extLst>
          </p:cNvPr>
          <p:cNvSpPr>
            <a:spLocks xmlns:a="http://schemas.openxmlformats.org/drawingml/2006/main" noGrp="1"/>
          </p:cNvSpPr>
          <p:nvPr/>
        </p:nvSpPr>
        <p:spPr>
          <a:xfrm xmlns:a="http://schemas.openxmlformats.org/drawingml/2006/main">
            <a:off x="93268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One array: every setting, its default, type &amp; group. The single source of truth.</a:t>
            </a:r>
          </a:p>
        </p:txBody>
      </p:sp>
      <p:sp>
        <p:nvSpPr>
          <p:cNvPr id="9" name="Text 7">
            <a:extLst xmlns:a="http://schemas.openxmlformats.org/drawingml/2006/main">
              <a:ext uri="{FF2B5EF4-FFF2-40B4-BE49-F238E27FC236}">
                <a16:creationId xmlns:a16="http://schemas.microsoft.com/office/drawing/2014/main" id="{0537471B-D069-4FD3-A01E-EA2D19F38F14}"/>
              </a:ext>
            </a:extLst>
          </p:cNvPr>
          <p:cNvSpPr>
            <a:spLocks xmlns:a="http://schemas.openxmlformats.org/drawingml/2006/main" noGrp="1"/>
          </p:cNvSpPr>
          <p:nvPr/>
        </p:nvSpPr>
        <p:spPr>
          <a:xfrm xmlns:a="http://schemas.openxmlformats.org/drawingml/2006/main">
            <a:off x="4041648" y="2148840"/>
            <a:ext cx="457200" cy="2331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a:solidFill>
                  <a:srgbClr val="E0A94B"/>
                </a:solidFill>
                <a:latin typeface="Calibri"/>
                <a:ea typeface="Calibri"/>
                <a:cs typeface="Calibri"/>
              </a:rPr>
              <a:t>➜</a:t>
            </a:r>
          </a:p>
        </p:txBody>
      </p:sp>
      <p:sp>
        <p:nvSpPr>
          <p:cNvPr id="10" name="Shape 8">
            <a:extLst xmlns:a="http://schemas.openxmlformats.org/drawingml/2006/main">
              <a:ext uri="{FF2B5EF4-FFF2-40B4-BE49-F238E27FC236}">
                <a16:creationId xmlns:a16="http://schemas.microsoft.com/office/drawing/2014/main" id="{39E76548-E0A8-495A-B445-E3345BDA6576}"/>
              </a:ext>
            </a:extLst>
          </p:cNvPr>
          <p:cNvSpPr>
            <a:spLocks xmlns:a="http://schemas.openxmlformats.org/drawingml/2006/main" noGrp="1"/>
          </p:cNvSpPr>
          <p:nvPr/>
        </p:nvSpPr>
        <p:spPr>
          <a:xfrm xmlns:a="http://schemas.openxmlformats.org/drawingml/2006/main">
            <a:off x="438912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11" name="Shape 9">
            <a:extLst xmlns:a="http://schemas.openxmlformats.org/drawingml/2006/main">
              <a:ext uri="{FF2B5EF4-FFF2-40B4-BE49-F238E27FC236}">
                <a16:creationId xmlns:a16="http://schemas.microsoft.com/office/drawing/2014/main" id="{8F7AE804-04A3-41A2-862E-B196E2CD8092}"/>
              </a:ext>
            </a:extLst>
          </p:cNvPr>
          <p:cNvSpPr>
            <a:spLocks xmlns:a="http://schemas.openxmlformats.org/drawingml/2006/main" noGrp="1"/>
          </p:cNvSpPr>
          <p:nvPr/>
        </p:nvSpPr>
        <p:spPr>
          <a:xfrm xmlns:a="http://schemas.openxmlformats.org/drawingml/2006/main">
            <a:off x="4663440" y="2395728"/>
            <a:ext cx="566928" cy="566928"/>
          </a:xfrm>
          <a:prstGeom xmlns:a="http://schemas.openxmlformats.org/drawingml/2006/main" prst="ellipse">
            <a:avLst/>
          </a:prstGeom>
          <a:solidFill xmlns:a="http://schemas.openxmlformats.org/drawingml/2006/main">
            <a:srgbClr val="E0A94B"/>
          </a:solidFill>
        </p:spPr>
      </p:sp>
      <p:sp>
        <p:nvSpPr>
          <p:cNvPr id="12" name="Text 10">
            <a:extLst xmlns:a="http://schemas.openxmlformats.org/drawingml/2006/main">
              <a:ext uri="{FF2B5EF4-FFF2-40B4-BE49-F238E27FC236}">
                <a16:creationId xmlns:a16="http://schemas.microsoft.com/office/drawing/2014/main" id="{440F0D40-36C1-4DA7-ADAC-7BD30626A00B}"/>
              </a:ext>
            </a:extLst>
          </p:cNvPr>
          <p:cNvSpPr>
            <a:spLocks xmlns:a="http://schemas.openxmlformats.org/drawingml/2006/main" noGrp="1"/>
          </p:cNvSpPr>
          <p:nvPr/>
        </p:nvSpPr>
        <p:spPr>
          <a:xfrm xmlns:a="http://schemas.openxmlformats.org/drawingml/2006/main">
            <a:off x="466344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2</a:t>
            </a:r>
          </a:p>
        </p:txBody>
      </p:sp>
      <p:sp>
        <p:nvSpPr>
          <p:cNvPr id="13" name="Text 11">
            <a:extLst xmlns:a="http://schemas.openxmlformats.org/drawingml/2006/main">
              <a:ext uri="{FF2B5EF4-FFF2-40B4-BE49-F238E27FC236}">
                <a16:creationId xmlns:a16="http://schemas.microsoft.com/office/drawing/2014/main" id="{D7352B89-7B76-4124-B156-CA559CB8853F}"/>
              </a:ext>
            </a:extLst>
          </p:cNvPr>
          <p:cNvSpPr>
            <a:spLocks xmlns:a="http://schemas.openxmlformats.org/drawingml/2006/main" noGrp="1"/>
          </p:cNvSpPr>
          <p:nvPr/>
        </p:nvSpPr>
        <p:spPr>
          <a:xfrm xmlns:a="http://schemas.openxmlformats.org/drawingml/2006/main">
            <a:off x="539496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settings page</a:t>
            </a:r>
          </a:p>
        </p:txBody>
      </p:sp>
      <p:sp>
        <p:nvSpPr>
          <p:cNvPr id="14" name="Text 12">
            <a:extLst xmlns:a="http://schemas.openxmlformats.org/drawingml/2006/main">
              <a:ext uri="{FF2B5EF4-FFF2-40B4-BE49-F238E27FC236}">
                <a16:creationId xmlns:a16="http://schemas.microsoft.com/office/drawing/2014/main" id="{C0AEAE2D-D5C3-42E0-AB88-ACCC41E7FC6E}"/>
              </a:ext>
            </a:extLst>
          </p:cNvPr>
          <p:cNvSpPr>
            <a:spLocks xmlns:a="http://schemas.openxmlformats.org/drawingml/2006/main" noGrp="1"/>
          </p:cNvSpPr>
          <p:nvPr/>
        </p:nvSpPr>
        <p:spPr>
          <a:xfrm xmlns:a="http://schemas.openxmlformats.org/drawingml/2006/main">
            <a:off x="468172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Loops the schema to render toggles under Settings → Better by Default.</a:t>
            </a:r>
          </a:p>
        </p:txBody>
      </p:sp>
      <p:sp>
        <p:nvSpPr>
          <p:cNvPr id="15" name="Text 13">
            <a:extLst xmlns:a="http://schemas.openxmlformats.org/drawingml/2006/main">
              <a:ext uri="{FF2B5EF4-FFF2-40B4-BE49-F238E27FC236}">
                <a16:creationId xmlns:a16="http://schemas.microsoft.com/office/drawing/2014/main" id="{88BFE91A-95EF-4BCC-B72F-2B601FFA5A53}"/>
              </a:ext>
            </a:extLst>
          </p:cNvPr>
          <p:cNvSpPr>
            <a:spLocks xmlns:a="http://schemas.openxmlformats.org/drawingml/2006/main" noGrp="1"/>
          </p:cNvSpPr>
          <p:nvPr/>
        </p:nvSpPr>
        <p:spPr>
          <a:xfrm xmlns:a="http://schemas.openxmlformats.org/drawingml/2006/main">
            <a:off x="7790688" y="2148840"/>
            <a:ext cx="457200" cy="2331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a:solidFill>
                  <a:srgbClr val="E0A94B"/>
                </a:solidFill>
                <a:latin typeface="Calibri"/>
                <a:ea typeface="Calibri"/>
                <a:cs typeface="Calibri"/>
              </a:rPr>
              <a:t>➜</a:t>
            </a:r>
          </a:p>
        </p:txBody>
      </p:sp>
      <p:sp>
        <p:nvSpPr>
          <p:cNvPr id="16" name="Shape 14">
            <a:extLst xmlns:a="http://schemas.openxmlformats.org/drawingml/2006/main">
              <a:ext uri="{FF2B5EF4-FFF2-40B4-BE49-F238E27FC236}">
                <a16:creationId xmlns:a16="http://schemas.microsoft.com/office/drawing/2014/main" id="{A9897137-682E-46B4-A390-5FD1C913D980}"/>
              </a:ext>
            </a:extLst>
          </p:cNvPr>
          <p:cNvSpPr>
            <a:spLocks xmlns:a="http://schemas.openxmlformats.org/drawingml/2006/main" noGrp="1"/>
          </p:cNvSpPr>
          <p:nvPr/>
        </p:nvSpPr>
        <p:spPr>
          <a:xfrm xmlns:a="http://schemas.openxmlformats.org/drawingml/2006/main">
            <a:off x="813816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17" name="Shape 15">
            <a:extLst xmlns:a="http://schemas.openxmlformats.org/drawingml/2006/main">
              <a:ext uri="{FF2B5EF4-FFF2-40B4-BE49-F238E27FC236}">
                <a16:creationId xmlns:a16="http://schemas.microsoft.com/office/drawing/2014/main" id="{0AD2BD6C-9084-4EC8-B0FF-6E8F215C419A}"/>
              </a:ext>
            </a:extLst>
          </p:cNvPr>
          <p:cNvSpPr>
            <a:spLocks xmlns:a="http://schemas.openxmlformats.org/drawingml/2006/main" noGrp="1"/>
          </p:cNvSpPr>
          <p:nvPr/>
        </p:nvSpPr>
        <p:spPr>
          <a:xfrm xmlns:a="http://schemas.openxmlformats.org/drawingml/2006/main">
            <a:off x="8412480" y="2395728"/>
            <a:ext cx="566928" cy="566928"/>
          </a:xfrm>
          <a:prstGeom xmlns:a="http://schemas.openxmlformats.org/drawingml/2006/main" prst="ellipse">
            <a:avLst/>
          </a:prstGeom>
          <a:solidFill xmlns:a="http://schemas.openxmlformats.org/drawingml/2006/main">
            <a:srgbClr val="E0A94B"/>
          </a:solidFill>
        </p:spPr>
      </p:sp>
      <p:sp>
        <p:nvSpPr>
          <p:cNvPr id="18" name="Text 16">
            <a:extLst xmlns:a="http://schemas.openxmlformats.org/drawingml/2006/main">
              <a:ext uri="{FF2B5EF4-FFF2-40B4-BE49-F238E27FC236}">
                <a16:creationId xmlns:a16="http://schemas.microsoft.com/office/drawing/2014/main" id="{4717C6EE-A5E3-4A41-AA52-F52794ED9E52}"/>
              </a:ext>
            </a:extLst>
          </p:cNvPr>
          <p:cNvSpPr>
            <a:spLocks xmlns:a="http://schemas.openxmlformats.org/drawingml/2006/main" noGrp="1"/>
          </p:cNvSpPr>
          <p:nvPr/>
        </p:nvSpPr>
        <p:spPr>
          <a:xfrm xmlns:a="http://schemas.openxmlformats.org/drawingml/2006/main">
            <a:off x="841248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3</a:t>
            </a:r>
          </a:p>
        </p:txBody>
      </p:sp>
      <p:sp>
        <p:nvSpPr>
          <p:cNvPr id="19" name="Text 17">
            <a:extLst xmlns:a="http://schemas.openxmlformats.org/drawingml/2006/main">
              <a:ext uri="{FF2B5EF4-FFF2-40B4-BE49-F238E27FC236}">
                <a16:creationId xmlns:a16="http://schemas.microsoft.com/office/drawing/2014/main" id="{221DD884-2DFB-4264-9BDB-A4BEAF9CE188}"/>
              </a:ext>
            </a:extLst>
          </p:cNvPr>
          <p:cNvSpPr>
            <a:spLocks xmlns:a="http://schemas.openxmlformats.org/drawingml/2006/main" noGrp="1"/>
          </p:cNvSpPr>
          <p:nvPr/>
        </p:nvSpPr>
        <p:spPr>
          <a:xfrm xmlns:a="http://schemas.openxmlformats.org/drawingml/2006/main">
            <a:off x="914400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bootstrap()</a:t>
            </a:r>
          </a:p>
        </p:txBody>
      </p:sp>
      <p:sp>
        <p:nvSpPr>
          <p:cNvPr id="20" name="Text 18">
            <a:extLst xmlns:a="http://schemas.openxmlformats.org/drawingml/2006/main">
              <a:ext uri="{FF2B5EF4-FFF2-40B4-BE49-F238E27FC236}">
                <a16:creationId xmlns:a16="http://schemas.microsoft.com/office/drawing/2014/main" id="{52A37A61-A822-443B-A1A2-0B11CDB200C4}"/>
              </a:ext>
            </a:extLst>
          </p:cNvPr>
          <p:cNvSpPr>
            <a:spLocks xmlns:a="http://schemas.openxmlformats.org/drawingml/2006/main" noGrp="1"/>
          </p:cNvSpPr>
          <p:nvPr/>
        </p:nvSpPr>
        <p:spPr>
          <a:xfrm xmlns:a="http://schemas.openxmlformats.org/drawingml/2006/main">
            <a:off x="843076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For each ENABLED key, wires its add_filter / add_action to the right hook.</a:t>
            </a:r>
          </a:p>
        </p:txBody>
      </p:sp>
      <p:sp>
        <p:nvSpPr>
          <p:cNvPr id="21" name="Shape 19">
            <a:extLst xmlns:a="http://schemas.openxmlformats.org/drawingml/2006/main">
              <a:ext uri="{FF2B5EF4-FFF2-40B4-BE49-F238E27FC236}">
                <a16:creationId xmlns:a16="http://schemas.microsoft.com/office/drawing/2014/main" id="{474867C6-0E14-41FC-9526-0B17AD214F45}"/>
              </a:ext>
            </a:extLst>
          </p:cNvPr>
          <p:cNvSpPr>
            <a:spLocks xmlns:a="http://schemas.openxmlformats.org/drawingml/2006/main" noGrp="1"/>
          </p:cNvSpPr>
          <p:nvPr/>
        </p:nvSpPr>
        <p:spPr>
          <a:xfrm xmlns:a="http://schemas.openxmlformats.org/drawingml/2006/main">
            <a:off x="640080" y="4709160"/>
            <a:ext cx="10927080" cy="1234440"/>
          </a:xfrm>
          <a:prstGeom xmlns:a="http://schemas.openxmlformats.org/drawingml/2006/main" prst="roundRect">
            <a:avLst>
              <a:gd name="adj" fmla="val 5926"/>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22" name="Text 20">
            <a:extLst xmlns:a="http://schemas.openxmlformats.org/drawingml/2006/main">
              <a:ext uri="{FF2B5EF4-FFF2-40B4-BE49-F238E27FC236}">
                <a16:creationId xmlns:a16="http://schemas.microsoft.com/office/drawing/2014/main" id="{6FD7D8AB-9484-4C20-8BB1-5740E56301D3}"/>
              </a:ext>
            </a:extLst>
          </p:cNvPr>
          <p:cNvSpPr>
            <a:spLocks xmlns:a="http://schemas.openxmlformats.org/drawingml/2006/main" noGrp="1"/>
          </p:cNvSpPr>
          <p:nvPr/>
        </p:nvSpPr>
        <p:spPr>
          <a:xfrm xmlns:a="http://schemas.openxmlformats.org/drawingml/2006/main">
            <a:off x="841248" y="4873752"/>
            <a:ext cx="10524744" cy="9052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50">
                <a:solidFill>
                  <a:srgbClr val="8FBF9F"/>
                </a:solidFill>
                <a:latin typeface="Courier New"/>
                <a:ea typeface="Courier New"/>
                <a:cs typeface="Courier New"/>
              </a:rPr>
              <a:t>$stored = get_option('wpyeg_better_by_default');   // read once</a:t>
            </a:r>
          </a:p>
          <a:p xmlns:a="http://schemas.openxmlformats.org/drawingml/2006/main">
            <a:pPr marL="0" indent="0" algn="l">
              <a:lnSpc>
                <a:spcPct val="108000"/>
              </a:lnSpc>
              <a:buNone/>
            </a:pPr>
            <a:r>
              <a:rPr sz="1250">
                <a:solidFill>
                  <a:srgbClr val="DCEAF1"/>
                </a:solidFill>
                <a:latin typeface="Courier New"/>
                <a:ea typeface="Courier New"/>
                <a:cs typeface="Courier New"/>
              </a:rPr>
              <a:t>foreach ( wpyeg_defaults_schema() as $key =&gt; $field ) { /* render + wire */ }</a:t>
            </a:r>
          </a:p>
        </p:txBody>
      </p:sp>
    </p:spTree>
    <p:extLst>
      <p:ext uri="{BB962C8B-B14F-4D97-AF65-F5344CB8AC3E}">
        <p14:creationId xmlns:p14="http://schemas.microsoft.com/office/powerpoint/2010/main" val="244236996"/>
      </p:ext>
    </p:extLst>
  </p:cSld>
</p:sld>
</file>

<file path=ppt/slides/slide2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EF3699D-3C00-4982-8F05-F14D1C2494B6}"/>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ellipse">
            <a:avLst/>
          </a:prstGeom>
          <a:solidFill xmlns:a="http://schemas.openxmlformats.org/drawingml/2006/main">
            <a:srgbClr val="E0A94B"/>
          </a:solidFill>
        </p:spPr>
      </p:sp>
      <p:sp>
        <p:nvSpPr>
          <p:cNvPr id="3" name="Text 1">
            <a:extLst xmlns:a="http://schemas.openxmlformats.org/drawingml/2006/main">
              <a:ext uri="{FF2B5EF4-FFF2-40B4-BE49-F238E27FC236}">
                <a16:creationId xmlns:a16="http://schemas.microsoft.com/office/drawing/2014/main" id="{29272718-BC69-415E-AE59-B193601021BE}"/>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a:t>
            </a:r>
          </a:p>
        </p:txBody>
      </p:sp>
      <p:sp>
        <p:nvSpPr>
          <p:cNvPr id="4" name="Text 2">
            <a:extLst xmlns:a="http://schemas.openxmlformats.org/drawingml/2006/main">
              <a:ext uri="{FF2B5EF4-FFF2-40B4-BE49-F238E27FC236}">
                <a16:creationId xmlns:a16="http://schemas.microsoft.com/office/drawing/2014/main" id="{27970E17-4AC7-433A-B60F-B20063DD9E7C}"/>
              </a:ext>
            </a:extLst>
          </p:cNvPr>
          <p:cNvSpPr>
            <a:spLocks xmlns:a="http://schemas.openxmlformats.org/drawingml/2006/main" noGrp="1"/>
          </p:cNvSpPr>
          <p:nvPr/>
        </p:nvSpPr>
        <p:spPr>
          <a:xfrm xmlns:a="http://schemas.openxmlformats.org/drawingml/2006/main">
            <a:off x="1325880" y="502920"/>
            <a:ext cx="10058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Hands-on: install &amp; flip switches</a:t>
            </a:r>
          </a:p>
        </p:txBody>
      </p:sp>
      <p:sp>
        <p:nvSpPr>
          <p:cNvPr id="5" name="Shape 3">
            <a:extLst xmlns:a="http://schemas.openxmlformats.org/drawingml/2006/main">
              <a:ext uri="{FF2B5EF4-FFF2-40B4-BE49-F238E27FC236}">
                <a16:creationId xmlns:a16="http://schemas.microsoft.com/office/drawing/2014/main" id="{7773B76D-986D-47E6-B4FA-4A5E0AD5236B}"/>
              </a:ext>
            </a:extLst>
          </p:cNvPr>
          <p:cNvSpPr>
            <a:spLocks xmlns:a="http://schemas.openxmlformats.org/drawingml/2006/main" noGrp="1"/>
          </p:cNvSpPr>
          <p:nvPr/>
        </p:nvSpPr>
        <p:spPr>
          <a:xfrm xmlns:a="http://schemas.openxmlformats.org/drawingml/2006/main">
            <a:off x="548640" y="1371600"/>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6" name="Shape 4">
            <a:extLst xmlns:a="http://schemas.openxmlformats.org/drawingml/2006/main">
              <a:ext uri="{FF2B5EF4-FFF2-40B4-BE49-F238E27FC236}">
                <a16:creationId xmlns:a16="http://schemas.microsoft.com/office/drawing/2014/main" id="{61F07B8F-84AF-4543-8102-E7A559446342}"/>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ellipse">
            <a:avLst/>
          </a:prstGeom>
          <a:solidFill xmlns:a="http://schemas.openxmlformats.org/drawingml/2006/main">
            <a:srgbClr val="27607A"/>
          </a:solidFill>
        </p:spPr>
      </p:sp>
      <p:sp>
        <p:nvSpPr>
          <p:cNvPr id="7" name="Text 5">
            <a:extLst xmlns:a="http://schemas.openxmlformats.org/drawingml/2006/main">
              <a:ext uri="{FF2B5EF4-FFF2-40B4-BE49-F238E27FC236}">
                <a16:creationId xmlns:a16="http://schemas.microsoft.com/office/drawing/2014/main" id="{1C139F66-2B49-4AFA-98CC-F59EFB98625D}"/>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1</a:t>
            </a:r>
          </a:p>
        </p:txBody>
      </p:sp>
      <p:sp>
        <p:nvSpPr>
          <p:cNvPr id="8" name="Text 6">
            <a:extLst xmlns:a="http://schemas.openxmlformats.org/drawingml/2006/main">
              <a:ext uri="{FF2B5EF4-FFF2-40B4-BE49-F238E27FC236}">
                <a16:creationId xmlns:a16="http://schemas.microsoft.com/office/drawing/2014/main" id="{C1B0CF96-F277-40CE-BE82-FD7ADE57DE36}"/>
              </a:ext>
            </a:extLst>
          </p:cNvPr>
          <p:cNvSpPr>
            <a:spLocks xmlns:a="http://schemas.openxmlformats.org/drawingml/2006/main" noGrp="1"/>
          </p:cNvSpPr>
          <p:nvPr/>
        </p:nvSpPr>
        <p:spPr>
          <a:xfrm xmlns:a="http://schemas.openxmlformats.org/drawingml/2006/main">
            <a:off x="1463040" y="1444752"/>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Upload the plugin</a:t>
            </a:r>
          </a:p>
        </p:txBody>
      </p:sp>
      <p:sp>
        <p:nvSpPr>
          <p:cNvPr id="9" name="Text 7">
            <a:extLst xmlns:a="http://schemas.openxmlformats.org/drawingml/2006/main">
              <a:ext uri="{FF2B5EF4-FFF2-40B4-BE49-F238E27FC236}">
                <a16:creationId xmlns:a16="http://schemas.microsoft.com/office/drawing/2014/main" id="{43BF6C76-F9DC-4328-AEF9-734195C1ADBE}"/>
              </a:ext>
            </a:extLst>
          </p:cNvPr>
          <p:cNvSpPr>
            <a:spLocks xmlns:a="http://schemas.openxmlformats.org/drawingml/2006/main" noGrp="1"/>
          </p:cNvSpPr>
          <p:nvPr/>
        </p:nvSpPr>
        <p:spPr>
          <a:xfrm xmlns:a="http://schemas.openxmlformats.org/drawingml/2006/main">
            <a:off x="4754880" y="1444752"/>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Plugins → Add New → Upload Plugin → choose sane-defaults.zip → Activate.</a:t>
            </a:r>
          </a:p>
        </p:txBody>
      </p:sp>
      <p:sp>
        <p:nvSpPr>
          <p:cNvPr id="10" name="Shape 8">
            <a:extLst xmlns:a="http://schemas.openxmlformats.org/drawingml/2006/main">
              <a:ext uri="{FF2B5EF4-FFF2-40B4-BE49-F238E27FC236}">
                <a16:creationId xmlns:a16="http://schemas.microsoft.com/office/drawing/2014/main" id="{5995FB84-30B3-4A12-B0E6-D57D886C8C96}"/>
              </a:ext>
            </a:extLst>
          </p:cNvPr>
          <p:cNvSpPr>
            <a:spLocks xmlns:a="http://schemas.openxmlformats.org/drawingml/2006/main" noGrp="1"/>
          </p:cNvSpPr>
          <p:nvPr/>
        </p:nvSpPr>
        <p:spPr>
          <a:xfrm xmlns:a="http://schemas.openxmlformats.org/drawingml/2006/main">
            <a:off x="548640" y="2414016"/>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1" name="Shape 9">
            <a:extLst xmlns:a="http://schemas.openxmlformats.org/drawingml/2006/main">
              <a:ext uri="{FF2B5EF4-FFF2-40B4-BE49-F238E27FC236}">
                <a16:creationId xmlns:a16="http://schemas.microsoft.com/office/drawing/2014/main" id="{09F7F160-887A-41EB-B0D3-96F383E3C3C9}"/>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ellipse">
            <a:avLst/>
          </a:prstGeom>
          <a:solidFill xmlns:a="http://schemas.openxmlformats.org/drawingml/2006/main">
            <a:srgbClr val="27607A"/>
          </a:solidFill>
        </p:spPr>
      </p:sp>
      <p:sp>
        <p:nvSpPr>
          <p:cNvPr id="12" name="Text 10">
            <a:extLst xmlns:a="http://schemas.openxmlformats.org/drawingml/2006/main">
              <a:ext uri="{FF2B5EF4-FFF2-40B4-BE49-F238E27FC236}">
                <a16:creationId xmlns:a16="http://schemas.microsoft.com/office/drawing/2014/main" id="{7C9D2580-F53D-4768-B23D-5384D4CF84B3}"/>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2</a:t>
            </a:r>
          </a:p>
        </p:txBody>
      </p:sp>
      <p:sp>
        <p:nvSpPr>
          <p:cNvPr id="13" name="Text 11">
            <a:extLst xmlns:a="http://schemas.openxmlformats.org/drawingml/2006/main">
              <a:ext uri="{FF2B5EF4-FFF2-40B4-BE49-F238E27FC236}">
                <a16:creationId xmlns:a16="http://schemas.microsoft.com/office/drawing/2014/main" id="{751C37CC-1CD8-4963-89E6-06F75B842E14}"/>
              </a:ext>
            </a:extLst>
          </p:cNvPr>
          <p:cNvSpPr>
            <a:spLocks xmlns:a="http://schemas.openxmlformats.org/drawingml/2006/main" noGrp="1"/>
          </p:cNvSpPr>
          <p:nvPr/>
        </p:nvSpPr>
        <p:spPr>
          <a:xfrm xmlns:a="http://schemas.openxmlformats.org/drawingml/2006/main">
            <a:off x="1463040" y="2487168"/>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Open the settings</a:t>
            </a:r>
          </a:p>
        </p:txBody>
      </p:sp>
      <p:sp>
        <p:nvSpPr>
          <p:cNvPr id="14" name="Text 12">
            <a:extLst xmlns:a="http://schemas.openxmlformats.org/drawingml/2006/main">
              <a:ext uri="{FF2B5EF4-FFF2-40B4-BE49-F238E27FC236}">
                <a16:creationId xmlns:a16="http://schemas.microsoft.com/office/drawing/2014/main" id="{4213D4CF-B03D-486D-B6F4-A11F84B1C88A}"/>
              </a:ext>
            </a:extLst>
          </p:cNvPr>
          <p:cNvSpPr>
            <a:spLocks xmlns:a="http://schemas.openxmlformats.org/drawingml/2006/main" noGrp="1"/>
          </p:cNvSpPr>
          <p:nvPr/>
        </p:nvSpPr>
        <p:spPr>
          <a:xfrm xmlns:a="http://schemas.openxmlformats.org/drawingml/2006/main">
            <a:off x="4754880" y="2487168"/>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Settings → Better by Default; every toggle grouped by category.</a:t>
            </a:r>
          </a:p>
        </p:txBody>
      </p:sp>
      <p:sp>
        <p:nvSpPr>
          <p:cNvPr id="15" name="Shape 13">
            <a:extLst xmlns:a="http://schemas.openxmlformats.org/drawingml/2006/main">
              <a:ext uri="{FF2B5EF4-FFF2-40B4-BE49-F238E27FC236}">
                <a16:creationId xmlns:a16="http://schemas.microsoft.com/office/drawing/2014/main" id="{67D73B65-0DD2-4BA7-9B4D-C120A34E1CF4}"/>
              </a:ext>
            </a:extLst>
          </p:cNvPr>
          <p:cNvSpPr>
            <a:spLocks xmlns:a="http://schemas.openxmlformats.org/drawingml/2006/main" noGrp="1"/>
          </p:cNvSpPr>
          <p:nvPr/>
        </p:nvSpPr>
        <p:spPr>
          <a:xfrm xmlns:a="http://schemas.openxmlformats.org/drawingml/2006/main">
            <a:off x="548640" y="3456432"/>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6" name="Shape 14">
            <a:extLst xmlns:a="http://schemas.openxmlformats.org/drawingml/2006/main">
              <a:ext uri="{FF2B5EF4-FFF2-40B4-BE49-F238E27FC236}">
                <a16:creationId xmlns:a16="http://schemas.microsoft.com/office/drawing/2014/main" id="{77880366-08A5-49D3-A728-6F1EE6E7FB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ellipse">
            <a:avLst/>
          </a:prstGeom>
          <a:solidFill xmlns:a="http://schemas.openxmlformats.org/drawingml/2006/main">
            <a:srgbClr val="27607A"/>
          </a:solidFill>
        </p:spPr>
      </p:sp>
      <p:sp>
        <p:nvSpPr>
          <p:cNvPr id="17" name="Text 15">
            <a:extLst xmlns:a="http://schemas.openxmlformats.org/drawingml/2006/main">
              <a:ext uri="{FF2B5EF4-FFF2-40B4-BE49-F238E27FC236}">
                <a16:creationId xmlns:a16="http://schemas.microsoft.com/office/drawing/2014/main" id="{7C2FBD4D-CCA9-41E6-BF18-D49F96EDD3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3</a:t>
            </a:r>
          </a:p>
        </p:txBody>
      </p:sp>
      <p:sp>
        <p:nvSpPr>
          <p:cNvPr id="18" name="Text 16">
            <a:extLst xmlns:a="http://schemas.openxmlformats.org/drawingml/2006/main">
              <a:ext uri="{FF2B5EF4-FFF2-40B4-BE49-F238E27FC236}">
                <a16:creationId xmlns:a16="http://schemas.microsoft.com/office/drawing/2014/main" id="{09BD3A22-4F82-4ED5-886F-E05A055A84B2}"/>
              </a:ext>
            </a:extLst>
          </p:cNvPr>
          <p:cNvSpPr>
            <a:spLocks xmlns:a="http://schemas.openxmlformats.org/drawingml/2006/main" noGrp="1"/>
          </p:cNvSpPr>
          <p:nvPr/>
        </p:nvSpPr>
        <p:spPr>
          <a:xfrm xmlns:a="http://schemas.openxmlformats.org/drawingml/2006/main">
            <a:off x="1463040" y="3529584"/>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Verify a default</a:t>
            </a:r>
          </a:p>
        </p:txBody>
      </p:sp>
      <p:sp>
        <p:nvSpPr>
          <p:cNvPr id="19" name="Text 17">
            <a:extLst xmlns:a="http://schemas.openxmlformats.org/drawingml/2006/main">
              <a:ext uri="{FF2B5EF4-FFF2-40B4-BE49-F238E27FC236}">
                <a16:creationId xmlns:a16="http://schemas.microsoft.com/office/drawing/2014/main" id="{2D0308CF-9B64-467D-A004-C49A658C4D44}"/>
              </a:ext>
            </a:extLst>
          </p:cNvPr>
          <p:cNvSpPr>
            <a:spLocks xmlns:a="http://schemas.openxmlformats.org/drawingml/2006/main" noGrp="1"/>
          </p:cNvSpPr>
          <p:nvPr/>
        </p:nvSpPr>
        <p:spPr>
          <a:xfrm xmlns:a="http://schemas.openxmlformats.org/drawingml/2006/main">
            <a:off x="4754880" y="3529584"/>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Visit /wp-json/wp/v2/users logged out → 401 or empty, not a list of usernames.</a:t>
            </a:r>
          </a:p>
        </p:txBody>
      </p:sp>
      <p:sp>
        <p:nvSpPr>
          <p:cNvPr id="20" name="Shape 18">
            <a:extLst xmlns:a="http://schemas.openxmlformats.org/drawingml/2006/main">
              <a:ext uri="{FF2B5EF4-FFF2-40B4-BE49-F238E27FC236}">
                <a16:creationId xmlns:a16="http://schemas.microsoft.com/office/drawing/2014/main" id="{C95E9FE0-E1D2-4A65-BEEE-8C05D76512CE}"/>
              </a:ext>
            </a:extLst>
          </p:cNvPr>
          <p:cNvSpPr>
            <a:spLocks xmlns:a="http://schemas.openxmlformats.org/drawingml/2006/main" noGrp="1"/>
          </p:cNvSpPr>
          <p:nvPr/>
        </p:nvSpPr>
        <p:spPr>
          <a:xfrm xmlns:a="http://schemas.openxmlformats.org/drawingml/2006/main">
            <a:off x="548640" y="4498848"/>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21" name="Shape 19">
            <a:extLst xmlns:a="http://schemas.openxmlformats.org/drawingml/2006/main">
              <a:ext uri="{FF2B5EF4-FFF2-40B4-BE49-F238E27FC236}">
                <a16:creationId xmlns:a16="http://schemas.microsoft.com/office/drawing/2014/main" id="{49ED081E-30DE-4AD4-87B6-F3933CD585A0}"/>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ellipse">
            <a:avLst/>
          </a:prstGeom>
          <a:solidFill xmlns:a="http://schemas.openxmlformats.org/drawingml/2006/main">
            <a:srgbClr val="27607A"/>
          </a:solidFill>
        </p:spPr>
      </p:sp>
      <p:sp>
        <p:nvSpPr>
          <p:cNvPr id="22" name="Text 20">
            <a:extLst xmlns:a="http://schemas.openxmlformats.org/drawingml/2006/main">
              <a:ext uri="{FF2B5EF4-FFF2-40B4-BE49-F238E27FC236}">
                <a16:creationId xmlns:a16="http://schemas.microsoft.com/office/drawing/2014/main" id="{E29CB19E-7AA2-4E90-AA64-5D4A50D03E52}"/>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4</a:t>
            </a:r>
          </a:p>
        </p:txBody>
      </p:sp>
      <p:sp>
        <p:nvSpPr>
          <p:cNvPr id="23" name="Text 21">
            <a:extLst xmlns:a="http://schemas.openxmlformats.org/drawingml/2006/main">
              <a:ext uri="{FF2B5EF4-FFF2-40B4-BE49-F238E27FC236}">
                <a16:creationId xmlns:a16="http://schemas.microsoft.com/office/drawing/2014/main" id="{6FB2B084-DF69-4F22-BC26-6A1C7B9EAA74}"/>
              </a:ext>
            </a:extLst>
          </p:cNvPr>
          <p:cNvSpPr>
            <a:spLocks xmlns:a="http://schemas.openxmlformats.org/drawingml/2006/main" noGrp="1"/>
          </p:cNvSpPr>
          <p:nvPr/>
        </p:nvSpPr>
        <p:spPr>
          <a:xfrm xmlns:a="http://schemas.openxmlformats.org/drawingml/2006/main">
            <a:off x="1463040" y="4572000"/>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Toggle &amp; re-check</a:t>
            </a:r>
          </a:p>
        </p:txBody>
      </p:sp>
      <p:sp>
        <p:nvSpPr>
          <p:cNvPr id="24" name="Text 22">
            <a:extLst xmlns:a="http://schemas.openxmlformats.org/drawingml/2006/main">
              <a:ext uri="{FF2B5EF4-FFF2-40B4-BE49-F238E27FC236}">
                <a16:creationId xmlns:a16="http://schemas.microsoft.com/office/drawing/2014/main" id="{760B6D70-C486-47BA-8111-CCE2D621335B}"/>
              </a:ext>
            </a:extLst>
          </p:cNvPr>
          <p:cNvSpPr>
            <a:spLocks xmlns:a="http://schemas.openxmlformats.org/drawingml/2006/main" noGrp="1"/>
          </p:cNvSpPr>
          <p:nvPr/>
        </p:nvSpPr>
        <p:spPr>
          <a:xfrm xmlns:a="http://schemas.openxmlformats.org/drawingml/2006/main">
            <a:off x="4754880" y="4572000"/>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Flip a switch off, reload, watch the behavior change.</a:t>
            </a:r>
          </a:p>
        </p:txBody>
      </p:sp>
      <p:sp>
        <p:nvSpPr>
          <p:cNvPr id="25" name="Shape 23">
            <a:extLst xmlns:a="http://schemas.openxmlformats.org/drawingml/2006/main">
              <a:ext uri="{FF2B5EF4-FFF2-40B4-BE49-F238E27FC236}">
                <a16:creationId xmlns:a16="http://schemas.microsoft.com/office/drawing/2014/main" id="{33CAA58D-A27E-4EAB-AB08-E2945DDE1417}"/>
              </a:ext>
            </a:extLst>
          </p:cNvPr>
          <p:cNvSpPr>
            <a:spLocks xmlns:a="http://schemas.openxmlformats.org/drawingml/2006/main" noGrp="1"/>
          </p:cNvSpPr>
          <p:nvPr/>
        </p:nvSpPr>
        <p:spPr>
          <a:xfrm xmlns:a="http://schemas.openxmlformats.org/drawingml/2006/main">
            <a:off x="548640" y="5577840"/>
            <a:ext cx="11064240" cy="658368"/>
          </a:xfrm>
          <a:prstGeom xmlns:a="http://schemas.openxmlformats.org/drawingml/2006/main" prst="roundRect">
            <a:avLst>
              <a:gd name="adj" fmla="val 9722"/>
            </a:avLst>
          </a:prstGeom>
          <a:solidFill xmlns:a="http://schemas.openxmlformats.org/drawingml/2006/main">
            <a:srgbClr val="0E2836"/>
          </a:solidFill>
          <a:ln xmlns:a="http://schemas.openxmlformats.org/drawingml/2006/main" w="12700">
            <a:solidFill>
              <a:srgbClr val="27607A"/>
            </a:solidFill>
            <a:prstDash val="solid"/>
          </a:ln>
        </p:spPr>
      </p:sp>
      <p:sp>
        <p:nvSpPr>
          <p:cNvPr id="26" name="Text 24">
            <a:extLst xmlns:a="http://schemas.openxmlformats.org/drawingml/2006/main">
              <a:ext uri="{FF2B5EF4-FFF2-40B4-BE49-F238E27FC236}">
                <a16:creationId xmlns:a16="http://schemas.microsoft.com/office/drawing/2014/main" id="{210A3E5A-B5EA-44C9-8F14-05B62392F8A8}"/>
              </a:ext>
            </a:extLst>
          </p:cNvPr>
          <p:cNvSpPr>
            <a:spLocks xmlns:a="http://schemas.openxmlformats.org/drawingml/2006/main" noGrp="1"/>
          </p:cNvSpPr>
          <p:nvPr/>
        </p:nvSpPr>
        <p:spPr>
          <a:xfrm xmlns:a="http://schemas.openxmlformats.org/drawingml/2006/main">
            <a:off x="777240" y="5577840"/>
            <a:ext cx="10607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0A94B"/>
                </a:solidFill>
                <a:latin typeface="Courier New"/>
                <a:ea typeface="Courier New"/>
                <a:cs typeface="Courier New"/>
              </a:rPr>
              <a:t>prefer the terminal?   </a:t>
            </a:r>
            <a:r>
              <a:rPr sz="1300">
                <a:solidFill>
                  <a:srgbClr val="E7C070"/>
                </a:solidFill>
                <a:latin typeface="Courier New"/>
                <a:ea typeface="Courier New"/>
                <a:cs typeface="Courier New"/>
              </a:rPr>
              <a:t>wp plugin install ./sane-defaults.zip --activate</a:t>
            </a:r>
          </a:p>
        </p:txBody>
      </p:sp>
      <p:sp>
        <p:nvSpPr>
          <p:cNvPr id="27" name="Text 25">
            <a:extLst xmlns:a="http://schemas.openxmlformats.org/drawingml/2006/main">
              <a:ext uri="{FF2B5EF4-FFF2-40B4-BE49-F238E27FC236}">
                <a16:creationId xmlns:a16="http://schemas.microsoft.com/office/drawing/2014/main" id="{4B7782DF-93A0-41A5-984D-F624C09CA739}"/>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8" name="Text 26">
            <a:extLst xmlns:a="http://schemas.openxmlformats.org/drawingml/2006/main">
              <a:ext uri="{FF2B5EF4-FFF2-40B4-BE49-F238E27FC236}">
                <a16:creationId xmlns:a16="http://schemas.microsoft.com/office/drawing/2014/main" id="{7C490D8B-D3EB-46A1-9BA1-EB6A12BF6CDB}"/>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25</a:t>
            </a:r>
          </a:p>
        </p:txBody>
      </p:sp>
    </p:spTree>
    <p:extLst>
      <p:ext uri="{BB962C8B-B14F-4D97-AF65-F5344CB8AC3E}">
        <p14:creationId xmlns:p14="http://schemas.microsoft.com/office/powerpoint/2010/main" val="2077699739"/>
      </p:ext>
    </p:extLst>
  </p:cSld>
</p:sld>
</file>

<file path=ppt/slides/slide26.xml><?xml version="1.0" encoding="utf-8"?>
<p:sld xmlns:p="http://schemas.openxmlformats.org/presentationml/2006/main">
  <p:cSld>
    <p:bg>
      <p:bgPr>
        <a:solidFill xmlns:a="http://schemas.openxmlformats.org/drawingml/2006/main">
          <a:srgbClr val="27607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E789772-2830-41B9-B6F1-77DB41C553AC}"/>
              </a:ext>
            </a:extLst>
          </p:cNvPr>
          <p:cNvSpPr>
            <a:spLocks xmlns:a="http://schemas.openxmlformats.org/drawingml/2006/main" noGrp="1"/>
          </p:cNvSpPr>
          <p:nvPr/>
        </p:nvSpPr>
        <p:spPr>
          <a:xfrm xmlns:a="http://schemas.openxmlformats.org/drawingml/2006/main">
            <a:off x="731520" y="822960"/>
            <a:ext cx="10058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E0A94B"/>
                </a:solidFill>
                <a:latin typeface="Calibri"/>
                <a:ea typeface="Calibri"/>
                <a:cs typeface="Calibri"/>
              </a:rPr>
              <a:t>Your turn</a:t>
            </a:r>
          </a:p>
        </p:txBody>
      </p:sp>
      <p:sp>
        <p:nvSpPr>
          <p:cNvPr id="3" name="Text 1">
            <a:extLst xmlns:a="http://schemas.openxmlformats.org/drawingml/2006/main">
              <a:ext uri="{FF2B5EF4-FFF2-40B4-BE49-F238E27FC236}">
                <a16:creationId xmlns:a16="http://schemas.microsoft.com/office/drawing/2014/main" id="{5DE06E08-1CA3-4555-B886-36C6CBE54DD3}"/>
              </a:ext>
            </a:extLst>
          </p:cNvPr>
          <p:cNvSpPr>
            <a:spLocks xmlns:a="http://schemas.openxmlformats.org/drawingml/2006/main" noGrp="1"/>
          </p:cNvSpPr>
          <p:nvPr/>
        </p:nvSpPr>
        <p:spPr>
          <a:xfrm xmlns:a="http://schemas.openxmlformats.org/drawingml/2006/main">
            <a:off x="731520" y="1371600"/>
            <a:ext cx="10607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rgbClr val="FFFFFF"/>
                </a:solidFill>
                <a:latin typeface="Cambria"/>
                <a:ea typeface="Cambria"/>
                <a:cs typeface="Cambria"/>
              </a:rPr>
              <a:t>Add one new default to the plugin</a:t>
            </a:r>
          </a:p>
        </p:txBody>
      </p:sp>
      <p:sp>
        <p:nvSpPr>
          <p:cNvPr id="4" name="Text 2">
            <a:extLst xmlns:a="http://schemas.openxmlformats.org/drawingml/2006/main">
              <a:ext uri="{FF2B5EF4-FFF2-40B4-BE49-F238E27FC236}">
                <a16:creationId xmlns:a16="http://schemas.microsoft.com/office/drawing/2014/main" id="{AB07DA65-4AFD-48C0-9E94-DD26FDCE0DFB}"/>
              </a:ext>
            </a:extLst>
          </p:cNvPr>
          <p:cNvSpPr>
            <a:spLocks xmlns:a="http://schemas.openxmlformats.org/drawingml/2006/main" noGrp="1"/>
          </p:cNvSpPr>
          <p:nvPr/>
        </p:nvSpPr>
        <p:spPr>
          <a:xfrm xmlns:a="http://schemas.openxmlformats.org/drawingml/2006/main">
            <a:off x="731520" y="2468880"/>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i="1">
                <a:solidFill>
                  <a:srgbClr val="D7E5EC"/>
                </a:solidFill>
                <a:latin typeface="Calibri"/>
                <a:ea typeface="Calibri"/>
                <a:cs typeface="Calibri"/>
              </a:rPr>
              <a:t>Goal: disable the WordPress dashboard “Welcome” panel. Two small edits — no new settings-page code.</a:t>
            </a:r>
          </a:p>
        </p:txBody>
      </p:sp>
      <p:sp>
        <p:nvSpPr>
          <p:cNvPr id="5" name="Shape 3">
            <a:extLst xmlns:a="http://schemas.openxmlformats.org/drawingml/2006/main">
              <a:ext uri="{FF2B5EF4-FFF2-40B4-BE49-F238E27FC236}">
                <a16:creationId xmlns:a16="http://schemas.microsoft.com/office/drawing/2014/main" id="{3D3E29C6-9C34-44C4-AE7B-3E4854769EEF}"/>
              </a:ext>
            </a:extLst>
          </p:cNvPr>
          <p:cNvSpPr>
            <a:spLocks xmlns:a="http://schemas.openxmlformats.org/drawingml/2006/main" noGrp="1"/>
          </p:cNvSpPr>
          <p:nvPr/>
        </p:nvSpPr>
        <p:spPr>
          <a:xfrm xmlns:a="http://schemas.openxmlformats.org/drawingml/2006/main">
            <a:off x="731520" y="3246120"/>
            <a:ext cx="10698480" cy="2468880"/>
          </a:xfrm>
          <a:prstGeom xmlns:a="http://schemas.openxmlformats.org/drawingml/2006/main" prst="roundRect">
            <a:avLst>
              <a:gd name="adj" fmla="val 2963"/>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6" name="Text 4">
            <a:extLst xmlns:a="http://schemas.openxmlformats.org/drawingml/2006/main">
              <a:ext uri="{FF2B5EF4-FFF2-40B4-BE49-F238E27FC236}">
                <a16:creationId xmlns:a16="http://schemas.microsoft.com/office/drawing/2014/main" id="{54112506-8FD2-482D-8C66-4B123DB65191}"/>
              </a:ext>
            </a:extLst>
          </p:cNvPr>
          <p:cNvSpPr>
            <a:spLocks xmlns:a="http://schemas.openxmlformats.org/drawingml/2006/main" noGrp="1"/>
          </p:cNvSpPr>
          <p:nvPr/>
        </p:nvSpPr>
        <p:spPr>
          <a:xfrm xmlns:a="http://schemas.openxmlformats.org/drawingml/2006/main">
            <a:off x="932688" y="3410712"/>
            <a:ext cx="10296144" cy="21396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300">
                <a:solidFill>
                  <a:srgbClr val="8FBF9F"/>
                </a:solidFill>
                <a:latin typeface="Courier New"/>
                <a:ea typeface="Courier New"/>
                <a:cs typeface="Courier New"/>
              </a:rPr>
              <a:t>// 1) add a schema entry in wpyeg_defaults_schema()</a:t>
            </a:r>
          </a:p>
          <a:p xmlns:a="http://schemas.openxmlformats.org/drawingml/2006/main">
            <a:pPr marL="0" indent="0" algn="l">
              <a:lnSpc>
                <a:spcPct val="108000"/>
              </a:lnSpc>
              <a:buNone/>
            </a:pPr>
            <a:r>
              <a:rPr sz="1300">
                <a:solidFill>
                  <a:srgbClr val="DCEAF1"/>
                </a:solidFill>
                <a:latin typeface="Courier New"/>
                <a:ea typeface="Courier New"/>
                <a:cs typeface="Courier New"/>
              </a:rPr>
              <a:t>'hide_welcome_panel' =&gt; array(</a:t>
            </a:r>
          </a:p>
          <a:p xmlns:a="http://schemas.openxmlformats.org/drawingml/2006/main">
            <a:pPr marL="0" indent="0" algn="l">
              <a:lnSpc>
                <a:spcPct val="108000"/>
              </a:lnSpc>
              <a:buNone/>
            </a:pPr>
            <a:r>
              <a:rPr sz="1300">
                <a:solidFill>
                  <a:srgbClr val="E7C070"/>
                </a:solidFill>
                <a:latin typeface="Courier New"/>
                <a:ea typeface="Courier New"/>
                <a:cs typeface="Courier New"/>
              </a:rPr>
              <a:t>    'default' =&gt; 'yes', 'type' =&gt; 'toggle', 'group' =&gt; 'ux',</a:t>
            </a:r>
          </a:p>
          <a:p xmlns:a="http://schemas.openxmlformats.org/drawingml/2006/main">
            <a:pPr marL="0" indent="0" algn="l">
              <a:lnSpc>
                <a:spcPct val="108000"/>
              </a:lnSpc>
              <a:buNone/>
            </a:pPr>
            <a:r>
              <a:rPr sz="1300">
                <a:solidFill>
                  <a:srgbClr val="DCEAF1"/>
                </a:solidFill>
                <a:latin typeface="Courier New"/>
                <a:ea typeface="Courier New"/>
                <a:cs typeface="Courier New"/>
              </a:rPr>
              <a:t>    'label' =&gt; 'Hide dashboard welcome panel',</a:t>
            </a:r>
          </a:p>
          <a:p xmlns:a="http://schemas.openxmlformats.org/drawingml/2006/main">
            <a:pPr marL="0" indent="0" algn="l">
              <a:lnSpc>
                <a:spcPct val="108000"/>
              </a:lnSpc>
              <a:buNone/>
            </a:pPr>
            <a:r>
              <a:rPr sz="1300">
                <a:solidFill>
                  <a:srgbClr val="DCEAF1"/>
                </a:solidFill>
                <a:latin typeface="Courier New"/>
                <a:ea typeface="Courier New"/>
                <a:cs typeface="Courier New"/>
              </a:rPr>
              <a:t>),</a:t>
            </a:r>
          </a:p>
          <a:p xmlns:a="http://schemas.openxmlformats.org/drawingml/2006/main">
            <a:pPr marL="0" indent="0" algn="l">
              <a:lnSpc>
                <a:spcPct val="108000"/>
              </a:lnSpc>
              <a:buNone/>
            </a:pPr>
            <a:r>
              <a:rPr sz="1300">
                <a:solidFill>
                  <a:srgbClr val="DCEAF1"/>
                </a:solidFill>
                <a:latin typeface="Courier New"/>
                <a:ea typeface="Courier New"/>
                <a:cs typeface="Courier New"/>
              </a:rPr>
              <a:t> </a:t>
            </a:r>
          </a:p>
          <a:p xmlns:a="http://schemas.openxmlformats.org/drawingml/2006/main">
            <a:pPr marL="0" indent="0" algn="l">
              <a:lnSpc>
                <a:spcPct val="108000"/>
              </a:lnSpc>
              <a:buNone/>
            </a:pPr>
            <a:r>
              <a:rPr sz="1300">
                <a:solidFill>
                  <a:srgbClr val="8FBF9F"/>
                </a:solidFill>
                <a:latin typeface="Courier New"/>
                <a:ea typeface="Courier New"/>
                <a:cs typeface="Courier New"/>
              </a:rPr>
              <a:t>// 2) wire it inside wpyeg_defaults_bootstrap()</a:t>
            </a:r>
          </a:p>
          <a:p xmlns:a="http://schemas.openxmlformats.org/drawingml/2006/main">
            <a:pPr marL="0" indent="0" algn="l">
              <a:lnSpc>
                <a:spcPct val="108000"/>
              </a:lnSpc>
              <a:buNone/>
            </a:pPr>
            <a:r>
              <a:rPr sz="1300">
                <a:solidFill>
                  <a:srgbClr val="DCEAF1"/>
                </a:solidFill>
                <a:latin typeface="Courier New"/>
                <a:ea typeface="Courier New"/>
                <a:cs typeface="Courier New"/>
              </a:rPr>
              <a:t>if ( wpyeg_defaults_enabled( 'hide_welcome_panel' ) ) {</a:t>
            </a:r>
          </a:p>
          <a:p xmlns:a="http://schemas.openxmlformats.org/drawingml/2006/main">
            <a:pPr marL="0" indent="0" algn="l">
              <a:lnSpc>
                <a:spcPct val="108000"/>
              </a:lnSpc>
              <a:buNone/>
            </a:pPr>
            <a:r>
              <a:rPr sz="1300">
                <a:solidFill>
                  <a:srgbClr val="E7C070"/>
                </a:solidFill>
                <a:latin typeface="Courier New"/>
                <a:ea typeface="Courier New"/>
                <a:cs typeface="Courier New"/>
              </a:rPr>
              <a:t>    remove_action( 'welcome_panel', 'wp_welcome_panel' );</a:t>
            </a:r>
          </a:p>
          <a:p xmlns:a="http://schemas.openxmlformats.org/drawingml/2006/main">
            <a:pPr marL="0" indent="0" algn="l">
              <a:lnSpc>
                <a:spcPct val="108000"/>
              </a:lnSpc>
              <a:buNone/>
            </a:pPr>
            <a:r>
              <a:rPr sz="1300">
                <a:solidFill>
                  <a:srgbClr val="DCEAF1"/>
                </a:solidFill>
                <a:latin typeface="Courier New"/>
                <a:ea typeface="Courier New"/>
                <a:cs typeface="Courier New"/>
              </a:rPr>
              <a:t>}</a:t>
            </a:r>
          </a:p>
        </p:txBody>
      </p:sp>
    </p:spTree>
    <p:extLst>
      <p:ext uri="{BB962C8B-B14F-4D97-AF65-F5344CB8AC3E}">
        <p14:creationId xmlns:p14="http://schemas.microsoft.com/office/powerpoint/2010/main" val="1232328567"/>
      </p:ext>
    </p:extLst>
  </p:cSld>
</p:sld>
</file>

<file path=ppt/slides/slide2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6FD8B8-5EC0-467C-A8E1-41CBCC5872E5}"/>
              </a:ext>
            </a:extLst>
          </p:cNvPr>
          <p:cNvSpPr>
            <a:spLocks xmlns:a="http://schemas.openxmlformats.org/drawingml/2006/main" noGrp="1"/>
          </p:cNvSpPr>
          <p:nvPr/>
        </p:nvSpPr>
        <p:spPr>
          <a:xfrm xmlns:a="http://schemas.openxmlformats.org/drawingml/2006/main">
            <a:off x="548640" y="411480"/>
            <a:ext cx="10972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The cheat sheet — defaults that ship ON</a:t>
            </a:r>
          </a:p>
        </p:txBody>
      </p:sp>
      <p:sp>
        <p:nvSpPr>
          <p:cNvPr id="3" name="Text 1">
            <a:extLst xmlns:a="http://schemas.openxmlformats.org/drawingml/2006/main">
              <a:ext uri="{FF2B5EF4-FFF2-40B4-BE49-F238E27FC236}">
                <a16:creationId xmlns:a16="http://schemas.microsoft.com/office/drawing/2014/main" id="{7C8F1493-9316-41EA-B78B-DBFBCE1BCAB6}"/>
              </a:ext>
            </a:extLst>
          </p:cNvPr>
          <p:cNvSpPr>
            <a:spLocks xmlns:a="http://schemas.openxmlformats.org/drawingml/2006/main" noGrp="1"/>
          </p:cNvSpPr>
          <p:nvPr/>
        </p:nvSpPr>
        <p:spPr>
          <a:xfrm xmlns:a="http://schemas.openxmlformats.org/drawingml/2006/main">
            <a:off x="548640" y="1097280"/>
            <a:ext cx="10972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3E7E9C"/>
                </a:solidFill>
                <a:latin typeface="Calibri"/>
                <a:ea typeface="Calibri"/>
                <a:cs typeface="Calibri"/>
              </a:rPr>
              <a:t>Everything on-by-default in one view, mapped to the core hook.</a:t>
            </a:r>
          </a:p>
        </p:txBody>
      </p:sp>
      <p:graphicFrame>
        <p:nvGraphicFramePr>
          <p:cNvPr id="10" name="Table 0"/>
          <p:cNvGraphicFramePr/>
          <p:nvPr/>
        </p:nvGraphicFramePr>
        <p:xfrm>
          <a:off xmlns:a="http://schemas.openxmlformats.org/drawingml/2006/main" x="548640" y="1508760"/>
          <a:ext xmlns:a="http://schemas.openxmlformats.org/drawingml/2006/main" cx="11064240" cy="914400"/>
        </p:xfrm>
        <a:graphic xmlns:a="http://schemas.openxmlformats.org/drawingml/2006/main">
          <a:graphicData uri="http://schemas.openxmlformats.org/drawingml/2006/table">
            <a:tbl>
              <a:tblPr/>
              <a:tblGrid>
                <a:gridCol w="4572000"/>
                <a:gridCol w="4480560"/>
                <a:gridCol w="2011680"/>
              </a:tblGrid>
              <a:tr h="402336">
                <a:tc>
                  <a:txBody>
                    <a:bodyPr/>
                    <a:lstStyle/>
                    <a:p>
                      <a:pPr marL="0" indent="0" algn="l">
                        <a:buNone/>
                      </a:pPr>
                      <a:r>
                        <a:rPr sz="1300" b="1">
                          <a:solidFill>
                            <a:srgbClr val="FFFFFF"/>
                          </a:solidFill>
                          <a:latin typeface="Calibri"/>
                          <a:ea typeface="Calibri"/>
                          <a:cs typeface="Calibri"/>
                        </a:rPr>
                        <a:t>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200" b="1">
                          <a:solidFill>
                            <a:srgbClr val="FFFFFF"/>
                          </a:solidFill>
                          <a:latin typeface="Courier New"/>
                          <a:ea typeface="Courier New"/>
                          <a:cs typeface="Courier New"/>
                        </a:rPr>
                        <a:t>Core hook</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300" b="1">
                          <a:solidFill>
                            <a:srgbClr val="FFFFFF"/>
                          </a:solidFill>
                          <a:latin typeface="Calibri"/>
                          <a:ea typeface="Calibri"/>
                          <a:cs typeface="Calibri"/>
                        </a:rPr>
                        <a:t>Category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r>
              <a:tr h="402336">
                <a:tc>
                  <a:txBody>
                    <a:bodyPr/>
                    <a:lstStyle/>
                    <a:p>
                      <a:pPr marL="0" indent="0" algn="l">
                        <a:buNone/>
                      </a:pPr>
                      <a:r>
                        <a:rPr sz="1250">
                          <a:solidFill>
                            <a:srgbClr val="0F2733"/>
                          </a:solidFill>
                          <a:latin typeface="Calibri"/>
                          <a:ea typeface="Calibri"/>
                          <a:cs typeface="Calibri"/>
                        </a:rPr>
                        <a:t>Restrict REST user discovery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rest_endpoints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Security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Lock down XML-RPC by category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xmlrpc_methods / wp_xmlrpc_server_class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Security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Require strong passwords (15+ / breach-screened)</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user_profile_update_errors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Security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Send baseline security 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wp_headers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Security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Disable comments &amp; pingbacks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comments_open / pings_open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Content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Redirect author + attachment pages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template_redirect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Content / SEO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Disable emoji script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init (remove_action)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Performance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Auto-update core security/maintenance releases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allow_minor_auto_core_updates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Updates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bl>
          </a:graphicData>
        </a:graphic>
      </p:graphicFrame>
      <p:sp>
        <p:nvSpPr>
          <p:cNvPr id="5" name="Text 2">
            <a:extLst xmlns:a="http://schemas.openxmlformats.org/drawingml/2006/main">
              <a:ext uri="{FF2B5EF4-FFF2-40B4-BE49-F238E27FC236}">
                <a16:creationId xmlns:a16="http://schemas.microsoft.com/office/drawing/2014/main" id="{8942035D-1812-438D-B51E-FD5D056C5B1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6" name="Text 3">
            <a:extLst xmlns:a="http://schemas.openxmlformats.org/drawingml/2006/main">
              <a:ext uri="{FF2B5EF4-FFF2-40B4-BE49-F238E27FC236}">
                <a16:creationId xmlns:a16="http://schemas.microsoft.com/office/drawing/2014/main" id="{A340C09C-C3A4-4FB8-B9D0-9FFE80013E0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27</a:t>
            </a:r>
          </a:p>
        </p:txBody>
      </p:sp>
    </p:spTree>
    <p:extLst>
      <p:ext uri="{BB962C8B-B14F-4D97-AF65-F5344CB8AC3E}">
        <p14:creationId xmlns:p14="http://schemas.microsoft.com/office/powerpoint/2010/main" val="547410723"/>
      </p:ext>
    </p:extLst>
  </p:cSld>
</p:sld>
</file>

<file path=ppt/slides/slide28.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6B40EE4-DE58-4AD0-9916-2117014E6E22}"/>
              </a:ext>
            </a:extLst>
          </p:cNvPr>
          <p:cNvSpPr>
            <a:spLocks xmlns:a="http://schemas.openxmlformats.org/drawingml/2006/main" noGrp="1"/>
          </p:cNvSpPr>
          <p:nvPr/>
        </p:nvSpPr>
        <p:spPr>
          <a:xfrm xmlns:a="http://schemas.openxmlformats.org/drawingml/2006/main">
            <a:off x="0" y="5212080"/>
            <a:ext cx="12188952" cy="164592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0695B20-5C73-442A-ABA7-3266D214BEDB}"/>
              </a:ext>
            </a:extLst>
          </p:cNvPr>
          <p:cNvSpPr>
            <a:spLocks xmlns:a="http://schemas.openxmlformats.org/drawingml/2006/main" noGrp="1"/>
          </p:cNvSpPr>
          <p:nvPr/>
        </p:nvSpPr>
        <p:spPr>
          <a:xfrm xmlns:a="http://schemas.openxmlformats.org/drawingml/2006/main">
            <a:off x="777240" y="777240"/>
            <a:ext cx="640080" cy="6400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21C676A7-6454-4630-8B28-757E1EF2D30A}"/>
              </a:ext>
            </a:extLst>
          </p:cNvPr>
          <p:cNvSpPr>
            <a:spLocks xmlns:a="http://schemas.openxmlformats.org/drawingml/2006/main" noGrp="1"/>
          </p:cNvSpPr>
          <p:nvPr/>
        </p:nvSpPr>
        <p:spPr>
          <a:xfrm xmlns:a="http://schemas.openxmlformats.org/drawingml/2006/main">
            <a:off x="777240" y="77724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 }</a:t>
            </a:r>
          </a:p>
        </p:txBody>
      </p:sp>
      <p:sp>
        <p:nvSpPr>
          <p:cNvPr id="5" name="Text 3">
            <a:extLst xmlns:a="http://schemas.openxmlformats.org/drawingml/2006/main">
              <a:ext uri="{FF2B5EF4-FFF2-40B4-BE49-F238E27FC236}">
                <a16:creationId xmlns:a16="http://schemas.microsoft.com/office/drawing/2014/main" id="{812DDA1B-0137-4857-A775-E49823FCBD47}"/>
              </a:ext>
            </a:extLst>
          </p:cNvPr>
          <p:cNvSpPr>
            <a:spLocks xmlns:a="http://schemas.openxmlformats.org/drawingml/2006/main" noGrp="1"/>
          </p:cNvSpPr>
          <p:nvPr/>
        </p:nvSpPr>
        <p:spPr>
          <a:xfrm xmlns:a="http://schemas.openxmlformats.org/drawingml/2006/main">
            <a:off x="777240" y="1737360"/>
            <a:ext cx="106070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FFFFFF"/>
                </a:solidFill>
                <a:latin typeface="Cambria"/>
                <a:ea typeface="Cambria"/>
                <a:cs typeface="Cambria"/>
              </a:rPr>
              <a:t>Thanks, WPYEG!</a:t>
            </a:r>
          </a:p>
        </p:txBody>
      </p:sp>
      <p:sp>
        <p:nvSpPr>
          <p:cNvPr id="6" name="Text 4">
            <a:extLst xmlns:a="http://schemas.openxmlformats.org/drawingml/2006/main">
              <a:ext uri="{FF2B5EF4-FFF2-40B4-BE49-F238E27FC236}">
                <a16:creationId xmlns:a16="http://schemas.microsoft.com/office/drawing/2014/main" id="{3168BC04-3954-47CC-B82F-9E5F8E246364}"/>
              </a:ext>
            </a:extLst>
          </p:cNvPr>
          <p:cNvSpPr>
            <a:spLocks xmlns:a="http://schemas.openxmlformats.org/drawingml/2006/main" noGrp="1"/>
          </p:cNvSpPr>
          <p:nvPr/>
        </p:nvSpPr>
        <p:spPr>
          <a:xfrm xmlns:a="http://schemas.openxmlformats.org/drawingml/2006/main">
            <a:off x="822960" y="2926080"/>
            <a:ext cx="100584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Set your defaults wisely.</a:t>
            </a:r>
          </a:p>
        </p:txBody>
      </p:sp>
      <p:sp>
        <p:nvSpPr>
          <p:cNvPr id="7" name="Text 5">
            <a:extLst xmlns:a="http://schemas.openxmlformats.org/drawingml/2006/main">
              <a:ext uri="{FF2B5EF4-FFF2-40B4-BE49-F238E27FC236}">
                <a16:creationId xmlns:a16="http://schemas.microsoft.com/office/drawing/2014/main" id="{79AA2872-7BB7-40B3-B0CF-473E1FBE2BA2}"/>
              </a:ext>
            </a:extLst>
          </p:cNvPr>
          <p:cNvSpPr>
            <a:spLocks xmlns:a="http://schemas.openxmlformats.org/drawingml/2006/main" noGrp="1"/>
          </p:cNvSpPr>
          <p:nvPr/>
        </p:nvSpPr>
        <p:spPr>
          <a:xfrm xmlns:a="http://schemas.openxmlformats.org/drawingml/2006/main">
            <a:off x="822960" y="4023360"/>
            <a:ext cx="10515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E0A94B"/>
                </a:solidFill>
                <a:latin typeface="Courier New"/>
                <a:ea typeface="Courier New"/>
                <a:cs typeface="Courier New"/>
              </a:rPr>
              <a:t>Files:  </a:t>
            </a:r>
            <a:r>
              <a:rPr sz="1400">
                <a:solidFill>
                  <a:srgbClr val="D7E5EC"/>
                </a:solidFill>
                <a:latin typeface="Courier New"/>
                <a:ea typeface="Courier New"/>
                <a:cs typeface="Courier New"/>
              </a:rPr>
              <a:t>sane-defaults.zip</a:t>
            </a:r>
            <a:r>
              <a:rPr sz="1400">
                <a:solidFill>
                  <a:srgbClr val="8A9AA3"/>
                </a:solidFill>
                <a:latin typeface="Courier New"/>
                <a:ea typeface="Courier New"/>
                <a:cs typeface="Courier New"/>
              </a:rPr>
              <a:t>   ·   </a:t>
            </a:r>
            <a:r>
              <a:rPr sz="1400">
                <a:solidFill>
                  <a:srgbClr val="D7E5EC"/>
                </a:solidFill>
                <a:latin typeface="Courier New"/>
                <a:ea typeface="Courier New"/>
                <a:cs typeface="Courier New"/>
              </a:rPr>
              <a:t>wordpress-default-settings.md</a:t>
            </a:r>
          </a:p>
        </p:txBody>
      </p:sp>
      <p:sp>
        <p:nvSpPr>
          <p:cNvPr id="8" name="Text 6">
            <a:extLst xmlns:a="http://schemas.openxmlformats.org/drawingml/2006/main">
              <a:ext uri="{FF2B5EF4-FFF2-40B4-BE49-F238E27FC236}">
                <a16:creationId xmlns:a16="http://schemas.microsoft.com/office/drawing/2014/main" id="{3E8817C5-4C0B-445A-A3F6-BC2D7B17DD37}"/>
              </a:ext>
            </a:extLst>
          </p:cNvPr>
          <p:cNvSpPr>
            <a:spLocks xmlns:a="http://schemas.openxmlformats.org/drawingml/2006/main" noGrp="1"/>
          </p:cNvSpPr>
          <p:nvPr/>
        </p:nvSpPr>
        <p:spPr>
          <a:xfrm xmlns:a="http://schemas.openxmlformats.org/drawingml/2006/main">
            <a:off x="822960" y="5623560"/>
            <a:ext cx="10515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FFFFF"/>
                </a:solidFill>
                <a:latin typeface="Calibri"/>
                <a:ea typeface="Calibri"/>
                <a:cs typeface="Calibri"/>
              </a:rPr>
              <a:t>Questions?  </a:t>
            </a:r>
            <a:r>
              <a:rPr sz="1600">
                <a:solidFill>
                  <a:srgbClr val="D7E5EC"/>
                </a:solidFill>
                <a:latin typeface="Calibri"/>
                <a:ea typeface="Calibri"/>
                <a:cs typeface="Calibri"/>
              </a:rPr>
              <a:t>License GPL-3.0-or-later</a:t>
            </a:r>
          </a:p>
        </p:txBody>
      </p:sp>
    </p:spTree>
    <p:extLst>
      <p:ext uri="{BB962C8B-B14F-4D97-AF65-F5344CB8AC3E}">
        <p14:creationId xmlns:p14="http://schemas.microsoft.com/office/powerpoint/2010/main" val="82956894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2026-07-21T13:01:59.3370000Z</dcterms:created>
  <dcterms:modified xsi:type="dcterms:W3CDTF">2026-07-21T13:01:59.3380000Z</dcterms:modified>
</coreProperties>
</file>