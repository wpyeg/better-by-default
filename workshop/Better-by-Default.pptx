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32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32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debugging model, not a universal 'last plugin wins' rule. Constants cannot be redefined; filters pass a value through every callback; actions may accumulate effects. wp-config.php is loaded before plugins. Must-use plugins load before normal plugins. Normal plugins are included in the stored active_plugins order — PMP before BBD on this demo site. Within a hook, lower priorities run earlier, higher priorities later, and equal priorities retain registration order. Sources: https://developer.wordpress.org/advanced-administration/plugins/mu-plugins/ ; https://developer.wordpress.org/plugins/hooks/actions/#priority ; https://developer.wordpress.org/reference/functions/wp_get_active_and_valid_plugins/ ; https://developer.wordpress.org/advanced-administration/wordpress/wp-config/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more quickly through updates, admin UX, login, branding, performance and email — all eight, and we end with a plugin that covers them all.
Count the cards against the sections as we go. This deck promised eight categories and presented seven for weeks: updates was on this slide, in the schema, and in the shipped plugin, and had no slide of its own. Nobody noticed, because every artifact was internally consistent about it — the gap only existed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 you're logged in there, and the editor authenticates with your cookie plus a REST nonce, so it sails through. That's why it ships off: not every default should default to on.
Two details on this slide are the whole lesson, and both are things the obvious implementation gets wrong.
First: only a WP_Error may short-circuit. The tempting line is `if ( ! empty( $result ) ) return $result;` — and core hands this filter `true` from rest_cookie_check_errors() AFTER calling wp_set_current_user( 0 ), when a cookie arrives with no X-WP-Nonce. Treat that `true` as "already authenticated" and you have written a gate that waves through the exact request it exists to stop, dispatching as user 0. This deck taught the `! empty()` version until we tested it.
Second: oEmbed. It is served over REST, so closing REST closes it too — and the damage lands somewhere you never look. Every site that has embedded one of your posts silently degrades to a bare link, with nothing on your site to show it happened. We measured four popular plugins that close REST outright; not one of them allowlists oembed/1.0. So we allowlist it, filterable with wpyeg_public_rest_routes.
And the carve-out is only safe because of what sits behind it: oEmbed returns author_name and an author_url carrying the account nicename, so opening that route would hand an anonymous caller the usernames the users-endpoint removal just refused them. Closing REST therefore strips those fields too. A hole you open on purpose still has to be closed on the other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*and* pingback.extensions.getPingbacks, the clearest live nuisance and reflection-DDoS surface. A valid call performs database work, waits a second (core really does sleep( 1 ), to let the pinging post finish publishing), and then fetches the claimed source URL — which is the whole trick: a request that costs the attacker nothing costs you a database write, a pause and an outbound fetch to a URL they chose. BBD also strips the X-Pingback response header, because a site that has removed the method while still advertising where to send one is still telling every scanner it accepts pingbacks.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prevented it from being used as a password-guessing multiplier,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
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
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
AND YOU CAN SWITCH IT OFF — WPYEG_DISABLE_HIBP in wp-config.php, or the wpyeg_disable_hibp filter for a per-password decision. This is the only thing the whole plugin does that leaves your server, and everything on this slide is an argument that it is safe to do: hashed locally, five characters sent, padded response, nothing recoverable. All true, and none of it is an answer to "may I decline." Someone under a data-protection regime, on an air-gapped network, or just unwilling to make an outbound call on every password change does not owe anyone a justification. Which is the whole talk, pointed back at us: a default you cannot turn off is not a default, it is a requirement wearing a default's clothes. Every other setting here has a toggle. This one is the test of whether we meant it.
Sources: HIBP API v3, Pwned Passwords — Searching by hash range using k-anonymity and Introducing padding: https://haveibeenpwned.com/API/v3#SearchingPwnedPasswordsByRange ; NIST SP 800-63B-4 § 3.1.1.2, Password Verifiers: https://pages.nist.gov/800-63-4/sp800-63b/authenticators/#passwordver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(frame_options, default SAMEORIGIN), and that split is the point worth teaching. It is the only one of the three that can break a working site: blocking cross-origin framing also blocks legitimate embedding — an intranet dashboard, a screenshot or visual-review service, a kiosk or signage screen — and it fails as a silent blank frame, which is miserable to debug. Bundled with the other two, a site that needs to be embeddable would have to give up nosniff as well.
Note HOW they are applied, too, because this changed in 1.1.1. The original rule was "set only if unset", which sounds polite and is wrong: whatever arrived first won, so a host's permissive X-Frame-Options silently beat a deliberately configured DENY. The values are compared now, and the configured one replaces what is there only when it is strictly stronger — an unrecognised value, a deprecated ALLOW-FROM say, is left alone rather than guessed at. X-Content-Type-Options has exactly one effective value, so an existing header saying anything else is not a policy to respect, it is a header doing nothing; it gets corrected in place. And names are matched case-insensitively, because HTTP says header names are and PHP array keys say they are not — that mismatch used to make another plugin's x-content-type-options invisible here and add a second, conflicting line. Referrer-Policy still defers to whatever is already set: its tokens have no single strictness axis, so there is nothing to compare.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Editors hold unfiltered_html on a single-site install. That is enough to save a raw &lt;script&gt; into a post — not a vulnerability, a CAPABILITY, and one most sites never consciously granted. This takes it back to administrators, plus Super Admins on multisite.
THE LESSON HERE IS THE TRAP, NOT THE POLICY. user_has_cap fires on every capability check there is. So a filter hooked to it that ASKS a capability question calls itself, and calls itself again, until the stack blows. current_user_can( 'manage_options' ) inside this callback is infinite recursion. So is is_super_admin() on single site, which is the one that catches people — it calls has_cap( 'delete_users' ), straight back in here. On multisite it reads the network list instead and is safe, which is exactly why the real code guards it with is_multisite().
The fix is not cleverness, it is discipline: DECIDE FROM WHAT YOU WERE HANDED. $user-&gt;roles is already on the object. $allcaps['manage_options'] is already resolved — it was computed before your filter ran. Read those. Never ask.
One more detail worth stealing: the priority is PHP_INT_MAX - 1, so this has close to the final say over other user_has_cap filters — a plugin that grants the capability back later in the chain would otherwise quietly win. Not PHP_INT_MAX itself, which leaves a slot for something that genuinely must run last.
Put this beside the comment-feed 404 and you have the pattern's two failure modes. There, a filter that looked complete and was not. Here, a filter that can destroy itself by asking an innocent question. Both of them pass every test you would think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category on the agenda that is a SELECT rather than a switch, and that is the lesson.
Core already installs maintenance and security releases on its own. So a toggle would be the wrong shape: the real choice is four-way — maintenance only, every stable release, none, or leave it alone. Squashing that into on/off would have forced us to pick a meaning for 'off' that half the audience would read the other way.
Core asks TWO questions, not one — allow_minor_auto_core_updates and allow_major_auto_core_updates — and one setting answers both. 'minor' says yes to the first and no to the second. 'all' says yes to both. 'manual' says no twice.
The interesting branch is 'inherit'. It returns the value core handed us, unchanged. A setting whose job is to have no opinion looks like a wasted option until you remember who else is in the room: managed hosts set an update policy for you, and so do other plugins. Without 'inherit' this plugin would silently overrule a host that had already made a considered decision — the same fight the session-length slide walks away from, for the same reason. Registering a filter is a claim that you know better than whoever else registered one.
And the reason this belongs at the END of the security section rather than in a corner labelled housekeeping: every other default in Section One removes something an attacker can reach. This one keeps the thing patched. Reducing surface and applying patches are the same job from two directions, and a site that does the first while quietly falling behind on the second is not actually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
Closing comments is four jobs, not one: the template, the data, the editor, and the page. comments_open and comments_array answer the theme's comment template. comments_pre_query answers everything else — /wp/v2/comments most of all, which otherwise serves every comment the site has ever had. allowed_block_types_all takes the comment blocks out of the inserter, but the inserter only decides what an editor can add NEXT, and a block theme has already put those blocks in its post template. That markup needs render_block to return an empty string, or every post prints a "Comments" heading over an empty wrapper and the site reads as broken rather than as one that deliberately has no comments. get_comments_number is the same gap one layer down: wp_count_comments() answers zero once the query filter is in place, but the theme's heading reads the post's cached comment_count and cheerfully prints "1 Comment" above a thread that renders nothing.
Returning an empty string rather than unregistering the block types is what keeps this reversible. The blocks stay registered, the theme's markup stays as its author wrote it, and turning the setting off brings the whole thing back with nothing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Dropping the &lt;link rel="alternate"&gt; stops the feed being advertised; it does not stop it being served. /comments/feed/ and &lt;post&gt;/feed/ keep answering 200 to anyone who types the URL, and a crawler that saw one once keeps asking. With comment queries already emptied, they answer 200 with nothing — a live, crawlable endpoint whose only purpose is to say nothing. That is the worst of both.
set_404() re-runs init_query_flags(), which clears is_feed() along with everything else, so the template loader stops routing to do_feed() and renders the theme's 404 instead. That is why is_comment_feed() has to be tested FIRST: a moment later there is nothing left to test.
And redirect_canonical has to go with it — this is the part worth remembering. It does not bail on a 404. It calls redirect_guess_404_permalink(), and against the query we have just emptied it answers /post-name/feed/ with a 301 to /post-name/feed/feed/. Leaving it hooked turns a clean 404 into a redirect to a URL that has never existed, which is worse than the bug we set out to fix.
EVERY FILTER-LEVEL TEST STILL PASSES. ONLY A REAL REQUEST CATCHES IT. That is the honest limit of the pattern this whole talk is built on: a filter behind a toggle is a claim about one hook, and what a visitor actually gets is the sum of all of them. The recursion trap in limit_unfiltered_html_to_admins is the same lesson from the other direction — a user_has_cap filter that asks a capability question calls itself, so it has to decide from $user-&gt;roles and the already-resolved $allcaps and never ask. Test the request, not just the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login lasts 2 days; ticking "Remember Me" extends it to 14. Both lengths are in days, and the remembered one can never be shorter than the regular one. Shorten either, or hide the "Remember Me" checkbox entirely so every login uses the regular length. (Good idea for shared machines.) DAY_IN_SECONDS is one of core's time constants, so you never do the math. — Now the two lines that are not about session length, because they are the most portable thing in this deck. This callback ignores the $exp it was handed and returns its own number. A filter that ADDS TO its input composes: several plugins can each contribute a header to wp_headers and all of them survive. A filter that REPLACES its input does not. WordPress runs all of them and keeps whichever answered last, the others do nothing at all, and every losing plugin's settings screen goes on displaying a number the site is not using. No error, nothing logged, nothing on Site Health. Nothing in the API tells you which kind you are writing — both are add_filter(). The difference is entirely in what your callback does with the argument it was given, and it decides whether your plugin can coexist with another one or silently fights it. You cannot make a number filter additive. What you can do is decline the fights you have no stake in: our defaults ARE WordPress's own 2 and 14, so on a site that has not changed them we would be registering only to assert the answer core already gives. Hence the if. And the callback has a name rather than being anonymous, because $wp_filter can only report a callback that has one — an anonymous one shows up as 'closure' in exactly the diagnostic you would run to find out who won. Then there is the 50, which is the half everyone forgets. Declining a fight worth nothing only helps if you win the one worth something, and on a replacing filter the LAST callback to run is the one that counts. Register at the default 10 and you are not being polite, you are queueing up behind every plugin that never thought about priority at all — so a session length somebody set on purpose gets decided by load order. This plugin shipped at 10 in every release before 1.2.2 and lost to both its siblings on any site running two of them. Fifty is late enough to be the last word and low enough that a site wanting the final say can still take it deliberately. The question to ask of any filter callback you write: if a second plugin did exactly this, would both still work? If not, you are setting policy, and only one plugin on the site can win — so decide both whether to enter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brand the login screen, throttle one polling API, and end on the only default in the plugin that changes nothing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sends mail from wordpress@yourdomain unless something changes it. On a domain that cannot actually send — a staging host, a .local address, a domain with no mail records — password resets and order receipts FAIL SILENTLY. wp_mail() returns false and nothing surfaces it. Nobody finds out until a customer says they never got the email.
So this default warns, and that is all it does. Be precise about how little it claims: it is a SHAPE CHECK, NOT A DELIVERY TEST. Proving mail works needs SPF and DMARC lookups and a real send — far more than a settings screen should do on page load. These are the cases knowable for free: not a valid address, example.com, localhost, or a reserved TLD that never resolves publicly (.local, .test, .invalid, .example — RFC 2606 and RFC 6762).
Two details make it honest. It reads the EFFECTIVE From address through wp_mail_from, so whatever your SMTP plugin actually sets is what gets judged, not the theoretical default it replaced. And it stays quiet when wp_get_environment_type() says local, because a local site is MEANT to have an undeliverable address — warning there is exactly how a notice trains people to dismiss notices. Staging is not local, and staging does warn, which is usually where this catches something real.
The lesson is the one thing here that is not about email. Every other default in this plugin changes what WordPress does. THIS ONE CHANGES NOTHING. It has no effect on a single request; it only tells an administrator something true that WordPress had been keeping to itself. Deciding not to intervene is a design decision as real as any filter, and often the better one — a plugin that silently rewrote your From address to something deliverable would be a considerably worse plugin. When you find a silent failure, the first question is not how do I fix this for them, but who needs to know, and would they rather I told them or guessed on their behalf?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unprefixed keys stored inside the single wpyeg_better_by_default option. An allow-setting at no can still mean a protective behaviour is active: the three XML-RPC categories are unavailable by default, while the all-or-nothing endpoint block remains opt-in. Application Passwords remain available; strong-password validation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connectors are disabled through the WordPress 7.0 core gate and the Connectors screen is closed. Baseline headers and SAMEORIGIN ship separately because framing can break legitimate embeds. BBD governs core release classes unless a constant wins, while language files and plugin/theme code remain with WordPress, the host, or fleet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comment and pingback settings are separate because a site may keep comments while closing new-post pings and suppressing self-pingbacks. Title-only search and front-end admin-bar changes remain opt-in.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names on earlier slides are schema keys, not separate WordPress options. A regular login lasts 2 days and a remembered one 14 - WordPress's own values, prefilled rather than sentinels, with a one-day floor on each and the remembered length clamped so it can never be shorter than the regular one. The login logo and Heartbeat remain opt-in, and the three configuration constants stay above the plugin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nobody warns you about. Install two defaults plugins and WordPress does not complain — it runs both and keeps whichever answered last. The loser's settings screen goes on showing a session length the site is not using.
On the install where this was first measured, all three plugins happened to agree on the same value, so everything looked fine. THAT is the dangerous case. It stays invisible until somebody changes a setting and nothing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rule, and it is worth more than any tool. When your code is handed something and ADDS to it, a second plugin doing the same thing is fine — three plugins set security headers on that test install and all three landed correctly. When your code is handed something and returns its OWN answer instead, only one plugin can win.
So when you write a filter callback, ask: if a second plugin did exactly this, would both still work? If the answer is no, you are setting policy, and only one plugin on the site can hold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need a plugin for this, and that is exactly why we are not shipping one. The same snippet works on any hook, including ones nobody has thought to write a checker for.
Two things to say out loud, because the obvious reading of the output is wrong. First, an EMPTY result is the normal case on a clean install — this plugin does not register that filter at all while the lengths are still WordPress's own, which is the fix we made earlier in the deck. Guard for the hook being absent or the example errors on the very plugin it is demonstrating.
Second, several entries means the hook is SHARED, not that somebody is losing. A callback can pass its input through, or act only under a condition that is not met today. The count tells you where to look; the callbacks tell you what is happening. Printing the callback id rather than print_r() keeps it one line each, which makes the count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guessed from source code and accused plugins that were not touching the setting. The second measured the real outcome by actually running the filter — precise, and it meant executing arbitrary third-party code as a side effect of a diagnostic. A tool that reports collisions must not cause them.
Underneath, both failed the same way: they were trying to recover something WordPress never wrote down. Nothing records which plugin asked for what, and everything built on top of that gap is a guess or a gamble.
What ended up working was reporting only what could be proven, and saying plainly on the screen that a clean result means nothing traceable was found — not that nothing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qualifier out loud, because the slide before this one contradicts the unqualified version. Two defaults plugins are only alternatives WHERE THEY CONTEST THE SAME REPLACING FILTER. Additive hooks compose — three plugins set security headers on that test install and all three landed. Two plugins with settings that do not overlap at all are simply two plugins. Telling somebody to deactivate one before you have confirmed a contested setting is advice that costs them something for nothing.
Where there IS a contest, the answer is not to make them cooperate. It is to run one of them.
And that is the honest pitch for the plugin we just built. Not that it does more than the others — it does less. But you can read all of it in an afternoon and know exactly what it decided on your behalf.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'my_callback'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What wins when settings overlap?</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wp-config.php constants</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first. When core treats one as authoritative, plugin settings cannot override it.</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Must-use plugins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before normal plugins, so their callbacks register first.</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Normal plugins</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in active_plugins order — PMP before BBD on this demo site.</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Hook priority</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Lower runs earlier; higher runs later. Ties keep registration order.</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7C070"/>
                </a:solidFill>
                <a:latin typeface="Courier New" pitchFamily="34" charset="0"/>
                <a:ea typeface="Courier New" pitchFamily="34" charset="-122"/>
                <a:cs typeface="Courier New" pitchFamily="34" charset="-120"/>
              </a:rPr>
              <a:t>effective behaviour = hard constants + every callback, in execution order</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Eight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Shape 36"/>
          <p:cNvSpPr/>
          <p:nvPr/>
        </p:nvSpPr>
        <p:spPr>
          <a:xfrm>
            <a:off x="9162288"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9" name="Shape 37"/>
          <p:cNvSpPr/>
          <p:nvPr/>
        </p:nvSpPr>
        <p:spPr>
          <a:xfrm>
            <a:off x="9482328" y="4297680"/>
            <a:ext cx="640080" cy="640080"/>
          </a:xfrm>
          <a:prstGeom prst="ellipse">
            <a:avLst/>
          </a:prstGeom>
          <a:solidFill>
            <a:srgbClr val="E0A94B"/>
          </a:solidFill>
          <a:ln/>
        </p:spPr>
      </p:sp>
      <p:sp>
        <p:nvSpPr>
          <p:cNvPr id="40" name="Text 38"/>
          <p:cNvSpPr/>
          <p:nvPr/>
        </p:nvSpPr>
        <p:spPr>
          <a:xfrm>
            <a:off x="9482328"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8</a:t>
            </a:r>
            <a:endParaRPr lang="en-US" sz="1820" dirty="0"/>
          </a:p>
        </p:txBody>
      </p:sp>
      <p:sp>
        <p:nvSpPr>
          <p:cNvPr id="41" name="Text 39"/>
          <p:cNvSpPr/>
          <p:nvPr/>
        </p:nvSpPr>
        <p:spPr>
          <a:xfrm>
            <a:off x="9482328"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Email</a:t>
            </a:r>
            <a:endParaRPr lang="en-US" sz="1900" dirty="0"/>
          </a:p>
        </p:txBody>
      </p:sp>
      <p:sp>
        <p:nvSpPr>
          <p:cNvPr id="42" name="Text 40"/>
          <p:cNvSpPr/>
          <p:nvPr/>
        </p:nvSpPr>
        <p:spPr>
          <a:xfrm>
            <a:off x="9482328"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Say so when the site cannot send mail</a:t>
            </a:r>
            <a:endParaRPr lang="en-US" sz="1250" dirty="0"/>
          </a:p>
        </p:txBody>
      </p:sp>
      <p:sp>
        <p:nvSpPr>
          <p:cNvPr id="43" name="Text 4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44" name="Text 4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7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Only an ERROR short-circuits. A cookie with no</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nonce resolves to user 0 and returns true.</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is_wp_error( $result ) ) return $result;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Leave oEmbed open, or every site embedding</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yours silently degrades to a bare link.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route_is_public()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xmlrpc allow keys + 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$m['pingback.extensions.getPingbacks']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Screen breaches without sending the password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$hash   = strtoupper( sha1( $pw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$prefix = substr( $hash, 0,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$suffix = substr( $hash,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HIBP receives $prefix and returns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matching suffixes plus breach counts.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BBD compares $suffix locally.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response_contains( $suffix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reject(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invalid or 128 KiB =&gt; fail open</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security_headers / frame_options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SAMEORIGIN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compare, do not yield - see the notes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$key = find_key( $h, 'X-Frame-Options'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stronger( $want, $h[ $key ]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$key ] = $want;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one effective value, so correct it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ctk( $h ) ]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7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filter that calls itself</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Editors hold unfiltered_html on a single-site install — enough to save a raw &lt;script&gt; into a post. Taking it back is easy. Doing it without blowing the stack is the lesson.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limit_unfiltered_html_to_admins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add_filter( 'user_has_cap', function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$allcaps, $caps, $args, $user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if ( empty( $allcaps['unfiltered_html']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$roles = isset( $user-&gt;roles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 (array) $user-&gt;roles : array();</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8FBF9F"/>
                </a:solidFill>
                <a:latin typeface="Courier New" pitchFamily="34" charset="0"/>
                <a:ea typeface="Courier New" pitchFamily="34" charset="-122"/>
                <a:cs typeface="Courier New" pitchFamily="34" charset="-120"/>
              </a:rPr>
              <a:t>  // Read what you were handed. Never ask.</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if ( in_array( 'administrator', $roles, true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 ! empty( $allcaps['manage_options']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$allcaps['unfiltered_html'] = false;</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PHP_INT_MAX - 1, 4 );</a:t>
            </a:r>
            <a:endParaRPr lang="en-US" sz="10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UPDATES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Decide who patches WordPress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Core ships maintenance and security releases automatically already. The question this default answers is not whether to allow that — it is whether YOU are deciding, or whether your host quietly decided for you and never said.</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core_update_policy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minor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Two filters, because core asks two questions.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'allow_minor_auto_core_updates', $f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'allow_major_auto_core_updates', $g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'inherit' hands the value straight back — the</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setting that chooses NOT to have an opinion.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'inherit' === $policy ) { return $enabled;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return in_array( $policy, [ 'minor', 'all' ], true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 disable_pingbacks / disable_self_pingbacks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each</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'get_comments_number', '__return_zero',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'comments_pre_query',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$empty_comment_queries, 10, 2 );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'render_block',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$suppress_comment_blocks, 10, 2 );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A clean 404 needs redirect_canonical gone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Dropping the feed link stops the feed being advertised, not served. Answering it takes a 404 — and the 404 takes one more removal that no filter-level test will ever catch.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$block_comment_feeds, 9 );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block_comment_feeds()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 is_comment_feed() ) { return;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$wp_query-&gt;set_404();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'template_redirect',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'redirect_canonical'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status_header( 404 );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nocache_headers();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disable_author_archives / 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4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title_only_admin_search / 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 normal login lasts 2 days; “Remember Me” extends it to 14. Both are in days, and the remembered one can never be shorter. Now look at the registration: this callback throws away the value it was handed, so two plugins setting it cannot both win — and at core's own 2 / 14 we have nothing to say, so we stay out of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disable_remember_me / session_regular_days / remember_me_days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2 / 14</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session_length(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$remember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14 * DAY_IN_SECONDS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2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only when we differ from core's 2 / 14,</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and late enough to be the last word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policy_is_custom()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'auth_cookie_expiration',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'session_length', 50, 3 );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Performance</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&amp; Email</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Brand the login screen, throttle one polling API, and end on the only default that changes nothing at all.</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logo sends users to wordpress.org. Removing, unlinking, or replacing it keeps the login screen organizationally consistent and prevents an unexpected external destination. BBD leaves it unchanged unless you opt in.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function ( $s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EMAIL</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Say so when the site cannot send mail</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sends from wordpress@yourdomain unless something changes it. On a domain that cannot send, password resets fail silently — wp_mail() returns false and nothing surfaces it. This warns, and that is all it does.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mail_deliverability_notice</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The From address the site will ACTUALLY use.</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$from = apply_filters( 'wp_mail_from',</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'wordpress@' . $host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A shape check, not a delivery test.</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$risky = ! is_email( $from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 in_array( $domain, $never_resolves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 preg_match( '/\.(local|test|invalid)$/', $d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Warn. Never block, never rewrite.</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add_action( 'admin_notices', $render_notice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surfaces and credentials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Exact keys and defaults from wpyeg_defaults_schema().</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restrict_rest_user_discovery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rest_endpoints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disable_rest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rest_authentication_errors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xmlrpc_allow_remote_publishing</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discovery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xmlrpc_allow_multicall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wp_xmlrpc_server_class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block_xmlrpc_endpoint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disable_application_passwords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wp_is_application_passwords_available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require_strong_passwords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server-side password validation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policy and updates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Plugin defaults and the policies intentionally left to other layers.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remove_version</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 / the_generator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security_headers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frame_options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SAMEORIGIN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disable_ai_connectors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wp_supports_ai / Connectors screen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core_update_policy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minor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automatic core-update filters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Translation files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inherit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 host / fleet tooling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Plugin and theme code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per-item</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per-item choices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WP_AUTO_UPDATE_CORE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operator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wins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content and everyday UX</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The schema group is authoritative; emoji removal is a Content setting.</a:t>
            </a:r>
            <a:endParaRPr lang="en-US" sz="1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disable_comments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comments, UI, post-type support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default ping options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disable_self_pingbacks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pre_ping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disable_author_archives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redirect_attachment_pages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disable_emojis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init removes emoji assets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limit_unfiltered_html_to_admins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user_has_cap drops the cap for non-admins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disable_post_passwords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CSS hides the editor's password option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force_classic_editor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four editor gates answered false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lowercase_upload_filenames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sanitize_file_name at priority 20</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media_sizes_panel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read-only meta box on attachments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title_only_admin_search</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post_search_columns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frontend_admin_bar_behavior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show_admin_bar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login, branding, and performance</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Schema keys live in one option array; constants remain above plugins.</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disable_remember_me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UI / cookie 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session_regular_days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remember_me_days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14</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login_logo_behavior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keep_default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header presentation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mail_deliverability_notice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admin_notices when the From address looks undeliverable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throttle_heartbeat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Heartbeat settings / enqueue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wpyeg_better_by_default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array</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the only wp_options row</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DISALLOW_FILE_EDIT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revisions / autosave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constants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Somebody will install two of these</a:t>
            </a:r>
            <a:endParaRPr lang="en-US" sz="3200" dirty="0"/>
          </a:p>
        </p:txBody>
      </p:sp>
      <p:sp>
        <p:nvSpPr>
          <p:cNvPr id="3" name="Text 1"/>
          <p:cNvSpPr/>
          <p:nvPr/>
        </p:nvSpPr>
        <p:spPr>
          <a:xfrm>
            <a:off x="548640" y="1371600"/>
            <a:ext cx="10881360" cy="73152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Two defaults plugins on one site — or this one plus a security suite doing half the same job.</a:t>
            </a:r>
            <a:endParaRPr lang="en-US" sz="1600" dirty="0"/>
          </a:p>
        </p:txBody>
      </p:sp>
      <p:sp>
        <p:nvSpPr>
          <p:cNvPr id="4" name="Shape 2"/>
          <p:cNvSpPr/>
          <p:nvPr/>
        </p:nvSpPr>
        <p:spPr>
          <a:xfrm>
            <a:off x="548640" y="237744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70048"/>
            <a:ext cx="457200" cy="457200"/>
          </a:xfrm>
          <a:prstGeom prst="ellipse">
            <a:avLst/>
          </a:prstGeom>
          <a:solidFill>
            <a:srgbClr val="27607A"/>
          </a:solidFill>
          <a:ln/>
        </p:spPr>
      </p:sp>
      <p:sp>
        <p:nvSpPr>
          <p:cNvPr id="6" name="Text 4"/>
          <p:cNvSpPr/>
          <p:nvPr/>
        </p:nvSpPr>
        <p:spPr>
          <a:xfrm>
            <a:off x="868680" y="26700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508760" y="254203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Nothing errors.  </a:t>
            </a:r>
            <a:pPr indent="0" marL="0">
              <a:buNone/>
            </a:pPr>
            <a:r>
              <a:rPr lang="en-US" sz="1500" dirty="0">
                <a:solidFill>
                  <a:srgbClr val="4A5A63"/>
                </a:solidFill>
                <a:latin typeface="Calibri" pitchFamily="34" charset="0"/>
                <a:ea typeface="Calibri" pitchFamily="34" charset="-122"/>
                <a:cs typeface="Calibri" pitchFamily="34" charset="-120"/>
              </a:rPr>
              <a:t>No crash, no warning, no line in a log.</a:t>
            </a:r>
            <a:endParaRPr lang="en-US" sz="1500" dirty="0"/>
          </a:p>
        </p:txBody>
      </p:sp>
      <p:sp>
        <p:nvSpPr>
          <p:cNvPr id="8" name="Shape 6"/>
          <p:cNvSpPr/>
          <p:nvPr/>
        </p:nvSpPr>
        <p:spPr>
          <a:xfrm>
            <a:off x="548640" y="361188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868680" y="3904488"/>
            <a:ext cx="457200" cy="457200"/>
          </a:xfrm>
          <a:prstGeom prst="ellipse">
            <a:avLst/>
          </a:prstGeom>
          <a:solidFill>
            <a:srgbClr val="27607A"/>
          </a:solidFill>
          <a:ln/>
        </p:spPr>
      </p:sp>
      <p:sp>
        <p:nvSpPr>
          <p:cNvPr id="10" name="Text 8"/>
          <p:cNvSpPr/>
          <p:nvPr/>
        </p:nvSpPr>
        <p:spPr>
          <a:xfrm>
            <a:off x="868680" y="39044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p:nvPr/>
        </p:nvSpPr>
        <p:spPr>
          <a:xfrm>
            <a:off x="1508760" y="377647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Nothing is clobbered.  </a:t>
            </a:r>
            <a:pPr indent="0" marL="0">
              <a:buNone/>
            </a:pPr>
            <a:r>
              <a:rPr lang="en-US" sz="1500" dirty="0">
                <a:solidFill>
                  <a:srgbClr val="4A5A63"/>
                </a:solidFill>
                <a:latin typeface="Calibri" pitchFamily="34" charset="0"/>
                <a:ea typeface="Calibri" pitchFamily="34" charset="-122"/>
                <a:cs typeface="Calibri" pitchFamily="34" charset="-120"/>
              </a:rPr>
              <a:t>Each plugin keeps its own settings safely.</a:t>
            </a:r>
            <a:endParaRPr lang="en-US" sz="1500" dirty="0"/>
          </a:p>
        </p:txBody>
      </p:sp>
      <p:sp>
        <p:nvSpPr>
          <p:cNvPr id="12" name="Shape 10"/>
          <p:cNvSpPr/>
          <p:nvPr/>
        </p:nvSpPr>
        <p:spPr>
          <a:xfrm>
            <a:off x="548640" y="484632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3" name="Shape 11"/>
          <p:cNvSpPr/>
          <p:nvPr/>
        </p:nvSpPr>
        <p:spPr>
          <a:xfrm>
            <a:off x="868680" y="5138928"/>
            <a:ext cx="457200" cy="457200"/>
          </a:xfrm>
          <a:prstGeom prst="ellipse">
            <a:avLst/>
          </a:prstGeom>
          <a:solidFill>
            <a:srgbClr val="27607A"/>
          </a:solidFill>
          <a:ln/>
        </p:spPr>
      </p:sp>
      <p:sp>
        <p:nvSpPr>
          <p:cNvPr id="14" name="Text 12"/>
          <p:cNvSpPr/>
          <p:nvPr/>
        </p:nvSpPr>
        <p:spPr>
          <a:xfrm>
            <a:off x="868680" y="513892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p:nvPr/>
        </p:nvSpPr>
        <p:spPr>
          <a:xfrm>
            <a:off x="1508760" y="501091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One of them silently stops working.  </a:t>
            </a:r>
            <a:pPr indent="0" marL="0">
              <a:buNone/>
            </a:pPr>
            <a:r>
              <a:rPr lang="en-US" sz="1500" dirty="0">
                <a:solidFill>
                  <a:srgbClr val="4A5A63"/>
                </a:solidFill>
                <a:latin typeface="Calibri" pitchFamily="34" charset="0"/>
                <a:ea typeface="Calibri" pitchFamily="34" charset="-122"/>
                <a:cs typeface="Calibri" pitchFamily="34" charset="-120"/>
              </a:rPr>
              <a:t>And its settings screen goes on saying otherwise.</a:t>
            </a:r>
            <a:endParaRPr lang="en-US" sz="1500" dirty="0"/>
          </a:p>
        </p:txBody>
      </p:sp>
      <p:sp>
        <p:nvSpPr>
          <p:cNvPr id="16" name="Text 14"/>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7" name="Text 15"/>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Some settings share. Some fight.</a:t>
            </a:r>
            <a:endParaRPr lang="en-US" sz="3200" dirty="0"/>
          </a:p>
        </p:txBody>
      </p:sp>
      <p:sp>
        <p:nvSpPr>
          <p:cNvPr id="3" name="Text 1"/>
          <p:cNvSpPr/>
          <p:nvPr/>
        </p:nvSpPr>
        <p:spPr>
          <a:xfrm>
            <a:off x="548640" y="1371600"/>
            <a:ext cx="10881360" cy="73152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The difference is entirely in what your callback does with the argument it is handed.</a:t>
            </a:r>
            <a:endParaRPr lang="en-US" sz="1600" dirty="0"/>
          </a:p>
        </p:txBody>
      </p:sp>
      <p:sp>
        <p:nvSpPr>
          <p:cNvPr id="4" name="Shape 2"/>
          <p:cNvSpPr/>
          <p:nvPr/>
        </p:nvSpPr>
        <p:spPr>
          <a:xfrm>
            <a:off x="548640" y="237744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70048"/>
            <a:ext cx="457200" cy="457200"/>
          </a:xfrm>
          <a:prstGeom prst="ellipse">
            <a:avLst/>
          </a:prstGeom>
          <a:solidFill>
            <a:srgbClr val="27607A"/>
          </a:solidFill>
          <a:ln/>
        </p:spPr>
      </p:sp>
      <p:sp>
        <p:nvSpPr>
          <p:cNvPr id="6" name="Text 4"/>
          <p:cNvSpPr/>
          <p:nvPr/>
        </p:nvSpPr>
        <p:spPr>
          <a:xfrm>
            <a:off x="868680" y="26700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508760" y="254203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Adding to a list.  </a:t>
            </a:r>
            <a:pPr indent="0" marL="0">
              <a:buNone/>
            </a:pPr>
            <a:r>
              <a:rPr lang="en-US" sz="1500" dirty="0">
                <a:solidFill>
                  <a:srgbClr val="4A5A63"/>
                </a:solidFill>
                <a:latin typeface="Calibri" pitchFamily="34" charset="0"/>
                <a:ea typeface="Calibri" pitchFamily="34" charset="-122"/>
                <a:cs typeface="Calibri" pitchFamily="34" charset="-120"/>
              </a:rPr>
              <a:t>Everybody's contribution survives. Security headers work this way.</a:t>
            </a:r>
            <a:endParaRPr lang="en-US" sz="1500" dirty="0"/>
          </a:p>
        </p:txBody>
      </p:sp>
      <p:sp>
        <p:nvSpPr>
          <p:cNvPr id="8" name="Shape 6"/>
          <p:cNvSpPr/>
          <p:nvPr/>
        </p:nvSpPr>
        <p:spPr>
          <a:xfrm>
            <a:off x="548640" y="361188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868680" y="3904488"/>
            <a:ext cx="457200" cy="457200"/>
          </a:xfrm>
          <a:prstGeom prst="ellipse">
            <a:avLst/>
          </a:prstGeom>
          <a:solidFill>
            <a:srgbClr val="27607A"/>
          </a:solidFill>
          <a:ln/>
        </p:spPr>
      </p:sp>
      <p:sp>
        <p:nvSpPr>
          <p:cNvPr id="10" name="Text 8"/>
          <p:cNvSpPr/>
          <p:nvPr/>
        </p:nvSpPr>
        <p:spPr>
          <a:xfrm>
            <a:off x="868680" y="39044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p:nvPr/>
        </p:nvSpPr>
        <p:spPr>
          <a:xfrm>
            <a:off x="1508760" y="377647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Replacing a value.  </a:t>
            </a:r>
            <a:pPr indent="0" marL="0">
              <a:buNone/>
            </a:pPr>
            <a:r>
              <a:rPr lang="en-US" sz="1500" dirty="0">
                <a:solidFill>
                  <a:srgbClr val="4A5A63"/>
                </a:solidFill>
                <a:latin typeface="Calibri" pitchFamily="34" charset="0"/>
                <a:ea typeface="Calibri" pitchFamily="34" charset="-122"/>
                <a:cs typeface="Calibri" pitchFamily="34" charset="-120"/>
              </a:rPr>
              <a:t>Last one wins, the rest are discarded. Session length works this way.</a:t>
            </a:r>
            <a:endParaRPr lang="en-US" sz="1500" dirty="0"/>
          </a:p>
        </p:txBody>
      </p:sp>
      <p:sp>
        <p:nvSpPr>
          <p:cNvPr id="12" name="Shape 10"/>
          <p:cNvSpPr/>
          <p:nvPr/>
        </p:nvSpPr>
        <p:spPr>
          <a:xfrm>
            <a:off x="548640" y="484632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3" name="Shape 11"/>
          <p:cNvSpPr/>
          <p:nvPr/>
        </p:nvSpPr>
        <p:spPr>
          <a:xfrm>
            <a:off x="868680" y="5138928"/>
            <a:ext cx="457200" cy="457200"/>
          </a:xfrm>
          <a:prstGeom prst="ellipse">
            <a:avLst/>
          </a:prstGeom>
          <a:solidFill>
            <a:srgbClr val="27607A"/>
          </a:solidFill>
          <a:ln/>
        </p:spPr>
      </p:sp>
      <p:sp>
        <p:nvSpPr>
          <p:cNvPr id="14" name="Text 12"/>
          <p:cNvSpPr/>
          <p:nvPr/>
        </p:nvSpPr>
        <p:spPr>
          <a:xfrm>
            <a:off x="868680" y="513892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p:nvPr/>
        </p:nvSpPr>
        <p:spPr>
          <a:xfrm>
            <a:off x="1508760" y="501091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Nothing tells you which you wrote.  </a:t>
            </a:r>
            <a:pPr indent="0" marL="0">
              <a:buNone/>
            </a:pPr>
            <a:r>
              <a:rPr lang="en-US" sz="1500" dirty="0">
                <a:solidFill>
                  <a:srgbClr val="4A5A63"/>
                </a:solidFill>
                <a:latin typeface="Calibri" pitchFamily="34" charset="0"/>
                <a:ea typeface="Calibri" pitchFamily="34" charset="-122"/>
                <a:cs typeface="Calibri" pitchFamily="34" charset="-120"/>
              </a:rPr>
              <a:t>Both are add_filter(). Both look identical at the call site.</a:t>
            </a:r>
            <a:endParaRPr lang="en-US" sz="1500" dirty="0"/>
          </a:p>
        </p:txBody>
      </p:sp>
      <p:sp>
        <p:nvSpPr>
          <p:cNvPr id="16" name="Text 14"/>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7" name="Text 15"/>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Check any site in about a minute</a:t>
            </a:r>
            <a:endParaRPr lang="en-US" sz="3200" dirty="0"/>
          </a:p>
        </p:txBody>
      </p:sp>
      <p:sp>
        <p:nvSpPr>
          <p:cNvPr id="3" name="Text 1"/>
          <p:cNvSpPr/>
          <p:nvPr/>
        </p:nvSpPr>
        <p:spPr>
          <a:xfrm>
            <a:off x="548640" y="1325880"/>
            <a:ext cx="1088136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keeps every registered callback in one global. Ask it who is on the hook you care about.</a:t>
            </a:r>
            <a:endParaRPr lang="en-US" sz="1600" dirty="0"/>
          </a:p>
        </p:txBody>
      </p:sp>
      <p:sp>
        <p:nvSpPr>
          <p:cNvPr id="4" name="Shape 2"/>
          <p:cNvSpPr/>
          <p:nvPr/>
        </p:nvSpPr>
        <p:spPr>
          <a:xfrm>
            <a:off x="548640" y="2103120"/>
            <a:ext cx="11064240" cy="2286000"/>
          </a:xfrm>
          <a:prstGeom prst="roundRect">
            <a:avLst>
              <a:gd name="adj" fmla="val 320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267712"/>
            <a:ext cx="10661904" cy="195681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run this inside: wp eval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global $wp_filter; $hook = 'auth_cookie_expiration';</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if ( empty( $wp_filter[ $hook ] ) ) { echo "nobody is filtering it\n"; return;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$wp_filter[ $hook ]-&gt;callbacks as $prio =&gt; $cbs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foreach ( $cbs as $id =&gt; $cb ) { printf( "%-6s %s\n", $prio, $id );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 each line is one callback; several means shared, not settled</a:t>
            </a:r>
            <a:endParaRPr lang="en-US" sz="1250" dirty="0"/>
          </a:p>
        </p:txBody>
      </p:sp>
      <p:sp>
        <p:nvSpPr>
          <p:cNvPr id="6" name="Text 4"/>
          <p:cNvSpPr/>
          <p:nvPr/>
        </p:nvSpPr>
        <p:spPr>
          <a:xfrm>
            <a:off x="548640" y="4617720"/>
            <a:ext cx="10881360" cy="548640"/>
          </a:xfrm>
          <a:prstGeom prst="rect">
            <a:avLst/>
          </a:prstGeom>
          <a:noFill/>
          <a:ln/>
        </p:spPr>
        <p:txBody>
          <a:bodyPr wrap="square" lIns="0" tIns="0" rIns="0" bIns="0" rtlCol="0" anchor="ctr"/>
          <a:lstStyle/>
          <a:p>
            <a:pPr indent="0" marL="0">
              <a:buNone/>
            </a:pPr>
            <a:r>
              <a:rPr lang="en-US" sz="1500" i="1" dirty="0">
                <a:solidFill>
                  <a:srgbClr val="4A5A63"/>
                </a:solidFill>
                <a:latin typeface="Calibri" pitchFamily="34" charset="0"/>
                <a:ea typeface="Calibri" pitchFamily="34" charset="-122"/>
                <a:cs typeface="Calibri" pitchFamily="34" charset="-120"/>
              </a:rPr>
              <a:t>Several entries means they share the hook. Whether anyone is losing depends on what the callbacks do — go and read them.</a:t>
            </a:r>
            <a:endParaRPr lang="en-US" sz="1500" dirty="0"/>
          </a:p>
        </p:txBody>
      </p:sp>
      <p:sp>
        <p:nvSpPr>
          <p:cNvPr id="7" name="Text 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8" name="Text 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We tried to automate it twice. Both were wrong.</a:t>
            </a:r>
            <a:endParaRPr lang="en-US" sz="3200" dirty="0"/>
          </a:p>
        </p:txBody>
      </p:sp>
      <p:sp>
        <p:nvSpPr>
          <p:cNvPr id="3" name="Text 1"/>
          <p:cNvSpPr/>
          <p:nvPr/>
        </p:nvSpPr>
        <p:spPr>
          <a:xfrm>
            <a:off x="548640" y="1371600"/>
            <a:ext cx="10881360" cy="73152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Two sibling plugins built the checker. Both attempts shipped, and both were withdrawn.</a:t>
            </a:r>
            <a:endParaRPr lang="en-US" sz="1600" dirty="0"/>
          </a:p>
        </p:txBody>
      </p:sp>
      <p:sp>
        <p:nvSpPr>
          <p:cNvPr id="4" name="Shape 2"/>
          <p:cNvSpPr/>
          <p:nvPr/>
        </p:nvSpPr>
        <p:spPr>
          <a:xfrm>
            <a:off x="548640" y="237744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70048"/>
            <a:ext cx="457200" cy="457200"/>
          </a:xfrm>
          <a:prstGeom prst="ellipse">
            <a:avLst/>
          </a:prstGeom>
          <a:solidFill>
            <a:srgbClr val="27607A"/>
          </a:solidFill>
          <a:ln/>
        </p:spPr>
      </p:sp>
      <p:sp>
        <p:nvSpPr>
          <p:cNvPr id="6" name="Text 4"/>
          <p:cNvSpPr/>
          <p:nvPr/>
        </p:nvSpPr>
        <p:spPr>
          <a:xfrm>
            <a:off x="868680" y="26700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508760" y="254203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Read the plugin's code for clues.  </a:t>
            </a:r>
            <a:pPr indent="0" marL="0">
              <a:buNone/>
            </a:pPr>
            <a:r>
              <a:rPr lang="en-US" sz="1500" dirty="0">
                <a:solidFill>
                  <a:srgbClr val="4A5A63"/>
                </a:solidFill>
                <a:latin typeface="Calibri" pitchFamily="34" charset="0"/>
                <a:ea typeface="Calibri" pitchFamily="34" charset="-122"/>
                <a:cs typeface="Calibri" pitchFamily="34" charset="-120"/>
              </a:rPr>
              <a:t>Named plugins that were doing nothing at all.</a:t>
            </a:r>
            <a:endParaRPr lang="en-US" sz="1500" dirty="0"/>
          </a:p>
        </p:txBody>
      </p:sp>
      <p:sp>
        <p:nvSpPr>
          <p:cNvPr id="8" name="Shape 6"/>
          <p:cNvSpPr/>
          <p:nvPr/>
        </p:nvSpPr>
        <p:spPr>
          <a:xfrm>
            <a:off x="548640" y="361188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868680" y="3904488"/>
            <a:ext cx="457200" cy="457200"/>
          </a:xfrm>
          <a:prstGeom prst="ellipse">
            <a:avLst/>
          </a:prstGeom>
          <a:solidFill>
            <a:srgbClr val="27607A"/>
          </a:solidFill>
          <a:ln/>
        </p:spPr>
      </p:sp>
      <p:sp>
        <p:nvSpPr>
          <p:cNvPr id="10" name="Text 8"/>
          <p:cNvSpPr/>
          <p:nvPr/>
        </p:nvSpPr>
        <p:spPr>
          <a:xfrm>
            <a:off x="868680" y="39044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p:nvPr/>
        </p:nvSpPr>
        <p:spPr>
          <a:xfrm>
            <a:off x="1508760" y="377647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Run the setting, see what comes out.  </a:t>
            </a:r>
            <a:pPr indent="0" marL="0">
              <a:buNone/>
            </a:pPr>
            <a:r>
              <a:rPr lang="en-US" sz="1500" dirty="0">
                <a:solidFill>
                  <a:srgbClr val="4A5A63"/>
                </a:solidFill>
                <a:latin typeface="Calibri" pitchFamily="34" charset="0"/>
                <a:ea typeface="Calibri" pitchFamily="34" charset="-122"/>
                <a:cs typeface="Calibri" pitchFamily="34" charset="-120"/>
              </a:rPr>
              <a:t>Meant running other people's code to check on them.</a:t>
            </a:r>
            <a:endParaRPr lang="en-US" sz="1500" dirty="0"/>
          </a:p>
        </p:txBody>
      </p:sp>
      <p:sp>
        <p:nvSpPr>
          <p:cNvPr id="12" name="Shape 10"/>
          <p:cNvSpPr/>
          <p:nvPr/>
        </p:nvSpPr>
        <p:spPr>
          <a:xfrm>
            <a:off x="548640" y="484632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3" name="Shape 11"/>
          <p:cNvSpPr/>
          <p:nvPr/>
        </p:nvSpPr>
        <p:spPr>
          <a:xfrm>
            <a:off x="868680" y="5138928"/>
            <a:ext cx="457200" cy="457200"/>
          </a:xfrm>
          <a:prstGeom prst="ellipse">
            <a:avLst/>
          </a:prstGeom>
          <a:solidFill>
            <a:srgbClr val="27607A"/>
          </a:solidFill>
          <a:ln/>
        </p:spPr>
      </p:sp>
      <p:sp>
        <p:nvSpPr>
          <p:cNvPr id="14" name="Text 12"/>
          <p:cNvSpPr/>
          <p:nvPr/>
        </p:nvSpPr>
        <p:spPr>
          <a:xfrm>
            <a:off x="868680" y="513892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p:nvPr/>
        </p:nvSpPr>
        <p:spPr>
          <a:xfrm>
            <a:off x="1508760" y="501091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What worked: say less.  </a:t>
            </a:r>
            <a:pPr indent="0" marL="0">
              <a:buNone/>
            </a:pPr>
            <a:r>
              <a:rPr lang="en-US" sz="1500" dirty="0">
                <a:solidFill>
                  <a:srgbClr val="4A5A63"/>
                </a:solidFill>
                <a:latin typeface="Calibri" pitchFamily="34" charset="0"/>
                <a:ea typeface="Calibri" pitchFamily="34" charset="-122"/>
                <a:cs typeface="Calibri" pitchFamily="34" charset="-120"/>
              </a:rPr>
              <a:t>Report what you can prove, and admit what you cannot see.</a:t>
            </a:r>
            <a:endParaRPr lang="en-US" sz="1500" dirty="0"/>
          </a:p>
        </p:txBody>
      </p:sp>
      <p:sp>
        <p:nvSpPr>
          <p:cNvPr id="16" name="Text 14"/>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7" name="Text 15"/>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1371600"/>
            <a:ext cx="10698480" cy="2011680"/>
          </a:xfrm>
          <a:prstGeom prst="rect">
            <a:avLst/>
          </a:prstGeom>
          <a:noFill/>
          <a:ln/>
        </p:spPr>
        <p:txBody>
          <a:bodyPr wrap="square" lIns="0" tIns="0" rIns="0" bIns="0" rtlCol="0" anchor="ctr"/>
          <a:lstStyle/>
          <a:p>
            <a:pPr indent="0" marL="0">
              <a:lnSpc>
                <a:spcPct val="105000"/>
              </a:lnSpc>
              <a:buNone/>
            </a:pPr>
            <a:r>
              <a:rPr lang="en-US" sz="3800" b="1" dirty="0">
                <a:solidFill>
                  <a:srgbClr val="FFFFFF"/>
                </a:solidFill>
                <a:latin typeface="Cambria" pitchFamily="34" charset="0"/>
                <a:ea typeface="Cambria" pitchFamily="34" charset="-122"/>
                <a:cs typeface="Cambria" pitchFamily="34" charset="-120"/>
              </a:rPr>
              <a:t>Where they contest a setting,</a:t>
            </a:r>
            <a:endParaRPr lang="en-US" sz="3800" dirty="0"/>
          </a:p>
          <a:p>
            <a:pPr indent="0" marL="0">
              <a:lnSpc>
                <a:spcPct val="105000"/>
              </a:lnSpc>
              <a:buNone/>
            </a:pPr>
            <a:r>
              <a:rPr lang="en-US" sz="3800" b="1" dirty="0">
                <a:solidFill>
                  <a:srgbClr val="FFFFFF"/>
                </a:solidFill>
                <a:latin typeface="Cambria" pitchFamily="34" charset="0"/>
                <a:ea typeface="Cambria" pitchFamily="34" charset="-122"/>
                <a:cs typeface="Cambria" pitchFamily="34" charset="-120"/>
              </a:rPr>
              <a:t>defaults plugins are alternatives.</a:t>
            </a:r>
            <a:endParaRPr lang="en-US" sz="3800" dirty="0"/>
          </a:p>
        </p:txBody>
      </p:sp>
      <p:sp>
        <p:nvSpPr>
          <p:cNvPr id="3" name="Text 1"/>
          <p:cNvSpPr/>
          <p:nvPr/>
        </p:nvSpPr>
        <p:spPr>
          <a:xfrm>
            <a:off x="731520" y="3520440"/>
            <a:ext cx="10515600" cy="100584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Two plugins replacing the same value give you one plugin's behaviour and two settings screens — only one of which is telling the truth.</a:t>
            </a:r>
            <a:endParaRPr lang="en-US" sz="1900" dirty="0"/>
          </a:p>
        </p:txBody>
      </p:sp>
      <p:sp>
        <p:nvSpPr>
          <p:cNvPr id="4" name="Text 2"/>
          <p:cNvSpPr/>
          <p:nvPr/>
        </p:nvSpPr>
        <p:spPr>
          <a:xfrm>
            <a:off x="731520" y="4617720"/>
            <a:ext cx="10515600" cy="73152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Confirm the overlap first. Then pick the one whose choices you agree with.</a:t>
            </a:r>
            <a:endParaRPr lang="en-US" sz="1800" dirty="0"/>
          </a:p>
        </p:txBody>
      </p:sp>
      <p:sp>
        <p:nvSpPr>
          <p:cNvPr id="5" name="Text 3"/>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4"/>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2026-08-25T01:27:12Z</dcterms:created>
  <dcterms:modified xsi:type="dcterms:W3CDTF">2026-08-25T01:27:12Z</dcterms:modified>
</cp:coreProperties>
</file>