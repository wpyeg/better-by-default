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WPYEG. In this workshop we're building and reviewing a small plugin that defines and activates a dozen sensible defaults for WordPress sites in 2026. Whether you write PHP daily or just manage WordPress sites, you'll leave knowing why each default matters and how to enable (or disable)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are bugs. They are defaults chosen for maximum compatibility on a 20+ year-old web application. You probably don't need them and can tighten up your own WordPress sites. This is also a good way to learn some important fundamentals about how WordPress works and how to keep it secure, fast, and pretty.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demo plugin, a default is an add_filter behind an if ( option ). We have twenty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is built to be interrupted at labeled moments (hooks) so you never edit core code. __return_false is a tiny built-in helper that just hands back false — perfect for switching a feature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spend most of our time on security and content, then move quickly through UX, login, branding, and performance, and end up with a plugin that covers them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in this section removes something an attacker can poke — usually in one line. The theme is simple: disable what you don't use. You can't exploit an endpoint that isn't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/wp/v2/users endpoint hands out every author's login name to anyone — half of a brute-force guess, for free. Author enumeration is step one of many attack scripts. By closing it for logged-out requests only, the editor and legit integrations will keep working. It's arguably an example of security-by-obscurity, but it also prevents a lot of junk traffic and bots that are up to no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sledgehammer version of the slide before. Requiring auth for ALL REST calls stops anonymous scraping cold. It does *not* break the block editor, though — you're logged in there, and the editor authenticates with your cookie plus a REST nonce, so it sails through this filter. What it breaks is ANONYMOUS REST: front-end blocks that fetch data for logged-out visitors, embeds, search, and outside integrations. That's why it ships off. Not every default should default to on; some are opt-in because they trade functionality for safety. Usually it's a better tradeoff to restrict a few REST routes — like the users endpoint we just closed — than to lock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XML-RPC isn't one door — it's an old switchboard, and every method is a phone line. Rather than rip the box off the wall, we unplug lines by category. Four switches, all off by default:
1. Pingbacks — drop pingback.ping, a spam and reflection-DDoS relay.
2. Remote publishing — drop the credential-authenticated blogging methods (wp.*, metaWeblog.*, mt.*, blogger.*), the classic brute-force target. This also flips xmlrpc_enabled off and removes the RSD discovery link.
3. system.multicall — the amplifier that batches thousands of login guesses into one request. You can't just unset it: IXR_Server::setCallbacks() re-adds it after the filter runs, so we swap in a replacement server that refuses it.
4. Block the endpoint — the blunt hammer: xmlrpc.php returns 403 for everything.
The first three are surgical — they leave third-party methods like Jetpack's jetpack.* connected, so the endpoint stays usable. The fourth nukes the lot, which breaks Jetpack; reach for it only if nothing on the site speaks XML-RPC.
[Aside — what's "IXR"? The Incutio XML-RPC library. Simon Willison released it in September 2002, one of his first open-source projects, while blogging from the University of Bath; both WordPress *and* Drupal adopted it, and it then sat largely untouched for 15+ years — long enough to pick up a CVE. Willison went on to co-create Django (2003–05 at the Lawrence Journal-World), build Lanyrd (sold to Eventbrite in 2013) and Datasette (2017), and is now one of the most-read writers on LLMs.]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existing default we *don't* lock down. An Application Password is like a spare key cut for one app: each app gets its own hashed key, so you can revoke one without touching the others or changing the account password. That makes it the safer REST credential and the only one core accepts for REST Basic Auth. So they are good — they just don't have a toggle in WordPress core settings. You might need to prohibit application passwords on a site that forbids non-interactive credentials, but switching them off doesn't stop people connecting things, it just pushes them to worse habits, like sharing an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changed recently, and most people didn't notice: NIST 800-63B and OWASP now say LENGTH PLUS BREACH SCREENING BEATS COMPOSITION RULES. Forcing upper/lower/number/symbol just herds everyone to Password1! — predictable, not strong. So we require 15+ characters and screen every new password against Have I Been Pwned — by k-anonymity, meaning only the first five characters of the SHA-1 hash ever leave the site; HIBP returns every hash sharing that prefix and the match happens locally, so the password itself is never transmitted. If HIBP is unreachable the check FAILS OPEN rather than locking someone out of a password change. All enforced server-side on save and reset: the JS meter is UX; the server rule is the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quick wins. Version hiding is obscurity, not security — but it cuts automated scanner noise. The three headers are safe defaults most sites can adopt without breaking anything:
- X-Content-Type-Options: nosniff — the browser must trust the declared Content-Type instead of guessing; kills "a .txt the browser decides to run as JavaScript" tricks.
- X-Frame-Options: SAMEORIGIN — only your own site may load the page in an iframe; blocks clickjacking, where your login or admin is hidden under an attacker's page.
- Referrer-Policy: strict-origin-when-cross-origin — sends the full URL within your own site, only the bare domain to other sites, and nothing on an HTTPS→HTTP downgrade; keeps tokens and private paths from leaking in the Referer.
A full Content-Security-Policy is a bigger conversation for another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reduce channels for spam and clean up the thin, duplicate URLs that bots and search engines get lost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sites, comments are a spam magnet with little upside. Here we close them everywhere, hide existing threads, and drop the admin menu. If you want comments, leave this tuned off — but consider closing pingbacks and trackbacks, which are almost pure spam.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 the REST user routes, author archives expose the authors' usernames in the URL, and attachment pages are near-empty media wrappers. Both dilute SEO and are targets for trouble. template_redirect fires before a template loads — the perfect place to bounce the unwanted requests. Same hook, two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WordPress core injects an emoji-detection script and inline CSS on every page load, plus a DNS-prefetch hint. Modern browsers render emoji natively, so this is pure dead weight. Small win, but it's on literally every page — a good example of a "why is this even on?" default that's not included in core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quality-of-life defaults. These are more about your daily user experience and session safety than raw hardening.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 the admin post list on a big site and WordPress reads every word of every post — like finding a book by reading the whole library. Title-only search checks just the spines, and it's far faster. The craft is in the *how*: post_search_columns (WP 6.2+) narrows the columns instead of rewriting the whole SQL clause, so core's term parsing and the logged-out password guard stay intact. Scope the filter; don't bulldoze the 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click the "Remember Me" checkbox when you log in, you stay logged in for 14 days. Cap that extended session length, optionally shorten the regular session, or hide the "Remember Me" checkbox entirely. (Good idea for shared machines.) One filter covers all three. WordPress ships handy time constants like DAY_IN_SECONDS, so you never need to do the math.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pair brands the login screen. Then we end with two performance levers to shave some weight off every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login page is a WordPress site's staff entrance — the one door you and your clients actually log in through — and by default the welcome mat links to someone else's house! That little WordPress "W" on wp-login.php points out to wordpress.org. Changing a site's login screen out of the box is intrusive, though, so the default is to LEAVE IT ALONE. Removing, unlinking, or replacing the logo is an opt-in — and whichever you choose, the link always points home. Swap in a background-image to drop in the site's own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Heartbeat API polls admin-ajax every 15–60s. Throttle it to ease up on weak shared hosting. Deferring non-critical scripts keeps them from being render-blocking, but this can also break plugins expecting synchronous jQuery.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defaults live in wp-config.php, above the plugin layer, because they must load before plugins do. They can't be options — so document them as manual steps in your onboarding checklist and put them in your standard wp-config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lesson is a data-driven plugin. Adding a new default equals one array entry plus one if-block in bootstrap — no new settings-page code. That's the pattern to steal for your own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if there's a sandbox. The /wp-json/wp/v2/users check is the crowd-pleaser — before/after is instantly visible. For the terminal crowd, the WP-CLI one-liner installs and activates from the zip in one shot; swap the local path for a URL if the zip is hosted.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great confidence-builder: it proves the data-driven pattern. Touch two spots and a real feature toggles. If time is short, walk it through verbally instead of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screenshot slide — everything on-by-default in one view, mapped to the core hook. Two deliberate *non*-defaults worth calling out: Application Passwords stay AVAILABLE (the safer REST credential), and the login logo is LEFT ALONE unless you opt in — both are choices, not oversights.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zip and the reference doc. Invite everyone to add their own favorite default to the schema and share it back with the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394960"/>
            <a:ext cx="12188952" cy="1463040"/>
          </a:xfrm>
          <a:prstGeom prst="rect">
            <a:avLst/>
          </a:prstGeom>
          <a:solidFill>
            <a:srgbClr val="16323F"/>
          </a:solidFill>
          <a:ln/>
        </p:spPr>
      </p:sp>
      <p:sp>
        <p:nvSpPr>
          <p:cNvPr id="3" name="Shape 1"/>
          <p:cNvSpPr/>
          <p:nvPr/>
        </p:nvSpPr>
        <p:spPr>
          <a:xfrm>
            <a:off x="777240" y="731520"/>
            <a:ext cx="658368" cy="658368"/>
          </a:xfrm>
          <a:prstGeom prst="ellipse">
            <a:avLst/>
          </a:prstGeom>
          <a:solidFill>
            <a:srgbClr val="E0A94B"/>
          </a:solidFill>
          <a:ln/>
        </p:spPr>
      </p:sp>
      <p:sp>
        <p:nvSpPr>
          <p:cNvPr id="4" name="Text 2"/>
          <p:cNvSpPr/>
          <p:nvPr/>
        </p:nvSpPr>
        <p:spPr>
          <a:xfrm>
            <a:off x="777240" y="731520"/>
            <a:ext cx="658368" cy="658368"/>
          </a:xfrm>
          <a:prstGeom prst="rect">
            <a:avLst/>
          </a:prstGeom>
          <a:noFill/>
          <a:ln/>
        </p:spPr>
        <p:txBody>
          <a:bodyPr wrap="square" lIns="0" tIns="0" rIns="0" bIns="0" rtlCol="0" anchor="ctr"/>
          <a:lstStyle/>
          <a:p>
            <a:pPr algn="ctr" indent="0" marL="0">
              <a:buNone/>
            </a:pPr>
            <a:r>
              <a:rPr lang="en-US" sz="1872" b="1" dirty="0">
                <a:solidFill>
                  <a:srgbClr val="0F2733"/>
                </a:solidFill>
                <a:latin typeface="Cambria" pitchFamily="34" charset="0"/>
                <a:ea typeface="Cambria" pitchFamily="34" charset="-122"/>
                <a:cs typeface="Cambria" pitchFamily="34" charset="-120"/>
              </a:rPr>
              <a:t>{ }</a:t>
            </a:r>
            <a:endParaRPr lang="en-US" sz="1872" dirty="0"/>
          </a:p>
        </p:txBody>
      </p:sp>
      <p:sp>
        <p:nvSpPr>
          <p:cNvPr id="5" name="Text 3"/>
          <p:cNvSpPr/>
          <p:nvPr/>
        </p:nvSpPr>
        <p:spPr>
          <a:xfrm>
            <a:off x="1600200" y="822960"/>
            <a:ext cx="8229600" cy="457200"/>
          </a:xfrm>
          <a:prstGeom prst="rect">
            <a:avLst/>
          </a:prstGeom>
          <a:noFill/>
          <a:ln/>
        </p:spPr>
        <p:txBody>
          <a:bodyPr wrap="square" lIns="0" tIns="0" rIns="0" bIns="0" rtlCol="0" anchor="ctr"/>
          <a:lstStyle/>
          <a:p>
            <a:pPr indent="0" marL="0">
              <a:buNone/>
            </a:pPr>
            <a:r>
              <a:rPr lang="en-US" sz="1500" b="1" dirty="0">
                <a:solidFill>
                  <a:srgbClr val="E0A94B"/>
                </a:solidFill>
                <a:latin typeface="Calibri" pitchFamily="34" charset="0"/>
                <a:ea typeface="Calibri" pitchFamily="34" charset="-122"/>
                <a:cs typeface="Calibri" pitchFamily="34" charset="-120"/>
              </a:rPr>
              <a:t>WPYEG · Edmonton WordPress Meetup</a:t>
            </a:r>
            <a:endParaRPr lang="en-US" sz="1500" dirty="0"/>
          </a:p>
        </p:txBody>
      </p:sp>
      <p:sp>
        <p:nvSpPr>
          <p:cNvPr id="6" name="Text 4"/>
          <p:cNvSpPr/>
          <p:nvPr/>
        </p:nvSpPr>
        <p:spPr>
          <a:xfrm>
            <a:off x="777240" y="2148840"/>
            <a:ext cx="10789920" cy="1371600"/>
          </a:xfrm>
          <a:prstGeom prst="rect">
            <a:avLst/>
          </a:prstGeom>
          <a:noFill/>
          <a:ln/>
        </p:spPr>
        <p:txBody>
          <a:bodyPr wrap="square" lIns="0" tIns="0" rIns="0" bIns="0" rtlCol="0" anchor="ctr"/>
          <a:lstStyle/>
          <a:p>
            <a:pPr indent="0" marL="0">
              <a:lnSpc>
                <a:spcPct val="102000"/>
              </a:lnSpc>
              <a:buNone/>
            </a:pPr>
            <a:r>
              <a:rPr lang="en-US" sz="6800" b="1" dirty="0">
                <a:solidFill>
                  <a:srgbClr val="FFFFFF"/>
                </a:solidFill>
                <a:latin typeface="Cambria" pitchFamily="34" charset="0"/>
                <a:ea typeface="Cambria" pitchFamily="34" charset="-122"/>
                <a:cs typeface="Cambria" pitchFamily="34" charset="-120"/>
              </a:rPr>
              <a:t>Better by Default</a:t>
            </a:r>
            <a:endParaRPr lang="en-US" sz="6800" dirty="0"/>
          </a:p>
        </p:txBody>
      </p:sp>
      <p:sp>
        <p:nvSpPr>
          <p:cNvPr id="7" name="Text 5"/>
          <p:cNvSpPr/>
          <p:nvPr/>
        </p:nvSpPr>
        <p:spPr>
          <a:xfrm>
            <a:off x="822960" y="3977640"/>
            <a:ext cx="10241280" cy="640080"/>
          </a:xfrm>
          <a:prstGeom prst="rect">
            <a:avLst/>
          </a:prstGeom>
          <a:noFill/>
          <a:ln/>
        </p:spPr>
        <p:txBody>
          <a:bodyPr wrap="square" lIns="0" tIns="0" rIns="0" bIns="0" rtlCol="0" anchor="ctr"/>
          <a:lstStyle/>
          <a:p>
            <a:pPr indent="0" marL="0">
              <a:buNone/>
            </a:pPr>
            <a:r>
              <a:rPr lang="en-US" sz="2100" i="1" dirty="0">
                <a:solidFill>
                  <a:srgbClr val="D7E5EC"/>
                </a:solidFill>
                <a:latin typeface="Calibri" pitchFamily="34" charset="0"/>
                <a:ea typeface="Calibri" pitchFamily="34" charset="-122"/>
                <a:cs typeface="Calibri" pitchFamily="34" charset="-120"/>
              </a:rPr>
              <a:t>Secure defaults for every WordPress site.</a:t>
            </a:r>
            <a:endParaRPr lang="en-US" sz="2100" dirty="0"/>
          </a:p>
        </p:txBody>
      </p:sp>
      <p:sp>
        <p:nvSpPr>
          <p:cNvPr id="8" name="Text 6"/>
          <p:cNvSpPr/>
          <p:nvPr/>
        </p:nvSpPr>
        <p:spPr>
          <a:xfrm>
            <a:off x="822960" y="5715000"/>
            <a:ext cx="10515600" cy="457200"/>
          </a:xfrm>
          <a:prstGeom prst="rect">
            <a:avLst/>
          </a:prstGeom>
          <a:noFill/>
          <a:ln/>
        </p:spPr>
        <p:txBody>
          <a:bodyPr wrap="square" lIns="0" tIns="0" rIns="0" bIns="0" rtlCol="0" anchor="ctr"/>
          <a:lstStyle/>
          <a:p>
            <a:pPr indent="0" marL="0">
              <a:buNone/>
            </a:pPr>
            <a:r>
              <a:rPr lang="en-US" sz="1400" dirty="0">
                <a:solidFill>
                  <a:srgbClr val="D7E5EC"/>
                </a:solidFill>
                <a:latin typeface="Courier New" pitchFamily="34" charset="0"/>
                <a:ea typeface="Courier New" pitchFamily="34" charset="-122"/>
                <a:cs typeface="Courier New" pitchFamily="34" charset="-120"/>
              </a:rPr>
              <a:t>a hands-on workshop  </a:t>
            </a:r>
            <a:pPr indent="0" marL="0">
              <a:buNone/>
            </a:pPr>
            <a:r>
              <a:rPr lang="en-US" sz="1400" dirty="0">
                <a:solidFill>
                  <a:srgbClr val="E0A94B"/>
                </a:solidFill>
                <a:latin typeface="Courier New" pitchFamily="34" charset="0"/>
                <a:ea typeface="Courier New" pitchFamily="34" charset="-122"/>
                <a:cs typeface="Courier New" pitchFamily="34" charset="-120"/>
              </a:rPr>
              <a:t>·  build the “sane-defaults” plugin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82296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WordPress is open by default; hosts vary in what they close.</a:t>
            </a:r>
            <a:endParaRPr lang="en-US" sz="3400" dirty="0"/>
          </a:p>
        </p:txBody>
      </p:sp>
      <p:sp>
        <p:nvSpPr>
          <p:cNvPr id="3" name="Text 1"/>
          <p:cNvSpPr/>
          <p:nvPr/>
        </p:nvSpPr>
        <p:spPr>
          <a:xfrm>
            <a:off x="548640" y="1371600"/>
            <a:ext cx="10789920" cy="82296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None of these are bugs. They are defaults chosen for maximum compatibility on a 20+ year-old web application — you probably don't need them.</a:t>
            </a:r>
            <a:endParaRPr lang="en-US" sz="1600" dirty="0"/>
          </a:p>
        </p:txBody>
      </p:sp>
      <p:sp>
        <p:nvSpPr>
          <p:cNvPr id="4" name="Shape 2"/>
          <p:cNvSpPr/>
          <p:nvPr/>
        </p:nvSpPr>
        <p:spPr>
          <a:xfrm>
            <a:off x="54864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22960" y="2743200"/>
            <a:ext cx="502920" cy="502920"/>
          </a:xfrm>
          <a:prstGeom prst="ellipse">
            <a:avLst/>
          </a:prstGeom>
          <a:solidFill>
            <a:srgbClr val="E07A5F"/>
          </a:solidFill>
          <a:ln/>
        </p:spPr>
      </p:sp>
      <p:sp>
        <p:nvSpPr>
          <p:cNvPr id="6" name="Text 4"/>
          <p:cNvSpPr/>
          <p:nvPr/>
        </p:nvSpPr>
        <p:spPr>
          <a:xfrm>
            <a:off x="82296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7" name="Text 5"/>
          <p:cNvSpPr/>
          <p:nvPr/>
        </p:nvSpPr>
        <p:spPr>
          <a:xfrm>
            <a:off x="150876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Usernames leak</a:t>
            </a:r>
            <a:endParaRPr lang="en-US" sz="1900" dirty="0"/>
          </a:p>
        </p:txBody>
      </p:sp>
      <p:sp>
        <p:nvSpPr>
          <p:cNvPr id="8" name="Text 6"/>
          <p:cNvSpPr/>
          <p:nvPr/>
        </p:nvSpPr>
        <p:spPr>
          <a:xfrm>
            <a:off x="150876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REST + author archives list every login name to anonymous visitors.</a:t>
            </a:r>
            <a:endParaRPr lang="en-US" sz="1400" dirty="0"/>
          </a:p>
        </p:txBody>
      </p:sp>
      <p:sp>
        <p:nvSpPr>
          <p:cNvPr id="9" name="Shape 7"/>
          <p:cNvSpPr/>
          <p:nvPr/>
        </p:nvSpPr>
        <p:spPr>
          <a:xfrm>
            <a:off x="6355080" y="242316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0" name="Shape 8"/>
          <p:cNvSpPr/>
          <p:nvPr/>
        </p:nvSpPr>
        <p:spPr>
          <a:xfrm>
            <a:off x="6629400" y="2743200"/>
            <a:ext cx="502920" cy="502920"/>
          </a:xfrm>
          <a:prstGeom prst="ellipse">
            <a:avLst/>
          </a:prstGeom>
          <a:solidFill>
            <a:srgbClr val="E07A5F"/>
          </a:solidFill>
          <a:ln/>
        </p:spPr>
      </p:sp>
      <p:sp>
        <p:nvSpPr>
          <p:cNvPr id="11" name="Text 9"/>
          <p:cNvSpPr/>
          <p:nvPr/>
        </p:nvSpPr>
        <p:spPr>
          <a:xfrm>
            <a:off x="6629400" y="274320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2" name="Text 10"/>
          <p:cNvSpPr/>
          <p:nvPr/>
        </p:nvSpPr>
        <p:spPr>
          <a:xfrm>
            <a:off x="7315200" y="269748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Legacy XML-RPC wide open</a:t>
            </a:r>
            <a:endParaRPr lang="en-US" sz="1900" dirty="0"/>
          </a:p>
        </p:txBody>
      </p:sp>
      <p:sp>
        <p:nvSpPr>
          <p:cNvPr id="13" name="Text 11"/>
          <p:cNvSpPr/>
          <p:nvPr/>
        </p:nvSpPr>
        <p:spPr>
          <a:xfrm>
            <a:off x="7315200" y="317296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Pingback and system.multicall amplifiers answer by default.</a:t>
            </a:r>
            <a:endParaRPr lang="en-US" sz="1400" dirty="0"/>
          </a:p>
        </p:txBody>
      </p:sp>
      <p:sp>
        <p:nvSpPr>
          <p:cNvPr id="14" name="Shape 12"/>
          <p:cNvSpPr/>
          <p:nvPr/>
        </p:nvSpPr>
        <p:spPr>
          <a:xfrm>
            <a:off x="54864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5" name="Shape 13"/>
          <p:cNvSpPr/>
          <p:nvPr/>
        </p:nvSpPr>
        <p:spPr>
          <a:xfrm>
            <a:off x="822960" y="4846320"/>
            <a:ext cx="502920" cy="502920"/>
          </a:xfrm>
          <a:prstGeom prst="ellipse">
            <a:avLst/>
          </a:prstGeom>
          <a:solidFill>
            <a:srgbClr val="C88F33"/>
          </a:solidFill>
          <a:ln/>
        </p:spPr>
      </p:sp>
      <p:sp>
        <p:nvSpPr>
          <p:cNvPr id="16" name="Text 14"/>
          <p:cNvSpPr/>
          <p:nvPr/>
        </p:nvSpPr>
        <p:spPr>
          <a:xfrm>
            <a:off x="82296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17" name="Text 15"/>
          <p:cNvSpPr/>
          <p:nvPr/>
        </p:nvSpPr>
        <p:spPr>
          <a:xfrm>
            <a:off x="150876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Dead weight loads</a:t>
            </a:r>
            <a:endParaRPr lang="en-US" sz="1900" dirty="0"/>
          </a:p>
        </p:txBody>
      </p:sp>
      <p:sp>
        <p:nvSpPr>
          <p:cNvPr id="18" name="Text 16"/>
          <p:cNvSpPr/>
          <p:nvPr/>
        </p:nvSpPr>
        <p:spPr>
          <a:xfrm>
            <a:off x="150876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Emoji scripts, version tags, and RSD links on every page.</a:t>
            </a:r>
            <a:endParaRPr lang="en-US" sz="1400" dirty="0"/>
          </a:p>
        </p:txBody>
      </p:sp>
      <p:sp>
        <p:nvSpPr>
          <p:cNvPr id="19" name="Shape 17"/>
          <p:cNvSpPr/>
          <p:nvPr/>
        </p:nvSpPr>
        <p:spPr>
          <a:xfrm>
            <a:off x="6355080" y="4526280"/>
            <a:ext cx="5257800" cy="1691640"/>
          </a:xfrm>
          <a:prstGeom prst="roundRect">
            <a:avLst>
              <a:gd name="adj" fmla="val 486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0" name="Shape 18"/>
          <p:cNvSpPr/>
          <p:nvPr/>
        </p:nvSpPr>
        <p:spPr>
          <a:xfrm>
            <a:off x="6629400" y="4846320"/>
            <a:ext cx="502920" cy="502920"/>
          </a:xfrm>
          <a:prstGeom prst="ellipse">
            <a:avLst/>
          </a:prstGeom>
          <a:solidFill>
            <a:srgbClr val="C88F33"/>
          </a:solidFill>
          <a:ln/>
        </p:spPr>
      </p:sp>
      <p:sp>
        <p:nvSpPr>
          <p:cNvPr id="21" name="Text 19"/>
          <p:cNvSpPr/>
          <p:nvPr/>
        </p:nvSpPr>
        <p:spPr>
          <a:xfrm>
            <a:off x="6629400" y="4846320"/>
            <a:ext cx="502920" cy="502920"/>
          </a:xfrm>
          <a:prstGeom prst="rect">
            <a:avLst/>
          </a:prstGeom>
          <a:noFill/>
          <a:ln/>
        </p:spPr>
        <p:txBody>
          <a:bodyPr wrap="square" lIns="0" tIns="0" rIns="0" bIns="0" rtlCol="0" anchor="ctr"/>
          <a:lstStyle/>
          <a:p>
            <a:pPr algn="ctr" indent="0" marL="0">
              <a:buNone/>
            </a:pPr>
            <a:r>
              <a:rPr lang="en-US" sz="1430" b="1" dirty="0">
                <a:solidFill>
                  <a:srgbClr val="FFFFFF"/>
                </a:solidFill>
                <a:latin typeface="Cambria" pitchFamily="34" charset="0"/>
                <a:ea typeface="Cambria" pitchFamily="34" charset="-122"/>
                <a:cs typeface="Cambria" pitchFamily="34" charset="-120"/>
              </a:rPr>
              <a:t>~</a:t>
            </a:r>
            <a:endParaRPr lang="en-US" sz="1430" dirty="0"/>
          </a:p>
        </p:txBody>
      </p:sp>
      <p:sp>
        <p:nvSpPr>
          <p:cNvPr id="22" name="Text 20"/>
          <p:cNvSpPr/>
          <p:nvPr/>
        </p:nvSpPr>
        <p:spPr>
          <a:xfrm>
            <a:off x="7315200" y="4800600"/>
            <a:ext cx="4069080" cy="457200"/>
          </a:xfrm>
          <a:prstGeom prst="rect">
            <a:avLst/>
          </a:prstGeom>
          <a:noFill/>
          <a:ln/>
        </p:spPr>
        <p:txBody>
          <a:bodyPr wrap="square" lIns="0" tIns="0" rIns="0" bIns="0" rtlCol="0" anchor="ctr"/>
          <a:lstStyle/>
          <a:p>
            <a:pPr indent="0" marL="0">
              <a:buNone/>
            </a:pPr>
            <a:r>
              <a:rPr lang="en-US" sz="1900" b="1" dirty="0">
                <a:solidFill>
                  <a:srgbClr val="0F2733"/>
                </a:solidFill>
                <a:latin typeface="Cambria" pitchFamily="34" charset="0"/>
                <a:ea typeface="Cambria" pitchFamily="34" charset="-122"/>
                <a:cs typeface="Cambria" pitchFamily="34" charset="-120"/>
              </a:rPr>
              <a:t>Spam surface invites</a:t>
            </a:r>
            <a:endParaRPr lang="en-US" sz="1900" dirty="0"/>
          </a:p>
        </p:txBody>
      </p:sp>
      <p:sp>
        <p:nvSpPr>
          <p:cNvPr id="23" name="Text 21"/>
          <p:cNvSpPr/>
          <p:nvPr/>
        </p:nvSpPr>
        <p:spPr>
          <a:xfrm>
            <a:off x="7315200" y="5276088"/>
            <a:ext cx="4069080" cy="822960"/>
          </a:xfrm>
          <a:prstGeom prst="rect">
            <a:avLst/>
          </a:prstGeom>
          <a:noFill/>
          <a:ln/>
        </p:spPr>
        <p:txBody>
          <a:bodyPr wrap="square" lIns="0" tIns="0" rIns="0" bIns="0" rtlCol="0" anchor="t"/>
          <a:lstStyle/>
          <a:p>
            <a:pPr indent="0" marL="0">
              <a:buNone/>
            </a:pPr>
            <a:r>
              <a:rPr lang="en-US" sz="1400" dirty="0">
                <a:solidFill>
                  <a:srgbClr val="4A5A63"/>
                </a:solidFill>
                <a:latin typeface="Calibri" pitchFamily="34" charset="0"/>
                <a:ea typeface="Calibri" pitchFamily="34" charset="-122"/>
                <a:cs typeface="Calibri" pitchFamily="34" charset="-120"/>
              </a:rPr>
              <a:t>Comments, pingbacks, and trackbacks open by default.</a:t>
            </a:r>
            <a:endParaRPr lang="en-US" sz="1400" dirty="0"/>
          </a:p>
        </p:txBody>
      </p:sp>
      <p:sp>
        <p:nvSpPr>
          <p:cNvPr id="24" name="Text 2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5" name="Text 2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7607A"/>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7607A"/>
          </a:solidFill>
          <a:ln/>
        </p:spPr>
      </p:sp>
      <p:sp>
        <p:nvSpPr>
          <p:cNvPr id="3" name="Text 1"/>
          <p:cNvSpPr/>
          <p:nvPr/>
        </p:nvSpPr>
        <p:spPr>
          <a:xfrm>
            <a:off x="731520" y="1051560"/>
            <a:ext cx="10058400" cy="54864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The one idea to take home</a:t>
            </a:r>
            <a:endParaRPr lang="en-US" sz="1800" dirty="0"/>
          </a:p>
        </p:txBody>
      </p:sp>
      <p:sp>
        <p:nvSpPr>
          <p:cNvPr id="4" name="Text 2"/>
          <p:cNvSpPr/>
          <p:nvPr/>
        </p:nvSpPr>
        <p:spPr>
          <a:xfrm>
            <a:off x="731520" y="1737360"/>
            <a:ext cx="10698480" cy="219456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A “default” is just an</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opinionated filter behind a toggle.</a:t>
            </a:r>
            <a:endParaRPr lang="en-US" sz="4400" dirty="0"/>
          </a:p>
        </p:txBody>
      </p:sp>
      <p:sp>
        <p:nvSpPr>
          <p:cNvPr id="5" name="Shape 3"/>
          <p:cNvSpPr/>
          <p:nvPr/>
        </p:nvSpPr>
        <p:spPr>
          <a:xfrm>
            <a:off x="731520" y="4114800"/>
            <a:ext cx="10698480" cy="1737360"/>
          </a:xfrm>
          <a:prstGeom prst="roundRect">
            <a:avLst>
              <a:gd name="adj" fmla="val 4211"/>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4279392"/>
            <a:ext cx="10296144" cy="1408176"/>
          </a:xfrm>
          <a:prstGeom prst="rect">
            <a:avLst/>
          </a:prstGeom>
          <a:noFill/>
          <a:ln/>
        </p:spPr>
        <p:txBody>
          <a:bodyPr wrap="square" lIns="0" tIns="0" rIns="0" bIns="0" rtlCol="0" anchor="t"/>
          <a:lstStyle/>
          <a:p>
            <a:pPr algn="l" indent="0" marL="0">
              <a:lnSpc>
                <a:spcPct val="108000"/>
              </a:lnSpc>
              <a:buNone/>
            </a:pPr>
            <a:r>
              <a:rPr lang="en-US" sz="1500" dirty="0">
                <a:solidFill>
                  <a:srgbClr val="DCEAF1"/>
                </a:solidFill>
                <a:latin typeface="Courier New" pitchFamily="34" charset="0"/>
                <a:ea typeface="Courier New" pitchFamily="34" charset="-122"/>
                <a:cs typeface="Courier New" pitchFamily="34" charset="-120"/>
              </a:rPr>
              <a:t>if ( wpyeg_defaults_enabled( 'restrict_rest_user_discovery' ) ) {</a:t>
            </a:r>
            <a:endParaRPr lang="en-US" sz="1500" dirty="0"/>
          </a:p>
          <a:p>
            <a:pPr algn="l" indent="0" marL="0">
              <a:lnSpc>
                <a:spcPct val="108000"/>
              </a:lnSpc>
              <a:buNone/>
            </a:pPr>
            <a:r>
              <a:rPr lang="en-US" sz="1500" dirty="0">
                <a:solidFill>
                  <a:srgbClr val="E7C070"/>
                </a:solidFill>
                <a:latin typeface="Courier New" pitchFamily="34" charset="0"/>
                <a:ea typeface="Courier New" pitchFamily="34" charset="-122"/>
                <a:cs typeface="Courier New" pitchFamily="34" charset="-120"/>
              </a:rPr>
              <a:t>    add_filter( 'rest_endpoints', $hide_users_endpoint );</a:t>
            </a:r>
            <a:endParaRPr lang="en-US" sz="1500" dirty="0"/>
          </a:p>
          <a:p>
            <a:pPr algn="l" indent="0" marL="0">
              <a:lnSpc>
                <a:spcPct val="108000"/>
              </a:lnSpc>
              <a:buNone/>
            </a:pPr>
            <a:r>
              <a:rPr lang="en-US" sz="1500" dirty="0">
                <a:solidFill>
                  <a:srgbClr val="8FBF9F"/>
                </a:solidFill>
                <a:latin typeface="Courier New" pitchFamily="34" charset="0"/>
                <a:ea typeface="Courier New" pitchFamily="34" charset="-122"/>
                <a:cs typeface="Courier New" pitchFamily="34" charset="-120"/>
              </a:rPr>
              <a:t>}   // that's the whole pattern, repeated ~20 times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Hooks &amp; filters</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WordPress is built to be interrupted at labeled moments (hooks) so you never edit core code.</a:t>
            </a:r>
            <a:endParaRPr lang="en-US" sz="1600" dirty="0"/>
          </a:p>
        </p:txBody>
      </p:sp>
      <p:sp>
        <p:nvSpPr>
          <p:cNvPr id="4" name="Shape 2"/>
          <p:cNvSpPr/>
          <p:nvPr/>
        </p:nvSpPr>
        <p:spPr>
          <a:xfrm>
            <a:off x="548640" y="214884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5" name="Shape 3"/>
          <p:cNvSpPr/>
          <p:nvPr/>
        </p:nvSpPr>
        <p:spPr>
          <a:xfrm>
            <a:off x="868680" y="2651760"/>
            <a:ext cx="640080" cy="640080"/>
          </a:xfrm>
          <a:prstGeom prst="ellipse">
            <a:avLst/>
          </a:prstGeom>
          <a:solidFill>
            <a:srgbClr val="27607A"/>
          </a:solidFill>
          <a:ln/>
        </p:spPr>
      </p:sp>
      <p:sp>
        <p:nvSpPr>
          <p:cNvPr id="6" name="Text 4"/>
          <p:cNvSpPr/>
          <p:nvPr/>
        </p:nvSpPr>
        <p:spPr>
          <a:xfrm>
            <a:off x="868680" y="265176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A</a:t>
            </a:r>
            <a:endParaRPr lang="en-US" sz="1820" dirty="0"/>
          </a:p>
        </p:txBody>
      </p:sp>
      <p:sp>
        <p:nvSpPr>
          <p:cNvPr id="7" name="Text 5"/>
          <p:cNvSpPr/>
          <p:nvPr/>
        </p:nvSpPr>
        <p:spPr>
          <a:xfrm>
            <a:off x="1737360" y="235000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Action</a:t>
            </a:r>
            <a:endParaRPr lang="en-US" sz="2200" dirty="0"/>
          </a:p>
        </p:txBody>
      </p:sp>
      <p:sp>
        <p:nvSpPr>
          <p:cNvPr id="8" name="Text 6"/>
          <p:cNvSpPr/>
          <p:nvPr/>
        </p:nvSpPr>
        <p:spPr>
          <a:xfrm>
            <a:off x="1737360" y="283464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“When you reach this moment, also DO this.”</a:t>
            </a:r>
            <a:endParaRPr lang="en-US" sz="1450" dirty="0"/>
          </a:p>
        </p:txBody>
      </p:sp>
      <p:sp>
        <p:nvSpPr>
          <p:cNvPr id="9" name="Shape 7"/>
          <p:cNvSpPr/>
          <p:nvPr/>
        </p:nvSpPr>
        <p:spPr>
          <a:xfrm>
            <a:off x="7772400" y="2606040"/>
            <a:ext cx="3611880" cy="731520"/>
          </a:xfrm>
          <a:prstGeom prst="roundRect">
            <a:avLst>
              <a:gd name="adj" fmla="val 7500"/>
            </a:avLst>
          </a:prstGeom>
          <a:solidFill>
            <a:srgbClr val="0E2836"/>
          </a:solidFill>
          <a:ln/>
        </p:spPr>
      </p:sp>
      <p:sp>
        <p:nvSpPr>
          <p:cNvPr id="10" name="Text 8"/>
          <p:cNvSpPr/>
          <p:nvPr/>
        </p:nvSpPr>
        <p:spPr>
          <a:xfrm>
            <a:off x="7909560" y="260604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add_action( 'init', fn );</a:t>
            </a:r>
            <a:endParaRPr lang="en-US" sz="1050" dirty="0"/>
          </a:p>
        </p:txBody>
      </p:sp>
      <p:sp>
        <p:nvSpPr>
          <p:cNvPr id="11" name="Shape 9"/>
          <p:cNvSpPr/>
          <p:nvPr/>
        </p:nvSpPr>
        <p:spPr>
          <a:xfrm>
            <a:off x="548640" y="4023360"/>
            <a:ext cx="11064240" cy="1645920"/>
          </a:xfrm>
          <a:prstGeom prst="roundRect">
            <a:avLst>
              <a:gd name="adj" fmla="val 5000"/>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868680" y="4526280"/>
            <a:ext cx="640080" cy="640080"/>
          </a:xfrm>
          <a:prstGeom prst="ellipse">
            <a:avLst/>
          </a:prstGeom>
          <a:solidFill>
            <a:srgbClr val="27607A"/>
          </a:solidFill>
          <a:ln/>
        </p:spPr>
      </p:sp>
      <p:sp>
        <p:nvSpPr>
          <p:cNvPr id="13" name="Text 11"/>
          <p:cNvSpPr/>
          <p:nvPr/>
        </p:nvSpPr>
        <p:spPr>
          <a:xfrm>
            <a:off x="868680" y="4526280"/>
            <a:ext cx="640080" cy="640080"/>
          </a:xfrm>
          <a:prstGeom prst="rect">
            <a:avLst/>
          </a:prstGeom>
          <a:noFill/>
          <a:ln/>
        </p:spPr>
        <p:txBody>
          <a:bodyPr wrap="square" lIns="0" tIns="0" rIns="0" bIns="0" rtlCol="0" anchor="ctr"/>
          <a:lstStyle/>
          <a:p>
            <a:pPr algn="ctr" indent="0" marL="0">
              <a:buNone/>
            </a:pPr>
            <a:r>
              <a:rPr lang="en-US" sz="1820" b="1" dirty="0">
                <a:solidFill>
                  <a:srgbClr val="FFFFFF"/>
                </a:solidFill>
                <a:latin typeface="Cambria" pitchFamily="34" charset="0"/>
                <a:ea typeface="Cambria" pitchFamily="34" charset="-122"/>
                <a:cs typeface="Cambria" pitchFamily="34" charset="-120"/>
              </a:rPr>
              <a:t>F</a:t>
            </a:r>
            <a:endParaRPr lang="en-US" sz="1820" dirty="0"/>
          </a:p>
        </p:txBody>
      </p:sp>
      <p:sp>
        <p:nvSpPr>
          <p:cNvPr id="14" name="Text 12"/>
          <p:cNvSpPr/>
          <p:nvPr/>
        </p:nvSpPr>
        <p:spPr>
          <a:xfrm>
            <a:off x="1737360" y="4224528"/>
            <a:ext cx="2743200" cy="457200"/>
          </a:xfrm>
          <a:prstGeom prst="rect">
            <a:avLst/>
          </a:prstGeom>
          <a:noFill/>
          <a:ln/>
        </p:spPr>
        <p:txBody>
          <a:bodyPr wrap="square" lIns="0" tIns="0" rIns="0" bIns="0" rtlCol="0" anchor="ctr"/>
          <a:lstStyle/>
          <a:p>
            <a:pPr indent="0" marL="0">
              <a:buNone/>
            </a:pPr>
            <a:r>
              <a:rPr lang="en-US" sz="2200" b="1" dirty="0">
                <a:solidFill>
                  <a:srgbClr val="27607A"/>
                </a:solidFill>
                <a:latin typeface="Cambria" pitchFamily="34" charset="0"/>
                <a:ea typeface="Cambria" pitchFamily="34" charset="-122"/>
                <a:cs typeface="Cambria" pitchFamily="34" charset="-120"/>
              </a:rPr>
              <a:t>Filter</a:t>
            </a:r>
            <a:endParaRPr lang="en-US" sz="2200" dirty="0"/>
          </a:p>
        </p:txBody>
      </p:sp>
      <p:sp>
        <p:nvSpPr>
          <p:cNvPr id="15" name="Text 13"/>
          <p:cNvSpPr/>
          <p:nvPr/>
        </p:nvSpPr>
        <p:spPr>
          <a:xfrm>
            <a:off x="1737360" y="4709160"/>
            <a:ext cx="5852160" cy="822960"/>
          </a:xfrm>
          <a:prstGeom prst="rect">
            <a:avLst/>
          </a:prstGeom>
          <a:noFill/>
          <a:ln/>
        </p:spPr>
        <p:txBody>
          <a:bodyPr wrap="square" lIns="0" tIns="0" rIns="0" bIns="0" rtlCol="0" anchor="t"/>
          <a:lstStyle/>
          <a:p>
            <a:pPr indent="0" marL="0">
              <a:buNone/>
            </a:pPr>
            <a:r>
              <a:rPr lang="en-US" sz="1450" dirty="0">
                <a:solidFill>
                  <a:srgbClr val="4A5A63"/>
                </a:solidFill>
                <a:latin typeface="Calibri" pitchFamily="34" charset="0"/>
                <a:ea typeface="Calibri" pitchFamily="34" charset="-122"/>
                <a:cs typeface="Calibri" pitchFamily="34" charset="-120"/>
              </a:rPr>
              <a:t>“Before you use this value, let me CHANGE it first.”</a:t>
            </a:r>
            <a:endParaRPr lang="en-US" sz="1450" dirty="0"/>
          </a:p>
        </p:txBody>
      </p:sp>
      <p:sp>
        <p:nvSpPr>
          <p:cNvPr id="16" name="Shape 14"/>
          <p:cNvSpPr/>
          <p:nvPr/>
        </p:nvSpPr>
        <p:spPr>
          <a:xfrm>
            <a:off x="7772400" y="4480560"/>
            <a:ext cx="3611880" cy="731520"/>
          </a:xfrm>
          <a:prstGeom prst="roundRect">
            <a:avLst>
              <a:gd name="adj" fmla="val 7500"/>
            </a:avLst>
          </a:prstGeom>
          <a:solidFill>
            <a:srgbClr val="0E2836"/>
          </a:solidFill>
          <a:ln/>
        </p:spPr>
      </p:sp>
      <p:sp>
        <p:nvSpPr>
          <p:cNvPr id="17" name="Text 15"/>
          <p:cNvSpPr/>
          <p:nvPr/>
        </p:nvSpPr>
        <p:spPr>
          <a:xfrm>
            <a:off x="7909560" y="4480560"/>
            <a:ext cx="3383280" cy="731520"/>
          </a:xfrm>
          <a:prstGeom prst="rect">
            <a:avLst/>
          </a:prstGeom>
          <a:noFill/>
          <a:ln/>
        </p:spPr>
        <p:txBody>
          <a:bodyPr wrap="square" lIns="0" tIns="0" rIns="0" bIns="0" rtlCol="0" anchor="ctr"/>
          <a:lstStyle/>
          <a:p>
            <a:pPr indent="0" marL="0">
              <a:buNone/>
            </a:pPr>
            <a:r>
              <a:rPr lang="en-US" sz="1050" dirty="0">
                <a:solidFill>
                  <a:srgbClr val="E7C070"/>
                </a:solidFill>
                <a:latin typeface="Courier New" pitchFamily="34" charset="0"/>
                <a:ea typeface="Courier New" pitchFamily="34" charset="-122"/>
                <a:cs typeface="Courier New" pitchFamily="34" charset="-120"/>
              </a:rPr>
              <a:t>add_filter( 'xmlrpc_enabled', '__return_false' );</a:t>
            </a:r>
            <a:endParaRPr lang="en-US" sz="1050" dirty="0"/>
          </a:p>
        </p:txBody>
      </p:sp>
      <p:sp>
        <p:nvSpPr>
          <p:cNvPr id="18" name="Text 16"/>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9" name="Text 17"/>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400" b="1" dirty="0">
                <a:solidFill>
                  <a:srgbClr val="0F2733"/>
                </a:solidFill>
                <a:latin typeface="Cambria" pitchFamily="34" charset="0"/>
                <a:ea typeface="Cambria" pitchFamily="34" charset="-122"/>
                <a:cs typeface="Cambria" pitchFamily="34" charset="-120"/>
              </a:rPr>
              <a:t>Six categories of defaults</a:t>
            </a:r>
            <a:endParaRPr lang="en-US" sz="3400" dirty="0"/>
          </a:p>
        </p:txBody>
      </p:sp>
      <p:sp>
        <p:nvSpPr>
          <p:cNvPr id="3" name="Shape 1"/>
          <p:cNvSpPr/>
          <p:nvPr/>
        </p:nvSpPr>
        <p:spPr>
          <a:xfrm>
            <a:off x="548640"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4" name="Shape 2"/>
          <p:cNvSpPr/>
          <p:nvPr/>
        </p:nvSpPr>
        <p:spPr>
          <a:xfrm>
            <a:off x="868680" y="1874520"/>
            <a:ext cx="640080" cy="640080"/>
          </a:xfrm>
          <a:prstGeom prst="ellipse">
            <a:avLst/>
          </a:prstGeom>
          <a:solidFill>
            <a:srgbClr val="E0A94B"/>
          </a:solidFill>
          <a:ln/>
        </p:spPr>
      </p:sp>
      <p:sp>
        <p:nvSpPr>
          <p:cNvPr id="5" name="Text 3"/>
          <p:cNvSpPr/>
          <p:nvPr/>
        </p:nvSpPr>
        <p:spPr>
          <a:xfrm>
            <a:off x="868680"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1</a:t>
            </a:r>
            <a:endParaRPr lang="en-US" sz="1820" dirty="0"/>
          </a:p>
        </p:txBody>
      </p:sp>
      <p:sp>
        <p:nvSpPr>
          <p:cNvPr id="6" name="Text 4"/>
          <p:cNvSpPr/>
          <p:nvPr/>
        </p:nvSpPr>
        <p:spPr>
          <a:xfrm>
            <a:off x="868680"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Security</a:t>
            </a:r>
            <a:endParaRPr lang="en-US" sz="2100" dirty="0"/>
          </a:p>
        </p:txBody>
      </p:sp>
      <p:sp>
        <p:nvSpPr>
          <p:cNvPr id="7" name="Text 5"/>
          <p:cNvSpPr/>
          <p:nvPr/>
        </p:nvSpPr>
        <p:spPr>
          <a:xfrm>
            <a:off x="868680"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Shrink the attack surface</a:t>
            </a:r>
            <a:endParaRPr lang="en-US" sz="1350" dirty="0"/>
          </a:p>
        </p:txBody>
      </p:sp>
      <p:sp>
        <p:nvSpPr>
          <p:cNvPr id="8" name="Shape 6"/>
          <p:cNvSpPr/>
          <p:nvPr/>
        </p:nvSpPr>
        <p:spPr>
          <a:xfrm>
            <a:off x="4507992"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9" name="Shape 7"/>
          <p:cNvSpPr/>
          <p:nvPr/>
        </p:nvSpPr>
        <p:spPr>
          <a:xfrm>
            <a:off x="4828032" y="1874520"/>
            <a:ext cx="640080" cy="640080"/>
          </a:xfrm>
          <a:prstGeom prst="ellipse">
            <a:avLst/>
          </a:prstGeom>
          <a:solidFill>
            <a:srgbClr val="E0A94B"/>
          </a:solidFill>
          <a:ln/>
        </p:spPr>
      </p:sp>
      <p:sp>
        <p:nvSpPr>
          <p:cNvPr id="10" name="Text 8"/>
          <p:cNvSpPr/>
          <p:nvPr/>
        </p:nvSpPr>
        <p:spPr>
          <a:xfrm>
            <a:off x="4828032"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2</a:t>
            </a:r>
            <a:endParaRPr lang="en-US" sz="1820" dirty="0"/>
          </a:p>
        </p:txBody>
      </p:sp>
      <p:sp>
        <p:nvSpPr>
          <p:cNvPr id="11" name="Text 9"/>
          <p:cNvSpPr/>
          <p:nvPr/>
        </p:nvSpPr>
        <p:spPr>
          <a:xfrm>
            <a:off x="4828032"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Content</a:t>
            </a:r>
            <a:endParaRPr lang="en-US" sz="2100" dirty="0"/>
          </a:p>
        </p:txBody>
      </p:sp>
      <p:sp>
        <p:nvSpPr>
          <p:cNvPr id="12" name="Text 10"/>
          <p:cNvSpPr/>
          <p:nvPr/>
        </p:nvSpPr>
        <p:spPr>
          <a:xfrm>
            <a:off x="4828032"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Close spam channels &amp; info leaks</a:t>
            </a:r>
            <a:endParaRPr lang="en-US" sz="1350" dirty="0"/>
          </a:p>
        </p:txBody>
      </p:sp>
      <p:sp>
        <p:nvSpPr>
          <p:cNvPr id="13" name="Shape 11"/>
          <p:cNvSpPr/>
          <p:nvPr/>
        </p:nvSpPr>
        <p:spPr>
          <a:xfrm>
            <a:off x="8467344" y="155448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4" name="Shape 12"/>
          <p:cNvSpPr/>
          <p:nvPr/>
        </p:nvSpPr>
        <p:spPr>
          <a:xfrm>
            <a:off x="8787384" y="1874520"/>
            <a:ext cx="640080" cy="640080"/>
          </a:xfrm>
          <a:prstGeom prst="ellipse">
            <a:avLst/>
          </a:prstGeom>
          <a:solidFill>
            <a:srgbClr val="E0A94B"/>
          </a:solidFill>
          <a:ln/>
        </p:spPr>
      </p:sp>
      <p:sp>
        <p:nvSpPr>
          <p:cNvPr id="15" name="Text 13"/>
          <p:cNvSpPr/>
          <p:nvPr/>
        </p:nvSpPr>
        <p:spPr>
          <a:xfrm>
            <a:off x="8787384" y="18745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3</a:t>
            </a:r>
            <a:endParaRPr lang="en-US" sz="1820" dirty="0"/>
          </a:p>
        </p:txBody>
      </p:sp>
      <p:sp>
        <p:nvSpPr>
          <p:cNvPr id="16" name="Text 14"/>
          <p:cNvSpPr/>
          <p:nvPr/>
        </p:nvSpPr>
        <p:spPr>
          <a:xfrm>
            <a:off x="8787384" y="260604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Admin UX</a:t>
            </a:r>
            <a:endParaRPr lang="en-US" sz="2100" dirty="0"/>
          </a:p>
        </p:txBody>
      </p:sp>
      <p:sp>
        <p:nvSpPr>
          <p:cNvPr id="17" name="Text 15"/>
          <p:cNvSpPr/>
          <p:nvPr/>
        </p:nvSpPr>
        <p:spPr>
          <a:xfrm>
            <a:off x="8787384" y="301752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A calmer, faster dashboard</a:t>
            </a:r>
            <a:endParaRPr lang="en-US" sz="1350" dirty="0"/>
          </a:p>
        </p:txBody>
      </p:sp>
      <p:sp>
        <p:nvSpPr>
          <p:cNvPr id="18" name="Shape 16"/>
          <p:cNvSpPr/>
          <p:nvPr/>
        </p:nvSpPr>
        <p:spPr>
          <a:xfrm>
            <a:off x="548640"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9" name="Shape 17"/>
          <p:cNvSpPr/>
          <p:nvPr/>
        </p:nvSpPr>
        <p:spPr>
          <a:xfrm>
            <a:off x="868680" y="4297680"/>
            <a:ext cx="640080" cy="640080"/>
          </a:xfrm>
          <a:prstGeom prst="ellipse">
            <a:avLst/>
          </a:prstGeom>
          <a:solidFill>
            <a:srgbClr val="E0A94B"/>
          </a:solidFill>
          <a:ln/>
        </p:spPr>
      </p:sp>
      <p:sp>
        <p:nvSpPr>
          <p:cNvPr id="20" name="Text 18"/>
          <p:cNvSpPr/>
          <p:nvPr/>
        </p:nvSpPr>
        <p:spPr>
          <a:xfrm>
            <a:off x="868680"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4</a:t>
            </a:r>
            <a:endParaRPr lang="en-US" sz="1820" dirty="0"/>
          </a:p>
        </p:txBody>
      </p:sp>
      <p:sp>
        <p:nvSpPr>
          <p:cNvPr id="21" name="Text 19"/>
          <p:cNvSpPr/>
          <p:nvPr/>
        </p:nvSpPr>
        <p:spPr>
          <a:xfrm>
            <a:off x="868680"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Login</a:t>
            </a:r>
            <a:endParaRPr lang="en-US" sz="2100" dirty="0"/>
          </a:p>
        </p:txBody>
      </p:sp>
      <p:sp>
        <p:nvSpPr>
          <p:cNvPr id="22" name="Text 20"/>
          <p:cNvSpPr/>
          <p:nvPr/>
        </p:nvSpPr>
        <p:spPr>
          <a:xfrm>
            <a:off x="868680"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Sessions &amp; credentials</a:t>
            </a:r>
            <a:endParaRPr lang="en-US" sz="1350" dirty="0"/>
          </a:p>
        </p:txBody>
      </p:sp>
      <p:sp>
        <p:nvSpPr>
          <p:cNvPr id="23" name="Shape 21"/>
          <p:cNvSpPr/>
          <p:nvPr/>
        </p:nvSpPr>
        <p:spPr>
          <a:xfrm>
            <a:off x="4507992"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4" name="Shape 22"/>
          <p:cNvSpPr/>
          <p:nvPr/>
        </p:nvSpPr>
        <p:spPr>
          <a:xfrm>
            <a:off x="4828032" y="4297680"/>
            <a:ext cx="640080" cy="640080"/>
          </a:xfrm>
          <a:prstGeom prst="ellipse">
            <a:avLst/>
          </a:prstGeom>
          <a:solidFill>
            <a:srgbClr val="E0A94B"/>
          </a:solidFill>
          <a:ln/>
        </p:spPr>
      </p:sp>
      <p:sp>
        <p:nvSpPr>
          <p:cNvPr id="25" name="Text 23"/>
          <p:cNvSpPr/>
          <p:nvPr/>
        </p:nvSpPr>
        <p:spPr>
          <a:xfrm>
            <a:off x="4828032"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5</a:t>
            </a:r>
            <a:endParaRPr lang="en-US" sz="1820" dirty="0"/>
          </a:p>
        </p:txBody>
      </p:sp>
      <p:sp>
        <p:nvSpPr>
          <p:cNvPr id="26" name="Text 24"/>
          <p:cNvSpPr/>
          <p:nvPr/>
        </p:nvSpPr>
        <p:spPr>
          <a:xfrm>
            <a:off x="4828032"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Branding</a:t>
            </a:r>
            <a:endParaRPr lang="en-US" sz="2100" dirty="0"/>
          </a:p>
        </p:txBody>
      </p:sp>
      <p:sp>
        <p:nvSpPr>
          <p:cNvPr id="27" name="Text 25"/>
          <p:cNvSpPr/>
          <p:nvPr/>
        </p:nvSpPr>
        <p:spPr>
          <a:xfrm>
            <a:off x="4828032"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Own the login screen</a:t>
            </a:r>
            <a:endParaRPr lang="en-US" sz="1350" dirty="0"/>
          </a:p>
        </p:txBody>
      </p:sp>
      <p:sp>
        <p:nvSpPr>
          <p:cNvPr id="28" name="Shape 26"/>
          <p:cNvSpPr/>
          <p:nvPr/>
        </p:nvSpPr>
        <p:spPr>
          <a:xfrm>
            <a:off x="8467344" y="3977640"/>
            <a:ext cx="3502152" cy="1965960"/>
          </a:xfrm>
          <a:prstGeom prst="roundRect">
            <a:avLst>
              <a:gd name="adj" fmla="val 4651"/>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29" name="Shape 27"/>
          <p:cNvSpPr/>
          <p:nvPr/>
        </p:nvSpPr>
        <p:spPr>
          <a:xfrm>
            <a:off x="8787384" y="4297680"/>
            <a:ext cx="640080" cy="640080"/>
          </a:xfrm>
          <a:prstGeom prst="ellipse">
            <a:avLst/>
          </a:prstGeom>
          <a:solidFill>
            <a:srgbClr val="E0A94B"/>
          </a:solidFill>
          <a:ln/>
        </p:spPr>
      </p:sp>
      <p:sp>
        <p:nvSpPr>
          <p:cNvPr id="30" name="Text 28"/>
          <p:cNvSpPr/>
          <p:nvPr/>
        </p:nvSpPr>
        <p:spPr>
          <a:xfrm>
            <a:off x="8787384" y="429768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6</a:t>
            </a:r>
            <a:endParaRPr lang="en-US" sz="1820" dirty="0"/>
          </a:p>
        </p:txBody>
      </p:sp>
      <p:sp>
        <p:nvSpPr>
          <p:cNvPr id="31" name="Text 29"/>
          <p:cNvSpPr/>
          <p:nvPr/>
        </p:nvSpPr>
        <p:spPr>
          <a:xfrm>
            <a:off x="8787384" y="5029200"/>
            <a:ext cx="2862072" cy="457200"/>
          </a:xfrm>
          <a:prstGeom prst="rect">
            <a:avLst/>
          </a:prstGeom>
          <a:noFill/>
          <a:ln/>
        </p:spPr>
        <p:txBody>
          <a:bodyPr wrap="square" lIns="0" tIns="0" rIns="0" bIns="0" rtlCol="0" anchor="ctr"/>
          <a:lstStyle/>
          <a:p>
            <a:pPr indent="0" marL="0">
              <a:buNone/>
            </a:pPr>
            <a:r>
              <a:rPr lang="en-US" sz="2100" b="1" dirty="0">
                <a:solidFill>
                  <a:srgbClr val="0F2733"/>
                </a:solidFill>
                <a:latin typeface="Cambria" pitchFamily="34" charset="0"/>
                <a:ea typeface="Cambria" pitchFamily="34" charset="-122"/>
                <a:cs typeface="Cambria" pitchFamily="34" charset="-120"/>
              </a:rPr>
              <a:t>Performance</a:t>
            </a:r>
            <a:endParaRPr lang="en-US" sz="2100" dirty="0"/>
          </a:p>
        </p:txBody>
      </p:sp>
      <p:sp>
        <p:nvSpPr>
          <p:cNvPr id="32" name="Text 30"/>
          <p:cNvSpPr/>
          <p:nvPr/>
        </p:nvSpPr>
        <p:spPr>
          <a:xfrm>
            <a:off x="8787384" y="5440680"/>
            <a:ext cx="2862072" cy="411480"/>
          </a:xfrm>
          <a:prstGeom prst="rect">
            <a:avLst/>
          </a:prstGeom>
          <a:noFill/>
          <a:ln/>
        </p:spPr>
        <p:txBody>
          <a:bodyPr wrap="square" lIns="0" tIns="0" rIns="0" bIns="0" rtlCol="0" anchor="ctr"/>
          <a:lstStyle/>
          <a:p>
            <a:pPr indent="0" marL="0">
              <a:buNone/>
            </a:pPr>
            <a:r>
              <a:rPr lang="en-US" sz="1350" dirty="0">
                <a:solidFill>
                  <a:srgbClr val="4A5A63"/>
                </a:solidFill>
                <a:latin typeface="Calibri" pitchFamily="34" charset="0"/>
                <a:ea typeface="Calibri" pitchFamily="34" charset="-122"/>
                <a:cs typeface="Calibri" pitchFamily="34" charset="-120"/>
              </a:rPr>
              <a:t>Trim the page weight</a:t>
            </a:r>
            <a:endParaRPr lang="en-US" sz="1350" dirty="0"/>
          </a:p>
        </p:txBody>
      </p:sp>
      <p:sp>
        <p:nvSpPr>
          <p:cNvPr id="33" name="Text 31"/>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34" name="Text 32"/>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1</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ONE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Security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Attack Surface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Every item here removes something an attacker can poke — usually in one line.</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1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Restrict REST API user discovery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/wp/v2/users endpoint hands out every author's login name to anyone — half of a brute-force guess, for free. Closing it for logged-out requests only keeps the editor and legit integrations working.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wpyeg_restrict_rest_user_discovery</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'rest_endpoints', function ( $ep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unset( $ep['/wp/v2/users']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unset(</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$ep['/wp/v2/users/(?P&lt;id&gt;[\d]+)']</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$ep;</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2 of 6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REST to logged-in users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sledgehammer version of the slide before: requiring auth for ALL REST calls stops anonymous scraping cold. It breaks anonymous REST — front-end blocks, embeds, search, outside integrations — so it ships off.</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wpyeg_disable_rest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'rest_authentication_errors',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$result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empty( $result ) )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 is_user_logged_in()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new WP_Error(</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'rest_not_logged_in', 'Auth required.',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array( 'status' =&gt; 401 )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$result;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3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Lock XML-RPC down by category</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XML-RPC isn't one door — it's an old switchboard, and every method is a phone line. Rather than rip the box off the wall, we unplug lines by category. Four switches, all off by default.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wpyeg_xmlrpc_allow_* + _block_xmlrpc_endpoint</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(all four)</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each category off → remove its methods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'xmlrpc_methods', function ( $m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'pingbacks' )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unset( $m['pingback.ping']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 allow( 'remote_publishing' )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drop wp.* metaWeblog.* mt.* blogger.*</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$m;</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multicall can't be filtered off (IXR re-adds it)</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 swap in a server that refuses it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add_filter( 'wp_xmlrpc_server_class', $refuse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4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Keep Application Passwords available</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This is an existing default we don't lock down. An Application Password is like a spare key cut for one app: hashed, per-application, revocable on its own — the safer REST credential, and the only one core accepts for REST Basic Auth.</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wpyeg_disable_application_passwords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(available)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available by default —</a:t>
            </a:r>
            <a:endParaRPr lang="en-US" sz="1250" dirty="0"/>
          </a:p>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 prohibit only if opted in</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if ( wpyeg_defaults_enabled(</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'disable_application_passwords' ) )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add_filter(</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'wp_is_application_passwords_available',</a:t>
            </a:r>
            <a:endParaRPr lang="en-US" sz="1250" dirty="0"/>
          </a:p>
          <a:p>
            <a:pPr algn="l" indent="0" marL="0">
              <a:lnSpc>
                <a:spcPct val="108000"/>
              </a:lnSpc>
              <a:buNone/>
            </a:pPr>
            <a:r>
              <a:rPr lang="en-US" sz="1250" dirty="0">
                <a:solidFill>
                  <a:srgbClr val="E7C070"/>
                </a:solidFill>
                <a:latin typeface="Courier New" pitchFamily="34" charset="0"/>
                <a:ea typeface="Courier New" pitchFamily="34" charset="-122"/>
                <a:cs typeface="Courier New" pitchFamily="34" charset="-120"/>
              </a:rPr>
              <a:t>    '__return_false'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  );</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a:t>
            </a:r>
            <a:endParaRPr lang="en-US" sz="12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5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Require strong passwords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NIST 800-63B and OWASP now say length plus breach screening beats composition rules. So we require 15+ characters and screen every new password against Have I Been Pwned — all enforced server-side.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wpyeg_require_strong_passwords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hooked on user_profile_update_errors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strlen( $pw ) &lt; 15 )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'short', 'Use 15+ characters.'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screen against known breaches (HIBP)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length + screening, not composition rules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if ( wpyeg_password_is_pwned( $pw )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$errors-&gt;add( 'pwned', 'Seen in a breach.'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SECURITY · 6 of 6</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Remove fingerprints, add headers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Two quick wins. Version hiding is obscurity, not security — but it cuts automated scanner noise. The three headers are safe defaults most sites can adopt without breaking anything.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wpyeg_remove_version / wpyeg_security_headers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remove_action( 'wp_head', 'wp_generator'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'wp_headers', function ( $h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$h['X-Content-Type-Options'] = 'nosniff';</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$h['X-Frame-Options']        = 'SAMEORIGIN';</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$h['Referrer-Policy']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'strict-origin-when-cross-origin';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$h;</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2</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TWO</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Content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Public Surfaces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Close the spam funnels and the thin pages Google (and bots) love to crawl.</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1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comments, trackbacks &amp; pingbacks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For many sites, comments are a spam magnet with little upside. Here we close them everywhere, hide existing threads, and drop the admin menu.</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wpyeg_disable_comments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'comments_open', '__return_false', 20 );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add_filter( 'pings_open',    '__return_false',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'comments_array',</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'__return_empty_array', 20 );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remove_post_type_support() on init</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remove_menu_page('edit-comments.php')</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drop the admin-bar comments node</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2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Redirect author &amp; attachment pages</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Author archives expose the authors' usernames in the URL, and attachment pages are near-empty media wrappers. Both dilute SEO and are targets for trouble. Same hook, two conditions.</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wpyeg_disable_author_archives / _redirect_attachment_pages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 / 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'template_redirect',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is_author()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wp_safe_redirect( home_url('/'), 301 );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exit;</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if ( is_attachment()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301 to parent post, or home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CONTENT · 3 of 3</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Disable the emoji script</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WordPress core injects an emoji-detection script and inline CSS on every page load, plus a DNS-prefetch hint. Modern browsers render emoji natively, so this is pure dead weight.</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wpyeg_disable_emojis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yes</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add_action( 'init', function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'wp_head',</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'print_emoji_detection_script', 7 );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remove_action( 'wp_print_styles',</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'print_emoji_styles'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...admin + feed + mail variants too</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add_filter( 'emoji_svg_url',</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'__return_false'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3</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THREE</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Admin UX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Login Sessions</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Small quality-of-life defaults: a calmer dashboard and sensible session policy.</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ADMIN UX</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Faster search, quieter admin bar</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Search the admin post list on a big site and WordPress reads every word of every post — like finding a book by reading the whole library. Title-only search checks just the spines, and it's far faster.</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wpyeg_title_only_admin_search / _frontend_admin_bar_behavior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title-only admin search — narrow the 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'post_search_columns',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function ( $cols, $s, $q )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if ( is_admin() &amp;&amp; $q-&gt;is_main_query() )</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return array( 'post_title' );</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return $cols;   // front-end untouched</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  }, 10, 3 );</a:t>
            </a:r>
            <a:endParaRPr lang="en-US" sz="1100" dirty="0"/>
          </a:p>
          <a:p>
            <a:pPr algn="l" indent="0" marL="0">
              <a:lnSpc>
                <a:spcPct val="108000"/>
              </a:lnSpc>
              <a:buNone/>
            </a:pPr>
            <a:r>
              <a:rPr lang="en-US" sz="1100" dirty="0">
                <a:solidFill>
                  <a:srgbClr val="8FBF9F"/>
                </a:solidFill>
                <a:latin typeface="Courier New" pitchFamily="34" charset="0"/>
                <a:ea typeface="Courier New" pitchFamily="34" charset="-122"/>
                <a:cs typeface="Courier New" pitchFamily="34" charset="-120"/>
              </a:rPr>
              <a:t>// hide bar for non-admins</a:t>
            </a:r>
            <a:endParaRPr lang="en-US" sz="1100" dirty="0"/>
          </a:p>
          <a:p>
            <a:pPr algn="l" indent="0" marL="0">
              <a:lnSpc>
                <a:spcPct val="108000"/>
              </a:lnSpc>
              <a:buNone/>
            </a:pPr>
            <a:r>
              <a:rPr lang="en-US" sz="1100" dirty="0">
                <a:solidFill>
                  <a:srgbClr val="DCEAF1"/>
                </a:solidFill>
                <a:latin typeface="Courier New" pitchFamily="34" charset="0"/>
                <a:ea typeface="Courier New" pitchFamily="34" charset="-122"/>
                <a:cs typeface="Courier New" pitchFamily="34" charset="-120"/>
              </a:rPr>
              <a:t>add_filter( 'show_admin_bar', fn( $s ) =&gt;</a:t>
            </a:r>
            <a:endParaRPr lang="en-US" sz="1100" dirty="0"/>
          </a:p>
          <a:p>
            <a:pPr algn="l" indent="0" marL="0">
              <a:lnSpc>
                <a:spcPct val="108000"/>
              </a:lnSpc>
              <a:buNone/>
            </a:pPr>
            <a:r>
              <a:rPr lang="en-US" sz="1100" dirty="0">
                <a:solidFill>
                  <a:srgbClr val="E7C070"/>
                </a:solidFill>
                <a:latin typeface="Courier New" pitchFamily="34" charset="0"/>
                <a:ea typeface="Courier New" pitchFamily="34" charset="-122"/>
                <a:cs typeface="Courier New" pitchFamily="34" charset="-120"/>
              </a:rPr>
              <a:t>  current_user_can('manage_options') ? $s : false );</a:t>
            </a:r>
            <a:endParaRPr lang="en-US" sz="11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LOGIN &amp; SESSIONS</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Right-size the login session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Click “Remember Me” and you stay logged in for 14 days. Cap that extended session, optionally shorten the regular one, or hide the checkbox entirely. One filter covers all three.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wpyeg_remember_me_days / _session_regular_hours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5 / 0</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'auth_cookie_expiration',</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$exp, $uid, $remember )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if ( $remember )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5 * DAY_IN_SECONDS;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return 12 * HOUR_IN_SECONDS;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 10, 3 );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DAY_IN_SECONDS: core time constant</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577840"/>
            <a:ext cx="12188952" cy="1280160"/>
          </a:xfrm>
          <a:prstGeom prst="rect">
            <a:avLst/>
          </a:prstGeom>
          <a:solidFill>
            <a:srgbClr val="16323F"/>
          </a:solidFill>
          <a:ln/>
        </p:spPr>
      </p:sp>
      <p:sp>
        <p:nvSpPr>
          <p:cNvPr id="3" name="Shape 1"/>
          <p:cNvSpPr/>
          <p:nvPr/>
        </p:nvSpPr>
        <p:spPr>
          <a:xfrm>
            <a:off x="777240" y="914400"/>
            <a:ext cx="868680" cy="868680"/>
          </a:xfrm>
          <a:prstGeom prst="ellipse">
            <a:avLst/>
          </a:prstGeom>
          <a:solidFill>
            <a:srgbClr val="E0A94B"/>
          </a:solidFill>
          <a:ln/>
        </p:spPr>
      </p:sp>
      <p:sp>
        <p:nvSpPr>
          <p:cNvPr id="4" name="Text 2"/>
          <p:cNvSpPr/>
          <p:nvPr/>
        </p:nvSpPr>
        <p:spPr>
          <a:xfrm>
            <a:off x="777240" y="914400"/>
            <a:ext cx="868680" cy="868680"/>
          </a:xfrm>
          <a:prstGeom prst="rect">
            <a:avLst/>
          </a:prstGeom>
          <a:noFill/>
          <a:ln/>
        </p:spPr>
        <p:txBody>
          <a:bodyPr wrap="square" lIns="0" tIns="0" rIns="0" bIns="0" rtlCol="0" anchor="ctr"/>
          <a:lstStyle/>
          <a:p>
            <a:pPr algn="ctr" indent="0" marL="0">
              <a:buNone/>
            </a:pPr>
            <a:r>
              <a:rPr lang="en-US" sz="2470" b="1" dirty="0">
                <a:solidFill>
                  <a:srgbClr val="0F2733"/>
                </a:solidFill>
                <a:latin typeface="Cambria" pitchFamily="34" charset="0"/>
                <a:ea typeface="Cambria" pitchFamily="34" charset="-122"/>
                <a:cs typeface="Cambria" pitchFamily="34" charset="-120"/>
              </a:rPr>
              <a:t>4</a:t>
            </a:r>
            <a:endParaRPr lang="en-US" sz="2470" dirty="0"/>
          </a:p>
        </p:txBody>
      </p:sp>
      <p:sp>
        <p:nvSpPr>
          <p:cNvPr id="5" name="Text 3"/>
          <p:cNvSpPr/>
          <p:nvPr/>
        </p:nvSpPr>
        <p:spPr>
          <a:xfrm>
            <a:off x="1874520" y="1005840"/>
            <a:ext cx="8229600" cy="457200"/>
          </a:xfrm>
          <a:prstGeom prst="rect">
            <a:avLst/>
          </a:prstGeom>
          <a:noFill/>
          <a:ln/>
        </p:spPr>
        <p:txBody>
          <a:bodyPr wrap="square" lIns="0" tIns="0" rIns="0" bIns="0" rtlCol="0" anchor="ctr"/>
          <a:lstStyle/>
          <a:p>
            <a:pPr indent="0" marL="0">
              <a:buNone/>
            </a:pPr>
            <a:r>
              <a:rPr lang="en-US" sz="1600" b="1" dirty="0">
                <a:solidFill>
                  <a:srgbClr val="E0A94B"/>
                </a:solidFill>
                <a:latin typeface="Calibri" pitchFamily="34" charset="0"/>
                <a:ea typeface="Calibri" pitchFamily="34" charset="-122"/>
                <a:cs typeface="Calibri" pitchFamily="34" charset="-120"/>
              </a:rPr>
              <a:t>SECTION FOUR</a:t>
            </a:r>
            <a:endParaRPr lang="en-US" sz="1600" dirty="0"/>
          </a:p>
        </p:txBody>
      </p:sp>
      <p:sp>
        <p:nvSpPr>
          <p:cNvPr id="6" name="Text 4"/>
          <p:cNvSpPr/>
          <p:nvPr/>
        </p:nvSpPr>
        <p:spPr>
          <a:xfrm>
            <a:off x="777240" y="2286000"/>
            <a:ext cx="10607040" cy="12801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Branding &amp;</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7" name="Text 5"/>
          <p:cNvSpPr/>
          <p:nvPr/>
        </p:nvSpPr>
        <p:spPr>
          <a:xfrm>
            <a:off x="822960" y="3657600"/>
            <a:ext cx="10058400" cy="91440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Own the login screen, then shave the last bit of weight off every page.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BRANDING</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Own the login screen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login page is a site's staff entrance, and by default the welcome mat links to someone else's house — that “W” points out to wordpress.org. Changing it uninvited is intrusive, so the default is to leave it alone.</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wpyeg_login_logo_behavior</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27607A"/>
                </a:solidFill>
                <a:latin typeface="Courier New" pitchFamily="34" charset="0"/>
                <a:ea typeface="Courier New" pitchFamily="34" charset="-122"/>
                <a:cs typeface="Courier New" pitchFamily="34" charset="-120"/>
              </a:rPr>
              <a:t>keep_default (keep / remove / unlink / replace)</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remove, unlink, or replace — a choice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add_action( 'login_head', $logo_css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 </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any change points the link home</a:t>
            </a:r>
            <a:endParaRPr lang="en-US" sz="1200" dirty="0"/>
          </a:p>
          <a:p>
            <a:pPr algn="l" indent="0" marL="0">
              <a:lnSpc>
                <a:spcPct val="108000"/>
              </a:lnSpc>
              <a:buNone/>
            </a:pPr>
            <a:r>
              <a:rPr lang="en-US" sz="1200" dirty="0">
                <a:solidFill>
                  <a:srgbClr val="8FBF9F"/>
                </a:solidFill>
                <a:latin typeface="Courier New" pitchFamily="34" charset="0"/>
                <a:ea typeface="Courier New" pitchFamily="34" charset="-122"/>
                <a:cs typeface="Courier New" pitchFamily="34" charset="-120"/>
              </a:rPr>
              <a:t>// (no separate toggle)</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add_filter( 'login_headerurl', 'home_url' );</a:t>
            </a:r>
            <a:endParaRPr lang="en-US" sz="1200" dirty="0"/>
          </a:p>
          <a:p>
            <a:pPr algn="l" indent="0" marL="0">
              <a:lnSpc>
                <a:spcPct val="108000"/>
              </a:lnSpc>
              <a:buNone/>
            </a:pPr>
            <a:r>
              <a:rPr lang="en-US" sz="1200" dirty="0">
                <a:solidFill>
                  <a:srgbClr val="DCEAF1"/>
                </a:solidFill>
                <a:latin typeface="Courier New" pitchFamily="34" charset="0"/>
                <a:ea typeface="Courier New" pitchFamily="34" charset="-122"/>
                <a:cs typeface="Courier New" pitchFamily="34" charset="-120"/>
              </a:rPr>
              <a:t>add_filter( 'login_headertext', fn() =&gt;</a:t>
            </a:r>
            <a:endParaRPr lang="en-US" sz="1200" dirty="0"/>
          </a:p>
          <a:p>
            <a:pPr algn="l" indent="0" marL="0">
              <a:lnSpc>
                <a:spcPct val="108000"/>
              </a:lnSpc>
              <a:buNone/>
            </a:pPr>
            <a:r>
              <a:rPr lang="en-US" sz="1200" dirty="0">
                <a:solidFill>
                  <a:srgbClr val="E7C070"/>
                </a:solidFill>
                <a:latin typeface="Courier New" pitchFamily="34" charset="0"/>
                <a:ea typeface="Courier New" pitchFamily="34" charset="-122"/>
                <a:cs typeface="Courier New" pitchFamily="34" charset="-120"/>
              </a:rPr>
              <a:t>            get_bloginfo( 'name' ) );</a:t>
            </a:r>
            <a:endParaRPr lang="en-US" sz="120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57200"/>
            <a:ext cx="7315200" cy="365760"/>
          </a:xfrm>
          <a:prstGeom prst="rect">
            <a:avLst/>
          </a:prstGeom>
          <a:noFill/>
          <a:ln/>
        </p:spPr>
        <p:txBody>
          <a:bodyPr wrap="square" lIns="0" tIns="0" rIns="0" bIns="0" rtlCol="0" anchor="ctr"/>
          <a:lstStyle/>
          <a:p>
            <a:pPr indent="0" marL="0">
              <a:buNone/>
            </a:pPr>
            <a:r>
              <a:rPr lang="en-US" sz="1300" b="1" dirty="0">
                <a:solidFill>
                  <a:srgbClr val="3E7E9C"/>
                </a:solidFill>
                <a:latin typeface="Calibri" pitchFamily="34" charset="0"/>
                <a:ea typeface="Calibri" pitchFamily="34" charset="-122"/>
                <a:cs typeface="Calibri" pitchFamily="34" charset="-120"/>
              </a:rPr>
              <a:t>PERFORMANCE · opt-in</a:t>
            </a:r>
            <a:endParaRPr lang="en-US" sz="1300" dirty="0"/>
          </a:p>
        </p:txBody>
      </p:sp>
      <p:sp>
        <p:nvSpPr>
          <p:cNvPr id="3" name="Text 1"/>
          <p:cNvSpPr/>
          <p:nvPr/>
        </p:nvSpPr>
        <p:spPr>
          <a:xfrm>
            <a:off x="548640" y="777240"/>
            <a:ext cx="11064240" cy="77724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Throttle Heartbeat, defer scripts (opt-in)</a:t>
            </a:r>
            <a:endParaRPr lang="en-US" sz="3000" dirty="0"/>
          </a:p>
        </p:txBody>
      </p:sp>
      <p:sp>
        <p:nvSpPr>
          <p:cNvPr id="4" name="Text 2"/>
          <p:cNvSpPr/>
          <p:nvPr/>
        </p:nvSpPr>
        <p:spPr>
          <a:xfrm>
            <a:off x="548640" y="1783080"/>
            <a:ext cx="4892040" cy="2926080"/>
          </a:xfrm>
          <a:prstGeom prst="rect">
            <a:avLst/>
          </a:prstGeom>
          <a:noFill/>
          <a:ln/>
        </p:spPr>
        <p:txBody>
          <a:bodyPr wrap="square" lIns="0" tIns="0" rIns="0" bIns="0" rtlCol="0" anchor="t"/>
          <a:lstStyle/>
          <a:p>
            <a:pPr indent="0" marL="0">
              <a:lnSpc>
                <a:spcPct val="112000"/>
              </a:lnSpc>
              <a:buNone/>
            </a:pPr>
            <a:r>
              <a:rPr lang="en-US" sz="1600" dirty="0">
                <a:solidFill>
                  <a:srgbClr val="4A5A63"/>
                </a:solidFill>
                <a:latin typeface="Calibri" pitchFamily="34" charset="0"/>
                <a:ea typeface="Calibri" pitchFamily="34" charset="-122"/>
                <a:cs typeface="Calibri" pitchFamily="34" charset="-120"/>
              </a:rPr>
              <a:t>The Heartbeat API polls admin-ajax every 15–60s; throttle it to ease up on weak shared hosting. Deferring non-critical scripts keeps them from being render-blocking.</a:t>
            </a:r>
            <a:endParaRPr lang="en-US" sz="1600" dirty="0"/>
          </a:p>
        </p:txBody>
      </p:sp>
      <p:sp>
        <p:nvSpPr>
          <p:cNvPr id="5" name="Shape 3"/>
          <p:cNvSpPr/>
          <p:nvPr/>
        </p:nvSpPr>
        <p:spPr>
          <a:xfrm>
            <a:off x="548640" y="5074920"/>
            <a:ext cx="4892040" cy="960120"/>
          </a:xfrm>
          <a:prstGeom prst="roundRect">
            <a:avLst>
              <a:gd name="adj" fmla="val 7619"/>
            </a:avLst>
          </a:prstGeom>
          <a:solidFill>
            <a:srgbClr val="EAF1F5"/>
          </a:solidFill>
          <a:ln w="12700">
            <a:solidFill>
              <a:srgbClr val="3E7E9C"/>
            </a:solidFill>
            <a:prstDash val="solid"/>
          </a:ln>
        </p:spPr>
      </p:sp>
      <p:sp>
        <p:nvSpPr>
          <p:cNvPr id="6" name="Text 4"/>
          <p:cNvSpPr/>
          <p:nvPr/>
        </p:nvSpPr>
        <p:spPr>
          <a:xfrm>
            <a:off x="731520" y="5166360"/>
            <a:ext cx="4572000" cy="777240"/>
          </a:xfrm>
          <a:prstGeom prst="rect">
            <a:avLst/>
          </a:prstGeom>
          <a:noFill/>
          <a:ln/>
        </p:spPr>
        <p:txBody>
          <a:bodyPr wrap="square" lIns="0" tIns="0" rIns="0" bIns="0" rtlCol="0" anchor="ctr"/>
          <a:lstStyle/>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OPTION   </a:t>
            </a:r>
            <a:pPr indent="0" marL="0">
              <a:lnSpc>
                <a:spcPct val="115000"/>
              </a:lnSpc>
              <a:buNone/>
            </a:pPr>
            <a:r>
              <a:rPr lang="en-US" sz="1150" b="1" dirty="0">
                <a:solidFill>
                  <a:srgbClr val="0F2733"/>
                </a:solidFill>
                <a:latin typeface="Courier New" pitchFamily="34" charset="0"/>
                <a:ea typeface="Courier New" pitchFamily="34" charset="-122"/>
                <a:cs typeface="Courier New" pitchFamily="34" charset="-120"/>
              </a:rPr>
              <a:t>wpyeg_throttle_heartbeat / wpyeg_defer_scripts</a:t>
            </a:r>
            <a:pPr indent="0" marL="0">
              <a:lnSpc>
                <a:spcPct val="115000"/>
              </a:lnSpc>
              <a:buNone/>
            </a:pPr>
            <a:endParaRPr lang="en-US" sz="1150" dirty="0"/>
          </a:p>
          <a:p>
            <a:pPr indent="0" marL="0">
              <a:lnSpc>
                <a:spcPct val="115000"/>
              </a:lnSpc>
              <a:buNone/>
            </a:pPr>
            <a:r>
              <a:rPr lang="en-US" sz="1150" b="1" dirty="0">
                <a:solidFill>
                  <a:srgbClr val="3E7E9C"/>
                </a:solidFill>
                <a:latin typeface="Courier New" pitchFamily="34" charset="0"/>
                <a:ea typeface="Courier New" pitchFamily="34" charset="-122"/>
                <a:cs typeface="Courier New" pitchFamily="34" charset="-120"/>
              </a:rPr>
              <a:t>DEFAULT   </a:t>
            </a:r>
            <a:endParaRPr lang="en-US" sz="1150" dirty="0"/>
          </a:p>
          <a:p>
            <a:pPr indent="0" marL="0">
              <a:lnSpc>
                <a:spcPct val="115000"/>
              </a:lnSpc>
              <a:buNone/>
            </a:pPr>
            <a:r>
              <a:rPr lang="en-US" sz="1150" b="1" dirty="0">
                <a:solidFill>
                  <a:srgbClr val="C88F33"/>
                </a:solidFill>
                <a:latin typeface="Courier New" pitchFamily="34" charset="0"/>
                <a:ea typeface="Courier New" pitchFamily="34" charset="-122"/>
                <a:cs typeface="Courier New" pitchFamily="34" charset="-120"/>
              </a:rPr>
              <a:t>no / no</a:t>
            </a:r>
            <a:endParaRPr lang="en-US" sz="1150" dirty="0"/>
          </a:p>
        </p:txBody>
      </p:sp>
      <p:sp>
        <p:nvSpPr>
          <p:cNvPr id="7" name="Shape 5"/>
          <p:cNvSpPr/>
          <p:nvPr/>
        </p:nvSpPr>
        <p:spPr>
          <a:xfrm>
            <a:off x="5715000" y="1783080"/>
            <a:ext cx="5897880" cy="4251960"/>
          </a:xfrm>
          <a:prstGeom prst="roundRect">
            <a:avLst>
              <a:gd name="adj" fmla="val 172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8" name="Text 6"/>
          <p:cNvSpPr/>
          <p:nvPr/>
        </p:nvSpPr>
        <p:spPr>
          <a:xfrm>
            <a:off x="5916168" y="1947672"/>
            <a:ext cx="5495544" cy="3922776"/>
          </a:xfrm>
          <a:prstGeom prst="rect">
            <a:avLst/>
          </a:prstGeom>
          <a:noFill/>
          <a:ln/>
        </p:spPr>
        <p:txBody>
          <a:bodyPr wrap="square" lIns="0" tIns="0" rIns="0" bIns="0" rtlCol="0" anchor="t"/>
          <a:lstStyle/>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'heartbeat_settings', fn( $s ) =&gt; {</a:t>
            </a:r>
            <a:endParaRPr lang="en-US" sz="1150" dirty="0"/>
          </a:p>
          <a:p>
            <a:pPr algn="l" indent="0" marL="0">
              <a:lnSpc>
                <a:spcPct val="108000"/>
              </a:lnSpc>
              <a:buNone/>
            </a:pPr>
            <a:r>
              <a:rPr lang="en-US" sz="1150" dirty="0">
                <a:solidFill>
                  <a:srgbClr val="E7C070"/>
                </a:solidFill>
                <a:latin typeface="Courier New" pitchFamily="34" charset="0"/>
                <a:ea typeface="Courier New" pitchFamily="34" charset="-122"/>
                <a:cs typeface="Courier New" pitchFamily="34" charset="-120"/>
              </a:rPr>
              <a:t>  $s['interval'] = 60; return $s;</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add_filter( 'script_loader_tag',</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function ( $tag, $handle ) {</a:t>
            </a:r>
            <a:endParaRPr lang="en-US" sz="1150" dirty="0"/>
          </a:p>
          <a:p>
            <a:pPr algn="l" indent="0" marL="0">
              <a:lnSpc>
                <a:spcPct val="108000"/>
              </a:lnSpc>
              <a:buNone/>
            </a:pPr>
            <a:r>
              <a:rPr lang="en-US" sz="1150" dirty="0">
                <a:solidFill>
                  <a:srgbClr val="8FBF9F"/>
                </a:solidFill>
                <a:latin typeface="Courier New" pitchFamily="34" charset="0"/>
                <a:ea typeface="Courier New" pitchFamily="34" charset="-122"/>
                <a:cs typeface="Courier New" pitchFamily="34" charset="-120"/>
              </a:rPr>
              <a:t>    // add ' defer' (skip jquery-core)</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return $tag;</a:t>
            </a:r>
            <a:endParaRPr lang="en-US" sz="1150" dirty="0"/>
          </a:p>
          <a:p>
            <a:pPr algn="l" indent="0" marL="0">
              <a:lnSpc>
                <a:spcPct val="108000"/>
              </a:lnSpc>
              <a:buNone/>
            </a:pPr>
            <a:r>
              <a:rPr lang="en-US" sz="1150" dirty="0">
                <a:solidFill>
                  <a:srgbClr val="DCEAF1"/>
                </a:solidFill>
                <a:latin typeface="Courier New" pitchFamily="34" charset="0"/>
                <a:ea typeface="Courier New" pitchFamily="34" charset="-122"/>
                <a:cs typeface="Courier New" pitchFamily="34" charset="-120"/>
              </a:rPr>
              <a:t>}, 10, 2 );</a:t>
            </a:r>
            <a:endParaRPr lang="en-US" sz="1150" dirty="0"/>
          </a:p>
        </p:txBody>
      </p:sp>
      <p:sp>
        <p:nvSpPr>
          <p:cNvPr id="9" name="Text 7"/>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10" name="Text 8"/>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502920"/>
            <a:ext cx="10972800" cy="731520"/>
          </a:xfrm>
          <a:prstGeom prst="rect">
            <a:avLst/>
          </a:prstGeom>
          <a:noFill/>
          <a:ln/>
        </p:spPr>
        <p:txBody>
          <a:bodyPr wrap="square" lIns="0" tIns="0" rIns="0" bIns="0" rtlCol="0" anchor="ctr"/>
          <a:lstStyle/>
          <a:p>
            <a:pPr indent="0" marL="0">
              <a:buNone/>
            </a:pPr>
            <a:r>
              <a:rPr lang="en-US" sz="3200" b="1" dirty="0">
                <a:solidFill>
                  <a:srgbClr val="0F2733"/>
                </a:solidFill>
                <a:latin typeface="Cambria" pitchFamily="34" charset="0"/>
                <a:ea typeface="Cambria" pitchFamily="34" charset="-122"/>
                <a:cs typeface="Cambria" pitchFamily="34" charset="-120"/>
              </a:rPr>
              <a:t>Three things a plugin can't toggle</a:t>
            </a:r>
            <a:endParaRPr lang="en-US" sz="3200" dirty="0"/>
          </a:p>
        </p:txBody>
      </p:sp>
      <p:sp>
        <p:nvSpPr>
          <p:cNvPr id="3" name="Text 1"/>
          <p:cNvSpPr/>
          <p:nvPr/>
        </p:nvSpPr>
        <p:spPr>
          <a:xfrm>
            <a:off x="548640" y="1280160"/>
            <a:ext cx="10789920" cy="640080"/>
          </a:xfrm>
          <a:prstGeom prst="rect">
            <a:avLst/>
          </a:prstGeom>
          <a:noFill/>
          <a:ln/>
        </p:spPr>
        <p:txBody>
          <a:bodyPr wrap="square" lIns="0" tIns="0" rIns="0" bIns="0" rtlCol="0" anchor="ctr"/>
          <a:lstStyle/>
          <a:p>
            <a:pPr indent="0" marL="0">
              <a:buNone/>
            </a:pPr>
            <a:r>
              <a:rPr lang="en-US" sz="1600" dirty="0">
                <a:solidFill>
                  <a:srgbClr val="4A5A63"/>
                </a:solidFill>
                <a:latin typeface="Calibri" pitchFamily="34" charset="0"/>
                <a:ea typeface="Calibri" pitchFamily="34" charset="-122"/>
                <a:cs typeface="Calibri" pitchFamily="34" charset="-120"/>
              </a:rPr>
              <a:t>Some defaults live in wp-config.php, above the plugin layer, because they must load before plugins do. Document them as manual steps in your onboarding checklist.</a:t>
            </a:r>
            <a:endParaRPr lang="en-US" sz="1600" dirty="0"/>
          </a:p>
        </p:txBody>
      </p:sp>
      <p:sp>
        <p:nvSpPr>
          <p:cNvPr id="4" name="Shape 2"/>
          <p:cNvSpPr/>
          <p:nvPr/>
        </p:nvSpPr>
        <p:spPr>
          <a:xfrm>
            <a:off x="548640" y="2148840"/>
            <a:ext cx="11064240" cy="1920240"/>
          </a:xfrm>
          <a:prstGeom prst="roundRect">
            <a:avLst>
              <a:gd name="adj" fmla="val 3810"/>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5" name="Text 3"/>
          <p:cNvSpPr/>
          <p:nvPr/>
        </p:nvSpPr>
        <p:spPr>
          <a:xfrm>
            <a:off x="749808" y="2313432"/>
            <a:ext cx="10661904" cy="1591056"/>
          </a:xfrm>
          <a:prstGeom prst="rect">
            <a:avLst/>
          </a:prstGeom>
          <a:noFill/>
          <a:ln/>
        </p:spPr>
        <p:txBody>
          <a:bodyPr wrap="square" lIns="0" tIns="0" rIns="0" bIns="0" rtlCol="0" anchor="t"/>
          <a:lstStyle/>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'DISALLOW_FILE_EDIT', true );  // no in-dashboard code editor</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'AUTOSAVE_INTERVAL', 120 );    // gentler autosave (seconds)</a:t>
            </a:r>
            <a:endParaRPr lang="en-US" sz="1400" dirty="0"/>
          </a:p>
          <a:p>
            <a:pPr algn="l" indent="0" marL="0">
              <a:lnSpc>
                <a:spcPct val="108000"/>
              </a:lnSpc>
              <a:buNone/>
            </a:pPr>
            <a:r>
              <a:rPr lang="en-US" sz="1400" dirty="0">
                <a:solidFill>
                  <a:srgbClr val="DCEAF1"/>
                </a:solidFill>
                <a:latin typeface="Courier New" pitchFamily="34" charset="0"/>
                <a:ea typeface="Courier New" pitchFamily="34" charset="-122"/>
                <a:cs typeface="Courier New" pitchFamily="34" charset="-120"/>
              </a:rPr>
              <a:t>define( 'WP_POST_REVISIONS', 10 );     // cap revision-table bloat</a:t>
            </a:r>
            <a:endParaRPr lang="en-US" sz="1400" dirty="0"/>
          </a:p>
        </p:txBody>
      </p:sp>
      <p:sp>
        <p:nvSpPr>
          <p:cNvPr id="6" name="Shape 4"/>
          <p:cNvSpPr/>
          <p:nvPr/>
        </p:nvSpPr>
        <p:spPr>
          <a:xfrm>
            <a:off x="548640"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7" name="Shape 5"/>
          <p:cNvSpPr/>
          <p:nvPr/>
        </p:nvSpPr>
        <p:spPr>
          <a:xfrm>
            <a:off x="804672" y="4590288"/>
            <a:ext cx="457200" cy="457200"/>
          </a:xfrm>
          <a:prstGeom prst="ellipse">
            <a:avLst/>
          </a:prstGeom>
          <a:solidFill>
            <a:srgbClr val="27607A"/>
          </a:solidFill>
          <a:ln/>
        </p:spPr>
      </p:sp>
      <p:sp>
        <p:nvSpPr>
          <p:cNvPr id="8" name="Text 6"/>
          <p:cNvSpPr/>
          <p:nvPr/>
        </p:nvSpPr>
        <p:spPr>
          <a:xfrm>
            <a:off x="804672"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9" name="Text 7"/>
          <p:cNvSpPr/>
          <p:nvPr/>
        </p:nvSpPr>
        <p:spPr>
          <a:xfrm>
            <a:off x="1417320"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Kills the theme/plugin editor</a:t>
            </a:r>
            <a:endParaRPr lang="en-US" sz="1500" dirty="0"/>
          </a:p>
        </p:txBody>
      </p:sp>
      <p:sp>
        <p:nvSpPr>
          <p:cNvPr id="10" name="Text 8"/>
          <p:cNvSpPr/>
          <p:nvPr/>
        </p:nvSpPr>
        <p:spPr>
          <a:xfrm>
            <a:off x="804672"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A stolen admin login can't rewrite your PHP.</a:t>
            </a:r>
            <a:endParaRPr lang="en-US" sz="1250" dirty="0"/>
          </a:p>
        </p:txBody>
      </p:sp>
      <p:sp>
        <p:nvSpPr>
          <p:cNvPr id="11" name="Shape 9"/>
          <p:cNvSpPr/>
          <p:nvPr/>
        </p:nvSpPr>
        <p:spPr>
          <a:xfrm>
            <a:off x="4270248"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2" name="Shape 10"/>
          <p:cNvSpPr/>
          <p:nvPr/>
        </p:nvSpPr>
        <p:spPr>
          <a:xfrm>
            <a:off x="4526280" y="4590288"/>
            <a:ext cx="457200" cy="457200"/>
          </a:xfrm>
          <a:prstGeom prst="ellipse">
            <a:avLst/>
          </a:prstGeom>
          <a:solidFill>
            <a:srgbClr val="27607A"/>
          </a:solidFill>
          <a:ln/>
        </p:spPr>
      </p:sp>
      <p:sp>
        <p:nvSpPr>
          <p:cNvPr id="13" name="Text 11"/>
          <p:cNvSpPr/>
          <p:nvPr/>
        </p:nvSpPr>
        <p:spPr>
          <a:xfrm>
            <a:off x="4526280"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4" name="Text 12"/>
          <p:cNvSpPr/>
          <p:nvPr/>
        </p:nvSpPr>
        <p:spPr>
          <a:xfrm>
            <a:off x="5138928"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Writes to the DB less often</a:t>
            </a:r>
            <a:endParaRPr lang="en-US" sz="1500" dirty="0"/>
          </a:p>
        </p:txBody>
      </p:sp>
      <p:sp>
        <p:nvSpPr>
          <p:cNvPr id="15" name="Text 13"/>
          <p:cNvSpPr/>
          <p:nvPr/>
        </p:nvSpPr>
        <p:spPr>
          <a:xfrm>
            <a:off x="4526280"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Fewer autosave revisions during long edits.</a:t>
            </a:r>
            <a:endParaRPr lang="en-US" sz="1250" dirty="0"/>
          </a:p>
        </p:txBody>
      </p:sp>
      <p:sp>
        <p:nvSpPr>
          <p:cNvPr id="16" name="Shape 14"/>
          <p:cNvSpPr/>
          <p:nvPr/>
        </p:nvSpPr>
        <p:spPr>
          <a:xfrm>
            <a:off x="7991856" y="4343400"/>
            <a:ext cx="3520440" cy="1508760"/>
          </a:xfrm>
          <a:prstGeom prst="roundRect">
            <a:avLst>
              <a:gd name="adj" fmla="val 5455"/>
            </a:avLst>
          </a:prstGeom>
          <a:solidFill>
            <a:srgbClr val="FFFFFF"/>
          </a:solidFill>
          <a:ln w="12700">
            <a:solidFill>
              <a:srgbClr val="DCE6EB"/>
            </a:solidFill>
            <a:prstDash val="solid"/>
          </a:ln>
          <a:effectLst>
            <a:outerShdw sx="100000" sy="100000" kx="0" ky="0" algn="bl" rotWithShape="0" blurRad="63500" dist="25400" dir="5400000">
              <a:srgbClr val="C7D4DB">
                <a:alpha val="50000"/>
              </a:srgbClr>
            </a:outerShdw>
          </a:effectLst>
        </p:spPr>
      </p:sp>
      <p:sp>
        <p:nvSpPr>
          <p:cNvPr id="17" name="Shape 15"/>
          <p:cNvSpPr/>
          <p:nvPr/>
        </p:nvSpPr>
        <p:spPr>
          <a:xfrm>
            <a:off x="8247888" y="4590288"/>
            <a:ext cx="457200" cy="457200"/>
          </a:xfrm>
          <a:prstGeom prst="ellipse">
            <a:avLst/>
          </a:prstGeom>
          <a:solidFill>
            <a:srgbClr val="27607A"/>
          </a:solidFill>
          <a:ln/>
        </p:spPr>
      </p:sp>
      <p:sp>
        <p:nvSpPr>
          <p:cNvPr id="18" name="Text 16"/>
          <p:cNvSpPr/>
          <p:nvPr/>
        </p:nvSpPr>
        <p:spPr>
          <a:xfrm>
            <a:off x="8247888" y="459028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9" name="Text 17"/>
          <p:cNvSpPr/>
          <p:nvPr/>
        </p:nvSpPr>
        <p:spPr>
          <a:xfrm>
            <a:off x="8860536" y="4526280"/>
            <a:ext cx="2514600" cy="594360"/>
          </a:xfrm>
          <a:prstGeom prst="rect">
            <a:avLst/>
          </a:prstGeom>
          <a:noFill/>
          <a:ln/>
        </p:spPr>
        <p:txBody>
          <a:bodyPr wrap="square" lIns="0" tIns="0" rIns="0" bIns="0" rtlCol="0" anchor="ctr"/>
          <a:lstStyle/>
          <a:p>
            <a:pPr indent="0" marL="0">
              <a:buNone/>
            </a:pPr>
            <a:r>
              <a:rPr lang="en-US" sz="1500" b="1" dirty="0">
                <a:solidFill>
                  <a:srgbClr val="0F2733"/>
                </a:solidFill>
                <a:latin typeface="Cambria" pitchFamily="34" charset="0"/>
                <a:ea typeface="Cambria" pitchFamily="34" charset="-122"/>
                <a:cs typeface="Cambria" pitchFamily="34" charset="-120"/>
              </a:rPr>
              <a:t>Keeps revisions in check</a:t>
            </a:r>
            <a:endParaRPr lang="en-US" sz="1500" dirty="0"/>
          </a:p>
        </p:txBody>
      </p:sp>
      <p:sp>
        <p:nvSpPr>
          <p:cNvPr id="20" name="Text 18"/>
          <p:cNvSpPr/>
          <p:nvPr/>
        </p:nvSpPr>
        <p:spPr>
          <a:xfrm>
            <a:off x="8247888" y="5138928"/>
            <a:ext cx="3063240" cy="640080"/>
          </a:xfrm>
          <a:prstGeom prst="rect">
            <a:avLst/>
          </a:prstGeom>
          <a:noFill/>
          <a:ln/>
        </p:spPr>
        <p:txBody>
          <a:bodyPr wrap="square" lIns="0" tIns="0" rIns="0" bIns="0" rtlCol="0" anchor="t"/>
          <a:lstStyle/>
          <a:p>
            <a:pPr indent="0" marL="0">
              <a:buNone/>
            </a:pPr>
            <a:r>
              <a:rPr lang="en-US" sz="1250" dirty="0">
                <a:solidFill>
                  <a:srgbClr val="4A5A63"/>
                </a:solidFill>
                <a:latin typeface="Calibri" pitchFamily="34" charset="0"/>
                <a:ea typeface="Calibri" pitchFamily="34" charset="-122"/>
                <a:cs typeface="Calibri" pitchFamily="34" charset="-120"/>
              </a:rPr>
              <a:t>Ten per post instead of unbounded growth.</a:t>
            </a:r>
            <a:endParaRPr lang="en-US" sz="1250" dirty="0"/>
          </a:p>
        </p:txBody>
      </p:sp>
      <p:sp>
        <p:nvSpPr>
          <p:cNvPr id="21" name="Text 19"/>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2" name="Text 20"/>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733"/>
        </a:solidFill>
      </p:bgPr>
    </p:bg>
    <p:spTree>
      <p:nvGrpSpPr>
        <p:cNvPr id="1" name=""/>
        <p:cNvGrpSpPr/>
        <p:nvPr/>
      </p:nvGrpSpPr>
      <p:grpSpPr>
        <a:xfrm>
          <a:off x="0" y="0"/>
          <a:ext cx="0" cy="0"/>
          <a:chOff x="0" y="0"/>
          <a:chExt cx="0" cy="0"/>
        </a:xfrm>
      </p:grpSpPr>
      <p:sp>
        <p:nvSpPr>
          <p:cNvPr id="2" name="Text 0"/>
          <p:cNvSpPr/>
          <p:nvPr/>
        </p:nvSpPr>
        <p:spPr>
          <a:xfrm>
            <a:off x="640080" y="54864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How the plugin is built</a:t>
            </a:r>
            <a:endParaRPr lang="en-US" sz="3200" dirty="0"/>
          </a:p>
        </p:txBody>
      </p:sp>
      <p:sp>
        <p:nvSpPr>
          <p:cNvPr id="3" name="Text 1"/>
          <p:cNvSpPr/>
          <p:nvPr/>
        </p:nvSpPr>
        <p:spPr>
          <a:xfrm>
            <a:off x="640080" y="1325880"/>
            <a:ext cx="10515600" cy="548640"/>
          </a:xfrm>
          <a:prstGeom prst="rect">
            <a:avLst/>
          </a:prstGeom>
          <a:noFill/>
          <a:ln/>
        </p:spPr>
        <p:txBody>
          <a:bodyPr wrap="square" lIns="0" tIns="0" rIns="0" bIns="0" rtlCol="0" anchor="ctr"/>
          <a:lstStyle/>
          <a:p>
            <a:pPr indent="0" marL="0">
              <a:buNone/>
            </a:pPr>
            <a:r>
              <a:rPr lang="en-US" sz="1600" i="1" dirty="0">
                <a:solidFill>
                  <a:srgbClr val="D7E5EC"/>
                </a:solidFill>
                <a:latin typeface="Calibri" pitchFamily="34" charset="0"/>
                <a:ea typeface="Calibri" pitchFamily="34" charset="-122"/>
                <a:cs typeface="Calibri" pitchFamily="34" charset="-120"/>
              </a:rPr>
              <a:t>One array is the whole map. Read it and you understand the plugin.</a:t>
            </a:r>
            <a:endParaRPr lang="en-US" sz="1600" dirty="0"/>
          </a:p>
        </p:txBody>
      </p:sp>
      <p:sp>
        <p:nvSpPr>
          <p:cNvPr id="4" name="Shape 2"/>
          <p:cNvSpPr/>
          <p:nvPr/>
        </p:nvSpPr>
        <p:spPr>
          <a:xfrm>
            <a:off x="640080" y="2148840"/>
            <a:ext cx="3429000" cy="2331720"/>
          </a:xfrm>
          <a:prstGeom prst="roundRect">
            <a:avLst>
              <a:gd name="adj" fmla="val 3922"/>
            </a:avLst>
          </a:prstGeom>
          <a:solidFill>
            <a:srgbClr val="16323F"/>
          </a:solidFill>
          <a:ln w="12700">
            <a:solidFill>
              <a:srgbClr val="27607A"/>
            </a:solidFill>
            <a:prstDash val="solid"/>
          </a:ln>
        </p:spPr>
      </p:sp>
      <p:sp>
        <p:nvSpPr>
          <p:cNvPr id="5" name="Shape 3"/>
          <p:cNvSpPr/>
          <p:nvPr/>
        </p:nvSpPr>
        <p:spPr>
          <a:xfrm>
            <a:off x="914400" y="2395728"/>
            <a:ext cx="566928" cy="566928"/>
          </a:xfrm>
          <a:prstGeom prst="ellipse">
            <a:avLst/>
          </a:prstGeom>
          <a:solidFill>
            <a:srgbClr val="E0A94B"/>
          </a:solidFill>
          <a:ln/>
        </p:spPr>
      </p:sp>
      <p:sp>
        <p:nvSpPr>
          <p:cNvPr id="6" name="Text 4"/>
          <p:cNvSpPr/>
          <p:nvPr/>
        </p:nvSpPr>
        <p:spPr>
          <a:xfrm>
            <a:off x="91440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1</a:t>
            </a:r>
            <a:endParaRPr lang="en-US" sz="1612" dirty="0"/>
          </a:p>
        </p:txBody>
      </p:sp>
      <p:sp>
        <p:nvSpPr>
          <p:cNvPr id="7" name="Text 5"/>
          <p:cNvSpPr/>
          <p:nvPr/>
        </p:nvSpPr>
        <p:spPr>
          <a:xfrm>
            <a:off x="164592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schema()</a:t>
            </a:r>
            <a:endParaRPr lang="en-US" sz="1600" dirty="0"/>
          </a:p>
        </p:txBody>
      </p:sp>
      <p:sp>
        <p:nvSpPr>
          <p:cNvPr id="8" name="Text 6"/>
          <p:cNvSpPr/>
          <p:nvPr/>
        </p:nvSpPr>
        <p:spPr>
          <a:xfrm>
            <a:off x="93268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One array: every setting, its default, type &amp; group. The single source of truth.</a:t>
            </a:r>
            <a:endParaRPr lang="en-US" sz="1400" dirty="0"/>
          </a:p>
        </p:txBody>
      </p:sp>
      <p:sp>
        <p:nvSpPr>
          <p:cNvPr id="9" name="Text 7"/>
          <p:cNvSpPr/>
          <p:nvPr/>
        </p:nvSpPr>
        <p:spPr>
          <a:xfrm>
            <a:off x="404164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4389120" y="2148840"/>
            <a:ext cx="3429000" cy="2331720"/>
          </a:xfrm>
          <a:prstGeom prst="roundRect">
            <a:avLst>
              <a:gd name="adj" fmla="val 3922"/>
            </a:avLst>
          </a:prstGeom>
          <a:solidFill>
            <a:srgbClr val="16323F"/>
          </a:solidFill>
          <a:ln w="12700">
            <a:solidFill>
              <a:srgbClr val="27607A"/>
            </a:solidFill>
            <a:prstDash val="solid"/>
          </a:ln>
        </p:spPr>
      </p:sp>
      <p:sp>
        <p:nvSpPr>
          <p:cNvPr id="11" name="Shape 9"/>
          <p:cNvSpPr/>
          <p:nvPr/>
        </p:nvSpPr>
        <p:spPr>
          <a:xfrm>
            <a:off x="4663440" y="2395728"/>
            <a:ext cx="566928" cy="566928"/>
          </a:xfrm>
          <a:prstGeom prst="ellipse">
            <a:avLst/>
          </a:prstGeom>
          <a:solidFill>
            <a:srgbClr val="E0A94B"/>
          </a:solidFill>
          <a:ln/>
        </p:spPr>
      </p:sp>
      <p:sp>
        <p:nvSpPr>
          <p:cNvPr id="12" name="Text 10"/>
          <p:cNvSpPr/>
          <p:nvPr/>
        </p:nvSpPr>
        <p:spPr>
          <a:xfrm>
            <a:off x="466344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2</a:t>
            </a:r>
            <a:endParaRPr lang="en-US" sz="1612" dirty="0"/>
          </a:p>
        </p:txBody>
      </p:sp>
      <p:sp>
        <p:nvSpPr>
          <p:cNvPr id="13" name="Text 11"/>
          <p:cNvSpPr/>
          <p:nvPr/>
        </p:nvSpPr>
        <p:spPr>
          <a:xfrm>
            <a:off x="539496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settings page</a:t>
            </a:r>
            <a:endParaRPr lang="en-US" sz="1600" dirty="0"/>
          </a:p>
        </p:txBody>
      </p:sp>
      <p:sp>
        <p:nvSpPr>
          <p:cNvPr id="14" name="Text 12"/>
          <p:cNvSpPr/>
          <p:nvPr/>
        </p:nvSpPr>
        <p:spPr>
          <a:xfrm>
            <a:off x="468172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Loops the schema to render toggles under Settings → Better by Default.</a:t>
            </a:r>
            <a:endParaRPr lang="en-US" sz="1400" dirty="0"/>
          </a:p>
        </p:txBody>
      </p:sp>
      <p:sp>
        <p:nvSpPr>
          <p:cNvPr id="15" name="Text 13"/>
          <p:cNvSpPr/>
          <p:nvPr/>
        </p:nvSpPr>
        <p:spPr>
          <a:xfrm>
            <a:off x="7790688" y="2148840"/>
            <a:ext cx="457200" cy="2331720"/>
          </a:xfrm>
          <a:prstGeom prst="rect">
            <a:avLst/>
          </a:prstGeom>
          <a:noFill/>
          <a:ln/>
        </p:spPr>
        <p:txBody>
          <a:bodyPr wrap="square" lIns="0" tIns="0" rIns="0" bIns="0" rtlCol="0" anchor="ctr"/>
          <a:lstStyle/>
          <a:p>
            <a:pPr algn="ctr" indent="0" marL="0">
              <a:buNone/>
            </a:pPr>
            <a:r>
              <a:rPr lang="en-US" sz="2400" dirty="0">
                <a:solidFill>
                  <a:srgbClr val="E0A94B"/>
                </a:solidFill>
                <a:latin typeface="Calibri" pitchFamily="34" charset="0"/>
                <a:ea typeface="Calibri" pitchFamily="34" charset="-122"/>
                <a:cs typeface="Calibri" pitchFamily="34" charset="-120"/>
              </a:rPr>
              <a:t>➜</a:t>
            </a:r>
            <a:endParaRPr lang="en-US" sz="2400" dirty="0"/>
          </a:p>
        </p:txBody>
      </p:sp>
      <p:sp>
        <p:nvSpPr>
          <p:cNvPr id="16" name="Shape 14"/>
          <p:cNvSpPr/>
          <p:nvPr/>
        </p:nvSpPr>
        <p:spPr>
          <a:xfrm>
            <a:off x="8138160" y="2148840"/>
            <a:ext cx="3429000" cy="2331720"/>
          </a:xfrm>
          <a:prstGeom prst="roundRect">
            <a:avLst>
              <a:gd name="adj" fmla="val 3922"/>
            </a:avLst>
          </a:prstGeom>
          <a:solidFill>
            <a:srgbClr val="16323F"/>
          </a:solidFill>
          <a:ln w="12700">
            <a:solidFill>
              <a:srgbClr val="27607A"/>
            </a:solidFill>
            <a:prstDash val="solid"/>
          </a:ln>
        </p:spPr>
      </p:sp>
      <p:sp>
        <p:nvSpPr>
          <p:cNvPr id="17" name="Shape 15"/>
          <p:cNvSpPr/>
          <p:nvPr/>
        </p:nvSpPr>
        <p:spPr>
          <a:xfrm>
            <a:off x="8412480" y="2395728"/>
            <a:ext cx="566928" cy="566928"/>
          </a:xfrm>
          <a:prstGeom prst="ellipse">
            <a:avLst/>
          </a:prstGeom>
          <a:solidFill>
            <a:srgbClr val="E0A94B"/>
          </a:solidFill>
          <a:ln/>
        </p:spPr>
      </p:sp>
      <p:sp>
        <p:nvSpPr>
          <p:cNvPr id="18" name="Text 16"/>
          <p:cNvSpPr/>
          <p:nvPr/>
        </p:nvSpPr>
        <p:spPr>
          <a:xfrm>
            <a:off x="8412480" y="2395728"/>
            <a:ext cx="566928" cy="566928"/>
          </a:xfrm>
          <a:prstGeom prst="rect">
            <a:avLst/>
          </a:prstGeom>
          <a:noFill/>
          <a:ln/>
        </p:spPr>
        <p:txBody>
          <a:bodyPr wrap="square" lIns="0" tIns="0" rIns="0" bIns="0" rtlCol="0" anchor="ctr"/>
          <a:lstStyle/>
          <a:p>
            <a:pPr algn="ctr" indent="0" marL="0">
              <a:buNone/>
            </a:pPr>
            <a:r>
              <a:rPr lang="en-US" sz="1612" b="1" dirty="0">
                <a:solidFill>
                  <a:srgbClr val="0F2733"/>
                </a:solidFill>
                <a:latin typeface="Cambria" pitchFamily="34" charset="0"/>
                <a:ea typeface="Cambria" pitchFamily="34" charset="-122"/>
                <a:cs typeface="Cambria" pitchFamily="34" charset="-120"/>
              </a:rPr>
              <a:t>3</a:t>
            </a:r>
            <a:endParaRPr lang="en-US" sz="1612" dirty="0"/>
          </a:p>
        </p:txBody>
      </p:sp>
      <p:sp>
        <p:nvSpPr>
          <p:cNvPr id="19" name="Text 17"/>
          <p:cNvSpPr/>
          <p:nvPr/>
        </p:nvSpPr>
        <p:spPr>
          <a:xfrm>
            <a:off x="9144000" y="2450592"/>
            <a:ext cx="2286000" cy="502920"/>
          </a:xfrm>
          <a:prstGeom prst="rect">
            <a:avLst/>
          </a:prstGeom>
          <a:noFill/>
          <a:ln/>
        </p:spPr>
        <p:txBody>
          <a:bodyPr wrap="square" lIns="0" tIns="0" rIns="0" bIns="0" rtlCol="0" anchor="ctr"/>
          <a:lstStyle/>
          <a:p>
            <a:pPr indent="0" marL="0">
              <a:buNone/>
            </a:pPr>
            <a:r>
              <a:rPr lang="en-US" sz="1600" b="1" dirty="0">
                <a:solidFill>
                  <a:srgbClr val="E0A94B"/>
                </a:solidFill>
                <a:latin typeface="Courier New" pitchFamily="34" charset="0"/>
                <a:ea typeface="Courier New" pitchFamily="34" charset="-122"/>
                <a:cs typeface="Courier New" pitchFamily="34" charset="-120"/>
              </a:rPr>
              <a:t>bootstrap()</a:t>
            </a:r>
            <a:endParaRPr lang="en-US" sz="1600" dirty="0"/>
          </a:p>
        </p:txBody>
      </p:sp>
      <p:sp>
        <p:nvSpPr>
          <p:cNvPr id="20" name="Text 18"/>
          <p:cNvSpPr/>
          <p:nvPr/>
        </p:nvSpPr>
        <p:spPr>
          <a:xfrm>
            <a:off x="8430768" y="3154680"/>
            <a:ext cx="2834640" cy="1188720"/>
          </a:xfrm>
          <a:prstGeom prst="rect">
            <a:avLst/>
          </a:prstGeom>
          <a:noFill/>
          <a:ln/>
        </p:spPr>
        <p:txBody>
          <a:bodyPr wrap="square" lIns="0" tIns="0" rIns="0" bIns="0" rtlCol="0" anchor="t"/>
          <a:lstStyle/>
          <a:p>
            <a:pPr indent="0" marL="0">
              <a:lnSpc>
                <a:spcPct val="110000"/>
              </a:lnSpc>
              <a:buNone/>
            </a:pPr>
            <a:r>
              <a:rPr lang="en-US" sz="1400" dirty="0">
                <a:solidFill>
                  <a:srgbClr val="D7E5EC"/>
                </a:solidFill>
                <a:latin typeface="Calibri" pitchFamily="34" charset="0"/>
                <a:ea typeface="Calibri" pitchFamily="34" charset="-122"/>
                <a:cs typeface="Calibri" pitchFamily="34" charset="-120"/>
              </a:rPr>
              <a:t>For each ENABLED key, wires its add_filter / add_action to the right hook.</a:t>
            </a:r>
            <a:endParaRPr lang="en-US" sz="1400" dirty="0"/>
          </a:p>
        </p:txBody>
      </p:sp>
      <p:sp>
        <p:nvSpPr>
          <p:cNvPr id="21" name="Shape 19"/>
          <p:cNvSpPr/>
          <p:nvPr/>
        </p:nvSpPr>
        <p:spPr>
          <a:xfrm>
            <a:off x="640080" y="4709160"/>
            <a:ext cx="10927080" cy="1234440"/>
          </a:xfrm>
          <a:prstGeom prst="roundRect">
            <a:avLst>
              <a:gd name="adj" fmla="val 5926"/>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22" name="Text 20"/>
          <p:cNvSpPr/>
          <p:nvPr/>
        </p:nvSpPr>
        <p:spPr>
          <a:xfrm>
            <a:off x="841248" y="4873752"/>
            <a:ext cx="10524744" cy="905256"/>
          </a:xfrm>
          <a:prstGeom prst="rect">
            <a:avLst/>
          </a:prstGeom>
          <a:noFill/>
          <a:ln/>
        </p:spPr>
        <p:txBody>
          <a:bodyPr wrap="square" lIns="0" tIns="0" rIns="0" bIns="0" rtlCol="0" anchor="t"/>
          <a:lstStyle/>
          <a:p>
            <a:pPr algn="l" indent="0" marL="0">
              <a:lnSpc>
                <a:spcPct val="108000"/>
              </a:lnSpc>
              <a:buNone/>
            </a:pPr>
            <a:r>
              <a:rPr lang="en-US" sz="1250" dirty="0">
                <a:solidFill>
                  <a:srgbClr val="8FBF9F"/>
                </a:solidFill>
                <a:latin typeface="Courier New" pitchFamily="34" charset="0"/>
                <a:ea typeface="Courier New" pitchFamily="34" charset="-122"/>
                <a:cs typeface="Courier New" pitchFamily="34" charset="-120"/>
              </a:rPr>
              <a:t>$stored = get_option('wpyeg_better_by_default');   // read once</a:t>
            </a:r>
            <a:endParaRPr lang="en-US" sz="1250" dirty="0"/>
          </a:p>
          <a:p>
            <a:pPr algn="l" indent="0" marL="0">
              <a:lnSpc>
                <a:spcPct val="108000"/>
              </a:lnSpc>
              <a:buNone/>
            </a:pPr>
            <a:r>
              <a:rPr lang="en-US" sz="1250" dirty="0">
                <a:solidFill>
                  <a:srgbClr val="DCEAF1"/>
                </a:solidFill>
                <a:latin typeface="Courier New" pitchFamily="34" charset="0"/>
                <a:ea typeface="Courier New" pitchFamily="34" charset="-122"/>
                <a:cs typeface="Courier New" pitchFamily="34" charset="-120"/>
              </a:rPr>
              <a:t>foreach ( wpyeg_defaults_schema() as $key =&gt; $field ) { /* render + wire */ }</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48640" y="502920"/>
            <a:ext cx="640080" cy="640080"/>
          </a:xfrm>
          <a:prstGeom prst="ellipse">
            <a:avLst/>
          </a:prstGeom>
          <a:solidFill>
            <a:srgbClr val="E0A94B"/>
          </a:solidFill>
          <a:ln/>
        </p:spPr>
      </p:sp>
      <p:sp>
        <p:nvSpPr>
          <p:cNvPr id="3" name="Text 1"/>
          <p:cNvSpPr/>
          <p:nvPr/>
        </p:nvSpPr>
        <p:spPr>
          <a:xfrm>
            <a:off x="548640" y="50292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a:t>
            </a:r>
            <a:endParaRPr lang="en-US" sz="1820" dirty="0"/>
          </a:p>
        </p:txBody>
      </p:sp>
      <p:sp>
        <p:nvSpPr>
          <p:cNvPr id="4" name="Text 2"/>
          <p:cNvSpPr/>
          <p:nvPr/>
        </p:nvSpPr>
        <p:spPr>
          <a:xfrm>
            <a:off x="1325880" y="502920"/>
            <a:ext cx="10058400" cy="68580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Hands-on: install &amp; flip switches</a:t>
            </a:r>
            <a:endParaRPr lang="en-US" sz="3000" dirty="0"/>
          </a:p>
        </p:txBody>
      </p:sp>
      <p:sp>
        <p:nvSpPr>
          <p:cNvPr id="5" name="Shape 3"/>
          <p:cNvSpPr/>
          <p:nvPr/>
        </p:nvSpPr>
        <p:spPr>
          <a:xfrm>
            <a:off x="548640" y="1371600"/>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6" name="Shape 4"/>
          <p:cNvSpPr/>
          <p:nvPr/>
        </p:nvSpPr>
        <p:spPr>
          <a:xfrm>
            <a:off x="822960" y="1600200"/>
            <a:ext cx="457200" cy="457200"/>
          </a:xfrm>
          <a:prstGeom prst="ellipse">
            <a:avLst/>
          </a:prstGeom>
          <a:solidFill>
            <a:srgbClr val="27607A"/>
          </a:solidFill>
          <a:ln/>
        </p:spPr>
      </p:sp>
      <p:sp>
        <p:nvSpPr>
          <p:cNvPr id="7" name="Text 5"/>
          <p:cNvSpPr/>
          <p:nvPr/>
        </p:nvSpPr>
        <p:spPr>
          <a:xfrm>
            <a:off x="822960" y="1600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463040" y="1444752"/>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Upload the plugin</a:t>
            </a:r>
            <a:endParaRPr lang="en-US" sz="1700" dirty="0"/>
          </a:p>
        </p:txBody>
      </p:sp>
      <p:sp>
        <p:nvSpPr>
          <p:cNvPr id="9" name="Text 7"/>
          <p:cNvSpPr/>
          <p:nvPr/>
        </p:nvSpPr>
        <p:spPr>
          <a:xfrm>
            <a:off x="4754880" y="1444752"/>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Plugins → Add New → Upload Plugin → choose sane-defaults.zip → Activate.</a:t>
            </a:r>
            <a:endParaRPr lang="en-US" sz="1400" dirty="0"/>
          </a:p>
        </p:txBody>
      </p:sp>
      <p:sp>
        <p:nvSpPr>
          <p:cNvPr id="10" name="Shape 8"/>
          <p:cNvSpPr/>
          <p:nvPr/>
        </p:nvSpPr>
        <p:spPr>
          <a:xfrm>
            <a:off x="548640" y="2414016"/>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1" name="Shape 9"/>
          <p:cNvSpPr/>
          <p:nvPr/>
        </p:nvSpPr>
        <p:spPr>
          <a:xfrm>
            <a:off x="822960" y="2642616"/>
            <a:ext cx="457200" cy="457200"/>
          </a:xfrm>
          <a:prstGeom prst="ellipse">
            <a:avLst/>
          </a:prstGeom>
          <a:solidFill>
            <a:srgbClr val="27607A"/>
          </a:solidFill>
          <a:ln/>
        </p:spPr>
      </p:sp>
      <p:sp>
        <p:nvSpPr>
          <p:cNvPr id="12" name="Text 10"/>
          <p:cNvSpPr/>
          <p:nvPr/>
        </p:nvSpPr>
        <p:spPr>
          <a:xfrm>
            <a:off x="822960" y="2642616"/>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463040" y="2487168"/>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Open the settings</a:t>
            </a:r>
            <a:endParaRPr lang="en-US" sz="1700" dirty="0"/>
          </a:p>
        </p:txBody>
      </p:sp>
      <p:sp>
        <p:nvSpPr>
          <p:cNvPr id="14" name="Text 12"/>
          <p:cNvSpPr/>
          <p:nvPr/>
        </p:nvSpPr>
        <p:spPr>
          <a:xfrm>
            <a:off x="4754880" y="2487168"/>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Settings → Better by Default; every toggle grouped by category.</a:t>
            </a:r>
            <a:endParaRPr lang="en-US" sz="1400" dirty="0"/>
          </a:p>
        </p:txBody>
      </p:sp>
      <p:sp>
        <p:nvSpPr>
          <p:cNvPr id="15" name="Shape 13"/>
          <p:cNvSpPr/>
          <p:nvPr/>
        </p:nvSpPr>
        <p:spPr>
          <a:xfrm>
            <a:off x="548640" y="3456432"/>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16" name="Shape 14"/>
          <p:cNvSpPr/>
          <p:nvPr/>
        </p:nvSpPr>
        <p:spPr>
          <a:xfrm>
            <a:off x="822960" y="3685032"/>
            <a:ext cx="457200" cy="457200"/>
          </a:xfrm>
          <a:prstGeom prst="ellipse">
            <a:avLst/>
          </a:prstGeom>
          <a:solidFill>
            <a:srgbClr val="27607A"/>
          </a:solidFill>
          <a:ln/>
        </p:spPr>
      </p:sp>
      <p:sp>
        <p:nvSpPr>
          <p:cNvPr id="17" name="Text 15"/>
          <p:cNvSpPr/>
          <p:nvPr/>
        </p:nvSpPr>
        <p:spPr>
          <a:xfrm>
            <a:off x="822960" y="3685032"/>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463040" y="3529584"/>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Verify a default</a:t>
            </a:r>
            <a:endParaRPr lang="en-US" sz="1700" dirty="0"/>
          </a:p>
        </p:txBody>
      </p:sp>
      <p:sp>
        <p:nvSpPr>
          <p:cNvPr id="19" name="Text 17"/>
          <p:cNvSpPr/>
          <p:nvPr/>
        </p:nvSpPr>
        <p:spPr>
          <a:xfrm>
            <a:off x="4754880" y="3529584"/>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Visit /wp-json/wp/v2/users logged out → 401 or empty, not a list of usernames.</a:t>
            </a:r>
            <a:endParaRPr lang="en-US" sz="1400" dirty="0"/>
          </a:p>
        </p:txBody>
      </p:sp>
      <p:sp>
        <p:nvSpPr>
          <p:cNvPr id="20" name="Shape 18"/>
          <p:cNvSpPr/>
          <p:nvPr/>
        </p:nvSpPr>
        <p:spPr>
          <a:xfrm>
            <a:off x="548640" y="4498848"/>
            <a:ext cx="11064240" cy="914400"/>
          </a:xfrm>
          <a:prstGeom prst="roundRect">
            <a:avLst>
              <a:gd name="adj" fmla="val 8000"/>
            </a:avLst>
          </a:prstGeom>
          <a:solidFill>
            <a:srgbClr val="FFFFFF"/>
          </a:solidFill>
          <a:ln w="12700">
            <a:solidFill>
              <a:srgbClr val="DCE6EB"/>
            </a:solidFill>
            <a:prstDash val="solid"/>
          </a:ln>
          <a:effectLst>
            <a:outerShdw sx="100000" sy="100000" kx="0" ky="0" algn="bl" rotWithShape="0" blurRad="50800" dist="25400" dir="5400000">
              <a:srgbClr val="C7D4DB">
                <a:alpha val="50000"/>
              </a:srgbClr>
            </a:outerShdw>
          </a:effectLst>
        </p:spPr>
      </p:sp>
      <p:sp>
        <p:nvSpPr>
          <p:cNvPr id="21" name="Shape 19"/>
          <p:cNvSpPr/>
          <p:nvPr/>
        </p:nvSpPr>
        <p:spPr>
          <a:xfrm>
            <a:off x="822960" y="4727448"/>
            <a:ext cx="457200" cy="457200"/>
          </a:xfrm>
          <a:prstGeom prst="ellipse">
            <a:avLst/>
          </a:prstGeom>
          <a:solidFill>
            <a:srgbClr val="27607A"/>
          </a:solidFill>
          <a:ln/>
        </p:spPr>
      </p:sp>
      <p:sp>
        <p:nvSpPr>
          <p:cNvPr id="22" name="Text 20"/>
          <p:cNvSpPr/>
          <p:nvPr/>
        </p:nvSpPr>
        <p:spPr>
          <a:xfrm>
            <a:off x="822960" y="4727448"/>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463040" y="4572000"/>
            <a:ext cx="3291840" cy="777240"/>
          </a:xfrm>
          <a:prstGeom prst="rect">
            <a:avLst/>
          </a:prstGeom>
          <a:noFill/>
          <a:ln/>
        </p:spPr>
        <p:txBody>
          <a:bodyPr wrap="square" lIns="0" tIns="0" rIns="0" bIns="0" rtlCol="0" anchor="ctr"/>
          <a:lstStyle/>
          <a:p>
            <a:pPr indent="0" marL="0">
              <a:buNone/>
            </a:pPr>
            <a:r>
              <a:rPr lang="en-US" sz="1700" b="1" dirty="0">
                <a:solidFill>
                  <a:srgbClr val="0F2733"/>
                </a:solidFill>
                <a:latin typeface="Cambria" pitchFamily="34" charset="0"/>
                <a:ea typeface="Cambria" pitchFamily="34" charset="-122"/>
                <a:cs typeface="Cambria" pitchFamily="34" charset="-120"/>
              </a:rPr>
              <a:t>Toggle &amp; re-check</a:t>
            </a:r>
            <a:endParaRPr lang="en-US" sz="1700" dirty="0"/>
          </a:p>
        </p:txBody>
      </p:sp>
      <p:sp>
        <p:nvSpPr>
          <p:cNvPr id="24" name="Text 22"/>
          <p:cNvSpPr/>
          <p:nvPr/>
        </p:nvSpPr>
        <p:spPr>
          <a:xfrm>
            <a:off x="4754880" y="4572000"/>
            <a:ext cx="6675120" cy="777240"/>
          </a:xfrm>
          <a:prstGeom prst="rect">
            <a:avLst/>
          </a:prstGeom>
          <a:noFill/>
          <a:ln/>
        </p:spPr>
        <p:txBody>
          <a:bodyPr wrap="square" lIns="0" tIns="0" rIns="0" bIns="0" rtlCol="0" anchor="ctr"/>
          <a:lstStyle/>
          <a:p>
            <a:pPr indent="0" marL="0">
              <a:buNone/>
            </a:pPr>
            <a:r>
              <a:rPr lang="en-US" sz="1400" dirty="0">
                <a:solidFill>
                  <a:srgbClr val="4A5A63"/>
                </a:solidFill>
                <a:latin typeface="Calibri" pitchFamily="34" charset="0"/>
                <a:ea typeface="Calibri" pitchFamily="34" charset="-122"/>
                <a:cs typeface="Calibri" pitchFamily="34" charset="-120"/>
              </a:rPr>
              <a:t>Flip a switch off, reload, watch the behavior change.</a:t>
            </a:r>
            <a:endParaRPr lang="en-US" sz="1400" dirty="0"/>
          </a:p>
        </p:txBody>
      </p:sp>
      <p:sp>
        <p:nvSpPr>
          <p:cNvPr id="25" name="Shape 23"/>
          <p:cNvSpPr/>
          <p:nvPr/>
        </p:nvSpPr>
        <p:spPr>
          <a:xfrm>
            <a:off x="548640" y="5577840"/>
            <a:ext cx="11064240" cy="658368"/>
          </a:xfrm>
          <a:prstGeom prst="roundRect">
            <a:avLst>
              <a:gd name="adj" fmla="val 9722"/>
            </a:avLst>
          </a:prstGeom>
          <a:solidFill>
            <a:srgbClr val="0E2836"/>
          </a:solidFill>
          <a:ln w="12700">
            <a:solidFill>
              <a:srgbClr val="27607A"/>
            </a:solidFill>
            <a:prstDash val="solid"/>
          </a:ln>
        </p:spPr>
      </p:sp>
      <p:sp>
        <p:nvSpPr>
          <p:cNvPr id="26" name="Text 24"/>
          <p:cNvSpPr/>
          <p:nvPr/>
        </p:nvSpPr>
        <p:spPr>
          <a:xfrm>
            <a:off x="777240" y="5577840"/>
            <a:ext cx="10607040" cy="658368"/>
          </a:xfrm>
          <a:prstGeom prst="rect">
            <a:avLst/>
          </a:prstGeom>
          <a:noFill/>
          <a:ln/>
        </p:spPr>
        <p:txBody>
          <a:bodyPr wrap="square" lIns="0" tIns="0" rIns="0" bIns="0" rtlCol="0" anchor="ctr"/>
          <a:lstStyle/>
          <a:p>
            <a:pPr indent="0" marL="0">
              <a:buNone/>
            </a:pPr>
            <a:r>
              <a:rPr lang="en-US" sz="1300" b="1" dirty="0">
                <a:solidFill>
                  <a:srgbClr val="E0A94B"/>
                </a:solidFill>
                <a:latin typeface="Courier New" pitchFamily="34" charset="0"/>
                <a:ea typeface="Courier New" pitchFamily="34" charset="-122"/>
                <a:cs typeface="Courier New" pitchFamily="34" charset="-120"/>
              </a:rPr>
              <a:t>prefer the terminal?   </a:t>
            </a:r>
            <a:pPr indent="0" marL="0">
              <a:buNone/>
            </a:pPr>
            <a:r>
              <a:rPr lang="en-US" sz="1300" dirty="0">
                <a:solidFill>
                  <a:srgbClr val="E7C070"/>
                </a:solidFill>
                <a:latin typeface="Courier New" pitchFamily="34" charset="0"/>
                <a:ea typeface="Courier New" pitchFamily="34" charset="-122"/>
                <a:cs typeface="Courier New" pitchFamily="34" charset="-120"/>
              </a:rPr>
              <a:t>wp plugin install ./sane-defaults.zip --activate</a:t>
            </a:r>
            <a:endParaRPr lang="en-US" sz="1300" dirty="0"/>
          </a:p>
        </p:txBody>
      </p:sp>
      <p:sp>
        <p:nvSpPr>
          <p:cNvPr id="27" name="Text 25"/>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28" name="Text 26"/>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27607A"/>
        </a:solidFill>
      </p:bgPr>
    </p:bg>
    <p:spTree>
      <p:nvGrpSpPr>
        <p:cNvPr id="1" name=""/>
        <p:cNvGrpSpPr/>
        <p:nvPr/>
      </p:nvGrpSpPr>
      <p:grpSpPr>
        <a:xfrm>
          <a:off x="0" y="0"/>
          <a:ext cx="0" cy="0"/>
          <a:chOff x="0" y="0"/>
          <a:chExt cx="0" cy="0"/>
        </a:xfrm>
      </p:grpSpPr>
      <p:sp>
        <p:nvSpPr>
          <p:cNvPr id="2" name="Text 0"/>
          <p:cNvSpPr/>
          <p:nvPr/>
        </p:nvSpPr>
        <p:spPr>
          <a:xfrm>
            <a:off x="731520" y="822960"/>
            <a:ext cx="10058400" cy="640080"/>
          </a:xfrm>
          <a:prstGeom prst="rect">
            <a:avLst/>
          </a:prstGeom>
          <a:noFill/>
          <a:ln/>
        </p:spPr>
        <p:txBody>
          <a:bodyPr wrap="square" lIns="0" tIns="0" rIns="0" bIns="0" rtlCol="0" anchor="ctr"/>
          <a:lstStyle/>
          <a:p>
            <a:pPr indent="0" marL="0">
              <a:buNone/>
            </a:pPr>
            <a:r>
              <a:rPr lang="en-US" sz="1800" b="1" dirty="0">
                <a:solidFill>
                  <a:srgbClr val="E0A94B"/>
                </a:solidFill>
                <a:latin typeface="Calibri" pitchFamily="34" charset="0"/>
                <a:ea typeface="Calibri" pitchFamily="34" charset="-122"/>
                <a:cs typeface="Calibri" pitchFamily="34" charset="-120"/>
              </a:rPr>
              <a:t>Your turn</a:t>
            </a:r>
            <a:endParaRPr lang="en-US" sz="1800" dirty="0"/>
          </a:p>
        </p:txBody>
      </p:sp>
      <p:sp>
        <p:nvSpPr>
          <p:cNvPr id="3" name="Text 1"/>
          <p:cNvSpPr/>
          <p:nvPr/>
        </p:nvSpPr>
        <p:spPr>
          <a:xfrm>
            <a:off x="731520" y="1371600"/>
            <a:ext cx="10607040" cy="9144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Add one new default to the plugin</a:t>
            </a:r>
            <a:endParaRPr lang="en-US" sz="3600" dirty="0"/>
          </a:p>
        </p:txBody>
      </p:sp>
      <p:sp>
        <p:nvSpPr>
          <p:cNvPr id="4" name="Text 2"/>
          <p:cNvSpPr/>
          <p:nvPr/>
        </p:nvSpPr>
        <p:spPr>
          <a:xfrm>
            <a:off x="731520" y="2468880"/>
            <a:ext cx="10515600" cy="640080"/>
          </a:xfrm>
          <a:prstGeom prst="rect">
            <a:avLst/>
          </a:prstGeom>
          <a:noFill/>
          <a:ln/>
        </p:spPr>
        <p:txBody>
          <a:bodyPr wrap="square" lIns="0" tIns="0" rIns="0" bIns="0" rtlCol="0" anchor="t"/>
          <a:lstStyle/>
          <a:p>
            <a:pPr indent="0" marL="0">
              <a:buNone/>
            </a:pPr>
            <a:r>
              <a:rPr lang="en-US" sz="1700" i="1" dirty="0">
                <a:solidFill>
                  <a:srgbClr val="D7E5EC"/>
                </a:solidFill>
                <a:latin typeface="Calibri" pitchFamily="34" charset="0"/>
                <a:ea typeface="Calibri" pitchFamily="34" charset="-122"/>
                <a:cs typeface="Calibri" pitchFamily="34" charset="-120"/>
              </a:rPr>
              <a:t>Goal: disable the WordPress dashboard “Welcome” panel. Two small edits — no new settings-page code.</a:t>
            </a:r>
            <a:endParaRPr lang="en-US" sz="1700" dirty="0"/>
          </a:p>
        </p:txBody>
      </p:sp>
      <p:sp>
        <p:nvSpPr>
          <p:cNvPr id="5" name="Shape 3"/>
          <p:cNvSpPr/>
          <p:nvPr/>
        </p:nvSpPr>
        <p:spPr>
          <a:xfrm>
            <a:off x="731520" y="3246120"/>
            <a:ext cx="10698480" cy="2468880"/>
          </a:xfrm>
          <a:prstGeom prst="roundRect">
            <a:avLst>
              <a:gd name="adj" fmla="val 2963"/>
            </a:avLst>
          </a:prstGeom>
          <a:solidFill>
            <a:srgbClr val="0E2836"/>
          </a:solidFill>
          <a:ln w="12700">
            <a:solidFill>
              <a:srgbClr val="27607A"/>
            </a:solidFill>
            <a:prstDash val="solid"/>
          </a:ln>
          <a:effectLst>
            <a:outerShdw sx="100000" sy="100000" kx="0" ky="0" algn="bl" rotWithShape="0" blurRad="76200" dist="38100" dir="5400000">
              <a:srgbClr val="0A1A22">
                <a:alpha val="40000"/>
              </a:srgbClr>
            </a:outerShdw>
          </a:effectLst>
        </p:spPr>
      </p:sp>
      <p:sp>
        <p:nvSpPr>
          <p:cNvPr id="6" name="Text 4"/>
          <p:cNvSpPr/>
          <p:nvPr/>
        </p:nvSpPr>
        <p:spPr>
          <a:xfrm>
            <a:off x="932688" y="3410712"/>
            <a:ext cx="10296144" cy="2139696"/>
          </a:xfrm>
          <a:prstGeom prst="rect">
            <a:avLst/>
          </a:prstGeom>
          <a:noFill/>
          <a:ln/>
        </p:spPr>
        <p:txBody>
          <a:bodyPr wrap="square" lIns="0" tIns="0" rIns="0" bIns="0" rtlCol="0" anchor="t"/>
          <a:lstStyle/>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1) add a schema entry in wpyeg_defaults_schema()</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'hide_welcome_panel' =&gt; array(</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'default' =&gt; 'yes', 'type' =&gt; 'toggle', 'group' =&gt; 'ux',</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'label' =&gt; 'Hide dashboard welcome panel',</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 </a:t>
            </a:r>
            <a:endParaRPr lang="en-US" sz="1300" dirty="0"/>
          </a:p>
          <a:p>
            <a:pPr algn="l" indent="0" marL="0">
              <a:lnSpc>
                <a:spcPct val="108000"/>
              </a:lnSpc>
              <a:buNone/>
            </a:pPr>
            <a:r>
              <a:rPr lang="en-US" sz="1300" dirty="0">
                <a:solidFill>
                  <a:srgbClr val="8FBF9F"/>
                </a:solidFill>
                <a:latin typeface="Courier New" pitchFamily="34" charset="0"/>
                <a:ea typeface="Courier New" pitchFamily="34" charset="-122"/>
                <a:cs typeface="Courier New" pitchFamily="34" charset="-120"/>
              </a:rPr>
              <a:t>// 2) wire it inside wpyeg_defaults_bootstrap()</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if ( wpyeg_defaults_enabled( 'hide_welcome_panel' ) ) {</a:t>
            </a:r>
            <a:endParaRPr lang="en-US" sz="1300" dirty="0"/>
          </a:p>
          <a:p>
            <a:pPr algn="l" indent="0" marL="0">
              <a:lnSpc>
                <a:spcPct val="108000"/>
              </a:lnSpc>
              <a:buNone/>
            </a:pPr>
            <a:r>
              <a:rPr lang="en-US" sz="1300" dirty="0">
                <a:solidFill>
                  <a:srgbClr val="E7C070"/>
                </a:solidFill>
                <a:latin typeface="Courier New" pitchFamily="34" charset="0"/>
                <a:ea typeface="Courier New" pitchFamily="34" charset="-122"/>
                <a:cs typeface="Courier New" pitchFamily="34" charset="-120"/>
              </a:rPr>
              <a:t>    remove_action( 'welcome_panel', 'wp_welcome_panel' );</a:t>
            </a:r>
            <a:endParaRPr lang="en-US" sz="1300" dirty="0"/>
          </a:p>
          <a:p>
            <a:pPr algn="l" indent="0" marL="0">
              <a:lnSpc>
                <a:spcPct val="108000"/>
              </a:lnSpc>
              <a:buNone/>
            </a:pPr>
            <a:r>
              <a:rPr lang="en-US" sz="1300" dirty="0">
                <a:solidFill>
                  <a:srgbClr val="DCEAF1"/>
                </a:solidFill>
                <a:latin typeface="Courier New" pitchFamily="34" charset="0"/>
                <a:ea typeface="Courier New" pitchFamily="34" charset="-122"/>
                <a:cs typeface="Courier New" pitchFamily="34" charset="-120"/>
              </a:rPr>
              <a:t>}</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Text 0"/>
          <p:cNvSpPr/>
          <p:nvPr/>
        </p:nvSpPr>
        <p:spPr>
          <a:xfrm>
            <a:off x="548640" y="411480"/>
            <a:ext cx="10972800" cy="640080"/>
          </a:xfrm>
          <a:prstGeom prst="rect">
            <a:avLst/>
          </a:prstGeom>
          <a:noFill/>
          <a:ln/>
        </p:spPr>
        <p:txBody>
          <a:bodyPr wrap="square" lIns="0" tIns="0" rIns="0" bIns="0" rtlCol="0" anchor="ctr"/>
          <a:lstStyle/>
          <a:p>
            <a:pPr indent="0" marL="0">
              <a:buNone/>
            </a:pPr>
            <a:r>
              <a:rPr lang="en-US" sz="3000" b="1" dirty="0">
                <a:solidFill>
                  <a:srgbClr val="0F2733"/>
                </a:solidFill>
                <a:latin typeface="Cambria" pitchFamily="34" charset="0"/>
                <a:ea typeface="Cambria" pitchFamily="34" charset="-122"/>
                <a:cs typeface="Cambria" pitchFamily="34" charset="-120"/>
              </a:rPr>
              <a:t>The cheat sheet — defaults that ship ON</a:t>
            </a:r>
            <a:endParaRPr lang="en-US" sz="3000" dirty="0"/>
          </a:p>
        </p:txBody>
      </p:sp>
      <p:sp>
        <p:nvSpPr>
          <p:cNvPr id="3" name="Text 1"/>
          <p:cNvSpPr/>
          <p:nvPr/>
        </p:nvSpPr>
        <p:spPr>
          <a:xfrm>
            <a:off x="548640" y="1097280"/>
            <a:ext cx="10972800" cy="365760"/>
          </a:xfrm>
          <a:prstGeom prst="rect">
            <a:avLst/>
          </a:prstGeom>
          <a:noFill/>
          <a:ln/>
        </p:spPr>
        <p:txBody>
          <a:bodyPr wrap="square" lIns="0" tIns="0" rIns="0" bIns="0" rtlCol="0" anchor="ctr"/>
          <a:lstStyle/>
          <a:p>
            <a:pPr indent="0" marL="0">
              <a:buNone/>
            </a:pPr>
            <a:r>
              <a:rPr lang="en-US" sz="1400" b="1" dirty="0">
                <a:solidFill>
                  <a:srgbClr val="3E7E9C"/>
                </a:solidFill>
                <a:latin typeface="Calibri" pitchFamily="34" charset="0"/>
                <a:ea typeface="Calibri" pitchFamily="34" charset="-122"/>
                <a:cs typeface="Calibri" pitchFamily="34" charset="-120"/>
              </a:rPr>
              <a:t>Everything on-by-default in one view, mapped to the core hook.</a:t>
            </a:r>
            <a:endParaRPr lang="en-US" sz="1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4572000"/>
                <a:gridCol w="4480560"/>
                <a:gridCol w="2011680"/>
              </a:tblGrid>
              <a:tr h="402336">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Default</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200" b="1" dirty="0">
                          <a:solidFill>
                            <a:srgbClr val="FFFFFF"/>
                          </a:solidFill>
                          <a:latin typeface="Courier New" pitchFamily="34" charset="0"/>
                          <a:ea typeface="Courier New" pitchFamily="34" charset="-122"/>
                          <a:cs typeface="Courier New" pitchFamily="34" charset="-120"/>
                        </a:rPr>
                        <a:t>Core hook</a:t>
                      </a:r>
                      <a:endParaRPr lang="en-US" sz="12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Category</a:t>
                      </a:r>
                      <a:endParaRPr lang="en-US" sz="13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27607A"/>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Restrict REST user discovery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rest_endpoints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Lock down XML-RPC by category</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xmlrpc_methods / wp_xmlrpc_server_class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Require strong passwords (15+ / breach-screened)</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user_profile_update_errors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Remove version + security headers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wp_generator / wp_headers</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comments &amp; pingbacks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comments_open / pings_open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Redirect author + attachment pages</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template_redirect</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Content / SEO</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EAF1F5"/>
                    </a:solidFill>
                  </a:tcPr>
                </a:tc>
              </a:tr>
              <a:tr h="402336">
                <a:tc>
                  <a:txBody>
                    <a:bodyPr/>
                    <a:lstStyle/>
                    <a:p>
                      <a:pPr algn="l" indent="0" marL="0">
                        <a:buNone/>
                      </a:pPr>
                      <a:r>
                        <a:rPr lang="en-US" sz="1250" dirty="0">
                          <a:solidFill>
                            <a:srgbClr val="0F2733"/>
                          </a:solidFill>
                          <a:latin typeface="Calibri" pitchFamily="34" charset="0"/>
                          <a:ea typeface="Calibri" pitchFamily="34" charset="-122"/>
                          <a:cs typeface="Calibri" pitchFamily="34" charset="-120"/>
                        </a:rPr>
                        <a:t>Disable emoji script</a:t>
                      </a:r>
                      <a:endParaRPr lang="en-US" sz="125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7607A"/>
                          </a:solidFill>
                          <a:latin typeface="Courier New" pitchFamily="34" charset="0"/>
                          <a:ea typeface="Courier New" pitchFamily="34" charset="-122"/>
                          <a:cs typeface="Courier New" pitchFamily="34" charset="-120"/>
                        </a:rPr>
                        <a:t>init (remove_action)</a:t>
                      </a:r>
                      <a:endParaRPr lang="en-US" sz="1100" dirty="0">
                        <a:latin typeface="Courier New" charset="0"/>
                        <a:ea typeface="Courier New" charset="0"/>
                        <a:cs typeface="Courier New"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c>
                  <a:txBody>
                    <a:bodyPr/>
                    <a:lstStyle/>
                    <a:p>
                      <a:pPr algn="l" indent="0" marL="0">
                        <a:buNone/>
                      </a:pPr>
                      <a:r>
                        <a:rPr lang="en-US" sz="1200" dirty="0">
                          <a:solidFill>
                            <a:srgbClr val="4A5A63"/>
                          </a:solidFill>
                          <a:latin typeface="Calibri" pitchFamily="34" charset="0"/>
                          <a:ea typeface="Calibri" pitchFamily="34" charset="-122"/>
                          <a:cs typeface="Calibri" pitchFamily="34" charset="-120"/>
                        </a:rPr>
                        <a:t>Performance</a:t>
                      </a:r>
                      <a:endParaRPr lang="en-US" sz="1200" dirty="0">
                        <a:latin typeface="Calibri" charset="0"/>
                        <a:ea typeface="Calibri" charset="0"/>
                        <a:cs typeface="Calibri" charset="0"/>
                      </a:endParaRPr>
                    </a:p>
                  </a:txBody>
                  <a:tcPr marL="50800" marR="50800" marT="50800" marB="50800" anchor="ctr">
                    <a:lnL w="12700" cap="flat" cmpd="sng" algn="ctr">
                      <a:solidFill>
                        <a:srgbClr val="DCE6EB"/>
                      </a:solidFill>
                      <a:prstDash val="solid"/>
                      <a:round/>
                      <a:headEnd type="none" w="med" len="med"/>
                      <a:tailEnd type="none" w="med" len="med"/>
                    </a:lnL>
                    <a:lnR w="12700" cap="flat" cmpd="sng" algn="ctr">
                      <a:solidFill>
                        <a:srgbClr val="DCE6EB"/>
                      </a:solidFill>
                      <a:prstDash val="solid"/>
                      <a:round/>
                      <a:headEnd type="none" w="med" len="med"/>
                      <a:tailEnd type="none" w="med" len="med"/>
                    </a:lnR>
                    <a:lnT w="12700" cap="flat" cmpd="sng" algn="ctr">
                      <a:solidFill>
                        <a:srgbClr val="DCE6EB"/>
                      </a:solidFill>
                      <a:prstDash val="solid"/>
                      <a:round/>
                      <a:headEnd type="none" w="med" len="med"/>
                      <a:tailEnd type="none" w="med" len="med"/>
                    </a:lnT>
                    <a:lnB w="12700" cap="flat" cmpd="sng" algn="ctr">
                      <a:solidFill>
                        <a:srgbClr val="DCE6EB"/>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428232"/>
            <a:ext cx="7315200" cy="274320"/>
          </a:xfrm>
          <a:prstGeom prst="rect">
            <a:avLst/>
          </a:prstGeom>
          <a:noFill/>
          <a:ln/>
        </p:spPr>
        <p:txBody>
          <a:bodyPr wrap="square" lIns="0" tIns="0" rIns="0" bIns="0" rtlCol="0" anchor="ctr"/>
          <a:lstStyle/>
          <a:p>
            <a:pPr algn="l" indent="0" marL="0">
              <a:buNone/>
            </a:pPr>
            <a:r>
              <a:rPr lang="en-US" sz="900" b="1" dirty="0">
                <a:solidFill>
                  <a:srgbClr val="C88F33"/>
                </a:solidFill>
                <a:latin typeface="Calibri" pitchFamily="34" charset="0"/>
                <a:ea typeface="Calibri" pitchFamily="34" charset="-122"/>
                <a:cs typeface="Calibri" pitchFamily="34" charset="-120"/>
              </a:rPr>
              <a:t>WPYEG</a:t>
            </a:r>
            <a:pPr algn="l" indent="0" marL="0">
              <a:buNone/>
            </a:pPr>
            <a:r>
              <a:rPr lang="en-US" sz="900" dirty="0">
                <a:solidFill>
                  <a:srgbClr val="8A9AA3"/>
                </a:solidFill>
                <a:latin typeface="Calibri" pitchFamily="34" charset="0"/>
                <a:ea typeface="Calibri" pitchFamily="34" charset="-122"/>
                <a:cs typeface="Calibri" pitchFamily="34" charset="-120"/>
              </a:rPr>
              <a:t>  ·  Better by Default</a:t>
            </a:r>
            <a:endParaRPr lang="en-US" sz="900" dirty="0"/>
          </a:p>
        </p:txBody>
      </p:sp>
      <p:sp>
        <p:nvSpPr>
          <p:cNvPr id="6" name="Text 3"/>
          <p:cNvSpPr/>
          <p:nvPr/>
        </p:nvSpPr>
        <p:spPr>
          <a:xfrm>
            <a:off x="11155680" y="6428232"/>
            <a:ext cx="548640" cy="274320"/>
          </a:xfrm>
          <a:prstGeom prst="rect">
            <a:avLst/>
          </a:prstGeom>
          <a:noFill/>
          <a:ln/>
        </p:spPr>
        <p:txBody>
          <a:bodyPr wrap="square" lIns="0" tIns="0" rIns="0" bIns="0" rtlCol="0" anchor="ctr"/>
          <a:lstStyle/>
          <a:p>
            <a:pPr algn="r" indent="0" marL="0">
              <a:buNone/>
            </a:pPr>
            <a:r>
              <a:rPr lang="en-US" sz="900" dirty="0">
                <a:solidFill>
                  <a:srgbClr val="8A9AA3"/>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2733"/>
        </a:solidFill>
      </p:bgPr>
    </p:bg>
    <p:spTree>
      <p:nvGrpSpPr>
        <p:cNvPr id="1" name=""/>
        <p:cNvGrpSpPr/>
        <p:nvPr/>
      </p:nvGrpSpPr>
      <p:grpSpPr>
        <a:xfrm>
          <a:off x="0" y="0"/>
          <a:ext cx="0" cy="0"/>
          <a:chOff x="0" y="0"/>
          <a:chExt cx="0" cy="0"/>
        </a:xfrm>
      </p:grpSpPr>
      <p:sp>
        <p:nvSpPr>
          <p:cNvPr id="2" name="Shape 0"/>
          <p:cNvSpPr/>
          <p:nvPr/>
        </p:nvSpPr>
        <p:spPr>
          <a:xfrm>
            <a:off x="0" y="5212080"/>
            <a:ext cx="12188952" cy="1645920"/>
          </a:xfrm>
          <a:prstGeom prst="rect">
            <a:avLst/>
          </a:prstGeom>
          <a:solidFill>
            <a:srgbClr val="16323F"/>
          </a:solidFill>
          <a:ln/>
        </p:spPr>
      </p:sp>
      <p:sp>
        <p:nvSpPr>
          <p:cNvPr id="3" name="Shape 1"/>
          <p:cNvSpPr/>
          <p:nvPr/>
        </p:nvSpPr>
        <p:spPr>
          <a:xfrm>
            <a:off x="777240" y="777240"/>
            <a:ext cx="640080" cy="640080"/>
          </a:xfrm>
          <a:prstGeom prst="ellipse">
            <a:avLst/>
          </a:prstGeom>
          <a:solidFill>
            <a:srgbClr val="E0A94B"/>
          </a:solidFill>
          <a:ln/>
        </p:spPr>
      </p:sp>
      <p:sp>
        <p:nvSpPr>
          <p:cNvPr id="4" name="Text 2"/>
          <p:cNvSpPr/>
          <p:nvPr/>
        </p:nvSpPr>
        <p:spPr>
          <a:xfrm>
            <a:off x="777240" y="777240"/>
            <a:ext cx="640080" cy="640080"/>
          </a:xfrm>
          <a:prstGeom prst="rect">
            <a:avLst/>
          </a:prstGeom>
          <a:noFill/>
          <a:ln/>
        </p:spPr>
        <p:txBody>
          <a:bodyPr wrap="square" lIns="0" tIns="0" rIns="0" bIns="0" rtlCol="0" anchor="ctr"/>
          <a:lstStyle/>
          <a:p>
            <a:pPr algn="ctr" indent="0" marL="0">
              <a:buNone/>
            </a:pPr>
            <a:r>
              <a:rPr lang="en-US" sz="1820" b="1" dirty="0">
                <a:solidFill>
                  <a:srgbClr val="0F2733"/>
                </a:solidFill>
                <a:latin typeface="Cambria" pitchFamily="34" charset="0"/>
                <a:ea typeface="Cambria" pitchFamily="34" charset="-122"/>
                <a:cs typeface="Cambria" pitchFamily="34" charset="-120"/>
              </a:rPr>
              <a:t>{ }</a:t>
            </a:r>
            <a:endParaRPr lang="en-US" sz="1820" dirty="0"/>
          </a:p>
        </p:txBody>
      </p:sp>
      <p:sp>
        <p:nvSpPr>
          <p:cNvPr id="5" name="Text 3"/>
          <p:cNvSpPr/>
          <p:nvPr/>
        </p:nvSpPr>
        <p:spPr>
          <a:xfrm>
            <a:off x="777240" y="1737360"/>
            <a:ext cx="10607040" cy="10972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Thanks, WPYEG!</a:t>
            </a:r>
            <a:endParaRPr lang="en-US" sz="5000" dirty="0"/>
          </a:p>
        </p:txBody>
      </p:sp>
      <p:sp>
        <p:nvSpPr>
          <p:cNvPr id="6" name="Text 4"/>
          <p:cNvSpPr/>
          <p:nvPr/>
        </p:nvSpPr>
        <p:spPr>
          <a:xfrm>
            <a:off x="822960" y="2926080"/>
            <a:ext cx="10058400" cy="822960"/>
          </a:xfrm>
          <a:prstGeom prst="rect">
            <a:avLst/>
          </a:prstGeom>
          <a:noFill/>
          <a:ln/>
        </p:spPr>
        <p:txBody>
          <a:bodyPr wrap="square" lIns="0" tIns="0" rIns="0" bIns="0" rtlCol="0" anchor="t"/>
          <a:lstStyle/>
          <a:p>
            <a:pPr indent="0" marL="0">
              <a:buNone/>
            </a:pPr>
            <a:r>
              <a:rPr lang="en-US" sz="1900" i="1" dirty="0">
                <a:solidFill>
                  <a:srgbClr val="D7E5EC"/>
                </a:solidFill>
                <a:latin typeface="Calibri" pitchFamily="34" charset="0"/>
                <a:ea typeface="Calibri" pitchFamily="34" charset="-122"/>
                <a:cs typeface="Calibri" pitchFamily="34" charset="-120"/>
              </a:rPr>
              <a:t>Set your defaults wisely.</a:t>
            </a:r>
            <a:endParaRPr lang="en-US" sz="1900" dirty="0"/>
          </a:p>
        </p:txBody>
      </p:sp>
      <p:sp>
        <p:nvSpPr>
          <p:cNvPr id="7" name="Text 5"/>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b="1" dirty="0">
                <a:solidFill>
                  <a:srgbClr val="E0A94B"/>
                </a:solidFill>
                <a:latin typeface="Courier New" pitchFamily="34" charset="0"/>
                <a:ea typeface="Courier New" pitchFamily="34" charset="-122"/>
                <a:cs typeface="Courier New" pitchFamily="34" charset="-120"/>
              </a:rPr>
              <a:t>Files:  </a:t>
            </a:r>
            <a:pPr indent="0" marL="0">
              <a:buNone/>
            </a:pPr>
            <a:r>
              <a:rPr lang="en-US" sz="1400" dirty="0">
                <a:solidFill>
                  <a:srgbClr val="D7E5EC"/>
                </a:solidFill>
                <a:latin typeface="Courier New" pitchFamily="34" charset="0"/>
                <a:ea typeface="Courier New" pitchFamily="34" charset="-122"/>
                <a:cs typeface="Courier New" pitchFamily="34" charset="-120"/>
              </a:rPr>
              <a:t>sane-defaults.zip</a:t>
            </a:r>
            <a:pPr indent="0" marL="0">
              <a:buNone/>
            </a:pPr>
            <a:r>
              <a:rPr lang="en-US" sz="1400" dirty="0">
                <a:solidFill>
                  <a:srgbClr val="8A9AA3"/>
                </a:solidFill>
                <a:latin typeface="Courier New" pitchFamily="34" charset="0"/>
                <a:ea typeface="Courier New" pitchFamily="34" charset="-122"/>
                <a:cs typeface="Courier New" pitchFamily="34" charset="-120"/>
              </a:rPr>
              <a:t>   ·   </a:t>
            </a:r>
            <a:pPr indent="0" marL="0">
              <a:buNone/>
            </a:pPr>
            <a:r>
              <a:rPr lang="en-US" sz="1400" dirty="0">
                <a:solidFill>
                  <a:srgbClr val="D7E5EC"/>
                </a:solidFill>
                <a:latin typeface="Courier New" pitchFamily="34" charset="0"/>
                <a:ea typeface="Courier New" pitchFamily="34" charset="-122"/>
                <a:cs typeface="Courier New" pitchFamily="34" charset="-120"/>
              </a:rPr>
              <a:t>wordpress-default-settings.md</a:t>
            </a:r>
            <a:endParaRPr lang="en-US" sz="1400" dirty="0"/>
          </a:p>
        </p:txBody>
      </p:sp>
      <p:sp>
        <p:nvSpPr>
          <p:cNvPr id="8" name="Text 6"/>
          <p:cNvSpPr/>
          <p:nvPr/>
        </p:nvSpPr>
        <p:spPr>
          <a:xfrm>
            <a:off x="822960" y="5623560"/>
            <a:ext cx="10515600" cy="5486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Questions?  </a:t>
            </a:r>
            <a:pPr indent="0" marL="0">
              <a:buNone/>
            </a:pPr>
            <a:r>
              <a:rPr lang="en-US" sz="1600" dirty="0">
                <a:solidFill>
                  <a:srgbClr val="D7E5EC"/>
                </a:solidFill>
                <a:latin typeface="Calibri" pitchFamily="34" charset="0"/>
                <a:ea typeface="Calibri" pitchFamily="34" charset="-122"/>
                <a:cs typeface="Calibri" pitchFamily="34" charset="-120"/>
              </a:rPr>
              <a:t>License GPL-3.0-or-later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Better by Default</dc:title>
  <dc:subject>PptxGenJS Presentation</dc:subject>
  <dc:creator>WPYEG</dc:creator>
  <cp:lastModifiedBy>WPYEG</cp:lastModifiedBy>
  <cp:revision>1</cp:revision>
  <dcterms:created xsi:type="dcterms:W3CDTF">2026-07-20T00:29:06Z</dcterms:created>
  <dcterms:modified xsi:type="dcterms:W3CDTF">2026-07-20T00:29:06Z</dcterms:modified>
</cp:coreProperties>
</file>