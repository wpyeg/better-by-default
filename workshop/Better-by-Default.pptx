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d680189f664106" /><Relationship Type="http://schemas.openxmlformats.org/officeDocument/2006/relationships/extended-properties" Target="/docProps/app.xml" Id="R296831804e474e76" /><Relationship Type="http://schemas.openxmlformats.org/officeDocument/2006/relationships/officeDocument" Target="/ppt/presentation.xml" Id="R3b8268237efe41b5" /></Relationships>
</file>

<file path=ppt/presentation.xml><?xml version="1.0" encoding="utf-8"?>
<p:presentation xmlns:p="http://schemas.openxmlformats.org/presentationml/2006/main">
  <p:sldMasterIdLst>
    <p:sldMasterId xmlns:r="http://schemas.openxmlformats.org/officeDocument/2006/relationships" id="2147483648" r:id="Rb361ab7bb93b4dfa"/>
  </p:sldMasterIdLst>
  <p:notesMasterIdLst>
    <p:notesMasterId xmlns:r="http://schemas.openxmlformats.org/officeDocument/2006/relationships" r:id="R1ce4e70414a44c9f"/>
  </p:notesMasterIdLst>
  <p:sldIdLst>
    <p:sldId xmlns:r="http://schemas.openxmlformats.org/officeDocument/2006/relationships" id="256" r:id="Rabba5b01417845b8"/>
    <p:sldId xmlns:r="http://schemas.openxmlformats.org/officeDocument/2006/relationships" id="257" r:id="R4da3541c0b3644a0"/>
    <p:sldId xmlns:r="http://schemas.openxmlformats.org/officeDocument/2006/relationships" id="258" r:id="R250b1155ddaf4e37"/>
    <p:sldId xmlns:r="http://schemas.openxmlformats.org/officeDocument/2006/relationships" id="259" r:id="R3b14b59581d949e2"/>
    <p:sldId xmlns:r="http://schemas.openxmlformats.org/officeDocument/2006/relationships" id="260" r:id="Rd7f9506c98d440d3"/>
    <p:sldId xmlns:r="http://schemas.openxmlformats.org/officeDocument/2006/relationships" id="261" r:id="R097cd4561f724613"/>
    <p:sldId xmlns:r="http://schemas.openxmlformats.org/officeDocument/2006/relationships" id="262" r:id="Re6e9edf05af64bc0"/>
    <p:sldId xmlns:r="http://schemas.openxmlformats.org/officeDocument/2006/relationships" id="263" r:id="Rcb7af1f7be004d82"/>
    <p:sldId xmlns:r="http://schemas.openxmlformats.org/officeDocument/2006/relationships" id="264" r:id="R84e083caf5eb442b"/>
    <p:sldId xmlns:r="http://schemas.openxmlformats.org/officeDocument/2006/relationships" id="265" r:id="Ra1e94ae54a334447"/>
    <p:sldId xmlns:r="http://schemas.openxmlformats.org/officeDocument/2006/relationships" id="266" r:id="Ra5da60159f1348e5"/>
    <p:sldId xmlns:r="http://schemas.openxmlformats.org/officeDocument/2006/relationships" id="267" r:id="Re59fba488cf3469c"/>
    <p:sldId xmlns:r="http://schemas.openxmlformats.org/officeDocument/2006/relationships" id="268" r:id="R127ff717638f4e85"/>
    <p:sldId xmlns:r="http://schemas.openxmlformats.org/officeDocument/2006/relationships" id="269" r:id="R594d82cbb3804777"/>
    <p:sldId xmlns:r="http://schemas.openxmlformats.org/officeDocument/2006/relationships" id="270" r:id="Rabed20c48baa4e1b"/>
    <p:sldId xmlns:r="http://schemas.openxmlformats.org/officeDocument/2006/relationships" id="271" r:id="R77d1e9583e764f19"/>
    <p:sldId xmlns:r="http://schemas.openxmlformats.org/officeDocument/2006/relationships" id="272" r:id="R9a9bbe206e854a88"/>
    <p:sldId xmlns:r="http://schemas.openxmlformats.org/officeDocument/2006/relationships" id="273" r:id="R32c1c0d95c8e44db"/>
    <p:sldId xmlns:r="http://schemas.openxmlformats.org/officeDocument/2006/relationships" id="274" r:id="R62681a7817da45c6"/>
    <p:sldId xmlns:r="http://schemas.openxmlformats.org/officeDocument/2006/relationships" id="275" r:id="Ra09b4fddc47a40d6"/>
    <p:sldId xmlns:r="http://schemas.openxmlformats.org/officeDocument/2006/relationships" id="276" r:id="R5c5236c17efb4da4"/>
    <p:sldId xmlns:r="http://schemas.openxmlformats.org/officeDocument/2006/relationships" id="277" r:id="Re6eeee51099e483c"/>
    <p:sldId xmlns:r="http://schemas.openxmlformats.org/officeDocument/2006/relationships" id="278" r:id="Readefd37e3b34eeb"/>
    <p:sldId xmlns:r="http://schemas.openxmlformats.org/officeDocument/2006/relationships" id="279" r:id="R955dd83b853f4bc0"/>
    <p:sldId xmlns:r="http://schemas.openxmlformats.org/officeDocument/2006/relationships" id="280" r:id="R9f685eb4c6774a8b"/>
    <p:sldId xmlns:r="http://schemas.openxmlformats.org/officeDocument/2006/relationships" id="281" r:id="R1c5f5f412c56444c"/>
    <p:sldId xmlns:r="http://schemas.openxmlformats.org/officeDocument/2006/relationships" id="282" r:id="R09d229e2b4f047b5"/>
    <p:sldId xmlns:r="http://schemas.openxmlformats.org/officeDocument/2006/relationships" id="283" r:id="R159a8943791142b0"/>
    <p:sldId xmlns:r="http://schemas.openxmlformats.org/officeDocument/2006/relationships" id="284" r:id="Redf9cfde01b94d89"/>
    <p:sldId xmlns:r="http://schemas.openxmlformats.org/officeDocument/2006/relationships" id="285" r:id="R21e09d535fcd4b1d"/>
    <p:sldId xmlns:r="http://schemas.openxmlformats.org/officeDocument/2006/relationships" id="286" r:id="Rf26f57ac80cf46c4"/>
    <p:sldId xmlns:r="http://schemas.openxmlformats.org/officeDocument/2006/relationships" id="287" r:id="R85c5dece37f84f03"/>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990c6cd5e2c465c" /><Relationship Type="http://schemas.openxmlformats.org/officeDocument/2006/relationships/slideMaster" Target="/ppt/slideMasters/slideMaster1.xml" Id="Rb361ab7bb93b4dfa" /><Relationship Type="http://schemas.openxmlformats.org/officeDocument/2006/relationships/notesMaster" Target="/ppt/notesMasters/notesMaster1.xml" Id="R1ce4e70414a44c9f" /><Relationship Type="http://schemas.openxmlformats.org/officeDocument/2006/relationships/presProps" Target="/ppt/presProps.xml" Id="R0d2a196a8fae491e" /><Relationship Type="http://schemas.openxmlformats.org/officeDocument/2006/relationships/viewProps" Target="/ppt/viewProps.xml" Id="Rbb8034e3be2143d1" /><Relationship Type="http://schemas.openxmlformats.org/officeDocument/2006/relationships/tableStyles" Target="/ppt/tableStyles.xml" Id="R6d2b244164a84ce9" /><Relationship Type="http://schemas.openxmlformats.org/officeDocument/2006/relationships/slide" Target="/ppt/slides/slide1.xml" Id="Rabba5b01417845b8" /><Relationship Type="http://schemas.openxmlformats.org/officeDocument/2006/relationships/slide" Target="/ppt/slides/slide2.xml" Id="R4da3541c0b3644a0" /><Relationship Type="http://schemas.openxmlformats.org/officeDocument/2006/relationships/slide" Target="/ppt/slides/slide3.xml" Id="R250b1155ddaf4e37" /><Relationship Type="http://schemas.openxmlformats.org/officeDocument/2006/relationships/slide" Target="/ppt/slides/slide4.xml" Id="R3b14b59581d949e2" /><Relationship Type="http://schemas.openxmlformats.org/officeDocument/2006/relationships/slide" Target="/ppt/slides/slide5.xml" Id="Rd7f9506c98d440d3" /><Relationship Type="http://schemas.openxmlformats.org/officeDocument/2006/relationships/slide" Target="/ppt/slides/slide6.xml" Id="R097cd4561f724613" /><Relationship Type="http://schemas.openxmlformats.org/officeDocument/2006/relationships/slide" Target="/ppt/slides/slide7.xml" Id="Re6e9edf05af64bc0" /><Relationship Type="http://schemas.openxmlformats.org/officeDocument/2006/relationships/slide" Target="/ppt/slides/slide8.xml" Id="Rcb7af1f7be004d82" /><Relationship Type="http://schemas.openxmlformats.org/officeDocument/2006/relationships/slide" Target="/ppt/slides/slide9.xml" Id="R84e083caf5eb442b" /><Relationship Type="http://schemas.openxmlformats.org/officeDocument/2006/relationships/slide" Target="/ppt/slides/slide10.xml" Id="Ra1e94ae54a334447" /><Relationship Type="http://schemas.openxmlformats.org/officeDocument/2006/relationships/slide" Target="/ppt/slides/slide11.xml" Id="Ra5da60159f1348e5" /><Relationship Type="http://schemas.openxmlformats.org/officeDocument/2006/relationships/slide" Target="/ppt/slides/slide12.xml" Id="Re59fba488cf3469c" /><Relationship Type="http://schemas.openxmlformats.org/officeDocument/2006/relationships/slide" Target="/ppt/slides/slide13.xml" Id="R127ff717638f4e85" /><Relationship Type="http://schemas.openxmlformats.org/officeDocument/2006/relationships/slide" Target="/ppt/slides/slide14.xml" Id="R594d82cbb3804777" /><Relationship Type="http://schemas.openxmlformats.org/officeDocument/2006/relationships/slide" Target="/ppt/slides/slide15.xml" Id="Rabed20c48baa4e1b" /><Relationship Type="http://schemas.openxmlformats.org/officeDocument/2006/relationships/slide" Target="/ppt/slides/slide16.xml" Id="R77d1e9583e764f19" /><Relationship Type="http://schemas.openxmlformats.org/officeDocument/2006/relationships/slide" Target="/ppt/slides/slide17.xml" Id="R9a9bbe206e854a88" /><Relationship Type="http://schemas.openxmlformats.org/officeDocument/2006/relationships/slide" Target="/ppt/slides/slide18.xml" Id="R32c1c0d95c8e44db" /><Relationship Type="http://schemas.openxmlformats.org/officeDocument/2006/relationships/slide" Target="/ppt/slides/slide19.xml" Id="R62681a7817da45c6" /><Relationship Type="http://schemas.openxmlformats.org/officeDocument/2006/relationships/slide" Target="/ppt/slides/slide20.xml" Id="Ra09b4fddc47a40d6" /><Relationship Type="http://schemas.openxmlformats.org/officeDocument/2006/relationships/slide" Target="/ppt/slides/slide21.xml" Id="R5c5236c17efb4da4" /><Relationship Type="http://schemas.openxmlformats.org/officeDocument/2006/relationships/slide" Target="/ppt/slides/slide22.xml" Id="Re6eeee51099e483c" /><Relationship Type="http://schemas.openxmlformats.org/officeDocument/2006/relationships/slide" Target="/ppt/slides/slide23.xml" Id="Readefd37e3b34eeb" /><Relationship Type="http://schemas.openxmlformats.org/officeDocument/2006/relationships/slide" Target="/ppt/slides/slide24.xml" Id="R955dd83b853f4bc0" /><Relationship Type="http://schemas.openxmlformats.org/officeDocument/2006/relationships/slide" Target="/ppt/slides/slide25.xml" Id="R9f685eb4c6774a8b" /><Relationship Type="http://schemas.openxmlformats.org/officeDocument/2006/relationships/slide" Target="/ppt/slides/slide26.xml" Id="R1c5f5f412c56444c" /><Relationship Type="http://schemas.openxmlformats.org/officeDocument/2006/relationships/slide" Target="/ppt/slides/slide27.xml" Id="R09d229e2b4f047b5" /><Relationship Type="http://schemas.openxmlformats.org/officeDocument/2006/relationships/slide" Target="/ppt/slides/slide28.xml" Id="R159a8943791142b0" /><Relationship Type="http://schemas.openxmlformats.org/officeDocument/2006/relationships/slide" Target="/ppt/slides/slide29.xml" Id="Redf9cfde01b94d89" /><Relationship Type="http://schemas.openxmlformats.org/officeDocument/2006/relationships/slide" Target="/ppt/slides/slide30.xml" Id="R21e09d535fcd4b1d" /><Relationship Type="http://schemas.openxmlformats.org/officeDocument/2006/relationships/slide" Target="/ppt/slides/slide31.xml" Id="Rf26f57ac80cf46c4" /><Relationship Type="http://schemas.openxmlformats.org/officeDocument/2006/relationships/slide" Target="/ppt/slides/slide32.xml" Id="R85c5dece37f84f0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cd47fd3b9c4d8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aaabf5875b413b" /><Relationship Type="http://schemas.openxmlformats.org/officeDocument/2006/relationships/notesMaster" Target="/ppt/notesMasters/notesMaster1.xml" Id="Rcb376e5ff7404563" /></Relationships>
</file>

<file path=ppt/notesSlides/_rels/notesSlide2.xml.rels>&#65279;<?xml version="1.0" encoding="utf-8"?><Relationships xmlns="http://schemas.openxmlformats.org/package/2006/relationships"><Relationship Type="http://schemas.openxmlformats.org/officeDocument/2006/relationships/slide" Target="/ppt/slides/slide2.xml" Id="R54ebb02c044e4ded" /><Relationship Type="http://schemas.openxmlformats.org/officeDocument/2006/relationships/notesMaster" Target="/ppt/notesMasters/notesMaster1.xml" Id="R88c9ff96c04c48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42f831fb7d47422c" /><Relationship Type="http://schemas.openxmlformats.org/officeDocument/2006/relationships/notesMaster" Target="/ppt/notesMasters/notesMaster1.xml" Id="R19cdd6aa14574d1a" /></Relationships>
</file>

<file path=ppt/notesSlides/_rels/notesSlide4.xml.rels>&#65279;<?xml version="1.0" encoding="utf-8"?><Relationships xmlns="http://schemas.openxmlformats.org/package/2006/relationships"><Relationship Type="http://schemas.openxmlformats.org/officeDocument/2006/relationships/slide" Target="/ppt/slides/slide4.xml" Id="Rafc6f2aaad594d3f" /><Relationship Type="http://schemas.openxmlformats.org/officeDocument/2006/relationships/notesMaster" Target="/ppt/notesMasters/notesMaster1.xml" Id="R6ca10aa3677445a3" /></Relationships>
</file>

<file path=ppt/notesSlides/_rels/notesSlide5.xml.rels>&#65279;<?xml version="1.0" encoding="utf-8"?><Relationships xmlns="http://schemas.openxmlformats.org/package/2006/relationships"><Relationship Type="http://schemas.openxmlformats.org/officeDocument/2006/relationships/slide" Target="/ppt/slides/slide5.xml" Id="R7f333d628d824e14" /><Relationship Type="http://schemas.openxmlformats.org/officeDocument/2006/relationships/notesMaster" Target="/ppt/notesMasters/notesMaster1.xml" Id="R7c178831051445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bcac1ca5784892" /><Relationship Type="http://schemas.openxmlformats.org/officeDocument/2006/relationships/notesMaster" Target="/ppt/notesMasters/notesMaster1.xml" Id="Rd69f643b16ee42c8" /></Relationships>
</file>

<file path=ppt/notesSlides/_rels/notesSlide7.xml.rels>&#65279;<?xml version="1.0" encoding="utf-8"?><Relationships xmlns="http://schemas.openxmlformats.org/package/2006/relationships"><Relationship Type="http://schemas.openxmlformats.org/officeDocument/2006/relationships/slide" Target="/ppt/slides/slide7.xml" Id="Rcae271cede1744f6" /><Relationship Type="http://schemas.openxmlformats.org/officeDocument/2006/relationships/notesMaster" Target="/ppt/notesMasters/notesMaster1.xml" Id="R46ea1fcd94f54171" /></Relationships>
</file>

<file path=ppt/notesSlides/_rels/notesSlide8.xml.rels>&#65279;<?xml version="1.0" encoding="utf-8"?><Relationships xmlns="http://schemas.openxmlformats.org/package/2006/relationships"><Relationship Type="http://schemas.openxmlformats.org/officeDocument/2006/relationships/slide" Target="/ppt/slides/slide8.xml" Id="R562738c6a6254fd9" /><Relationship Type="http://schemas.openxmlformats.org/officeDocument/2006/relationships/notesMaster" Target="/ppt/notesMasters/notesMaster1.xml" Id="R8017e91730834cf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d08eb84d9f947fe" /><Relationship Type="http://schemas.openxmlformats.org/officeDocument/2006/relationships/notesMaster" Target="/ppt/notesMasters/notesMaster1.xml" Id="Rad0a1b224fe2441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35a7c709c3c4745" /><Relationship Type="http://schemas.openxmlformats.org/officeDocument/2006/relationships/notesMaster" Target="/ppt/notesMasters/notesMaster1.xml" Id="R95431f129f974b7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544c3c9d00348ce" /><Relationship Type="http://schemas.openxmlformats.org/officeDocument/2006/relationships/notesMaster" Target="/ppt/notesMasters/notesMaster1.xml" Id="R23c167ab9be2428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81c4aa77d4742e1" /><Relationship Type="http://schemas.openxmlformats.org/officeDocument/2006/relationships/notesMaster" Target="/ppt/notesMasters/notesMaster1.xml" Id="Rdb37efc4ced04f2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f052d4cdf3d40fb" /><Relationship Type="http://schemas.openxmlformats.org/officeDocument/2006/relationships/notesMaster" Target="/ppt/notesMasters/notesMaster1.xml" Id="R4e83418180854aa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e93a1be7d424c33" /><Relationship Type="http://schemas.openxmlformats.org/officeDocument/2006/relationships/notesMaster" Target="/ppt/notesMasters/notesMaster1.xml" Id="Rd13742ea7e124eb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ca632435daf434a" /><Relationship Type="http://schemas.openxmlformats.org/officeDocument/2006/relationships/notesMaster" Target="/ppt/notesMasters/notesMaster1.xml" Id="R9713739a7be14c3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64a5526391d4bdf" /><Relationship Type="http://schemas.openxmlformats.org/officeDocument/2006/relationships/notesMaster" Target="/ppt/notesMasters/notesMaster1.xml" Id="R35346c80057a416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c7d50b3b84449a1" /><Relationship Type="http://schemas.openxmlformats.org/officeDocument/2006/relationships/notesMaster" Target="/ppt/notesMasters/notesMaster1.xml" Id="Rd7595a1cd030405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0050163193345d2" /><Relationship Type="http://schemas.openxmlformats.org/officeDocument/2006/relationships/notesMaster" Target="/ppt/notesMasters/notesMaster1.xml" Id="R71f24e8f793c4c8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9eb656234154b99" /><Relationship Type="http://schemas.openxmlformats.org/officeDocument/2006/relationships/notesMaster" Target="/ppt/notesMasters/notesMaster1.xml" Id="R53236a0f9d43477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a8b7a4ccdec4e19" /><Relationship Type="http://schemas.openxmlformats.org/officeDocument/2006/relationships/notesMaster" Target="/ppt/notesMasters/notesMaster1.xml" Id="R08e4075a72f6428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17fe223728a4607" /><Relationship Type="http://schemas.openxmlformats.org/officeDocument/2006/relationships/notesMaster" Target="/ppt/notesMasters/notesMaster1.xml" Id="Rbc86555d41ad400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e89dbf39f894932" /><Relationship Type="http://schemas.openxmlformats.org/officeDocument/2006/relationships/notesMaster" Target="/ppt/notesMasters/notesMaster1.xml" Id="Rf6debbf8aac4426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881aaf5cefa463e" /><Relationship Type="http://schemas.openxmlformats.org/officeDocument/2006/relationships/notesMaster" Target="/ppt/notesMasters/notesMaster1.xml" Id="Rd70a2d636bf74e4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5d2bb4b56b34640" /><Relationship Type="http://schemas.openxmlformats.org/officeDocument/2006/relationships/notesMaster" Target="/ppt/notesMasters/notesMaster1.xml" Id="R02938fba325f4d7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cfe08d3f3ca4690" /><Relationship Type="http://schemas.openxmlformats.org/officeDocument/2006/relationships/notesMaster" Target="/ppt/notesMasters/notesMaster1.xml" Id="Rd8d7d2da2ef94f7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bf1e2f276a64e8b" /><Relationship Type="http://schemas.openxmlformats.org/officeDocument/2006/relationships/notesMaster" Target="/ppt/notesMasters/notesMaster1.xml" Id="R56385743d33c442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71ccad2cd2f4b02" /><Relationship Type="http://schemas.openxmlformats.org/officeDocument/2006/relationships/notesMaster" Target="/ppt/notesMasters/notesMaster1.xml" Id="R70223c0417c34b3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714c3ab28234429" /><Relationship Type="http://schemas.openxmlformats.org/officeDocument/2006/relationships/notesMaster" Target="/ppt/notesMasters/notesMaster1.xml" Id="R8c2d1449875d45e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5b2e4fcc14e4588" /><Relationship Type="http://schemas.openxmlformats.org/officeDocument/2006/relationships/notesMaster" Target="/ppt/notesMasters/notesMaster1.xml" Id="Rc84694b3194e46c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21c37e706e54279" /><Relationship Type="http://schemas.openxmlformats.org/officeDocument/2006/relationships/notesMaster" Target="/ppt/notesMasters/notesMaster1.xml" Id="Rdbdfd17d2643425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0fe9c1e1232441c" /><Relationship Type="http://schemas.openxmlformats.org/officeDocument/2006/relationships/notesMaster" Target="/ppt/notesMasters/notesMaster1.xml" Id="R4c4872b9909d458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ffb0adfa3324528" /><Relationship Type="http://schemas.openxmlformats.org/officeDocument/2006/relationships/notesMaster" Target="/ppt/notesMasters/notesMaster1.xml" Id="R0492a6fefb9644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WPYEG. In this workshop we're building and reviewing a small plugin that defines and activates a dozen sensible defaults for WordPress sites in 2026. Whether you write PHP daily or just manage WordPress sites, you'll leave knowing why each default matters and how to enable (or disable)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None of these are bugs. They are defaults chosen for maximum compatibility on a 20+ year-old web application. You probably don't need them and can tighten up your own WordPress sites. This is also a good way to learn some important fundamentals about how WordPress works and how to keep it secure, fast, and pretty.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our demo plugin, a default is an add_filter behind an if ( option ). We have twenty of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WordPress is built to be interrupted at labeled moments (hooks) so you never edit core code. __return_false is a tiny built-in helper that just hands back false — perfect for switching a feature 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debugging model, not a universal ‘last plugin wins’ rule. Constants cannot be redefined; filters pass a value through every callback; actions may accumulate effects.</a:t>
            </a:r>
          </a:p>
          <a:p xmlns:a="http://schemas.openxmlformats.org/drawingml/2006/main">
            <a:r>
              <a:t>wp-config.php is loaded before plugins. Must-use plugins load before normal plugins. Normal plugins are included in the stored active_plugins order — PMP before BBD on this demo site.</a:t>
            </a:r>
          </a:p>
          <a:p xmlns:a="http://schemas.openxmlformats.org/drawingml/2006/main">
            <a:r>
              <a:t>Within a hook, priority controls execution: lower numbers run earlier, higher numbers later. Equal priorities retain registration order, so plugin load order matters when both register at the same priority.</a:t>
            </a:r>
          </a:p>
          <a:p xmlns:a="http://schemas.openxmlformats.org/drawingml/2006/main">
            <a:r>
              <a:t>Ask learners: if PMP and BBD both filter the same value at priority 10, which callback registered last? Then inspect the effective behavior rather than trusting either settings screen alone.</a:t>
            </a:r>
          </a:p>
          <a:p xmlns:a="http://schemas.openxmlformats.org/drawingml/2006/main">
            <a:r>
              <a:t>Sources: WordPress Advanced Administration Handbook, Must Use Plugins — Features: https://developer.wordpress.org/advanced-administration/plugins/mu-plugins/</a:t>
            </a:r>
          </a:p>
          <a:p xmlns:a="http://schemas.openxmlformats.org/drawingml/2006/main">
            <a:r>
              <a:t>WordPress Plugin Handbook, Actions — Priority: https://developer.wordpress.org/plugins/hooks/actions/#priority</a:t>
            </a:r>
          </a:p>
          <a:p xmlns:a="http://schemas.openxmlformats.org/drawingml/2006/main">
            <a:r>
              <a:t>WordPress Code Reference, wp_get_active_and_valid_plugins() — Source: https://developer.wordpress.org/reference/functions/wp_get_active_and_valid_plugins/</a:t>
            </a:r>
          </a:p>
          <a:p xmlns:a="http://schemas.openxmlformats.org/drawingml/2006/main">
            <a:r>
              <a:t>WordPress Advanced Administration Handbook, Editing wp-config.php: https://developer.wordpress.org/advanced-administration/wordpress/wp-config/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We'll spend most of our time on security and content, then move quickly through UX, login, branding, and performance, and end up with a plugin that covers them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item in this section removes something an attacker can poke — usually in one line. The theme is simple: disable what you don't use. You can't exploit an endpoint that isn't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/wp/v2/users endpoint hands out every author's login name to anyone — half of a brute-force guess, for free. Author enumeration is step one of many attack scripts. By closing it for logged-out requests only, the editor and legit integrations will keep working. It's arguably an example of security-by-obscurity, but it also prevents a lot of junk traffic and bots that are up to no good.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XML-RPC is a legitimate but aging API,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stopped testing credentials after the first failed login in one XML-RPC request, so the old 'thousands of guesses' story is obsolete.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a:t>
            </a:r>
          </a:p>
          <a:p xmlns:a="http://schemas.openxmlformats.org/drawingml/2006/main">
            <a:r>
              <a:t/>
            </a:r>
          </a:p>
          <a:p xmlns:a="http://schemas.openxmlformats.org/drawingml/2006/main">
            <a:r>
              <a:t>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a:t>
            </a:r>
          </a:p>
          <a:p xmlns:a="http://schemas.openxmlformats.org/drawingml/2006/main">
            <a:r>
              <a:t/>
            </a:r>
          </a:p>
          <a:p xmlns:a="http://schemas.openxmlformats.org/drawingml/2006/main">
            <a:r>
              <a:t>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a:t>
            </a:r>
          </a:p>
          <a:p xmlns:a="http://schemas.openxmlformats.org/drawingml/2006/main">
            <a:r>
              <a:t/>
            </a:r>
          </a:p>
          <a:p xmlns:a="http://schemas.openxmlformats.org/drawingml/2006/main">
            <a:r>
              <a:t>Sources: HIBP API v3, Pwned Passwords — Searching by hash range using k-anonymity and Introducing padding: https://haveibeenpwned.com/API/v3#SearchingPwnedPasswordsByRange ; NIST SP 800-63B-4 § 3.1.1.2, Password Verifiers: https://pages.nist.gov/800-63-4/sp800-63b/authenticators/#passwordver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the isset() guards: a managed host or CDN often sets these already and we should not fight that layer. Be honest about the limit though — PHP only sees headers set in PHP, so one added by nginx or a CDN is invisible here. Check the response, not just the code. A full Content-Security-Policy is a bigger conversation for another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reduce channels for spam and clean up the thin, duplicate URLs that bots and search engines get lost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many sites, comments are a spam magnet with little upside. Here we close them everywhere, hide existing threads, and drop the admin menu. If you want comments, leave this tuned off — but consider closing pingbacks and trackbacks, which are almost pure spam.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quality-of-life defaults. These are more about your daily user experience and session safety than raw hardening.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you click the "Remember Me" checkbox when you log in, you stay logged in for 14 days. Cap that extended session length, optionally shorten the regular session, or hide the "Remember Me" checkbox entirely. (Good idea for shared machines.) One filter covers all three. WordPress ships handy time constants like DAY_IN_SECONDS, so you never need to do the math.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last pair brands the login screen. Then we end with two performance levers to shave some weight off every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defaults live in wp-config.php, above the plugin layer, because they must load before plugins do. They can't be options — so document them as manual steps in your onboarding checklist and put them in your standard wp-config 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 lesson is a data-driven plugin. Adding a new default equals one array entry plus one if-block in bootstrap — no new settings-page code. That's the pattern to steal for your own projects.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this live if there's a sandbox. The /wp-json/wp/v2/users check is the crowd-pleaser — before/after is instantly visible. For the terminal crowd, the WP-CLI one-liner installs and activates from the zip in one shot; swap the local path for a URL if the zip is hosted.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great confidence-builder: it proves the data-driven pattern. Touch two spots and a real feature toggles. If time is short, walk it through verbally instead of live.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unprefixed keys stored inside the single wpyeg_better_by_default option. An allow-setting at no can still mean a protective behavior is active: the three XML-RPC categories are unavailable by default, while the all-or-nothing endpoint block remains opt-in. Application Passwords remain available; strong-password validation is active.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three comment and pingback settings are separate because a site may keep comments while closing new-post pings and suppressing self-pingbacks. Title-only search and front-end admin-bar changes remain opt-in.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visible names on earlier slides are schema keys, not separate WordPress options. Remembered sessions are capped at five days by default; regular sessions inherit core because zero means unchanged. The login logo and Heartbeat remain opt-in, and the three configuration constants stay above the plugin layer.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Hand out the zip and the reference doc. Invite everyone to add their own favorite default to the schema and share it back with the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b6671ebb77048da"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4a490e7ded4b9e" /><Relationship Type="http://schemas.openxmlformats.org/officeDocument/2006/relationships/slideLayout" Target="/ppt/slideLayouts/slideLayout1.xml" Id="R9c539ea52cd241a7"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c539ea52cd241a7"/>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34b44a2073d4e3f" /><Relationship Type="http://schemas.openxmlformats.org/officeDocument/2006/relationships/notesSlide" Target="/ppt/notesSlides/notesSlide1.xml" Id="R4db0aa08bb0849f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7094db8e4aa4416" /><Relationship Type="http://schemas.openxmlformats.org/officeDocument/2006/relationships/notesSlide" Target="/ppt/notesSlides/notesSlide2.xml" Id="Re9245450a5b7468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1daf079078e48a3" /><Relationship Type="http://schemas.openxmlformats.org/officeDocument/2006/relationships/notesSlide" Target="/ppt/notesSlides/notesSlide3.xml" Id="Rd2e51f36c2cb4bc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a55629314014026" /><Relationship Type="http://schemas.openxmlformats.org/officeDocument/2006/relationships/notesSlide" Target="/ppt/notesSlides/notesSlide4.xml" Id="R0e0e4da60134485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097a27be4ed454c" /><Relationship Type="http://schemas.openxmlformats.org/officeDocument/2006/relationships/notesSlide" Target="/ppt/notesSlides/notesSlide5.xml" Id="R253a89d6d32d451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f641ee8fe594d4f" /><Relationship Type="http://schemas.openxmlformats.org/officeDocument/2006/relationships/notesSlide" Target="/ppt/notesSlides/notesSlide6.xml" Id="R352fc68ef4aa416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3b62141d33d41e0" /><Relationship Type="http://schemas.openxmlformats.org/officeDocument/2006/relationships/notesSlide" Target="/ppt/notesSlides/notesSlide7.xml" Id="R36d6d8f9ca0f4a0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a4b5bd1f53448f2" /><Relationship Type="http://schemas.openxmlformats.org/officeDocument/2006/relationships/notesSlide" Target="/ppt/notesSlides/notesSlide8.xml" Id="R29bf8b30132a4a9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6dbe9d53b0a4d40" /><Relationship Type="http://schemas.openxmlformats.org/officeDocument/2006/relationships/notesSlide" Target="/ppt/notesSlides/notesSlide9.xml" Id="Ra60ce830ed8a449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4f793d718ee4884" /><Relationship Type="http://schemas.openxmlformats.org/officeDocument/2006/relationships/notesSlide" Target="/ppt/notesSlides/notesSlide10.xml" Id="Rcfee2f0bc25b445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19d3ab204da4f55" /><Relationship Type="http://schemas.openxmlformats.org/officeDocument/2006/relationships/notesSlide" Target="/ppt/notesSlides/notesSlide11.xml" Id="R1746b3e55a08494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71009fe68174154" /><Relationship Type="http://schemas.openxmlformats.org/officeDocument/2006/relationships/notesSlide" Target="/ppt/notesSlides/notesSlide12.xml" Id="R0b27496235424f5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f6a41ad9edd4e57" /><Relationship Type="http://schemas.openxmlformats.org/officeDocument/2006/relationships/notesSlide" Target="/ppt/notesSlides/notesSlide13.xml" Id="R339096046f494b4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dfb6e6bb83f4778" /><Relationship Type="http://schemas.openxmlformats.org/officeDocument/2006/relationships/notesSlide" Target="/ppt/notesSlides/notesSlide14.xml" Id="Rb4a5b365baa04a8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43fa9f4cca84440" /><Relationship Type="http://schemas.openxmlformats.org/officeDocument/2006/relationships/notesSlide" Target="/ppt/notesSlides/notesSlide15.xml" Id="Ra9179478ca744f8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1f121ed766a4692" /><Relationship Type="http://schemas.openxmlformats.org/officeDocument/2006/relationships/notesSlide" Target="/ppt/notesSlides/notesSlide16.xml" Id="Rca44c3a9ad8a41d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785d25ad5864505" /><Relationship Type="http://schemas.openxmlformats.org/officeDocument/2006/relationships/notesSlide" Target="/ppt/notesSlides/notesSlide17.xml" Id="Rcf1349683ddf49b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4e35a9c79f84361" /><Relationship Type="http://schemas.openxmlformats.org/officeDocument/2006/relationships/notesSlide" Target="/ppt/notesSlides/notesSlide18.xml" Id="Rbc1bd38144ff425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5098e54c3244c84" /><Relationship Type="http://schemas.openxmlformats.org/officeDocument/2006/relationships/notesSlide" Target="/ppt/notesSlides/notesSlide19.xml" Id="Rc60472776aba488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1f269c16d894289" /><Relationship Type="http://schemas.openxmlformats.org/officeDocument/2006/relationships/notesSlide" Target="/ppt/notesSlides/notesSlide20.xml" Id="R2700a220b15d460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b066b2a7a21464d" /><Relationship Type="http://schemas.openxmlformats.org/officeDocument/2006/relationships/notesSlide" Target="/ppt/notesSlides/notesSlide21.xml" Id="Rd85b0c75a4ca4b4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cfdf1d98cbf412f" /><Relationship Type="http://schemas.openxmlformats.org/officeDocument/2006/relationships/notesSlide" Target="/ppt/notesSlides/notesSlide22.xml" Id="Rcd8bd0a6b777438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d08a9b3618646b3" /><Relationship Type="http://schemas.openxmlformats.org/officeDocument/2006/relationships/notesSlide" Target="/ppt/notesSlides/notesSlide23.xml" Id="Rcf7961f2afca4b1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d78197e2fe547d6" /><Relationship Type="http://schemas.openxmlformats.org/officeDocument/2006/relationships/notesSlide" Target="/ppt/notesSlides/notesSlide24.xml" Id="R5152ad02bf184fe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f765812838747fa" /><Relationship Type="http://schemas.openxmlformats.org/officeDocument/2006/relationships/notesSlide" Target="/ppt/notesSlides/notesSlide25.xml" Id="Rb0146a05cf824a3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63b4af4fcde49a9" /><Relationship Type="http://schemas.openxmlformats.org/officeDocument/2006/relationships/notesSlide" Target="/ppt/notesSlides/notesSlide26.xml" Id="R77d8ff22f386415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bba4e729abc14312" /><Relationship Type="http://schemas.openxmlformats.org/officeDocument/2006/relationships/notesSlide" Target="/ppt/notesSlides/notesSlide27.xml" Id="Rc7fc5420ea6f471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6a6358d8d17456c" /><Relationship Type="http://schemas.openxmlformats.org/officeDocument/2006/relationships/notesSlide" Target="/ppt/notesSlides/notesSlide28.xml" Id="Rd9f1d2be43a5497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bccdf9a28d74032" /><Relationship Type="http://schemas.openxmlformats.org/officeDocument/2006/relationships/notesSlide" Target="/ppt/notesSlides/notesSlide29.xml" Id="R7b00933201944cc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2eb96de9acb42f0" /><Relationship Type="http://schemas.openxmlformats.org/officeDocument/2006/relationships/notesSlide" Target="/ppt/notesSlides/notesSlide30.xml" Id="Rb268cc24ed23453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a7ba462bec645b9" /><Relationship Type="http://schemas.openxmlformats.org/officeDocument/2006/relationships/notesSlide" Target="/ppt/notesSlides/notesSlide31.xml" Id="R818a6dedda9f49f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e6e952480ef54c9f" /><Relationship Type="http://schemas.openxmlformats.org/officeDocument/2006/relationships/notesSlide" Target="/ppt/notesSlides/notesSlide32.xml" Id="R4648192a7ff441aa" /></Relationships>
</file>

<file path=ppt/slides/slide1.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C351847D-2FFE-4513-9418-FD0962505F45}"/>
              </a:ext>
            </a:extLst>
          </p:cNvPr>
          <p:cNvSpPr>
            <a:spLocks xmlns:a="http://schemas.openxmlformats.org/drawingml/2006/main" noGrp="1"/>
          </p:cNvSpPr>
          <p:nvPr/>
        </p:nvSpPr>
        <p:spPr>
          <a:xfrm xmlns:a="http://schemas.openxmlformats.org/drawingml/2006/main">
            <a:off x="0" y="5394960"/>
            <a:ext cx="12188952" cy="1463040"/>
          </a:xfrm>
          <a:prstGeom xmlns:a="http://schemas.openxmlformats.org/drawingml/2006/main" prst="rect">
            <a:avLst/>
          </a:prstGeom>
          <a:solidFill xmlns:a="http://schemas.openxmlformats.org/drawingml/2006/main">
            <a:srgbClr val="16323F"/>
          </a:solidFill>
        </p:spPr>
      </p:sp>
      <p:sp>
        <p:nvSpPr>
          <p:cNvPr id="3" name="Shape 1">
            <a:extLst xmlns:a="http://schemas.openxmlformats.org/drawingml/2006/main">
              <a:ext uri="{FF2B5EF4-FFF2-40B4-BE49-F238E27FC236}">
                <a16:creationId xmlns:a16="http://schemas.microsoft.com/office/drawing/2014/main" id="{51AC5B65-2182-47E5-9458-8227744C1E5E}"/>
              </a:ext>
            </a:extLst>
          </p:cNvPr>
          <p:cNvSpPr>
            <a:spLocks xmlns:a="http://schemas.openxmlformats.org/drawingml/2006/main" noGrp="1"/>
          </p:cNvSpPr>
          <p:nvPr/>
        </p:nvSpPr>
        <p:spPr>
          <a:xfrm xmlns:a="http://schemas.openxmlformats.org/drawingml/2006/main">
            <a:off x="777240" y="731520"/>
            <a:ext cx="658368" cy="658368"/>
          </a:xfrm>
          <a:prstGeom xmlns:a="http://schemas.openxmlformats.org/drawingml/2006/main" prst="ellipse">
            <a:avLst/>
          </a:prstGeom>
          <a:solidFill xmlns:a="http://schemas.openxmlformats.org/drawingml/2006/main">
            <a:srgbClr val="E0A94B"/>
          </a:solidFill>
        </p:spPr>
      </p:sp>
      <p:sp>
        <p:nvSpPr>
          <p:cNvPr id="4" name="Text 2">
            <a:extLst xmlns:a="http://schemas.openxmlformats.org/drawingml/2006/main">
              <a:ext uri="{FF2B5EF4-FFF2-40B4-BE49-F238E27FC236}">
                <a16:creationId xmlns:a16="http://schemas.microsoft.com/office/drawing/2014/main" id="{551629BC-27D7-4836-8575-E96C0E395FDF}"/>
              </a:ext>
            </a:extLst>
          </p:cNvPr>
          <p:cNvSpPr>
            <a:spLocks xmlns:a="http://schemas.openxmlformats.org/drawingml/2006/main" noGrp="1"/>
          </p:cNvSpPr>
          <p:nvPr/>
        </p:nvSpPr>
        <p:spPr>
          <a:xfrm xmlns:a="http://schemas.openxmlformats.org/drawingml/2006/main">
            <a:off x="777240" y="731520"/>
            <a:ext cx="65836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72" b="1">
                <a:solidFill>
                  <a:srgbClr val="0F2733"/>
                </a:solidFill>
                <a:latin typeface="Cambria"/>
                <a:ea typeface="Cambria"/>
                <a:cs typeface="Cambria"/>
              </a:rPr>
              <a:t>{ }</a:t>
            </a:r>
          </a:p>
        </p:txBody>
      </p:sp>
      <p:sp>
        <p:nvSpPr>
          <p:cNvPr id="5" name="Text 3">
            <a:extLst xmlns:a="http://schemas.openxmlformats.org/drawingml/2006/main">
              <a:ext uri="{FF2B5EF4-FFF2-40B4-BE49-F238E27FC236}">
                <a16:creationId xmlns:a16="http://schemas.microsoft.com/office/drawing/2014/main" id="{85041555-1C06-4E34-9955-9EDDEDF8B5A1}"/>
              </a:ext>
            </a:extLst>
          </p:cNvPr>
          <p:cNvSpPr>
            <a:spLocks xmlns:a="http://schemas.openxmlformats.org/drawingml/2006/main" noGrp="1"/>
          </p:cNvSpPr>
          <p:nvPr/>
        </p:nvSpPr>
        <p:spPr>
          <a:xfrm xmlns:a="http://schemas.openxmlformats.org/drawingml/2006/main">
            <a:off x="1600200" y="82296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E0A94B"/>
                </a:solidFill>
                <a:latin typeface="Calibri"/>
                <a:ea typeface="Calibri"/>
                <a:cs typeface="Calibri"/>
              </a:rPr>
              <a:t>WPYEG · Edmonton WordPress Meetup</a:t>
            </a:r>
          </a:p>
        </p:txBody>
      </p:sp>
      <p:sp>
        <p:nvSpPr>
          <p:cNvPr id="6" name="Text 4">
            <a:extLst xmlns:a="http://schemas.openxmlformats.org/drawingml/2006/main">
              <a:ext uri="{FF2B5EF4-FFF2-40B4-BE49-F238E27FC236}">
                <a16:creationId xmlns:a16="http://schemas.microsoft.com/office/drawing/2014/main" id="{5D0D9FB9-A3C2-4C5F-A372-F09C1EFE9919}"/>
              </a:ext>
            </a:extLst>
          </p:cNvPr>
          <p:cNvSpPr>
            <a:spLocks xmlns:a="http://schemas.openxmlformats.org/drawingml/2006/main" noGrp="1"/>
          </p:cNvSpPr>
          <p:nvPr/>
        </p:nvSpPr>
        <p:spPr>
          <a:xfrm xmlns:a="http://schemas.openxmlformats.org/drawingml/2006/main">
            <a:off x="777240" y="2148840"/>
            <a:ext cx="107899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6800" b="1">
                <a:solidFill>
                  <a:srgbClr val="FFFFFF"/>
                </a:solidFill>
                <a:latin typeface="Cambria"/>
                <a:ea typeface="Cambria"/>
                <a:cs typeface="Cambria"/>
              </a:rPr>
              <a:t>Better by Default</a:t>
            </a:r>
          </a:p>
        </p:txBody>
      </p:sp>
      <p:sp>
        <p:nvSpPr>
          <p:cNvPr id="7" name="Text 5">
            <a:extLst xmlns:a="http://schemas.openxmlformats.org/drawingml/2006/main">
              <a:ext uri="{FF2B5EF4-FFF2-40B4-BE49-F238E27FC236}">
                <a16:creationId xmlns:a16="http://schemas.microsoft.com/office/drawing/2014/main" id="{F3EB48DB-7D22-45A9-B08A-BBAA7E00F2BD}"/>
              </a:ext>
            </a:extLst>
          </p:cNvPr>
          <p:cNvSpPr>
            <a:spLocks xmlns:a="http://schemas.openxmlformats.org/drawingml/2006/main" noGrp="1"/>
          </p:cNvSpPr>
          <p:nvPr/>
        </p:nvSpPr>
        <p:spPr>
          <a:xfrm xmlns:a="http://schemas.openxmlformats.org/drawingml/2006/main">
            <a:off x="822960" y="3977640"/>
            <a:ext cx="102412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i="1">
                <a:solidFill>
                  <a:srgbClr val="D7E5EC"/>
                </a:solidFill>
                <a:latin typeface="Calibri"/>
                <a:ea typeface="Calibri"/>
                <a:cs typeface="Calibri"/>
              </a:rPr>
              <a:t>Secure defaults for every WordPress site.</a:t>
            </a:r>
          </a:p>
        </p:txBody>
      </p:sp>
      <p:sp>
        <p:nvSpPr>
          <p:cNvPr id="8" name="Text 6">
            <a:extLst xmlns:a="http://schemas.openxmlformats.org/drawingml/2006/main">
              <a:ext uri="{FF2B5EF4-FFF2-40B4-BE49-F238E27FC236}">
                <a16:creationId xmlns:a16="http://schemas.microsoft.com/office/drawing/2014/main" id="{27E9DA24-5883-4175-8B86-73A1234EF453}"/>
              </a:ext>
            </a:extLst>
          </p:cNvPr>
          <p:cNvSpPr>
            <a:spLocks xmlns:a="http://schemas.openxmlformats.org/drawingml/2006/main" noGrp="1"/>
          </p:cNvSpPr>
          <p:nvPr/>
        </p:nvSpPr>
        <p:spPr>
          <a:xfrm xmlns:a="http://schemas.openxmlformats.org/drawingml/2006/main">
            <a:off x="822960" y="5715000"/>
            <a:ext cx="10515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D7E5EC"/>
                </a:solidFill>
                <a:latin typeface="Courier New"/>
                <a:ea typeface="Courier New"/>
                <a:cs typeface="Courier New"/>
              </a:rPr>
              <a:t>a hands-on workshop  </a:t>
            </a:r>
            <a:r>
              <a:rPr sz="1400">
                <a:solidFill>
                  <a:srgbClr val="E0A94B"/>
                </a:solidFill>
                <a:latin typeface="Courier New"/>
                <a:ea typeface="Courier New"/>
                <a:cs typeface="Courier New"/>
              </a:rPr>
              <a:t>·  build the “sane-defaults” plugin</a:t>
            </a:r>
          </a:p>
        </p:txBody>
      </p:sp>
    </p:spTree>
    <p:extLst>
      <p:ext uri="{BB962C8B-B14F-4D97-AF65-F5344CB8AC3E}">
        <p14:creationId xmlns:p14="http://schemas.microsoft.com/office/powerpoint/2010/main" val="1850838830"/>
      </p:ext>
    </p:extLst>
  </p:cSld>
</p:sld>
</file>

<file path=ppt/slides/slide2.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B01C258-65F7-47FA-A60F-4ED0775CA6D2}"/>
              </a:ext>
            </a:extLst>
          </p:cNvPr>
          <p:cNvSpPr>
            <a:spLocks xmlns:a="http://schemas.openxmlformats.org/drawingml/2006/main" noGrp="1"/>
          </p:cNvSpPr>
          <p:nvPr/>
        </p:nvSpPr>
        <p:spPr>
          <a:xfrm xmlns:a="http://schemas.openxmlformats.org/drawingml/2006/main">
            <a:off x="548640" y="502920"/>
            <a:ext cx="109728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0F2733"/>
                </a:solidFill>
                <a:latin typeface="Cambria"/>
                <a:ea typeface="Cambria"/>
                <a:cs typeface="Cambria"/>
              </a:rPr>
              <a:t>WordPress is open by default; hosts vary in what they close.</a:t>
            </a:r>
          </a:p>
        </p:txBody>
      </p:sp>
      <p:sp>
        <p:nvSpPr>
          <p:cNvPr id="3" name="Text 1">
            <a:extLst xmlns:a="http://schemas.openxmlformats.org/drawingml/2006/main">
              <a:ext uri="{FF2B5EF4-FFF2-40B4-BE49-F238E27FC236}">
                <a16:creationId xmlns:a16="http://schemas.microsoft.com/office/drawing/2014/main" id="{3CC08ABD-8147-4ECF-AA4F-8B5386E69471}"/>
              </a:ext>
            </a:extLst>
          </p:cNvPr>
          <p:cNvSpPr>
            <a:spLocks xmlns:a="http://schemas.openxmlformats.org/drawingml/2006/main" noGrp="1"/>
          </p:cNvSpPr>
          <p:nvPr/>
        </p:nvSpPr>
        <p:spPr>
          <a:xfrm xmlns:a="http://schemas.openxmlformats.org/drawingml/2006/main">
            <a:off x="548640" y="1371600"/>
            <a:ext cx="107899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a:solidFill>
                  <a:srgbClr val="4A5A63"/>
                </a:solidFill>
                <a:latin typeface="Calibri"/>
                <a:ea typeface="Calibri"/>
                <a:cs typeface="Calibri"/>
              </a:rPr>
              <a:t>None of these are bugs. They are defaults chosen for maximum compatibility on a 20+ year-old web application — you probably don't need them.</a:t>
            </a:r>
          </a:p>
        </p:txBody>
      </p:sp>
      <p:sp>
        <p:nvSpPr>
          <p:cNvPr id="4" name="Shape 2">
            <a:extLst xmlns:a="http://schemas.openxmlformats.org/drawingml/2006/main">
              <a:ext uri="{FF2B5EF4-FFF2-40B4-BE49-F238E27FC236}">
                <a16:creationId xmlns:a16="http://schemas.microsoft.com/office/drawing/2014/main" id="{0C19BF85-8E2D-42C5-A2E6-380BCE412F8C}"/>
              </a:ext>
            </a:extLst>
          </p:cNvPr>
          <p:cNvSpPr>
            <a:spLocks xmlns:a="http://schemas.openxmlformats.org/drawingml/2006/main" noGrp="1"/>
          </p:cNvSpPr>
          <p:nvPr/>
        </p:nvSpPr>
        <p:spPr>
          <a:xfrm xmlns:a="http://schemas.openxmlformats.org/drawingml/2006/main">
            <a:off x="548640" y="2423160"/>
            <a:ext cx="5257800" cy="1691640"/>
          </a:xfrm>
          <a:prstGeom xmlns:a="http://schemas.openxmlformats.org/drawingml/2006/main" prst="roundRect">
            <a:avLst>
              <a:gd name="adj" fmla="val 486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5" name="Shape 3">
            <a:extLst xmlns:a="http://schemas.openxmlformats.org/drawingml/2006/main">
              <a:ext uri="{FF2B5EF4-FFF2-40B4-BE49-F238E27FC236}">
                <a16:creationId xmlns:a16="http://schemas.microsoft.com/office/drawing/2014/main" id="{88C191AD-45D4-49C7-9149-AEC211434ACE}"/>
              </a:ext>
            </a:extLst>
          </p:cNvPr>
          <p:cNvSpPr>
            <a:spLocks xmlns:a="http://schemas.openxmlformats.org/drawingml/2006/main" noGrp="1"/>
          </p:cNvSpPr>
          <p:nvPr/>
        </p:nvSpPr>
        <p:spPr>
          <a:xfrm xmlns:a="http://schemas.openxmlformats.org/drawingml/2006/main">
            <a:off x="822960" y="2743200"/>
            <a:ext cx="502920" cy="502920"/>
          </a:xfrm>
          <a:prstGeom xmlns:a="http://schemas.openxmlformats.org/drawingml/2006/main" prst="ellipse">
            <a:avLst/>
          </a:prstGeom>
          <a:solidFill xmlns:a="http://schemas.openxmlformats.org/drawingml/2006/main">
            <a:srgbClr val="E07A5F"/>
          </a:solidFill>
        </p:spPr>
      </p:sp>
      <p:sp>
        <p:nvSpPr>
          <p:cNvPr id="6" name="Text 4">
            <a:extLst xmlns:a="http://schemas.openxmlformats.org/drawingml/2006/main">
              <a:ext uri="{FF2B5EF4-FFF2-40B4-BE49-F238E27FC236}">
                <a16:creationId xmlns:a16="http://schemas.microsoft.com/office/drawing/2014/main" id="{02A45E65-D2BD-4211-BA51-E258D2E42876}"/>
              </a:ext>
            </a:extLst>
          </p:cNvPr>
          <p:cNvSpPr>
            <a:spLocks xmlns:a="http://schemas.openxmlformats.org/drawingml/2006/main" noGrp="1"/>
          </p:cNvSpPr>
          <p:nvPr/>
        </p:nvSpPr>
        <p:spPr>
          <a:xfrm xmlns:a="http://schemas.openxmlformats.org/drawingml/2006/main">
            <a:off x="822960" y="274320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30" b="1">
                <a:solidFill>
                  <a:srgbClr val="FFFFFF"/>
                </a:solidFill>
                <a:latin typeface="Cambria"/>
                <a:ea typeface="Cambria"/>
                <a:cs typeface="Cambria"/>
              </a:rPr>
              <a:t>!</a:t>
            </a:r>
          </a:p>
        </p:txBody>
      </p:sp>
      <p:sp>
        <p:nvSpPr>
          <p:cNvPr id="7" name="Text 5">
            <a:extLst xmlns:a="http://schemas.openxmlformats.org/drawingml/2006/main">
              <a:ext uri="{FF2B5EF4-FFF2-40B4-BE49-F238E27FC236}">
                <a16:creationId xmlns:a16="http://schemas.microsoft.com/office/drawing/2014/main" id="{DE062B14-9E2F-424C-B8C9-88118C2AC876}"/>
              </a:ext>
            </a:extLst>
          </p:cNvPr>
          <p:cNvSpPr>
            <a:spLocks xmlns:a="http://schemas.openxmlformats.org/drawingml/2006/main" noGrp="1"/>
          </p:cNvSpPr>
          <p:nvPr/>
        </p:nvSpPr>
        <p:spPr>
          <a:xfrm xmlns:a="http://schemas.openxmlformats.org/drawingml/2006/main">
            <a:off x="1508760" y="2697480"/>
            <a:ext cx="4069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b="1">
                <a:solidFill>
                  <a:srgbClr val="0F2733"/>
                </a:solidFill>
                <a:latin typeface="Cambria"/>
                <a:ea typeface="Cambria"/>
                <a:cs typeface="Cambria"/>
              </a:rPr>
              <a:t>Usernames leak</a:t>
            </a:r>
          </a:p>
        </p:txBody>
      </p:sp>
      <p:sp>
        <p:nvSpPr>
          <p:cNvPr id="8" name="Text 6">
            <a:extLst xmlns:a="http://schemas.openxmlformats.org/drawingml/2006/main">
              <a:ext uri="{FF2B5EF4-FFF2-40B4-BE49-F238E27FC236}">
                <a16:creationId xmlns:a16="http://schemas.microsoft.com/office/drawing/2014/main" id="{C838956B-99A5-4EC2-935D-FEB87B5BB90B}"/>
              </a:ext>
            </a:extLst>
          </p:cNvPr>
          <p:cNvSpPr>
            <a:spLocks xmlns:a="http://schemas.openxmlformats.org/drawingml/2006/main" noGrp="1"/>
          </p:cNvSpPr>
          <p:nvPr/>
        </p:nvSpPr>
        <p:spPr>
          <a:xfrm xmlns:a="http://schemas.openxmlformats.org/drawingml/2006/main">
            <a:off x="1508760" y="3172968"/>
            <a:ext cx="40690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rgbClr val="4A5A63"/>
                </a:solidFill>
                <a:latin typeface="Calibri"/>
                <a:ea typeface="Calibri"/>
                <a:cs typeface="Calibri"/>
              </a:rPr>
              <a:t>REST + author archives list every login name to anonymous visitors.</a:t>
            </a:r>
          </a:p>
        </p:txBody>
      </p:sp>
      <p:sp>
        <p:nvSpPr>
          <p:cNvPr id="9" name="Shape 7">
            <a:extLst xmlns:a="http://schemas.openxmlformats.org/drawingml/2006/main">
              <a:ext uri="{FF2B5EF4-FFF2-40B4-BE49-F238E27FC236}">
                <a16:creationId xmlns:a16="http://schemas.microsoft.com/office/drawing/2014/main" id="{4ABB5F83-9E58-444B-A9ED-1E847AFA0044}"/>
              </a:ext>
            </a:extLst>
          </p:cNvPr>
          <p:cNvSpPr>
            <a:spLocks xmlns:a="http://schemas.openxmlformats.org/drawingml/2006/main" noGrp="1"/>
          </p:cNvSpPr>
          <p:nvPr/>
        </p:nvSpPr>
        <p:spPr>
          <a:xfrm xmlns:a="http://schemas.openxmlformats.org/drawingml/2006/main">
            <a:off x="6355080" y="2423160"/>
            <a:ext cx="5257800" cy="1691640"/>
          </a:xfrm>
          <a:prstGeom xmlns:a="http://schemas.openxmlformats.org/drawingml/2006/main" prst="roundRect">
            <a:avLst>
              <a:gd name="adj" fmla="val 486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0" name="Shape 8">
            <a:extLst xmlns:a="http://schemas.openxmlformats.org/drawingml/2006/main">
              <a:ext uri="{FF2B5EF4-FFF2-40B4-BE49-F238E27FC236}">
                <a16:creationId xmlns:a16="http://schemas.microsoft.com/office/drawing/2014/main" id="{55D71171-F1DA-4FA7-890D-3DBAEC3585F2}"/>
              </a:ext>
            </a:extLst>
          </p:cNvPr>
          <p:cNvSpPr>
            <a:spLocks xmlns:a="http://schemas.openxmlformats.org/drawingml/2006/main" noGrp="1"/>
          </p:cNvSpPr>
          <p:nvPr/>
        </p:nvSpPr>
        <p:spPr>
          <a:xfrm xmlns:a="http://schemas.openxmlformats.org/drawingml/2006/main">
            <a:off x="6629400" y="2743200"/>
            <a:ext cx="502920" cy="502920"/>
          </a:xfrm>
          <a:prstGeom xmlns:a="http://schemas.openxmlformats.org/drawingml/2006/main" prst="ellipse">
            <a:avLst/>
          </a:prstGeom>
          <a:solidFill xmlns:a="http://schemas.openxmlformats.org/drawingml/2006/main">
            <a:srgbClr val="E07A5F"/>
          </a:solidFill>
        </p:spPr>
      </p:sp>
      <p:sp>
        <p:nvSpPr>
          <p:cNvPr id="11" name="Text 9">
            <a:extLst xmlns:a="http://schemas.openxmlformats.org/drawingml/2006/main">
              <a:ext uri="{FF2B5EF4-FFF2-40B4-BE49-F238E27FC236}">
                <a16:creationId xmlns:a16="http://schemas.microsoft.com/office/drawing/2014/main" id="{1CA20AAC-C0BB-4ADC-99CE-DF4D983E10C4}"/>
              </a:ext>
            </a:extLst>
          </p:cNvPr>
          <p:cNvSpPr>
            <a:spLocks xmlns:a="http://schemas.openxmlformats.org/drawingml/2006/main" noGrp="1"/>
          </p:cNvSpPr>
          <p:nvPr/>
        </p:nvSpPr>
        <p:spPr>
          <a:xfrm xmlns:a="http://schemas.openxmlformats.org/drawingml/2006/main">
            <a:off x="6629400" y="274320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30" b="1">
                <a:solidFill>
                  <a:srgbClr val="FFFFFF"/>
                </a:solidFill>
                <a:latin typeface="Cambria"/>
                <a:ea typeface="Cambria"/>
                <a:cs typeface="Cambria"/>
              </a:rPr>
              <a:t>!</a:t>
            </a:r>
          </a:p>
        </p:txBody>
      </p:sp>
      <p:sp>
        <p:nvSpPr>
          <p:cNvPr id="12" name="Text 10">
            <a:extLst xmlns:a="http://schemas.openxmlformats.org/drawingml/2006/main">
              <a:ext uri="{FF2B5EF4-FFF2-40B4-BE49-F238E27FC236}">
                <a16:creationId xmlns:a16="http://schemas.microsoft.com/office/drawing/2014/main" id="{507585B1-C0AE-4E33-BC31-0BE5900F52C6}"/>
              </a:ext>
            </a:extLst>
          </p:cNvPr>
          <p:cNvSpPr>
            <a:spLocks xmlns:a="http://schemas.openxmlformats.org/drawingml/2006/main" noGrp="1"/>
          </p:cNvSpPr>
          <p:nvPr/>
        </p:nvSpPr>
        <p:spPr>
          <a:xfrm xmlns:a="http://schemas.openxmlformats.org/drawingml/2006/main">
            <a:off x="7315200" y="2697480"/>
            <a:ext cx="4069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b="1">
                <a:solidFill>
                  <a:srgbClr val="0F2733"/>
                </a:solidFill>
                <a:latin typeface="Cambria"/>
                <a:ea typeface="Cambria"/>
                <a:cs typeface="Cambria"/>
              </a:rPr>
              <a:t>Aging XML-RPC exposed</a:t>
            </a:r>
          </a:p>
        </p:txBody>
      </p:sp>
      <p:sp>
        <p:nvSpPr>
          <p:cNvPr id="13" name="Text 11">
            <a:extLst xmlns:a="http://schemas.openxmlformats.org/drawingml/2006/main">
              <a:ext uri="{FF2B5EF4-FFF2-40B4-BE49-F238E27FC236}">
                <a16:creationId xmlns:a16="http://schemas.microsoft.com/office/drawing/2014/main" id="{9FD4261E-90B8-463D-BACA-18C452BE8E25}"/>
              </a:ext>
            </a:extLst>
          </p:cNvPr>
          <p:cNvSpPr>
            <a:spLocks xmlns:a="http://schemas.openxmlformats.org/drawingml/2006/main" noGrp="1"/>
          </p:cNvSpPr>
          <p:nvPr/>
        </p:nvSpPr>
        <p:spPr>
          <a:xfrm xmlns:a="http://schemas.openxmlformats.org/drawingml/2006/main">
            <a:off x="7315200" y="3172968"/>
            <a:ext cx="40690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rgbClr val="4A5A63"/>
                </a:solidFill>
                <a:latin typeface="Calibri"/>
                <a:ea typeface="Calibri"/>
                <a:cs typeface="Calibri"/>
              </a:rPr>
              <a:t>Unwanted pingbacks and unused methods add work and attack surface.</a:t>
            </a:r>
          </a:p>
        </p:txBody>
      </p:sp>
      <p:sp>
        <p:nvSpPr>
          <p:cNvPr id="14" name="Shape 12">
            <a:extLst xmlns:a="http://schemas.openxmlformats.org/drawingml/2006/main">
              <a:ext uri="{FF2B5EF4-FFF2-40B4-BE49-F238E27FC236}">
                <a16:creationId xmlns:a16="http://schemas.microsoft.com/office/drawing/2014/main" id="{99346CF4-5408-4129-88DF-A001F7B152B9}"/>
              </a:ext>
            </a:extLst>
          </p:cNvPr>
          <p:cNvSpPr>
            <a:spLocks xmlns:a="http://schemas.openxmlformats.org/drawingml/2006/main" noGrp="1"/>
          </p:cNvSpPr>
          <p:nvPr/>
        </p:nvSpPr>
        <p:spPr>
          <a:xfrm xmlns:a="http://schemas.openxmlformats.org/drawingml/2006/main">
            <a:off x="548640" y="4526280"/>
            <a:ext cx="5257800" cy="1691640"/>
          </a:xfrm>
          <a:prstGeom xmlns:a="http://schemas.openxmlformats.org/drawingml/2006/main" prst="roundRect">
            <a:avLst>
              <a:gd name="adj" fmla="val 486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5" name="Shape 13">
            <a:extLst xmlns:a="http://schemas.openxmlformats.org/drawingml/2006/main">
              <a:ext uri="{FF2B5EF4-FFF2-40B4-BE49-F238E27FC236}">
                <a16:creationId xmlns:a16="http://schemas.microsoft.com/office/drawing/2014/main" id="{0AFF868F-8CAA-4641-AA57-9A7897B69D13}"/>
              </a:ext>
            </a:extLst>
          </p:cNvPr>
          <p:cNvSpPr>
            <a:spLocks xmlns:a="http://schemas.openxmlformats.org/drawingml/2006/main" noGrp="1"/>
          </p:cNvSpPr>
          <p:nvPr/>
        </p:nvSpPr>
        <p:spPr>
          <a:xfrm xmlns:a="http://schemas.openxmlformats.org/drawingml/2006/main">
            <a:off x="822960" y="4846320"/>
            <a:ext cx="502920" cy="502920"/>
          </a:xfrm>
          <a:prstGeom xmlns:a="http://schemas.openxmlformats.org/drawingml/2006/main" prst="ellipse">
            <a:avLst/>
          </a:prstGeom>
          <a:solidFill xmlns:a="http://schemas.openxmlformats.org/drawingml/2006/main">
            <a:srgbClr val="C88F33"/>
          </a:solidFill>
        </p:spPr>
      </p:sp>
      <p:sp>
        <p:nvSpPr>
          <p:cNvPr id="16" name="Text 14">
            <a:extLst xmlns:a="http://schemas.openxmlformats.org/drawingml/2006/main">
              <a:ext uri="{FF2B5EF4-FFF2-40B4-BE49-F238E27FC236}">
                <a16:creationId xmlns:a16="http://schemas.microsoft.com/office/drawing/2014/main" id="{CEF69030-578A-455C-84D3-B60745285FE9}"/>
              </a:ext>
            </a:extLst>
          </p:cNvPr>
          <p:cNvSpPr>
            <a:spLocks xmlns:a="http://schemas.openxmlformats.org/drawingml/2006/main" noGrp="1"/>
          </p:cNvSpPr>
          <p:nvPr/>
        </p:nvSpPr>
        <p:spPr>
          <a:xfrm xmlns:a="http://schemas.openxmlformats.org/drawingml/2006/main">
            <a:off x="822960" y="48463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30" b="1">
                <a:solidFill>
                  <a:srgbClr val="FFFFFF"/>
                </a:solidFill>
                <a:latin typeface="Cambria"/>
                <a:ea typeface="Cambria"/>
                <a:cs typeface="Cambria"/>
              </a:rPr>
              <a:t>~</a:t>
            </a:r>
          </a:p>
        </p:txBody>
      </p:sp>
      <p:sp>
        <p:nvSpPr>
          <p:cNvPr id="17" name="Text 15">
            <a:extLst xmlns:a="http://schemas.openxmlformats.org/drawingml/2006/main">
              <a:ext uri="{FF2B5EF4-FFF2-40B4-BE49-F238E27FC236}">
                <a16:creationId xmlns:a16="http://schemas.microsoft.com/office/drawing/2014/main" id="{BD96EB11-C072-4E7A-B97C-AC9E06F141CB}"/>
              </a:ext>
            </a:extLst>
          </p:cNvPr>
          <p:cNvSpPr>
            <a:spLocks xmlns:a="http://schemas.openxmlformats.org/drawingml/2006/main" noGrp="1"/>
          </p:cNvSpPr>
          <p:nvPr/>
        </p:nvSpPr>
        <p:spPr>
          <a:xfrm xmlns:a="http://schemas.openxmlformats.org/drawingml/2006/main">
            <a:off x="1508760" y="4800600"/>
            <a:ext cx="4069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b="1">
                <a:solidFill>
                  <a:srgbClr val="0F2733"/>
                </a:solidFill>
                <a:latin typeface="Cambria"/>
                <a:ea typeface="Cambria"/>
                <a:cs typeface="Cambria"/>
              </a:rPr>
              <a:t>Dead weight loads</a:t>
            </a:r>
          </a:p>
        </p:txBody>
      </p:sp>
      <p:sp>
        <p:nvSpPr>
          <p:cNvPr id="18" name="Text 16">
            <a:extLst xmlns:a="http://schemas.openxmlformats.org/drawingml/2006/main">
              <a:ext uri="{FF2B5EF4-FFF2-40B4-BE49-F238E27FC236}">
                <a16:creationId xmlns:a16="http://schemas.microsoft.com/office/drawing/2014/main" id="{8704AFCB-8104-45F6-B634-E3CDD099FAA0}"/>
              </a:ext>
            </a:extLst>
          </p:cNvPr>
          <p:cNvSpPr>
            <a:spLocks xmlns:a="http://schemas.openxmlformats.org/drawingml/2006/main" noGrp="1"/>
          </p:cNvSpPr>
          <p:nvPr/>
        </p:nvSpPr>
        <p:spPr>
          <a:xfrm xmlns:a="http://schemas.openxmlformats.org/drawingml/2006/main">
            <a:off x="1508760" y="5276088"/>
            <a:ext cx="40690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rgbClr val="4A5A63"/>
                </a:solidFill>
                <a:latin typeface="Calibri"/>
                <a:ea typeface="Calibri"/>
                <a:cs typeface="Calibri"/>
              </a:rPr>
              <a:t>Emoji scripts, version tags, and RSD links on every page.</a:t>
            </a:r>
          </a:p>
        </p:txBody>
      </p:sp>
      <p:sp>
        <p:nvSpPr>
          <p:cNvPr id="19" name="Shape 17">
            <a:extLst xmlns:a="http://schemas.openxmlformats.org/drawingml/2006/main">
              <a:ext uri="{FF2B5EF4-FFF2-40B4-BE49-F238E27FC236}">
                <a16:creationId xmlns:a16="http://schemas.microsoft.com/office/drawing/2014/main" id="{1371A281-7097-4FEA-A2FC-CC5BD421F710}"/>
              </a:ext>
            </a:extLst>
          </p:cNvPr>
          <p:cNvSpPr>
            <a:spLocks xmlns:a="http://schemas.openxmlformats.org/drawingml/2006/main" noGrp="1"/>
          </p:cNvSpPr>
          <p:nvPr/>
        </p:nvSpPr>
        <p:spPr>
          <a:xfrm xmlns:a="http://schemas.openxmlformats.org/drawingml/2006/main">
            <a:off x="6355080" y="4526280"/>
            <a:ext cx="5257800" cy="1691640"/>
          </a:xfrm>
          <a:prstGeom xmlns:a="http://schemas.openxmlformats.org/drawingml/2006/main" prst="roundRect">
            <a:avLst>
              <a:gd name="adj" fmla="val 486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20" name="Shape 18">
            <a:extLst xmlns:a="http://schemas.openxmlformats.org/drawingml/2006/main">
              <a:ext uri="{FF2B5EF4-FFF2-40B4-BE49-F238E27FC236}">
                <a16:creationId xmlns:a16="http://schemas.microsoft.com/office/drawing/2014/main" id="{C8151CDC-CA7D-4930-BE7E-3AC48903495E}"/>
              </a:ext>
            </a:extLst>
          </p:cNvPr>
          <p:cNvSpPr>
            <a:spLocks xmlns:a="http://schemas.openxmlformats.org/drawingml/2006/main" noGrp="1"/>
          </p:cNvSpPr>
          <p:nvPr/>
        </p:nvSpPr>
        <p:spPr>
          <a:xfrm xmlns:a="http://schemas.openxmlformats.org/drawingml/2006/main">
            <a:off x="6629400" y="4846320"/>
            <a:ext cx="502920" cy="502920"/>
          </a:xfrm>
          <a:prstGeom xmlns:a="http://schemas.openxmlformats.org/drawingml/2006/main" prst="ellipse">
            <a:avLst/>
          </a:prstGeom>
          <a:solidFill xmlns:a="http://schemas.openxmlformats.org/drawingml/2006/main">
            <a:srgbClr val="C88F33"/>
          </a:solidFill>
        </p:spPr>
      </p:sp>
      <p:sp>
        <p:nvSpPr>
          <p:cNvPr id="21" name="Text 19">
            <a:extLst xmlns:a="http://schemas.openxmlformats.org/drawingml/2006/main">
              <a:ext uri="{FF2B5EF4-FFF2-40B4-BE49-F238E27FC236}">
                <a16:creationId xmlns:a16="http://schemas.microsoft.com/office/drawing/2014/main" id="{8B096782-95D9-4B30-A40C-A7B8A607478A}"/>
              </a:ext>
            </a:extLst>
          </p:cNvPr>
          <p:cNvSpPr>
            <a:spLocks xmlns:a="http://schemas.openxmlformats.org/drawingml/2006/main" noGrp="1"/>
          </p:cNvSpPr>
          <p:nvPr/>
        </p:nvSpPr>
        <p:spPr>
          <a:xfrm xmlns:a="http://schemas.openxmlformats.org/drawingml/2006/main">
            <a:off x="6629400" y="48463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30" b="1">
                <a:solidFill>
                  <a:srgbClr val="FFFFFF"/>
                </a:solidFill>
                <a:latin typeface="Cambria"/>
                <a:ea typeface="Cambria"/>
                <a:cs typeface="Cambria"/>
              </a:rPr>
              <a:t>~</a:t>
            </a:r>
          </a:p>
        </p:txBody>
      </p:sp>
      <p:sp>
        <p:nvSpPr>
          <p:cNvPr id="22" name="Text 20">
            <a:extLst xmlns:a="http://schemas.openxmlformats.org/drawingml/2006/main">
              <a:ext uri="{FF2B5EF4-FFF2-40B4-BE49-F238E27FC236}">
                <a16:creationId xmlns:a16="http://schemas.microsoft.com/office/drawing/2014/main" id="{FBC9B2F7-8620-4B7A-86A7-CA02161CCA9C}"/>
              </a:ext>
            </a:extLst>
          </p:cNvPr>
          <p:cNvSpPr>
            <a:spLocks xmlns:a="http://schemas.openxmlformats.org/drawingml/2006/main" noGrp="1"/>
          </p:cNvSpPr>
          <p:nvPr/>
        </p:nvSpPr>
        <p:spPr>
          <a:xfrm xmlns:a="http://schemas.openxmlformats.org/drawingml/2006/main">
            <a:off x="7315200" y="4800600"/>
            <a:ext cx="4069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b="1">
                <a:solidFill>
                  <a:srgbClr val="0F2733"/>
                </a:solidFill>
                <a:latin typeface="Cambria"/>
                <a:ea typeface="Cambria"/>
                <a:cs typeface="Cambria"/>
              </a:rPr>
              <a:t>Spam surface invites</a:t>
            </a:r>
          </a:p>
        </p:txBody>
      </p:sp>
      <p:sp>
        <p:nvSpPr>
          <p:cNvPr id="23" name="Text 21">
            <a:extLst xmlns:a="http://schemas.openxmlformats.org/drawingml/2006/main">
              <a:ext uri="{FF2B5EF4-FFF2-40B4-BE49-F238E27FC236}">
                <a16:creationId xmlns:a16="http://schemas.microsoft.com/office/drawing/2014/main" id="{76B6654C-28AD-4960-A66D-9050E51147FB}"/>
              </a:ext>
            </a:extLst>
          </p:cNvPr>
          <p:cNvSpPr>
            <a:spLocks xmlns:a="http://schemas.openxmlformats.org/drawingml/2006/main" noGrp="1"/>
          </p:cNvSpPr>
          <p:nvPr/>
        </p:nvSpPr>
        <p:spPr>
          <a:xfrm xmlns:a="http://schemas.openxmlformats.org/drawingml/2006/main">
            <a:off x="7315200" y="5276088"/>
            <a:ext cx="40690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rgbClr val="4A5A63"/>
                </a:solidFill>
                <a:latin typeface="Calibri"/>
                <a:ea typeface="Calibri"/>
                <a:cs typeface="Calibri"/>
              </a:rPr>
              <a:t>Comments, pingbacks, and trackbacks open by default.</a:t>
            </a:r>
          </a:p>
        </p:txBody>
      </p:sp>
      <p:sp>
        <p:nvSpPr>
          <p:cNvPr id="24" name="Text 22">
            <a:extLst xmlns:a="http://schemas.openxmlformats.org/drawingml/2006/main">
              <a:ext uri="{FF2B5EF4-FFF2-40B4-BE49-F238E27FC236}">
                <a16:creationId xmlns:a16="http://schemas.microsoft.com/office/drawing/2014/main" id="{5D9B4938-FD0B-4F8B-8ACC-033CF93D1654}"/>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25" name="Text 23">
            <a:extLst xmlns:a="http://schemas.openxmlformats.org/drawingml/2006/main">
              <a:ext uri="{FF2B5EF4-FFF2-40B4-BE49-F238E27FC236}">
                <a16:creationId xmlns:a16="http://schemas.microsoft.com/office/drawing/2014/main" id="{4F353EC5-148B-41B4-A3CD-00B181413711}"/>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a:t>
            </a:r>
          </a:p>
        </p:txBody>
      </p:sp>
    </p:spTree>
    <p:extLst>
      <p:ext uri="{BB962C8B-B14F-4D97-AF65-F5344CB8AC3E}">
        <p14:creationId xmlns:p14="http://schemas.microsoft.com/office/powerpoint/2010/main" val="370471106"/>
      </p:ext>
    </p:extLst>
  </p:cSld>
</p:sld>
</file>

<file path=ppt/slides/slide3.xml><?xml version="1.0" encoding="utf-8"?>
<p:sld xmlns:p="http://schemas.openxmlformats.org/presentationml/2006/main">
  <p:cSld>
    <p:bg>
      <p:bgPr>
        <a:solidFill xmlns:a="http://schemas.openxmlformats.org/drawingml/2006/main">
          <a:srgbClr val="27607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0DD2D2C-6E09-4593-8681-DEF9C21A9428}"/>
              </a:ext>
            </a:extLst>
          </p:cNvPr>
          <p:cNvSpPr>
            <a:spLocks xmlns:a="http://schemas.openxmlformats.org/drawingml/2006/main" noGrp="1"/>
          </p:cNvSpPr>
          <p:nvPr/>
        </p:nvSpPr>
        <p:spPr>
          <a:xfrm xmlns:a="http://schemas.openxmlformats.org/drawingml/2006/main">
            <a:off x="0" y="0"/>
            <a:ext cx="12188952" cy="6858000"/>
          </a:xfrm>
          <a:prstGeom xmlns:a="http://schemas.openxmlformats.org/drawingml/2006/main" prst="rect">
            <a:avLst/>
          </a:prstGeom>
          <a:solidFill xmlns:a="http://schemas.openxmlformats.org/drawingml/2006/main">
            <a:srgbClr val="27607A"/>
          </a:solidFill>
        </p:spPr>
      </p:sp>
      <p:sp>
        <p:nvSpPr>
          <p:cNvPr id="3" name="Text 1">
            <a:extLst xmlns:a="http://schemas.openxmlformats.org/drawingml/2006/main">
              <a:ext uri="{FF2B5EF4-FFF2-40B4-BE49-F238E27FC236}">
                <a16:creationId xmlns:a16="http://schemas.microsoft.com/office/drawing/2014/main" id="{ED6672BE-A5A8-492B-AF6E-E6248F2AD25E}"/>
              </a:ext>
            </a:extLst>
          </p:cNvPr>
          <p:cNvSpPr>
            <a:spLocks xmlns:a="http://schemas.openxmlformats.org/drawingml/2006/main" noGrp="1"/>
          </p:cNvSpPr>
          <p:nvPr/>
        </p:nvSpPr>
        <p:spPr>
          <a:xfrm xmlns:a="http://schemas.openxmlformats.org/drawingml/2006/main">
            <a:off x="731520" y="1051560"/>
            <a:ext cx="10058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E0A94B"/>
                </a:solidFill>
                <a:latin typeface="Calibri"/>
                <a:ea typeface="Calibri"/>
                <a:cs typeface="Calibri"/>
              </a:rPr>
              <a:t>The one idea to take home</a:t>
            </a:r>
          </a:p>
        </p:txBody>
      </p:sp>
      <p:sp>
        <p:nvSpPr>
          <p:cNvPr id="4" name="Text 2">
            <a:extLst xmlns:a="http://schemas.openxmlformats.org/drawingml/2006/main">
              <a:ext uri="{FF2B5EF4-FFF2-40B4-BE49-F238E27FC236}">
                <a16:creationId xmlns:a16="http://schemas.microsoft.com/office/drawing/2014/main" id="{880FADC4-BD37-4031-AC0B-34BDFD123FD5}"/>
              </a:ext>
            </a:extLst>
          </p:cNvPr>
          <p:cNvSpPr>
            <a:spLocks xmlns:a="http://schemas.openxmlformats.org/drawingml/2006/main" noGrp="1"/>
          </p:cNvSpPr>
          <p:nvPr/>
        </p:nvSpPr>
        <p:spPr>
          <a:xfrm xmlns:a="http://schemas.openxmlformats.org/drawingml/2006/main">
            <a:off x="731520" y="1737360"/>
            <a:ext cx="1069848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FFFFFF"/>
                </a:solidFill>
                <a:latin typeface="Cambria"/>
                <a:ea typeface="Cambria"/>
                <a:cs typeface="Cambria"/>
              </a:rPr>
              <a:t>A “default” is just an</a:t>
            </a:r>
          </a:p>
          <a:p xmlns:a="http://schemas.openxmlformats.org/drawingml/2006/main">
            <a:pPr marL="0" indent="0">
              <a:lnSpc>
                <a:spcPct val="105000"/>
              </a:lnSpc>
              <a:buNone/>
            </a:pPr>
            <a:r>
              <a:rPr sz="4400" b="1">
                <a:solidFill>
                  <a:srgbClr val="FFFFFF"/>
                </a:solidFill>
                <a:latin typeface="Cambria"/>
                <a:ea typeface="Cambria"/>
                <a:cs typeface="Cambria"/>
              </a:rPr>
              <a:t>opinionated filter behind a toggle.</a:t>
            </a:r>
          </a:p>
        </p:txBody>
      </p:sp>
      <p:sp>
        <p:nvSpPr>
          <p:cNvPr id="5" name="Shape 3">
            <a:extLst xmlns:a="http://schemas.openxmlformats.org/drawingml/2006/main">
              <a:ext uri="{FF2B5EF4-FFF2-40B4-BE49-F238E27FC236}">
                <a16:creationId xmlns:a16="http://schemas.microsoft.com/office/drawing/2014/main" id="{0C0E4816-34C2-4A05-872F-8C16CFFCB5F1}"/>
              </a:ext>
            </a:extLst>
          </p:cNvPr>
          <p:cNvSpPr>
            <a:spLocks xmlns:a="http://schemas.openxmlformats.org/drawingml/2006/main" noGrp="1"/>
          </p:cNvSpPr>
          <p:nvPr/>
        </p:nvSpPr>
        <p:spPr>
          <a:xfrm xmlns:a="http://schemas.openxmlformats.org/drawingml/2006/main">
            <a:off x="731520" y="4114800"/>
            <a:ext cx="10698480" cy="1737360"/>
          </a:xfrm>
          <a:prstGeom xmlns:a="http://schemas.openxmlformats.org/drawingml/2006/main" prst="roundRect">
            <a:avLst>
              <a:gd name="adj" fmla="val 4211"/>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6" name="Text 4">
            <a:extLst xmlns:a="http://schemas.openxmlformats.org/drawingml/2006/main">
              <a:ext uri="{FF2B5EF4-FFF2-40B4-BE49-F238E27FC236}">
                <a16:creationId xmlns:a16="http://schemas.microsoft.com/office/drawing/2014/main" id="{E4FD7BDF-D7EB-403B-99E4-61FA78375A36}"/>
              </a:ext>
            </a:extLst>
          </p:cNvPr>
          <p:cNvSpPr>
            <a:spLocks xmlns:a="http://schemas.openxmlformats.org/drawingml/2006/main" noGrp="1"/>
          </p:cNvSpPr>
          <p:nvPr/>
        </p:nvSpPr>
        <p:spPr>
          <a:xfrm xmlns:a="http://schemas.openxmlformats.org/drawingml/2006/main">
            <a:off x="932688" y="4279392"/>
            <a:ext cx="10296144"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500">
                <a:solidFill>
                  <a:srgbClr val="DCEAF1"/>
                </a:solidFill>
                <a:latin typeface="Courier New"/>
                <a:ea typeface="Courier New"/>
                <a:cs typeface="Courier New"/>
              </a:rPr>
              <a:t>if ( wpyeg_defaults_enabled( 'restrict_rest_user_discovery' ) ) {</a:t>
            </a:r>
          </a:p>
          <a:p xmlns:a="http://schemas.openxmlformats.org/drawingml/2006/main">
            <a:pPr marL="0" indent="0" algn="l">
              <a:lnSpc>
                <a:spcPct val="108000"/>
              </a:lnSpc>
              <a:buNone/>
            </a:pPr>
            <a:r>
              <a:rPr sz="1500">
                <a:solidFill>
                  <a:srgbClr val="E7C070"/>
                </a:solidFill>
                <a:latin typeface="Courier New"/>
                <a:ea typeface="Courier New"/>
                <a:cs typeface="Courier New"/>
              </a:rPr>
              <a:t>    add_filter( 'rest_endpoints', $hide_users_endpoint );</a:t>
            </a:r>
          </a:p>
          <a:p xmlns:a="http://schemas.openxmlformats.org/drawingml/2006/main">
            <a:pPr marL="0" indent="0" algn="l">
              <a:lnSpc>
                <a:spcPct val="108000"/>
              </a:lnSpc>
              <a:buNone/>
            </a:pPr>
            <a:r>
              <a:rPr sz="1500">
                <a:solidFill>
                  <a:srgbClr val="8FBF9F"/>
                </a:solidFill>
                <a:latin typeface="Courier New"/>
                <a:ea typeface="Courier New"/>
                <a:cs typeface="Courier New"/>
              </a:rPr>
              <a:t>}   // that's the whole pattern, repeated ~20 times</a:t>
            </a:r>
          </a:p>
        </p:txBody>
      </p:sp>
    </p:spTree>
    <p:extLst>
      <p:ext uri="{BB962C8B-B14F-4D97-AF65-F5344CB8AC3E}">
        <p14:creationId xmlns:p14="http://schemas.microsoft.com/office/powerpoint/2010/main" val="630068411"/>
      </p:ext>
    </p:extLst>
  </p:cSld>
</p:sld>
</file>

<file path=ppt/slides/slide4.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A3ACB4B-B609-489C-8674-E4C240AA2CE2}"/>
              </a:ext>
            </a:extLst>
          </p:cNvPr>
          <p:cNvSpPr>
            <a:spLocks xmlns:a="http://schemas.openxmlformats.org/drawingml/2006/main" noGrp="1"/>
          </p:cNvSpPr>
          <p:nvPr/>
        </p:nvSpPr>
        <p:spPr>
          <a:xfrm xmlns:a="http://schemas.openxmlformats.org/drawingml/2006/main">
            <a:off x="548640" y="50292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0F2733"/>
                </a:solidFill>
                <a:latin typeface="Cambria"/>
                <a:ea typeface="Cambria"/>
                <a:cs typeface="Cambria"/>
              </a:rPr>
              <a:t>Hooks &amp; filters</a:t>
            </a:r>
          </a:p>
        </p:txBody>
      </p:sp>
      <p:sp>
        <p:nvSpPr>
          <p:cNvPr id="3" name="Text 1">
            <a:extLst xmlns:a="http://schemas.openxmlformats.org/drawingml/2006/main">
              <a:ext uri="{FF2B5EF4-FFF2-40B4-BE49-F238E27FC236}">
                <a16:creationId xmlns:a16="http://schemas.microsoft.com/office/drawing/2014/main" id="{C86713D2-A167-4E58-87B1-10A0B3AE4E17}"/>
              </a:ext>
            </a:extLst>
          </p:cNvPr>
          <p:cNvSpPr>
            <a:spLocks xmlns:a="http://schemas.openxmlformats.org/drawingml/2006/main" noGrp="1"/>
          </p:cNvSpPr>
          <p:nvPr/>
        </p:nvSpPr>
        <p:spPr>
          <a:xfrm xmlns:a="http://schemas.openxmlformats.org/drawingml/2006/main">
            <a:off x="548640" y="1280160"/>
            <a:ext cx="107899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a:solidFill>
                  <a:srgbClr val="4A5A63"/>
                </a:solidFill>
                <a:latin typeface="Calibri"/>
                <a:ea typeface="Calibri"/>
                <a:cs typeface="Calibri"/>
              </a:rPr>
              <a:t>WordPress is built to be interrupted at labeled moments (hooks) so you never edit core code.</a:t>
            </a:r>
          </a:p>
        </p:txBody>
      </p:sp>
      <p:sp>
        <p:nvSpPr>
          <p:cNvPr id="4" name="Shape 2">
            <a:extLst xmlns:a="http://schemas.openxmlformats.org/drawingml/2006/main">
              <a:ext uri="{FF2B5EF4-FFF2-40B4-BE49-F238E27FC236}">
                <a16:creationId xmlns:a16="http://schemas.microsoft.com/office/drawing/2014/main" id="{018E86F6-0879-4C2C-AB60-6DCD71B58D97}"/>
              </a:ext>
            </a:extLst>
          </p:cNvPr>
          <p:cNvSpPr>
            <a:spLocks xmlns:a="http://schemas.openxmlformats.org/drawingml/2006/main" noGrp="1"/>
          </p:cNvSpPr>
          <p:nvPr/>
        </p:nvSpPr>
        <p:spPr>
          <a:xfrm xmlns:a="http://schemas.openxmlformats.org/drawingml/2006/main">
            <a:off x="548640" y="2148840"/>
            <a:ext cx="11064240" cy="16459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5" name="Shape 3">
            <a:extLst xmlns:a="http://schemas.openxmlformats.org/drawingml/2006/main">
              <a:ext uri="{FF2B5EF4-FFF2-40B4-BE49-F238E27FC236}">
                <a16:creationId xmlns:a16="http://schemas.microsoft.com/office/drawing/2014/main" id="{D22AF10D-538A-4E82-9070-BAC087B129BE}"/>
              </a:ext>
            </a:extLst>
          </p:cNvPr>
          <p:cNvSpPr>
            <a:spLocks xmlns:a="http://schemas.openxmlformats.org/drawingml/2006/main" noGrp="1"/>
          </p:cNvSpPr>
          <p:nvPr/>
        </p:nvSpPr>
        <p:spPr>
          <a:xfrm xmlns:a="http://schemas.openxmlformats.org/drawingml/2006/main">
            <a:off x="868680" y="2651760"/>
            <a:ext cx="640080" cy="640080"/>
          </a:xfrm>
          <a:prstGeom xmlns:a="http://schemas.openxmlformats.org/drawingml/2006/main" prst="ellipse">
            <a:avLst/>
          </a:prstGeom>
          <a:solidFill xmlns:a="http://schemas.openxmlformats.org/drawingml/2006/main">
            <a:srgbClr val="27607A"/>
          </a:solidFill>
        </p:spPr>
      </p:sp>
      <p:sp>
        <p:nvSpPr>
          <p:cNvPr id="6" name="Text 4">
            <a:extLst xmlns:a="http://schemas.openxmlformats.org/drawingml/2006/main">
              <a:ext uri="{FF2B5EF4-FFF2-40B4-BE49-F238E27FC236}">
                <a16:creationId xmlns:a16="http://schemas.microsoft.com/office/drawing/2014/main" id="{9A63A5CC-3EE9-47DD-8E22-F22F6B0FDB6A}"/>
              </a:ext>
            </a:extLst>
          </p:cNvPr>
          <p:cNvSpPr>
            <a:spLocks xmlns:a="http://schemas.openxmlformats.org/drawingml/2006/main" noGrp="1"/>
          </p:cNvSpPr>
          <p:nvPr/>
        </p:nvSpPr>
        <p:spPr>
          <a:xfrm xmlns:a="http://schemas.openxmlformats.org/drawingml/2006/main">
            <a:off x="868680" y="265176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FFFFFF"/>
                </a:solidFill>
                <a:latin typeface="Cambria"/>
                <a:ea typeface="Cambria"/>
                <a:cs typeface="Cambria"/>
              </a:rPr>
              <a:t>A</a:t>
            </a:r>
          </a:p>
        </p:txBody>
      </p:sp>
      <p:sp>
        <p:nvSpPr>
          <p:cNvPr id="7" name="Text 5">
            <a:extLst xmlns:a="http://schemas.openxmlformats.org/drawingml/2006/main">
              <a:ext uri="{FF2B5EF4-FFF2-40B4-BE49-F238E27FC236}">
                <a16:creationId xmlns:a16="http://schemas.microsoft.com/office/drawing/2014/main" id="{51531DFD-7F31-431A-86E0-1E5BF2CF236B}"/>
              </a:ext>
            </a:extLst>
          </p:cNvPr>
          <p:cNvSpPr>
            <a:spLocks xmlns:a="http://schemas.openxmlformats.org/drawingml/2006/main" noGrp="1"/>
          </p:cNvSpPr>
          <p:nvPr/>
        </p:nvSpPr>
        <p:spPr>
          <a:xfrm xmlns:a="http://schemas.openxmlformats.org/drawingml/2006/main">
            <a:off x="1737360" y="2350008"/>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27607A"/>
                </a:solidFill>
                <a:latin typeface="Cambria"/>
                <a:ea typeface="Cambria"/>
                <a:cs typeface="Cambria"/>
              </a:rPr>
              <a:t>Action</a:t>
            </a:r>
          </a:p>
        </p:txBody>
      </p:sp>
      <p:sp>
        <p:nvSpPr>
          <p:cNvPr id="8" name="Text 6">
            <a:extLst xmlns:a="http://schemas.openxmlformats.org/drawingml/2006/main">
              <a:ext uri="{FF2B5EF4-FFF2-40B4-BE49-F238E27FC236}">
                <a16:creationId xmlns:a16="http://schemas.microsoft.com/office/drawing/2014/main" id="{89DCAFDB-F1BF-4717-96A1-62D31251EE6F}"/>
              </a:ext>
            </a:extLst>
          </p:cNvPr>
          <p:cNvSpPr>
            <a:spLocks xmlns:a="http://schemas.openxmlformats.org/drawingml/2006/main" noGrp="1"/>
          </p:cNvSpPr>
          <p:nvPr/>
        </p:nvSpPr>
        <p:spPr>
          <a:xfrm xmlns:a="http://schemas.openxmlformats.org/drawingml/2006/main">
            <a:off x="1737360" y="2834640"/>
            <a:ext cx="58521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50">
                <a:solidFill>
                  <a:srgbClr val="4A5A63"/>
                </a:solidFill>
                <a:latin typeface="Calibri"/>
                <a:ea typeface="Calibri"/>
                <a:cs typeface="Calibri"/>
              </a:rPr>
              <a:t>“When you reach this moment, also DO this.”</a:t>
            </a:r>
          </a:p>
        </p:txBody>
      </p:sp>
      <p:sp>
        <p:nvSpPr>
          <p:cNvPr id="9" name="Shape 7">
            <a:extLst xmlns:a="http://schemas.openxmlformats.org/drawingml/2006/main">
              <a:ext uri="{FF2B5EF4-FFF2-40B4-BE49-F238E27FC236}">
                <a16:creationId xmlns:a16="http://schemas.microsoft.com/office/drawing/2014/main" id="{519A399A-2B72-458B-A5EA-2E3DD8B9E478}"/>
              </a:ext>
            </a:extLst>
          </p:cNvPr>
          <p:cNvSpPr>
            <a:spLocks xmlns:a="http://schemas.openxmlformats.org/drawingml/2006/main" noGrp="1"/>
          </p:cNvSpPr>
          <p:nvPr/>
        </p:nvSpPr>
        <p:spPr>
          <a:xfrm xmlns:a="http://schemas.openxmlformats.org/drawingml/2006/main">
            <a:off x="7772400" y="2606040"/>
            <a:ext cx="3611880" cy="731520"/>
          </a:xfrm>
          <a:prstGeom xmlns:a="http://schemas.openxmlformats.org/drawingml/2006/main" prst="roundRect">
            <a:avLst>
              <a:gd name="adj" fmla="val 7500"/>
            </a:avLst>
          </a:prstGeom>
          <a:solidFill xmlns:a="http://schemas.openxmlformats.org/drawingml/2006/main">
            <a:srgbClr val="0E2836"/>
          </a:solidFill>
        </p:spPr>
      </p:sp>
      <p:sp>
        <p:nvSpPr>
          <p:cNvPr id="10" name="Text 8">
            <a:extLst xmlns:a="http://schemas.openxmlformats.org/drawingml/2006/main">
              <a:ext uri="{FF2B5EF4-FFF2-40B4-BE49-F238E27FC236}">
                <a16:creationId xmlns:a16="http://schemas.microsoft.com/office/drawing/2014/main" id="{B14BBA41-7A6C-481A-8D03-CB9F264DA582}"/>
              </a:ext>
            </a:extLst>
          </p:cNvPr>
          <p:cNvSpPr>
            <a:spLocks xmlns:a="http://schemas.openxmlformats.org/drawingml/2006/main" noGrp="1"/>
          </p:cNvSpPr>
          <p:nvPr/>
        </p:nvSpPr>
        <p:spPr>
          <a:xfrm xmlns:a="http://schemas.openxmlformats.org/drawingml/2006/main">
            <a:off x="7909560" y="2606040"/>
            <a:ext cx="3383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E7C070"/>
                </a:solidFill>
                <a:latin typeface="Courier New"/>
                <a:ea typeface="Courier New"/>
                <a:cs typeface="Courier New"/>
              </a:rPr>
              <a:t>add_action( 'init', fn );</a:t>
            </a:r>
          </a:p>
        </p:txBody>
      </p:sp>
      <p:sp>
        <p:nvSpPr>
          <p:cNvPr id="11" name="Shape 9">
            <a:extLst xmlns:a="http://schemas.openxmlformats.org/drawingml/2006/main">
              <a:ext uri="{FF2B5EF4-FFF2-40B4-BE49-F238E27FC236}">
                <a16:creationId xmlns:a16="http://schemas.microsoft.com/office/drawing/2014/main" id="{D6B95E77-5530-47EB-BF26-BF057DAA694F}"/>
              </a:ext>
            </a:extLst>
          </p:cNvPr>
          <p:cNvSpPr>
            <a:spLocks xmlns:a="http://schemas.openxmlformats.org/drawingml/2006/main" noGrp="1"/>
          </p:cNvSpPr>
          <p:nvPr/>
        </p:nvSpPr>
        <p:spPr>
          <a:xfrm xmlns:a="http://schemas.openxmlformats.org/drawingml/2006/main">
            <a:off x="548640" y="4023360"/>
            <a:ext cx="11064240" cy="16459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2" name="Shape 10">
            <a:extLst xmlns:a="http://schemas.openxmlformats.org/drawingml/2006/main">
              <a:ext uri="{FF2B5EF4-FFF2-40B4-BE49-F238E27FC236}">
                <a16:creationId xmlns:a16="http://schemas.microsoft.com/office/drawing/2014/main" id="{981B59CA-5413-41AF-AB90-FE333F7F0409}"/>
              </a:ext>
            </a:extLst>
          </p:cNvPr>
          <p:cNvSpPr>
            <a:spLocks xmlns:a="http://schemas.openxmlformats.org/drawingml/2006/main" noGrp="1"/>
          </p:cNvSpPr>
          <p:nvPr/>
        </p:nvSpPr>
        <p:spPr>
          <a:xfrm xmlns:a="http://schemas.openxmlformats.org/drawingml/2006/main">
            <a:off x="868680" y="4526280"/>
            <a:ext cx="640080" cy="640080"/>
          </a:xfrm>
          <a:prstGeom xmlns:a="http://schemas.openxmlformats.org/drawingml/2006/main" prst="ellipse">
            <a:avLst/>
          </a:prstGeom>
          <a:solidFill xmlns:a="http://schemas.openxmlformats.org/drawingml/2006/main">
            <a:srgbClr val="27607A"/>
          </a:solidFill>
        </p:spPr>
      </p:sp>
      <p:sp>
        <p:nvSpPr>
          <p:cNvPr id="13" name="Text 11">
            <a:extLst xmlns:a="http://schemas.openxmlformats.org/drawingml/2006/main">
              <a:ext uri="{FF2B5EF4-FFF2-40B4-BE49-F238E27FC236}">
                <a16:creationId xmlns:a16="http://schemas.microsoft.com/office/drawing/2014/main" id="{2F4E2318-3D33-4F6C-9071-6BF2F8D10298}"/>
              </a:ext>
            </a:extLst>
          </p:cNvPr>
          <p:cNvSpPr>
            <a:spLocks xmlns:a="http://schemas.openxmlformats.org/drawingml/2006/main" noGrp="1"/>
          </p:cNvSpPr>
          <p:nvPr/>
        </p:nvSpPr>
        <p:spPr>
          <a:xfrm xmlns:a="http://schemas.openxmlformats.org/drawingml/2006/main">
            <a:off x="868680" y="45262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FFFFFF"/>
                </a:solidFill>
                <a:latin typeface="Cambria"/>
                <a:ea typeface="Cambria"/>
                <a:cs typeface="Cambria"/>
              </a:rPr>
              <a:t>F</a:t>
            </a:r>
          </a:p>
        </p:txBody>
      </p:sp>
      <p:sp>
        <p:nvSpPr>
          <p:cNvPr id="14" name="Text 12">
            <a:extLst xmlns:a="http://schemas.openxmlformats.org/drawingml/2006/main">
              <a:ext uri="{FF2B5EF4-FFF2-40B4-BE49-F238E27FC236}">
                <a16:creationId xmlns:a16="http://schemas.microsoft.com/office/drawing/2014/main" id="{CB92AEFA-4785-4FFC-9E8B-CBB715B7A93E}"/>
              </a:ext>
            </a:extLst>
          </p:cNvPr>
          <p:cNvSpPr>
            <a:spLocks xmlns:a="http://schemas.openxmlformats.org/drawingml/2006/main" noGrp="1"/>
          </p:cNvSpPr>
          <p:nvPr/>
        </p:nvSpPr>
        <p:spPr>
          <a:xfrm xmlns:a="http://schemas.openxmlformats.org/drawingml/2006/main">
            <a:off x="1737360" y="4224528"/>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27607A"/>
                </a:solidFill>
                <a:latin typeface="Cambria"/>
                <a:ea typeface="Cambria"/>
                <a:cs typeface="Cambria"/>
              </a:rPr>
              <a:t>Filter</a:t>
            </a:r>
          </a:p>
        </p:txBody>
      </p:sp>
      <p:sp>
        <p:nvSpPr>
          <p:cNvPr id="15" name="Text 13">
            <a:extLst xmlns:a="http://schemas.openxmlformats.org/drawingml/2006/main">
              <a:ext uri="{FF2B5EF4-FFF2-40B4-BE49-F238E27FC236}">
                <a16:creationId xmlns:a16="http://schemas.microsoft.com/office/drawing/2014/main" id="{944CB186-CE4C-4966-8B1B-B1814556A174}"/>
              </a:ext>
            </a:extLst>
          </p:cNvPr>
          <p:cNvSpPr>
            <a:spLocks xmlns:a="http://schemas.openxmlformats.org/drawingml/2006/main" noGrp="1"/>
          </p:cNvSpPr>
          <p:nvPr/>
        </p:nvSpPr>
        <p:spPr>
          <a:xfrm xmlns:a="http://schemas.openxmlformats.org/drawingml/2006/main">
            <a:off x="1737360" y="4709160"/>
            <a:ext cx="58521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50">
                <a:solidFill>
                  <a:srgbClr val="4A5A63"/>
                </a:solidFill>
                <a:latin typeface="Calibri"/>
                <a:ea typeface="Calibri"/>
                <a:cs typeface="Calibri"/>
              </a:rPr>
              <a:t>“Before you use this value, let me CHANGE it first.”</a:t>
            </a:r>
          </a:p>
        </p:txBody>
      </p:sp>
      <p:sp>
        <p:nvSpPr>
          <p:cNvPr id="16" name="Shape 14">
            <a:extLst xmlns:a="http://schemas.openxmlformats.org/drawingml/2006/main">
              <a:ext uri="{FF2B5EF4-FFF2-40B4-BE49-F238E27FC236}">
                <a16:creationId xmlns:a16="http://schemas.microsoft.com/office/drawing/2014/main" id="{9A335755-DE73-4E1C-B4F7-7BB92D4112FE}"/>
              </a:ext>
            </a:extLst>
          </p:cNvPr>
          <p:cNvSpPr>
            <a:spLocks xmlns:a="http://schemas.openxmlformats.org/drawingml/2006/main" noGrp="1"/>
          </p:cNvSpPr>
          <p:nvPr/>
        </p:nvSpPr>
        <p:spPr>
          <a:xfrm xmlns:a="http://schemas.openxmlformats.org/drawingml/2006/main">
            <a:off x="7772400" y="4480560"/>
            <a:ext cx="3611880" cy="731520"/>
          </a:xfrm>
          <a:prstGeom xmlns:a="http://schemas.openxmlformats.org/drawingml/2006/main" prst="roundRect">
            <a:avLst>
              <a:gd name="adj" fmla="val 7500"/>
            </a:avLst>
          </a:prstGeom>
          <a:solidFill xmlns:a="http://schemas.openxmlformats.org/drawingml/2006/main">
            <a:srgbClr val="0E2836"/>
          </a:solidFill>
        </p:spPr>
      </p:sp>
      <p:sp>
        <p:nvSpPr>
          <p:cNvPr id="17" name="Text 15">
            <a:extLst xmlns:a="http://schemas.openxmlformats.org/drawingml/2006/main">
              <a:ext uri="{FF2B5EF4-FFF2-40B4-BE49-F238E27FC236}">
                <a16:creationId xmlns:a16="http://schemas.microsoft.com/office/drawing/2014/main" id="{58636F3C-507E-412C-A162-0C3FE3D77F1E}"/>
              </a:ext>
            </a:extLst>
          </p:cNvPr>
          <p:cNvSpPr>
            <a:spLocks xmlns:a="http://schemas.openxmlformats.org/drawingml/2006/main" noGrp="1"/>
          </p:cNvSpPr>
          <p:nvPr/>
        </p:nvSpPr>
        <p:spPr>
          <a:xfrm xmlns:a="http://schemas.openxmlformats.org/drawingml/2006/main">
            <a:off x="7909560" y="4480560"/>
            <a:ext cx="3383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E7C070"/>
                </a:solidFill>
                <a:latin typeface="Courier New"/>
                <a:ea typeface="Courier New"/>
                <a:cs typeface="Courier New"/>
              </a:rPr>
              <a:t>add_filter( 'xmlrpc_enabled', '__return_false' );</a:t>
            </a:r>
          </a:p>
        </p:txBody>
      </p:sp>
      <p:sp>
        <p:nvSpPr>
          <p:cNvPr id="18" name="Text 16">
            <a:extLst xmlns:a="http://schemas.openxmlformats.org/drawingml/2006/main">
              <a:ext uri="{FF2B5EF4-FFF2-40B4-BE49-F238E27FC236}">
                <a16:creationId xmlns:a16="http://schemas.microsoft.com/office/drawing/2014/main" id="{027868F1-AC44-431D-81DD-298889CD4D80}"/>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9" name="Text 17">
            <a:extLst xmlns:a="http://schemas.openxmlformats.org/drawingml/2006/main">
              <a:ext uri="{FF2B5EF4-FFF2-40B4-BE49-F238E27FC236}">
                <a16:creationId xmlns:a16="http://schemas.microsoft.com/office/drawing/2014/main" id="{ACF7901B-6A67-4FEB-89BF-19FB382E6FB0}"/>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4</a:t>
            </a:r>
          </a:p>
        </p:txBody>
      </p:sp>
    </p:spTree>
    <p:extLst>
      <p:ext uri="{BB962C8B-B14F-4D97-AF65-F5344CB8AC3E}">
        <p14:creationId xmlns:p14="http://schemas.microsoft.com/office/powerpoint/2010/main" val="1757282997"/>
      </p:ext>
    </p:extLst>
  </p:cSld>
</p:sld>
</file>

<file path=ppt/slides/slide5.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EF3699D-3C00-4982-8F05-F14D1C2494B6}"/>
              </a:ext>
            </a:extLst>
          </p:cNvPr>
          <p:cNvSpPr>
            <a:spLocks xmlns:a="http://schemas.openxmlformats.org/drawingml/2006/main" noGrp="1"/>
          </p:cNvSpPr>
          <p:nvPr/>
        </p:nvSpPr>
        <p:spPr>
          <a:xfrm xmlns:a="http://schemas.openxmlformats.org/drawingml/2006/main">
            <a:off x="548640" y="502920"/>
            <a:ext cx="640080" cy="640080"/>
          </a:xfrm>
          <a:prstGeom xmlns:a="http://schemas.openxmlformats.org/drawingml/2006/main" prst="ellipse">
            <a:avLst/>
          </a:prstGeom>
          <a:solidFill xmlns:a="http://schemas.openxmlformats.org/drawingml/2006/main">
            <a:srgbClr val="E0A94B"/>
          </a:solidFill>
        </p:spPr>
      </p:sp>
      <p:sp>
        <p:nvSpPr>
          <p:cNvPr id="3" name="Text 1">
            <a:extLst xmlns:a="http://schemas.openxmlformats.org/drawingml/2006/main">
              <a:ext uri="{FF2B5EF4-FFF2-40B4-BE49-F238E27FC236}">
                <a16:creationId xmlns:a16="http://schemas.microsoft.com/office/drawing/2014/main" id="{29272718-BC69-415E-AE59-B193601021BE}"/>
              </a:ext>
            </a:extLst>
          </p:cNvPr>
          <p:cNvSpPr>
            <a:spLocks xmlns:a="http://schemas.openxmlformats.org/drawingml/2006/main" noGrp="1"/>
          </p:cNvSpPr>
          <p:nvPr/>
        </p:nvSpPr>
        <p:spPr>
          <a:xfrm xmlns:a="http://schemas.openxmlformats.org/drawingml/2006/main">
            <a:off x="548640" y="50292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a:t>
            </a:r>
          </a:p>
        </p:txBody>
      </p:sp>
      <p:sp>
        <p:nvSpPr>
          <p:cNvPr id="4" name="Text 2">
            <a:extLst xmlns:a="http://schemas.openxmlformats.org/drawingml/2006/main">
              <a:ext uri="{FF2B5EF4-FFF2-40B4-BE49-F238E27FC236}">
                <a16:creationId xmlns:a16="http://schemas.microsoft.com/office/drawing/2014/main" id="{27970E17-4AC7-433A-B60F-B20063DD9E7C}"/>
              </a:ext>
            </a:extLst>
          </p:cNvPr>
          <p:cNvSpPr>
            <a:spLocks xmlns:a="http://schemas.openxmlformats.org/drawingml/2006/main" noGrp="1"/>
          </p:cNvSpPr>
          <p:nvPr/>
        </p:nvSpPr>
        <p:spPr>
          <a:xfrm xmlns:a="http://schemas.openxmlformats.org/drawingml/2006/main">
            <a:off x="1325880" y="502920"/>
            <a:ext cx="1005840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What wins when settings overlap?</a:t>
            </a:r>
          </a:p>
        </p:txBody>
      </p:sp>
      <p:sp>
        <p:nvSpPr>
          <p:cNvPr id="5" name="Shape 3">
            <a:extLst xmlns:a="http://schemas.openxmlformats.org/drawingml/2006/main">
              <a:ext uri="{FF2B5EF4-FFF2-40B4-BE49-F238E27FC236}">
                <a16:creationId xmlns:a16="http://schemas.microsoft.com/office/drawing/2014/main" id="{7773B76D-986D-47E6-B4FA-4A5E0AD5236B}"/>
              </a:ext>
            </a:extLst>
          </p:cNvPr>
          <p:cNvSpPr>
            <a:spLocks xmlns:a="http://schemas.openxmlformats.org/drawingml/2006/main" noGrp="1"/>
          </p:cNvSpPr>
          <p:nvPr/>
        </p:nvSpPr>
        <p:spPr>
          <a:xfrm xmlns:a="http://schemas.openxmlformats.org/drawingml/2006/main">
            <a:off x="548640" y="1371600"/>
            <a:ext cx="11064240" cy="9144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50800" dist="25400" dir="5400000" sx="100000" sy="100000" kx="0" ky="0" algn="bl" rotWithShape="0">
              <a:srgbClr val="C7D4DB">
                <a:alpha val="50000"/>
              </a:srgbClr>
            </a:outerShdw>
          </a:effectLst>
        </p:spPr>
      </p:sp>
      <p:sp>
        <p:nvSpPr>
          <p:cNvPr id="6" name="Shape 4">
            <a:extLst xmlns:a="http://schemas.openxmlformats.org/drawingml/2006/main">
              <a:ext uri="{FF2B5EF4-FFF2-40B4-BE49-F238E27FC236}">
                <a16:creationId xmlns:a16="http://schemas.microsoft.com/office/drawing/2014/main" id="{61F07B8F-84AF-4543-8102-E7A559446342}"/>
              </a:ext>
            </a:extLst>
          </p:cNvPr>
          <p:cNvSpPr>
            <a:spLocks xmlns:a="http://schemas.openxmlformats.org/drawingml/2006/main" noGrp="1"/>
          </p:cNvSpPr>
          <p:nvPr/>
        </p:nvSpPr>
        <p:spPr>
          <a:xfrm xmlns:a="http://schemas.openxmlformats.org/drawingml/2006/main">
            <a:off x="822960" y="1600200"/>
            <a:ext cx="457200" cy="457200"/>
          </a:xfrm>
          <a:prstGeom xmlns:a="http://schemas.openxmlformats.org/drawingml/2006/main" prst="ellipse">
            <a:avLst/>
          </a:prstGeom>
          <a:solidFill xmlns:a="http://schemas.openxmlformats.org/drawingml/2006/main">
            <a:srgbClr val="27607A"/>
          </a:solidFill>
        </p:spPr>
      </p:sp>
      <p:sp>
        <p:nvSpPr>
          <p:cNvPr id="7" name="Text 5">
            <a:extLst xmlns:a="http://schemas.openxmlformats.org/drawingml/2006/main">
              <a:ext uri="{FF2B5EF4-FFF2-40B4-BE49-F238E27FC236}">
                <a16:creationId xmlns:a16="http://schemas.microsoft.com/office/drawing/2014/main" id="{1C139F66-2B49-4AFA-98CC-F59EFB98625D}"/>
              </a:ext>
            </a:extLst>
          </p:cNvPr>
          <p:cNvSpPr>
            <a:spLocks xmlns:a="http://schemas.openxmlformats.org/drawingml/2006/main" noGrp="1"/>
          </p:cNvSpPr>
          <p:nvPr/>
        </p:nvSpPr>
        <p:spPr>
          <a:xfrm xmlns:a="http://schemas.openxmlformats.org/drawingml/2006/main">
            <a:off x="822960" y="160020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1</a:t>
            </a:r>
          </a:p>
        </p:txBody>
      </p:sp>
      <p:sp>
        <p:nvSpPr>
          <p:cNvPr id="8" name="Text 6">
            <a:extLst xmlns:a="http://schemas.openxmlformats.org/drawingml/2006/main">
              <a:ext uri="{FF2B5EF4-FFF2-40B4-BE49-F238E27FC236}">
                <a16:creationId xmlns:a16="http://schemas.microsoft.com/office/drawing/2014/main" id="{C1B0CF96-F277-40CE-BE82-FD7ADE57DE36}"/>
              </a:ext>
            </a:extLst>
          </p:cNvPr>
          <p:cNvSpPr>
            <a:spLocks xmlns:a="http://schemas.openxmlformats.org/drawingml/2006/main" noGrp="1"/>
          </p:cNvSpPr>
          <p:nvPr/>
        </p:nvSpPr>
        <p:spPr>
          <a:xfrm xmlns:a="http://schemas.openxmlformats.org/drawingml/2006/main">
            <a:off x="1463040" y="1444752"/>
            <a:ext cx="3291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F2733"/>
                </a:solidFill>
                <a:latin typeface="Cambria"/>
                <a:ea typeface="Cambria"/>
                <a:cs typeface="Cambria"/>
              </a:rPr>
              <a:t>wp-config.php constants</a:t>
            </a:r>
          </a:p>
        </p:txBody>
      </p:sp>
      <p:sp>
        <p:nvSpPr>
          <p:cNvPr id="9" name="Text 7">
            <a:extLst xmlns:a="http://schemas.openxmlformats.org/drawingml/2006/main">
              <a:ext uri="{FF2B5EF4-FFF2-40B4-BE49-F238E27FC236}">
                <a16:creationId xmlns:a16="http://schemas.microsoft.com/office/drawing/2014/main" id="{43BF6C76-F9DC-4328-AEF9-734195C1ADBE}"/>
              </a:ext>
            </a:extLst>
          </p:cNvPr>
          <p:cNvSpPr>
            <a:spLocks xmlns:a="http://schemas.openxmlformats.org/drawingml/2006/main" noGrp="1"/>
          </p:cNvSpPr>
          <p:nvPr/>
        </p:nvSpPr>
        <p:spPr>
          <a:xfrm xmlns:a="http://schemas.openxmlformats.org/drawingml/2006/main">
            <a:off x="4754880" y="1444752"/>
            <a:ext cx="667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4A5A63"/>
                </a:solidFill>
                <a:latin typeface="Calibri"/>
                <a:ea typeface="Calibri"/>
                <a:cs typeface="Calibri"/>
              </a:rPr>
              <a:t>Load first. When core treats one as authoritative, plugin settings cannot override it.</a:t>
            </a:r>
          </a:p>
        </p:txBody>
      </p:sp>
      <p:sp>
        <p:nvSpPr>
          <p:cNvPr id="10" name="Shape 8">
            <a:extLst xmlns:a="http://schemas.openxmlformats.org/drawingml/2006/main">
              <a:ext uri="{FF2B5EF4-FFF2-40B4-BE49-F238E27FC236}">
                <a16:creationId xmlns:a16="http://schemas.microsoft.com/office/drawing/2014/main" id="{5995FB84-30B3-4A12-B0E6-D57D886C8C96}"/>
              </a:ext>
            </a:extLst>
          </p:cNvPr>
          <p:cNvSpPr>
            <a:spLocks xmlns:a="http://schemas.openxmlformats.org/drawingml/2006/main" noGrp="1"/>
          </p:cNvSpPr>
          <p:nvPr/>
        </p:nvSpPr>
        <p:spPr>
          <a:xfrm xmlns:a="http://schemas.openxmlformats.org/drawingml/2006/main">
            <a:off x="548640" y="2414016"/>
            <a:ext cx="11064240" cy="9144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50800" dist="25400" dir="5400000" sx="100000" sy="100000" kx="0" ky="0" algn="bl" rotWithShape="0">
              <a:srgbClr val="C7D4DB">
                <a:alpha val="50000"/>
              </a:srgbClr>
            </a:outerShdw>
          </a:effectLst>
        </p:spPr>
      </p:sp>
      <p:sp>
        <p:nvSpPr>
          <p:cNvPr id="11" name="Shape 9">
            <a:extLst xmlns:a="http://schemas.openxmlformats.org/drawingml/2006/main">
              <a:ext uri="{FF2B5EF4-FFF2-40B4-BE49-F238E27FC236}">
                <a16:creationId xmlns:a16="http://schemas.microsoft.com/office/drawing/2014/main" id="{09F7F160-887A-41EB-B0D3-96F383E3C3C9}"/>
              </a:ext>
            </a:extLst>
          </p:cNvPr>
          <p:cNvSpPr>
            <a:spLocks xmlns:a="http://schemas.openxmlformats.org/drawingml/2006/main" noGrp="1"/>
          </p:cNvSpPr>
          <p:nvPr/>
        </p:nvSpPr>
        <p:spPr>
          <a:xfrm xmlns:a="http://schemas.openxmlformats.org/drawingml/2006/main">
            <a:off x="822960" y="2642616"/>
            <a:ext cx="457200" cy="457200"/>
          </a:xfrm>
          <a:prstGeom xmlns:a="http://schemas.openxmlformats.org/drawingml/2006/main" prst="ellipse">
            <a:avLst/>
          </a:prstGeom>
          <a:solidFill xmlns:a="http://schemas.openxmlformats.org/drawingml/2006/main">
            <a:srgbClr val="27607A"/>
          </a:solidFill>
        </p:spPr>
      </p:sp>
      <p:sp>
        <p:nvSpPr>
          <p:cNvPr id="12" name="Text 10">
            <a:extLst xmlns:a="http://schemas.openxmlformats.org/drawingml/2006/main">
              <a:ext uri="{FF2B5EF4-FFF2-40B4-BE49-F238E27FC236}">
                <a16:creationId xmlns:a16="http://schemas.microsoft.com/office/drawing/2014/main" id="{7C9D2580-F53D-4768-B23D-5384D4CF84B3}"/>
              </a:ext>
            </a:extLst>
          </p:cNvPr>
          <p:cNvSpPr>
            <a:spLocks xmlns:a="http://schemas.openxmlformats.org/drawingml/2006/main" noGrp="1"/>
          </p:cNvSpPr>
          <p:nvPr/>
        </p:nvSpPr>
        <p:spPr>
          <a:xfrm xmlns:a="http://schemas.openxmlformats.org/drawingml/2006/main">
            <a:off x="822960" y="2642616"/>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2</a:t>
            </a:r>
          </a:p>
        </p:txBody>
      </p:sp>
      <p:sp>
        <p:nvSpPr>
          <p:cNvPr id="13" name="Text 11">
            <a:extLst xmlns:a="http://schemas.openxmlformats.org/drawingml/2006/main">
              <a:ext uri="{FF2B5EF4-FFF2-40B4-BE49-F238E27FC236}">
                <a16:creationId xmlns:a16="http://schemas.microsoft.com/office/drawing/2014/main" id="{751C37CC-1CD8-4963-89E6-06F75B842E14}"/>
              </a:ext>
            </a:extLst>
          </p:cNvPr>
          <p:cNvSpPr>
            <a:spLocks xmlns:a="http://schemas.openxmlformats.org/drawingml/2006/main" noGrp="1"/>
          </p:cNvSpPr>
          <p:nvPr/>
        </p:nvSpPr>
        <p:spPr>
          <a:xfrm xmlns:a="http://schemas.openxmlformats.org/drawingml/2006/main">
            <a:off x="1463040" y="2487168"/>
            <a:ext cx="3291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F2733"/>
                </a:solidFill>
                <a:latin typeface="Cambria"/>
                <a:ea typeface="Cambria"/>
                <a:cs typeface="Cambria"/>
              </a:rPr>
              <a:t>Must-use plugins</a:t>
            </a:r>
          </a:p>
        </p:txBody>
      </p:sp>
      <p:sp>
        <p:nvSpPr>
          <p:cNvPr id="14" name="Text 12">
            <a:extLst xmlns:a="http://schemas.openxmlformats.org/drawingml/2006/main">
              <a:ext uri="{FF2B5EF4-FFF2-40B4-BE49-F238E27FC236}">
                <a16:creationId xmlns:a16="http://schemas.microsoft.com/office/drawing/2014/main" id="{4213D4CF-B03D-486D-B6F4-A11F84B1C88A}"/>
              </a:ext>
            </a:extLst>
          </p:cNvPr>
          <p:cNvSpPr>
            <a:spLocks xmlns:a="http://schemas.openxmlformats.org/drawingml/2006/main" noGrp="1"/>
          </p:cNvSpPr>
          <p:nvPr/>
        </p:nvSpPr>
        <p:spPr>
          <a:xfrm xmlns:a="http://schemas.openxmlformats.org/drawingml/2006/main">
            <a:off x="4754880" y="2487168"/>
            <a:ext cx="667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4A5A63"/>
                </a:solidFill>
                <a:latin typeface="Calibri"/>
                <a:ea typeface="Calibri"/>
                <a:cs typeface="Calibri"/>
              </a:rPr>
              <a:t>Load before normal plugins, so their callbacks register first.</a:t>
            </a:r>
          </a:p>
        </p:txBody>
      </p:sp>
      <p:sp>
        <p:nvSpPr>
          <p:cNvPr id="15" name="Shape 13">
            <a:extLst xmlns:a="http://schemas.openxmlformats.org/drawingml/2006/main">
              <a:ext uri="{FF2B5EF4-FFF2-40B4-BE49-F238E27FC236}">
                <a16:creationId xmlns:a16="http://schemas.microsoft.com/office/drawing/2014/main" id="{67D73B65-0DD2-4BA7-9B4D-C120A34E1CF4}"/>
              </a:ext>
            </a:extLst>
          </p:cNvPr>
          <p:cNvSpPr>
            <a:spLocks xmlns:a="http://schemas.openxmlformats.org/drawingml/2006/main" noGrp="1"/>
          </p:cNvSpPr>
          <p:nvPr/>
        </p:nvSpPr>
        <p:spPr>
          <a:xfrm xmlns:a="http://schemas.openxmlformats.org/drawingml/2006/main">
            <a:off x="548640" y="3456432"/>
            <a:ext cx="11064240" cy="9144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50800" dist="25400" dir="5400000" sx="100000" sy="100000" kx="0" ky="0" algn="bl" rotWithShape="0">
              <a:srgbClr val="C7D4DB">
                <a:alpha val="50000"/>
              </a:srgbClr>
            </a:outerShdw>
          </a:effectLst>
        </p:spPr>
      </p:sp>
      <p:sp>
        <p:nvSpPr>
          <p:cNvPr id="16" name="Shape 14">
            <a:extLst xmlns:a="http://schemas.openxmlformats.org/drawingml/2006/main">
              <a:ext uri="{FF2B5EF4-FFF2-40B4-BE49-F238E27FC236}">
                <a16:creationId xmlns:a16="http://schemas.microsoft.com/office/drawing/2014/main" id="{77880366-08A5-49D3-A728-6F1EE6E7FB6A}"/>
              </a:ext>
            </a:extLst>
          </p:cNvPr>
          <p:cNvSpPr>
            <a:spLocks xmlns:a="http://schemas.openxmlformats.org/drawingml/2006/main" noGrp="1"/>
          </p:cNvSpPr>
          <p:nvPr/>
        </p:nvSpPr>
        <p:spPr>
          <a:xfrm xmlns:a="http://schemas.openxmlformats.org/drawingml/2006/main">
            <a:off x="822960" y="3685032"/>
            <a:ext cx="457200" cy="457200"/>
          </a:xfrm>
          <a:prstGeom xmlns:a="http://schemas.openxmlformats.org/drawingml/2006/main" prst="ellipse">
            <a:avLst/>
          </a:prstGeom>
          <a:solidFill xmlns:a="http://schemas.openxmlformats.org/drawingml/2006/main">
            <a:srgbClr val="27607A"/>
          </a:solidFill>
        </p:spPr>
      </p:sp>
      <p:sp>
        <p:nvSpPr>
          <p:cNvPr id="17" name="Text 15">
            <a:extLst xmlns:a="http://schemas.openxmlformats.org/drawingml/2006/main">
              <a:ext uri="{FF2B5EF4-FFF2-40B4-BE49-F238E27FC236}">
                <a16:creationId xmlns:a16="http://schemas.microsoft.com/office/drawing/2014/main" id="{7C2FBD4D-CCA9-41E6-BF18-D49F96EDD36A}"/>
              </a:ext>
            </a:extLst>
          </p:cNvPr>
          <p:cNvSpPr>
            <a:spLocks xmlns:a="http://schemas.openxmlformats.org/drawingml/2006/main" noGrp="1"/>
          </p:cNvSpPr>
          <p:nvPr/>
        </p:nvSpPr>
        <p:spPr>
          <a:xfrm xmlns:a="http://schemas.openxmlformats.org/drawingml/2006/main">
            <a:off x="822960" y="3685032"/>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3</a:t>
            </a:r>
          </a:p>
        </p:txBody>
      </p:sp>
      <p:sp>
        <p:nvSpPr>
          <p:cNvPr id="18" name="Text 16">
            <a:extLst xmlns:a="http://schemas.openxmlformats.org/drawingml/2006/main">
              <a:ext uri="{FF2B5EF4-FFF2-40B4-BE49-F238E27FC236}">
                <a16:creationId xmlns:a16="http://schemas.microsoft.com/office/drawing/2014/main" id="{09BD3A22-4F82-4ED5-886F-E05A055A84B2}"/>
              </a:ext>
            </a:extLst>
          </p:cNvPr>
          <p:cNvSpPr>
            <a:spLocks xmlns:a="http://schemas.openxmlformats.org/drawingml/2006/main" noGrp="1"/>
          </p:cNvSpPr>
          <p:nvPr/>
        </p:nvSpPr>
        <p:spPr>
          <a:xfrm xmlns:a="http://schemas.openxmlformats.org/drawingml/2006/main">
            <a:off x="1463040" y="3529584"/>
            <a:ext cx="3291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F2733"/>
                </a:solidFill>
                <a:latin typeface="Cambria"/>
                <a:ea typeface="Cambria"/>
                <a:cs typeface="Cambria"/>
              </a:rPr>
              <a:t>Normal plugins</a:t>
            </a:r>
          </a:p>
        </p:txBody>
      </p:sp>
      <p:sp>
        <p:nvSpPr>
          <p:cNvPr id="19" name="Text 17">
            <a:extLst xmlns:a="http://schemas.openxmlformats.org/drawingml/2006/main">
              <a:ext uri="{FF2B5EF4-FFF2-40B4-BE49-F238E27FC236}">
                <a16:creationId xmlns:a16="http://schemas.microsoft.com/office/drawing/2014/main" id="{2D0308CF-9B64-467D-A004-C49A658C4D44}"/>
              </a:ext>
            </a:extLst>
          </p:cNvPr>
          <p:cNvSpPr>
            <a:spLocks xmlns:a="http://schemas.openxmlformats.org/drawingml/2006/main" noGrp="1"/>
          </p:cNvSpPr>
          <p:nvPr/>
        </p:nvSpPr>
        <p:spPr>
          <a:xfrm xmlns:a="http://schemas.openxmlformats.org/drawingml/2006/main">
            <a:off x="4754880" y="3529584"/>
            <a:ext cx="667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4A5A63"/>
                </a:solidFill>
                <a:latin typeface="Calibri"/>
                <a:ea typeface="Calibri"/>
                <a:cs typeface="Calibri"/>
              </a:rPr>
              <a:t>Load in active_plugins order — PMP before BBD on this demo site.</a:t>
            </a:r>
          </a:p>
        </p:txBody>
      </p:sp>
      <p:sp>
        <p:nvSpPr>
          <p:cNvPr id="20" name="Shape 18">
            <a:extLst xmlns:a="http://schemas.openxmlformats.org/drawingml/2006/main">
              <a:ext uri="{FF2B5EF4-FFF2-40B4-BE49-F238E27FC236}">
                <a16:creationId xmlns:a16="http://schemas.microsoft.com/office/drawing/2014/main" id="{C95E9FE0-E1D2-4A65-BEEE-8C05D76512CE}"/>
              </a:ext>
            </a:extLst>
          </p:cNvPr>
          <p:cNvSpPr>
            <a:spLocks xmlns:a="http://schemas.openxmlformats.org/drawingml/2006/main" noGrp="1"/>
          </p:cNvSpPr>
          <p:nvPr/>
        </p:nvSpPr>
        <p:spPr>
          <a:xfrm xmlns:a="http://schemas.openxmlformats.org/drawingml/2006/main">
            <a:off x="548640" y="4498848"/>
            <a:ext cx="11064240" cy="9144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50800" dist="25400" dir="5400000" sx="100000" sy="100000" kx="0" ky="0" algn="bl" rotWithShape="0">
              <a:srgbClr val="C7D4DB">
                <a:alpha val="50000"/>
              </a:srgbClr>
            </a:outerShdw>
          </a:effectLst>
        </p:spPr>
      </p:sp>
      <p:sp>
        <p:nvSpPr>
          <p:cNvPr id="21" name="Shape 19">
            <a:extLst xmlns:a="http://schemas.openxmlformats.org/drawingml/2006/main">
              <a:ext uri="{FF2B5EF4-FFF2-40B4-BE49-F238E27FC236}">
                <a16:creationId xmlns:a16="http://schemas.microsoft.com/office/drawing/2014/main" id="{49ED081E-30DE-4AD4-87B6-F3933CD585A0}"/>
              </a:ext>
            </a:extLst>
          </p:cNvPr>
          <p:cNvSpPr>
            <a:spLocks xmlns:a="http://schemas.openxmlformats.org/drawingml/2006/main" noGrp="1"/>
          </p:cNvSpPr>
          <p:nvPr/>
        </p:nvSpPr>
        <p:spPr>
          <a:xfrm xmlns:a="http://schemas.openxmlformats.org/drawingml/2006/main">
            <a:off x="822960" y="4727448"/>
            <a:ext cx="457200" cy="457200"/>
          </a:xfrm>
          <a:prstGeom xmlns:a="http://schemas.openxmlformats.org/drawingml/2006/main" prst="ellipse">
            <a:avLst/>
          </a:prstGeom>
          <a:solidFill xmlns:a="http://schemas.openxmlformats.org/drawingml/2006/main">
            <a:srgbClr val="27607A"/>
          </a:solidFill>
        </p:spPr>
      </p:sp>
      <p:sp>
        <p:nvSpPr>
          <p:cNvPr id="22" name="Text 20">
            <a:extLst xmlns:a="http://schemas.openxmlformats.org/drawingml/2006/main">
              <a:ext uri="{FF2B5EF4-FFF2-40B4-BE49-F238E27FC236}">
                <a16:creationId xmlns:a16="http://schemas.microsoft.com/office/drawing/2014/main" id="{E29CB19E-7AA2-4E90-AA64-5D4A50D03E52}"/>
              </a:ext>
            </a:extLst>
          </p:cNvPr>
          <p:cNvSpPr>
            <a:spLocks xmlns:a="http://schemas.openxmlformats.org/drawingml/2006/main" noGrp="1"/>
          </p:cNvSpPr>
          <p:nvPr/>
        </p:nvSpPr>
        <p:spPr>
          <a:xfrm xmlns:a="http://schemas.openxmlformats.org/drawingml/2006/main">
            <a:off x="822960" y="472744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4</a:t>
            </a:r>
          </a:p>
        </p:txBody>
      </p:sp>
      <p:sp>
        <p:nvSpPr>
          <p:cNvPr id="23" name="Text 21">
            <a:extLst xmlns:a="http://schemas.openxmlformats.org/drawingml/2006/main">
              <a:ext uri="{FF2B5EF4-FFF2-40B4-BE49-F238E27FC236}">
                <a16:creationId xmlns:a16="http://schemas.microsoft.com/office/drawing/2014/main" id="{6FB2B084-DF69-4F22-BC26-6A1C7B9EAA74}"/>
              </a:ext>
            </a:extLst>
          </p:cNvPr>
          <p:cNvSpPr>
            <a:spLocks xmlns:a="http://schemas.openxmlformats.org/drawingml/2006/main" noGrp="1"/>
          </p:cNvSpPr>
          <p:nvPr/>
        </p:nvSpPr>
        <p:spPr>
          <a:xfrm xmlns:a="http://schemas.openxmlformats.org/drawingml/2006/main">
            <a:off x="1463040" y="4572000"/>
            <a:ext cx="3291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F2733"/>
                </a:solidFill>
                <a:latin typeface="Cambria"/>
                <a:ea typeface="Cambria"/>
                <a:cs typeface="Cambria"/>
              </a:rPr>
              <a:t>Hook priority</a:t>
            </a:r>
          </a:p>
        </p:txBody>
      </p:sp>
      <p:sp>
        <p:nvSpPr>
          <p:cNvPr id="24" name="Text 22">
            <a:extLst xmlns:a="http://schemas.openxmlformats.org/drawingml/2006/main">
              <a:ext uri="{FF2B5EF4-FFF2-40B4-BE49-F238E27FC236}">
                <a16:creationId xmlns:a16="http://schemas.microsoft.com/office/drawing/2014/main" id="{760B6D70-C486-47BA-8111-CCE2D621335B}"/>
              </a:ext>
            </a:extLst>
          </p:cNvPr>
          <p:cNvSpPr>
            <a:spLocks xmlns:a="http://schemas.openxmlformats.org/drawingml/2006/main" noGrp="1"/>
          </p:cNvSpPr>
          <p:nvPr/>
        </p:nvSpPr>
        <p:spPr>
          <a:xfrm xmlns:a="http://schemas.openxmlformats.org/drawingml/2006/main">
            <a:off x="4754880" y="4572000"/>
            <a:ext cx="667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4A5A63"/>
                </a:solidFill>
                <a:latin typeface="Calibri"/>
                <a:ea typeface="Calibri"/>
                <a:cs typeface="Calibri"/>
              </a:rPr>
              <a:t>Lower runs earlier; higher runs later. Ties keep registration order.</a:t>
            </a:r>
          </a:p>
        </p:txBody>
      </p:sp>
      <p:sp>
        <p:nvSpPr>
          <p:cNvPr id="25" name="Shape 23">
            <a:extLst xmlns:a="http://schemas.openxmlformats.org/drawingml/2006/main">
              <a:ext uri="{FF2B5EF4-FFF2-40B4-BE49-F238E27FC236}">
                <a16:creationId xmlns:a16="http://schemas.microsoft.com/office/drawing/2014/main" id="{33CAA58D-A27E-4EAB-AB08-E2945DDE1417}"/>
              </a:ext>
            </a:extLst>
          </p:cNvPr>
          <p:cNvSpPr>
            <a:spLocks xmlns:a="http://schemas.openxmlformats.org/drawingml/2006/main" noGrp="1"/>
          </p:cNvSpPr>
          <p:nvPr/>
        </p:nvSpPr>
        <p:spPr>
          <a:xfrm xmlns:a="http://schemas.openxmlformats.org/drawingml/2006/main">
            <a:off x="548640" y="5577840"/>
            <a:ext cx="11064240" cy="658368"/>
          </a:xfrm>
          <a:prstGeom xmlns:a="http://schemas.openxmlformats.org/drawingml/2006/main" prst="roundRect">
            <a:avLst>
              <a:gd name="adj" fmla="val 9722"/>
            </a:avLst>
          </a:prstGeom>
          <a:solidFill xmlns:a="http://schemas.openxmlformats.org/drawingml/2006/main">
            <a:srgbClr val="0E2836"/>
          </a:solidFill>
          <a:ln xmlns:a="http://schemas.openxmlformats.org/drawingml/2006/main" w="12700">
            <a:solidFill>
              <a:srgbClr val="27607A"/>
            </a:solidFill>
            <a:prstDash val="solid"/>
          </a:ln>
        </p:spPr>
      </p:sp>
      <p:sp>
        <p:nvSpPr>
          <p:cNvPr id="26" name="Text 24">
            <a:extLst xmlns:a="http://schemas.openxmlformats.org/drawingml/2006/main">
              <a:ext uri="{FF2B5EF4-FFF2-40B4-BE49-F238E27FC236}">
                <a16:creationId xmlns:a16="http://schemas.microsoft.com/office/drawing/2014/main" id="{210A3E5A-B5EA-44C9-8F14-05B62392F8A8}"/>
              </a:ext>
            </a:extLst>
          </p:cNvPr>
          <p:cNvSpPr>
            <a:spLocks xmlns:a="http://schemas.openxmlformats.org/drawingml/2006/main" noGrp="1"/>
          </p:cNvSpPr>
          <p:nvPr/>
        </p:nvSpPr>
        <p:spPr>
          <a:xfrm xmlns:a="http://schemas.openxmlformats.org/drawingml/2006/main">
            <a:off x="777240" y="5577840"/>
            <a:ext cx="10607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E0A94B"/>
                </a:solidFill>
                <a:latin typeface="Courier New"/>
                <a:ea typeface="Courier New"/>
                <a:cs typeface="Courier New"/>
              </a:rPr>
              <a:t>effective behavior = hard constants + every callback, in execution order</a:t>
            </a:r>
          </a:p>
        </p:txBody>
      </p:sp>
      <p:sp>
        <p:nvSpPr>
          <p:cNvPr id="27" name="Text 25">
            <a:extLst xmlns:a="http://schemas.openxmlformats.org/drawingml/2006/main">
              <a:ext uri="{FF2B5EF4-FFF2-40B4-BE49-F238E27FC236}">
                <a16:creationId xmlns:a16="http://schemas.microsoft.com/office/drawing/2014/main" id="{4B7782DF-93A0-41A5-984D-F624C09CA739}"/>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28" name="Text 26">
            <a:extLst xmlns:a="http://schemas.openxmlformats.org/drawingml/2006/main">
              <a:ext uri="{FF2B5EF4-FFF2-40B4-BE49-F238E27FC236}">
                <a16:creationId xmlns:a16="http://schemas.microsoft.com/office/drawing/2014/main" id="{7C490D8B-D3EB-46A1-9BA1-EB6A12BF6CDB}"/>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5</a:t>
            </a:r>
          </a:p>
        </p:txBody>
      </p:sp>
    </p:spTree>
    <p:extLst>
      <p:ext uri="{BB962C8B-B14F-4D97-AF65-F5344CB8AC3E}">
        <p14:creationId xmlns:p14="http://schemas.microsoft.com/office/powerpoint/2010/main" val="2077699739"/>
      </p:ext>
    </p:extLst>
  </p:cSld>
</p:sld>
</file>

<file path=ppt/slides/slide6.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88E8EA8-8D04-4282-BC35-93E88C3537D3}"/>
              </a:ext>
            </a:extLst>
          </p:cNvPr>
          <p:cNvSpPr>
            <a:spLocks xmlns:a="http://schemas.openxmlformats.org/drawingml/2006/main" noGrp="1"/>
          </p:cNvSpPr>
          <p:nvPr/>
        </p:nvSpPr>
        <p:spPr>
          <a:xfrm xmlns:a="http://schemas.openxmlformats.org/drawingml/2006/main">
            <a:off x="548640" y="50292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0F2733"/>
                </a:solidFill>
                <a:latin typeface="Cambria"/>
                <a:ea typeface="Cambria"/>
                <a:cs typeface="Cambria"/>
              </a:rPr>
              <a:t>Six categories of defaults</a:t>
            </a:r>
          </a:p>
        </p:txBody>
      </p:sp>
      <p:sp>
        <p:nvSpPr>
          <p:cNvPr id="3" name="Shape 1">
            <a:extLst xmlns:a="http://schemas.openxmlformats.org/drawingml/2006/main">
              <a:ext uri="{FF2B5EF4-FFF2-40B4-BE49-F238E27FC236}">
                <a16:creationId xmlns:a16="http://schemas.microsoft.com/office/drawing/2014/main" id="{BEA72D20-3708-46A0-AF3A-EDD767F7D594}"/>
              </a:ext>
            </a:extLst>
          </p:cNvPr>
          <p:cNvSpPr>
            <a:spLocks xmlns:a="http://schemas.openxmlformats.org/drawingml/2006/main" noGrp="1"/>
          </p:cNvSpPr>
          <p:nvPr/>
        </p:nvSpPr>
        <p:spPr>
          <a:xfrm xmlns:a="http://schemas.openxmlformats.org/drawingml/2006/main">
            <a:off x="548640" y="1554480"/>
            <a:ext cx="3502152" cy="196596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4" name="Shape 2">
            <a:extLst xmlns:a="http://schemas.openxmlformats.org/drawingml/2006/main">
              <a:ext uri="{FF2B5EF4-FFF2-40B4-BE49-F238E27FC236}">
                <a16:creationId xmlns:a16="http://schemas.microsoft.com/office/drawing/2014/main" id="{A79F8561-27ED-4832-BC82-9C9C0A40565D}"/>
              </a:ext>
            </a:extLst>
          </p:cNvPr>
          <p:cNvSpPr>
            <a:spLocks xmlns:a="http://schemas.openxmlformats.org/drawingml/2006/main" noGrp="1"/>
          </p:cNvSpPr>
          <p:nvPr/>
        </p:nvSpPr>
        <p:spPr>
          <a:xfrm xmlns:a="http://schemas.openxmlformats.org/drawingml/2006/main">
            <a:off x="868680" y="1874520"/>
            <a:ext cx="640080" cy="640080"/>
          </a:xfrm>
          <a:prstGeom xmlns:a="http://schemas.openxmlformats.org/drawingml/2006/main" prst="ellipse">
            <a:avLst/>
          </a:prstGeom>
          <a:solidFill xmlns:a="http://schemas.openxmlformats.org/drawingml/2006/main">
            <a:srgbClr val="E0A94B"/>
          </a:solidFill>
        </p:spPr>
      </p:sp>
      <p:sp>
        <p:nvSpPr>
          <p:cNvPr id="5" name="Text 3">
            <a:extLst xmlns:a="http://schemas.openxmlformats.org/drawingml/2006/main">
              <a:ext uri="{FF2B5EF4-FFF2-40B4-BE49-F238E27FC236}">
                <a16:creationId xmlns:a16="http://schemas.microsoft.com/office/drawing/2014/main" id="{1D500169-8E11-48FE-90AC-70EF2CF8D451}"/>
              </a:ext>
            </a:extLst>
          </p:cNvPr>
          <p:cNvSpPr>
            <a:spLocks xmlns:a="http://schemas.openxmlformats.org/drawingml/2006/main" noGrp="1"/>
          </p:cNvSpPr>
          <p:nvPr/>
        </p:nvSpPr>
        <p:spPr>
          <a:xfrm xmlns:a="http://schemas.openxmlformats.org/drawingml/2006/main">
            <a:off x="868680" y="187452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1</a:t>
            </a:r>
          </a:p>
        </p:txBody>
      </p:sp>
      <p:sp>
        <p:nvSpPr>
          <p:cNvPr id="6" name="Text 4">
            <a:extLst xmlns:a="http://schemas.openxmlformats.org/drawingml/2006/main">
              <a:ext uri="{FF2B5EF4-FFF2-40B4-BE49-F238E27FC236}">
                <a16:creationId xmlns:a16="http://schemas.microsoft.com/office/drawing/2014/main" id="{CFE7ABB4-E3D6-4F49-B9E0-7B28D430CC88}"/>
              </a:ext>
            </a:extLst>
          </p:cNvPr>
          <p:cNvSpPr>
            <a:spLocks xmlns:a="http://schemas.openxmlformats.org/drawingml/2006/main" noGrp="1"/>
          </p:cNvSpPr>
          <p:nvPr/>
        </p:nvSpPr>
        <p:spPr>
          <a:xfrm xmlns:a="http://schemas.openxmlformats.org/drawingml/2006/main">
            <a:off x="868680" y="2606040"/>
            <a:ext cx="286207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F2733"/>
                </a:solidFill>
                <a:latin typeface="Cambria"/>
                <a:ea typeface="Cambria"/>
                <a:cs typeface="Cambria"/>
              </a:rPr>
              <a:t>Security</a:t>
            </a:r>
          </a:p>
        </p:txBody>
      </p:sp>
      <p:sp>
        <p:nvSpPr>
          <p:cNvPr id="7" name="Text 5">
            <a:extLst xmlns:a="http://schemas.openxmlformats.org/drawingml/2006/main">
              <a:ext uri="{FF2B5EF4-FFF2-40B4-BE49-F238E27FC236}">
                <a16:creationId xmlns:a16="http://schemas.microsoft.com/office/drawing/2014/main" id="{1600EB36-BFA2-4FC0-A6E7-0E5996396236}"/>
              </a:ext>
            </a:extLst>
          </p:cNvPr>
          <p:cNvSpPr>
            <a:spLocks xmlns:a="http://schemas.openxmlformats.org/drawingml/2006/main" noGrp="1"/>
          </p:cNvSpPr>
          <p:nvPr/>
        </p:nvSpPr>
        <p:spPr>
          <a:xfrm xmlns:a="http://schemas.openxmlformats.org/drawingml/2006/main">
            <a:off x="868680" y="3017520"/>
            <a:ext cx="28620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A5A63"/>
                </a:solidFill>
                <a:latin typeface="Calibri"/>
                <a:ea typeface="Calibri"/>
                <a:cs typeface="Calibri"/>
              </a:rPr>
              <a:t>Shrink the attack surface</a:t>
            </a:r>
          </a:p>
        </p:txBody>
      </p:sp>
      <p:sp>
        <p:nvSpPr>
          <p:cNvPr id="8" name="Shape 6">
            <a:extLst xmlns:a="http://schemas.openxmlformats.org/drawingml/2006/main">
              <a:ext uri="{FF2B5EF4-FFF2-40B4-BE49-F238E27FC236}">
                <a16:creationId xmlns:a16="http://schemas.microsoft.com/office/drawing/2014/main" id="{DF1E14A6-F983-4C36-8C63-52D7E066FDF3}"/>
              </a:ext>
            </a:extLst>
          </p:cNvPr>
          <p:cNvSpPr>
            <a:spLocks xmlns:a="http://schemas.openxmlformats.org/drawingml/2006/main" noGrp="1"/>
          </p:cNvSpPr>
          <p:nvPr/>
        </p:nvSpPr>
        <p:spPr>
          <a:xfrm xmlns:a="http://schemas.openxmlformats.org/drawingml/2006/main">
            <a:off x="4507992" y="1554480"/>
            <a:ext cx="3502152" cy="196596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9" name="Shape 7">
            <a:extLst xmlns:a="http://schemas.openxmlformats.org/drawingml/2006/main">
              <a:ext uri="{FF2B5EF4-FFF2-40B4-BE49-F238E27FC236}">
                <a16:creationId xmlns:a16="http://schemas.microsoft.com/office/drawing/2014/main" id="{1C6D586F-75E6-4D6D-906A-77D5663CE8FC}"/>
              </a:ext>
            </a:extLst>
          </p:cNvPr>
          <p:cNvSpPr>
            <a:spLocks xmlns:a="http://schemas.openxmlformats.org/drawingml/2006/main" noGrp="1"/>
          </p:cNvSpPr>
          <p:nvPr/>
        </p:nvSpPr>
        <p:spPr>
          <a:xfrm xmlns:a="http://schemas.openxmlformats.org/drawingml/2006/main">
            <a:off x="4828032" y="1874520"/>
            <a:ext cx="640080" cy="640080"/>
          </a:xfrm>
          <a:prstGeom xmlns:a="http://schemas.openxmlformats.org/drawingml/2006/main" prst="ellipse">
            <a:avLst/>
          </a:prstGeom>
          <a:solidFill xmlns:a="http://schemas.openxmlformats.org/drawingml/2006/main">
            <a:srgbClr val="E0A94B"/>
          </a:solidFill>
        </p:spPr>
      </p:sp>
      <p:sp>
        <p:nvSpPr>
          <p:cNvPr id="10" name="Text 8">
            <a:extLst xmlns:a="http://schemas.openxmlformats.org/drawingml/2006/main">
              <a:ext uri="{FF2B5EF4-FFF2-40B4-BE49-F238E27FC236}">
                <a16:creationId xmlns:a16="http://schemas.microsoft.com/office/drawing/2014/main" id="{FE7A3A2A-D2C3-4D83-B795-29AF41F29F75}"/>
              </a:ext>
            </a:extLst>
          </p:cNvPr>
          <p:cNvSpPr>
            <a:spLocks xmlns:a="http://schemas.openxmlformats.org/drawingml/2006/main" noGrp="1"/>
          </p:cNvSpPr>
          <p:nvPr/>
        </p:nvSpPr>
        <p:spPr>
          <a:xfrm xmlns:a="http://schemas.openxmlformats.org/drawingml/2006/main">
            <a:off x="4828032" y="187452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2</a:t>
            </a:r>
          </a:p>
        </p:txBody>
      </p:sp>
      <p:sp>
        <p:nvSpPr>
          <p:cNvPr id="11" name="Text 9">
            <a:extLst xmlns:a="http://schemas.openxmlformats.org/drawingml/2006/main">
              <a:ext uri="{FF2B5EF4-FFF2-40B4-BE49-F238E27FC236}">
                <a16:creationId xmlns:a16="http://schemas.microsoft.com/office/drawing/2014/main" id="{94B7A794-9F60-46E3-8DA1-39BE52E94A5E}"/>
              </a:ext>
            </a:extLst>
          </p:cNvPr>
          <p:cNvSpPr>
            <a:spLocks xmlns:a="http://schemas.openxmlformats.org/drawingml/2006/main" noGrp="1"/>
          </p:cNvSpPr>
          <p:nvPr/>
        </p:nvSpPr>
        <p:spPr>
          <a:xfrm xmlns:a="http://schemas.openxmlformats.org/drawingml/2006/main">
            <a:off x="4828032" y="2606040"/>
            <a:ext cx="286207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F2733"/>
                </a:solidFill>
                <a:latin typeface="Cambria"/>
                <a:ea typeface="Cambria"/>
                <a:cs typeface="Cambria"/>
              </a:rPr>
              <a:t>Content</a:t>
            </a:r>
          </a:p>
        </p:txBody>
      </p:sp>
      <p:sp>
        <p:nvSpPr>
          <p:cNvPr id="12" name="Text 10">
            <a:extLst xmlns:a="http://schemas.openxmlformats.org/drawingml/2006/main">
              <a:ext uri="{FF2B5EF4-FFF2-40B4-BE49-F238E27FC236}">
                <a16:creationId xmlns:a16="http://schemas.microsoft.com/office/drawing/2014/main" id="{33D0B804-032B-4F3C-A811-A38E9BFE8083}"/>
              </a:ext>
            </a:extLst>
          </p:cNvPr>
          <p:cNvSpPr>
            <a:spLocks xmlns:a="http://schemas.openxmlformats.org/drawingml/2006/main" noGrp="1"/>
          </p:cNvSpPr>
          <p:nvPr/>
        </p:nvSpPr>
        <p:spPr>
          <a:xfrm xmlns:a="http://schemas.openxmlformats.org/drawingml/2006/main">
            <a:off x="4828032" y="3017520"/>
            <a:ext cx="28620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A5A63"/>
                </a:solidFill>
                <a:latin typeface="Calibri"/>
                <a:ea typeface="Calibri"/>
                <a:cs typeface="Calibri"/>
              </a:rPr>
              <a:t>Close spam channels &amp; info leaks</a:t>
            </a:r>
          </a:p>
        </p:txBody>
      </p:sp>
      <p:sp>
        <p:nvSpPr>
          <p:cNvPr id="13" name="Shape 11">
            <a:extLst xmlns:a="http://schemas.openxmlformats.org/drawingml/2006/main">
              <a:ext uri="{FF2B5EF4-FFF2-40B4-BE49-F238E27FC236}">
                <a16:creationId xmlns:a16="http://schemas.microsoft.com/office/drawing/2014/main" id="{583DA055-423F-4AD2-AD5E-6AFA54DC3162}"/>
              </a:ext>
            </a:extLst>
          </p:cNvPr>
          <p:cNvSpPr>
            <a:spLocks xmlns:a="http://schemas.openxmlformats.org/drawingml/2006/main" noGrp="1"/>
          </p:cNvSpPr>
          <p:nvPr/>
        </p:nvSpPr>
        <p:spPr>
          <a:xfrm xmlns:a="http://schemas.openxmlformats.org/drawingml/2006/main">
            <a:off x="8467344" y="1554480"/>
            <a:ext cx="3502152" cy="196596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4" name="Shape 12">
            <a:extLst xmlns:a="http://schemas.openxmlformats.org/drawingml/2006/main">
              <a:ext uri="{FF2B5EF4-FFF2-40B4-BE49-F238E27FC236}">
                <a16:creationId xmlns:a16="http://schemas.microsoft.com/office/drawing/2014/main" id="{4E34392C-458C-48C7-8388-2EBA14F4827C}"/>
              </a:ext>
            </a:extLst>
          </p:cNvPr>
          <p:cNvSpPr>
            <a:spLocks xmlns:a="http://schemas.openxmlformats.org/drawingml/2006/main" noGrp="1"/>
          </p:cNvSpPr>
          <p:nvPr/>
        </p:nvSpPr>
        <p:spPr>
          <a:xfrm xmlns:a="http://schemas.openxmlformats.org/drawingml/2006/main">
            <a:off x="8787384" y="1874520"/>
            <a:ext cx="640080" cy="640080"/>
          </a:xfrm>
          <a:prstGeom xmlns:a="http://schemas.openxmlformats.org/drawingml/2006/main" prst="ellipse">
            <a:avLst/>
          </a:prstGeom>
          <a:solidFill xmlns:a="http://schemas.openxmlformats.org/drawingml/2006/main">
            <a:srgbClr val="E0A94B"/>
          </a:solidFill>
        </p:spPr>
      </p:sp>
      <p:sp>
        <p:nvSpPr>
          <p:cNvPr id="15" name="Text 13">
            <a:extLst xmlns:a="http://schemas.openxmlformats.org/drawingml/2006/main">
              <a:ext uri="{FF2B5EF4-FFF2-40B4-BE49-F238E27FC236}">
                <a16:creationId xmlns:a16="http://schemas.microsoft.com/office/drawing/2014/main" id="{FE5FDE26-3EE7-4408-BAE0-25EF9EFCE3FA}"/>
              </a:ext>
            </a:extLst>
          </p:cNvPr>
          <p:cNvSpPr>
            <a:spLocks xmlns:a="http://schemas.openxmlformats.org/drawingml/2006/main" noGrp="1"/>
          </p:cNvSpPr>
          <p:nvPr/>
        </p:nvSpPr>
        <p:spPr>
          <a:xfrm xmlns:a="http://schemas.openxmlformats.org/drawingml/2006/main">
            <a:off x="8787384" y="187452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3</a:t>
            </a:r>
          </a:p>
        </p:txBody>
      </p:sp>
      <p:sp>
        <p:nvSpPr>
          <p:cNvPr id="16" name="Text 14">
            <a:extLst xmlns:a="http://schemas.openxmlformats.org/drawingml/2006/main">
              <a:ext uri="{FF2B5EF4-FFF2-40B4-BE49-F238E27FC236}">
                <a16:creationId xmlns:a16="http://schemas.microsoft.com/office/drawing/2014/main" id="{00C4B795-DA55-40B0-A203-2D941695F49F}"/>
              </a:ext>
            </a:extLst>
          </p:cNvPr>
          <p:cNvSpPr>
            <a:spLocks xmlns:a="http://schemas.openxmlformats.org/drawingml/2006/main" noGrp="1"/>
          </p:cNvSpPr>
          <p:nvPr/>
        </p:nvSpPr>
        <p:spPr>
          <a:xfrm xmlns:a="http://schemas.openxmlformats.org/drawingml/2006/main">
            <a:off x="8787384" y="2606040"/>
            <a:ext cx="286207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F2733"/>
                </a:solidFill>
                <a:latin typeface="Cambria"/>
                <a:ea typeface="Cambria"/>
                <a:cs typeface="Cambria"/>
              </a:rPr>
              <a:t>Admin UX</a:t>
            </a:r>
          </a:p>
        </p:txBody>
      </p:sp>
      <p:sp>
        <p:nvSpPr>
          <p:cNvPr id="17" name="Text 15">
            <a:extLst xmlns:a="http://schemas.openxmlformats.org/drawingml/2006/main">
              <a:ext uri="{FF2B5EF4-FFF2-40B4-BE49-F238E27FC236}">
                <a16:creationId xmlns:a16="http://schemas.microsoft.com/office/drawing/2014/main" id="{4DC32C18-E829-46C5-AF82-94462D65CAC6}"/>
              </a:ext>
            </a:extLst>
          </p:cNvPr>
          <p:cNvSpPr>
            <a:spLocks xmlns:a="http://schemas.openxmlformats.org/drawingml/2006/main" noGrp="1"/>
          </p:cNvSpPr>
          <p:nvPr/>
        </p:nvSpPr>
        <p:spPr>
          <a:xfrm xmlns:a="http://schemas.openxmlformats.org/drawingml/2006/main">
            <a:off x="8787384" y="3017520"/>
            <a:ext cx="28620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A5A63"/>
                </a:solidFill>
                <a:latin typeface="Calibri"/>
                <a:ea typeface="Calibri"/>
                <a:cs typeface="Calibri"/>
              </a:rPr>
              <a:t>A calmer, faster dashboard</a:t>
            </a:r>
          </a:p>
        </p:txBody>
      </p:sp>
      <p:sp>
        <p:nvSpPr>
          <p:cNvPr id="18" name="Shape 16">
            <a:extLst xmlns:a="http://schemas.openxmlformats.org/drawingml/2006/main">
              <a:ext uri="{FF2B5EF4-FFF2-40B4-BE49-F238E27FC236}">
                <a16:creationId xmlns:a16="http://schemas.microsoft.com/office/drawing/2014/main" id="{1A90C253-56D1-4990-A40C-62BD2C5759AE}"/>
              </a:ext>
            </a:extLst>
          </p:cNvPr>
          <p:cNvSpPr>
            <a:spLocks xmlns:a="http://schemas.openxmlformats.org/drawingml/2006/main" noGrp="1"/>
          </p:cNvSpPr>
          <p:nvPr/>
        </p:nvSpPr>
        <p:spPr>
          <a:xfrm xmlns:a="http://schemas.openxmlformats.org/drawingml/2006/main">
            <a:off x="548640" y="3977640"/>
            <a:ext cx="3502152" cy="196596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9" name="Shape 17">
            <a:extLst xmlns:a="http://schemas.openxmlformats.org/drawingml/2006/main">
              <a:ext uri="{FF2B5EF4-FFF2-40B4-BE49-F238E27FC236}">
                <a16:creationId xmlns:a16="http://schemas.microsoft.com/office/drawing/2014/main" id="{49D40184-43FD-4C07-8302-9B4BA898FCFB}"/>
              </a:ext>
            </a:extLst>
          </p:cNvPr>
          <p:cNvSpPr>
            <a:spLocks xmlns:a="http://schemas.openxmlformats.org/drawingml/2006/main" noGrp="1"/>
          </p:cNvSpPr>
          <p:nvPr/>
        </p:nvSpPr>
        <p:spPr>
          <a:xfrm xmlns:a="http://schemas.openxmlformats.org/drawingml/2006/main">
            <a:off x="868680" y="4297680"/>
            <a:ext cx="640080" cy="640080"/>
          </a:xfrm>
          <a:prstGeom xmlns:a="http://schemas.openxmlformats.org/drawingml/2006/main" prst="ellipse">
            <a:avLst/>
          </a:prstGeom>
          <a:solidFill xmlns:a="http://schemas.openxmlformats.org/drawingml/2006/main">
            <a:srgbClr val="E0A94B"/>
          </a:solidFill>
        </p:spPr>
      </p:sp>
      <p:sp>
        <p:nvSpPr>
          <p:cNvPr id="20" name="Text 18">
            <a:extLst xmlns:a="http://schemas.openxmlformats.org/drawingml/2006/main">
              <a:ext uri="{FF2B5EF4-FFF2-40B4-BE49-F238E27FC236}">
                <a16:creationId xmlns:a16="http://schemas.microsoft.com/office/drawing/2014/main" id="{1263724C-FA0A-4F8F-88D4-B4C10B25B7A6}"/>
              </a:ext>
            </a:extLst>
          </p:cNvPr>
          <p:cNvSpPr>
            <a:spLocks xmlns:a="http://schemas.openxmlformats.org/drawingml/2006/main" noGrp="1"/>
          </p:cNvSpPr>
          <p:nvPr/>
        </p:nvSpPr>
        <p:spPr>
          <a:xfrm xmlns:a="http://schemas.openxmlformats.org/drawingml/2006/main">
            <a:off x="868680" y="42976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4</a:t>
            </a:r>
          </a:p>
        </p:txBody>
      </p:sp>
      <p:sp>
        <p:nvSpPr>
          <p:cNvPr id="21" name="Text 19">
            <a:extLst xmlns:a="http://schemas.openxmlformats.org/drawingml/2006/main">
              <a:ext uri="{FF2B5EF4-FFF2-40B4-BE49-F238E27FC236}">
                <a16:creationId xmlns:a16="http://schemas.microsoft.com/office/drawing/2014/main" id="{51B920E6-BDBF-4362-A266-8B4B618C7EFF}"/>
              </a:ext>
            </a:extLst>
          </p:cNvPr>
          <p:cNvSpPr>
            <a:spLocks xmlns:a="http://schemas.openxmlformats.org/drawingml/2006/main" noGrp="1"/>
          </p:cNvSpPr>
          <p:nvPr/>
        </p:nvSpPr>
        <p:spPr>
          <a:xfrm xmlns:a="http://schemas.openxmlformats.org/drawingml/2006/main">
            <a:off x="868680" y="5029200"/>
            <a:ext cx="286207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F2733"/>
                </a:solidFill>
                <a:latin typeface="Cambria"/>
                <a:ea typeface="Cambria"/>
                <a:cs typeface="Cambria"/>
              </a:rPr>
              <a:t>Login</a:t>
            </a:r>
          </a:p>
        </p:txBody>
      </p:sp>
      <p:sp>
        <p:nvSpPr>
          <p:cNvPr id="22" name="Text 20">
            <a:extLst xmlns:a="http://schemas.openxmlformats.org/drawingml/2006/main">
              <a:ext uri="{FF2B5EF4-FFF2-40B4-BE49-F238E27FC236}">
                <a16:creationId xmlns:a16="http://schemas.microsoft.com/office/drawing/2014/main" id="{3D688FF8-4F00-4760-A96C-FDD6E08564F6}"/>
              </a:ext>
            </a:extLst>
          </p:cNvPr>
          <p:cNvSpPr>
            <a:spLocks xmlns:a="http://schemas.openxmlformats.org/drawingml/2006/main" noGrp="1"/>
          </p:cNvSpPr>
          <p:nvPr/>
        </p:nvSpPr>
        <p:spPr>
          <a:xfrm xmlns:a="http://schemas.openxmlformats.org/drawingml/2006/main">
            <a:off x="868680" y="5440680"/>
            <a:ext cx="28620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A5A63"/>
                </a:solidFill>
                <a:latin typeface="Calibri"/>
                <a:ea typeface="Calibri"/>
                <a:cs typeface="Calibri"/>
              </a:rPr>
              <a:t>Sessions &amp; credentials</a:t>
            </a:r>
          </a:p>
        </p:txBody>
      </p:sp>
      <p:sp>
        <p:nvSpPr>
          <p:cNvPr id="23" name="Shape 21">
            <a:extLst xmlns:a="http://schemas.openxmlformats.org/drawingml/2006/main">
              <a:ext uri="{FF2B5EF4-FFF2-40B4-BE49-F238E27FC236}">
                <a16:creationId xmlns:a16="http://schemas.microsoft.com/office/drawing/2014/main" id="{4E5F0DCA-6D7F-48FB-890B-C36B42237960}"/>
              </a:ext>
            </a:extLst>
          </p:cNvPr>
          <p:cNvSpPr>
            <a:spLocks xmlns:a="http://schemas.openxmlformats.org/drawingml/2006/main" noGrp="1"/>
          </p:cNvSpPr>
          <p:nvPr/>
        </p:nvSpPr>
        <p:spPr>
          <a:xfrm xmlns:a="http://schemas.openxmlformats.org/drawingml/2006/main">
            <a:off x="4507992" y="3977640"/>
            <a:ext cx="3502152" cy="196596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24" name="Shape 22">
            <a:extLst xmlns:a="http://schemas.openxmlformats.org/drawingml/2006/main">
              <a:ext uri="{FF2B5EF4-FFF2-40B4-BE49-F238E27FC236}">
                <a16:creationId xmlns:a16="http://schemas.microsoft.com/office/drawing/2014/main" id="{71A0D9BE-045F-47C6-9198-0B39DF4BBEA7}"/>
              </a:ext>
            </a:extLst>
          </p:cNvPr>
          <p:cNvSpPr>
            <a:spLocks xmlns:a="http://schemas.openxmlformats.org/drawingml/2006/main" noGrp="1"/>
          </p:cNvSpPr>
          <p:nvPr/>
        </p:nvSpPr>
        <p:spPr>
          <a:xfrm xmlns:a="http://schemas.openxmlformats.org/drawingml/2006/main">
            <a:off x="4828032" y="4297680"/>
            <a:ext cx="640080" cy="640080"/>
          </a:xfrm>
          <a:prstGeom xmlns:a="http://schemas.openxmlformats.org/drawingml/2006/main" prst="ellipse">
            <a:avLst/>
          </a:prstGeom>
          <a:solidFill xmlns:a="http://schemas.openxmlformats.org/drawingml/2006/main">
            <a:srgbClr val="E0A94B"/>
          </a:solidFill>
        </p:spPr>
      </p:sp>
      <p:sp>
        <p:nvSpPr>
          <p:cNvPr id="25" name="Text 23">
            <a:extLst xmlns:a="http://schemas.openxmlformats.org/drawingml/2006/main">
              <a:ext uri="{FF2B5EF4-FFF2-40B4-BE49-F238E27FC236}">
                <a16:creationId xmlns:a16="http://schemas.microsoft.com/office/drawing/2014/main" id="{1781823E-B5BF-4C67-8699-1C5C5A3A4DA0}"/>
              </a:ext>
            </a:extLst>
          </p:cNvPr>
          <p:cNvSpPr>
            <a:spLocks xmlns:a="http://schemas.openxmlformats.org/drawingml/2006/main" noGrp="1"/>
          </p:cNvSpPr>
          <p:nvPr/>
        </p:nvSpPr>
        <p:spPr>
          <a:xfrm xmlns:a="http://schemas.openxmlformats.org/drawingml/2006/main">
            <a:off x="4828032" y="42976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5</a:t>
            </a:r>
          </a:p>
        </p:txBody>
      </p:sp>
      <p:sp>
        <p:nvSpPr>
          <p:cNvPr id="26" name="Text 24">
            <a:extLst xmlns:a="http://schemas.openxmlformats.org/drawingml/2006/main">
              <a:ext uri="{FF2B5EF4-FFF2-40B4-BE49-F238E27FC236}">
                <a16:creationId xmlns:a16="http://schemas.microsoft.com/office/drawing/2014/main" id="{CCAA5532-838C-4700-8C47-FC74F4F75A65}"/>
              </a:ext>
            </a:extLst>
          </p:cNvPr>
          <p:cNvSpPr>
            <a:spLocks xmlns:a="http://schemas.openxmlformats.org/drawingml/2006/main" noGrp="1"/>
          </p:cNvSpPr>
          <p:nvPr/>
        </p:nvSpPr>
        <p:spPr>
          <a:xfrm xmlns:a="http://schemas.openxmlformats.org/drawingml/2006/main">
            <a:off x="4828032" y="5029200"/>
            <a:ext cx="286207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F2733"/>
                </a:solidFill>
                <a:latin typeface="Cambria"/>
                <a:ea typeface="Cambria"/>
                <a:cs typeface="Cambria"/>
              </a:rPr>
              <a:t>Branding</a:t>
            </a:r>
          </a:p>
        </p:txBody>
      </p:sp>
      <p:sp>
        <p:nvSpPr>
          <p:cNvPr id="27" name="Text 25">
            <a:extLst xmlns:a="http://schemas.openxmlformats.org/drawingml/2006/main">
              <a:ext uri="{FF2B5EF4-FFF2-40B4-BE49-F238E27FC236}">
                <a16:creationId xmlns:a16="http://schemas.microsoft.com/office/drawing/2014/main" id="{389A8C63-899D-4121-A63E-DA6790F84F0A}"/>
              </a:ext>
            </a:extLst>
          </p:cNvPr>
          <p:cNvSpPr>
            <a:spLocks xmlns:a="http://schemas.openxmlformats.org/drawingml/2006/main" noGrp="1"/>
          </p:cNvSpPr>
          <p:nvPr/>
        </p:nvSpPr>
        <p:spPr>
          <a:xfrm xmlns:a="http://schemas.openxmlformats.org/drawingml/2006/main">
            <a:off x="4828032" y="5440680"/>
            <a:ext cx="28620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A5A63"/>
                </a:solidFill>
                <a:latin typeface="Calibri"/>
                <a:ea typeface="Calibri"/>
                <a:cs typeface="Calibri"/>
              </a:rPr>
              <a:t>Own the login screen</a:t>
            </a:r>
          </a:p>
        </p:txBody>
      </p:sp>
      <p:sp>
        <p:nvSpPr>
          <p:cNvPr id="28" name="Shape 26">
            <a:extLst xmlns:a="http://schemas.openxmlformats.org/drawingml/2006/main">
              <a:ext uri="{FF2B5EF4-FFF2-40B4-BE49-F238E27FC236}">
                <a16:creationId xmlns:a16="http://schemas.microsoft.com/office/drawing/2014/main" id="{8B855216-8063-4019-A069-A5CB8838D7D6}"/>
              </a:ext>
            </a:extLst>
          </p:cNvPr>
          <p:cNvSpPr>
            <a:spLocks xmlns:a="http://schemas.openxmlformats.org/drawingml/2006/main" noGrp="1"/>
          </p:cNvSpPr>
          <p:nvPr/>
        </p:nvSpPr>
        <p:spPr>
          <a:xfrm xmlns:a="http://schemas.openxmlformats.org/drawingml/2006/main">
            <a:off x="8467344" y="3977640"/>
            <a:ext cx="3502152" cy="1965960"/>
          </a:xfrm>
          <a:prstGeom xmlns:a="http://schemas.openxmlformats.org/drawingml/2006/main" prst="roundRect">
            <a:avLst>
              <a:gd name="adj" fmla="val 4651"/>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29" name="Shape 27">
            <a:extLst xmlns:a="http://schemas.openxmlformats.org/drawingml/2006/main">
              <a:ext uri="{FF2B5EF4-FFF2-40B4-BE49-F238E27FC236}">
                <a16:creationId xmlns:a16="http://schemas.microsoft.com/office/drawing/2014/main" id="{C88599EE-A8FF-4DEB-A7A0-5F03FA566415}"/>
              </a:ext>
            </a:extLst>
          </p:cNvPr>
          <p:cNvSpPr>
            <a:spLocks xmlns:a="http://schemas.openxmlformats.org/drawingml/2006/main" noGrp="1"/>
          </p:cNvSpPr>
          <p:nvPr/>
        </p:nvSpPr>
        <p:spPr>
          <a:xfrm xmlns:a="http://schemas.openxmlformats.org/drawingml/2006/main">
            <a:off x="8787384" y="4297680"/>
            <a:ext cx="640080" cy="640080"/>
          </a:xfrm>
          <a:prstGeom xmlns:a="http://schemas.openxmlformats.org/drawingml/2006/main" prst="ellipse">
            <a:avLst/>
          </a:prstGeom>
          <a:solidFill xmlns:a="http://schemas.openxmlformats.org/drawingml/2006/main">
            <a:srgbClr val="E0A94B"/>
          </a:solidFill>
        </p:spPr>
      </p:sp>
      <p:sp>
        <p:nvSpPr>
          <p:cNvPr id="30" name="Text 28">
            <a:extLst xmlns:a="http://schemas.openxmlformats.org/drawingml/2006/main">
              <a:ext uri="{FF2B5EF4-FFF2-40B4-BE49-F238E27FC236}">
                <a16:creationId xmlns:a16="http://schemas.microsoft.com/office/drawing/2014/main" id="{EDAE97E2-45FC-416C-882F-6D57DE4E147C}"/>
              </a:ext>
            </a:extLst>
          </p:cNvPr>
          <p:cNvSpPr>
            <a:spLocks xmlns:a="http://schemas.openxmlformats.org/drawingml/2006/main" noGrp="1"/>
          </p:cNvSpPr>
          <p:nvPr/>
        </p:nvSpPr>
        <p:spPr>
          <a:xfrm xmlns:a="http://schemas.openxmlformats.org/drawingml/2006/main">
            <a:off x="8787384" y="42976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6</a:t>
            </a:r>
          </a:p>
        </p:txBody>
      </p:sp>
      <p:sp>
        <p:nvSpPr>
          <p:cNvPr id="31" name="Text 29">
            <a:extLst xmlns:a="http://schemas.openxmlformats.org/drawingml/2006/main">
              <a:ext uri="{FF2B5EF4-FFF2-40B4-BE49-F238E27FC236}">
                <a16:creationId xmlns:a16="http://schemas.microsoft.com/office/drawing/2014/main" id="{5CAB89EA-6907-4B4B-8058-EF0D3F3ECB12}"/>
              </a:ext>
            </a:extLst>
          </p:cNvPr>
          <p:cNvSpPr>
            <a:spLocks xmlns:a="http://schemas.openxmlformats.org/drawingml/2006/main" noGrp="1"/>
          </p:cNvSpPr>
          <p:nvPr/>
        </p:nvSpPr>
        <p:spPr>
          <a:xfrm xmlns:a="http://schemas.openxmlformats.org/drawingml/2006/main">
            <a:off x="8787384" y="5029200"/>
            <a:ext cx="286207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F2733"/>
                </a:solidFill>
                <a:latin typeface="Cambria"/>
                <a:ea typeface="Cambria"/>
                <a:cs typeface="Cambria"/>
              </a:rPr>
              <a:t>Performance</a:t>
            </a:r>
          </a:p>
        </p:txBody>
      </p:sp>
      <p:sp>
        <p:nvSpPr>
          <p:cNvPr id="32" name="Text 30">
            <a:extLst xmlns:a="http://schemas.openxmlformats.org/drawingml/2006/main">
              <a:ext uri="{FF2B5EF4-FFF2-40B4-BE49-F238E27FC236}">
                <a16:creationId xmlns:a16="http://schemas.microsoft.com/office/drawing/2014/main" id="{E50ABA2B-33F1-4891-AC9B-6EC8BAE04C0B}"/>
              </a:ext>
            </a:extLst>
          </p:cNvPr>
          <p:cNvSpPr>
            <a:spLocks xmlns:a="http://schemas.openxmlformats.org/drawingml/2006/main" noGrp="1"/>
          </p:cNvSpPr>
          <p:nvPr/>
        </p:nvSpPr>
        <p:spPr>
          <a:xfrm xmlns:a="http://schemas.openxmlformats.org/drawingml/2006/main">
            <a:off x="8787384" y="5440680"/>
            <a:ext cx="28620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4A5A63"/>
                </a:solidFill>
                <a:latin typeface="Calibri"/>
                <a:ea typeface="Calibri"/>
                <a:cs typeface="Calibri"/>
              </a:rPr>
              <a:t>Trim the page weight</a:t>
            </a:r>
          </a:p>
        </p:txBody>
      </p:sp>
      <p:sp>
        <p:nvSpPr>
          <p:cNvPr id="33" name="Text 31">
            <a:extLst xmlns:a="http://schemas.openxmlformats.org/drawingml/2006/main">
              <a:ext uri="{FF2B5EF4-FFF2-40B4-BE49-F238E27FC236}">
                <a16:creationId xmlns:a16="http://schemas.microsoft.com/office/drawing/2014/main" id="{2B51F75A-0337-4E88-9F15-A74527C88C79}"/>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34" name="Text 32">
            <a:extLst xmlns:a="http://schemas.openxmlformats.org/drawingml/2006/main">
              <a:ext uri="{FF2B5EF4-FFF2-40B4-BE49-F238E27FC236}">
                <a16:creationId xmlns:a16="http://schemas.microsoft.com/office/drawing/2014/main" id="{CBA3A39E-1E4A-44CC-9549-BBB4CC73D499}"/>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6</a:t>
            </a:r>
          </a:p>
        </p:txBody>
      </p:sp>
    </p:spTree>
    <p:extLst>
      <p:ext uri="{BB962C8B-B14F-4D97-AF65-F5344CB8AC3E}">
        <p14:creationId xmlns:p14="http://schemas.microsoft.com/office/powerpoint/2010/main" val="1639693144"/>
      </p:ext>
    </p:extLst>
  </p:cSld>
</p:sld>
</file>

<file path=ppt/slides/slide7.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3399737-A2C9-47F0-8913-8D9A8A4C9495}"/>
              </a:ext>
            </a:extLst>
          </p:cNvPr>
          <p:cNvSpPr>
            <a:spLocks xmlns:a="http://schemas.openxmlformats.org/drawingml/2006/main" noGrp="1"/>
          </p:cNvSpPr>
          <p:nvPr/>
        </p:nvSpPr>
        <p:spPr>
          <a:xfrm xmlns:a="http://schemas.openxmlformats.org/drawingml/2006/main">
            <a:off x="0" y="5577840"/>
            <a:ext cx="12188952" cy="1280160"/>
          </a:xfrm>
          <a:prstGeom xmlns:a="http://schemas.openxmlformats.org/drawingml/2006/main" prst="rect">
            <a:avLst/>
          </a:prstGeom>
          <a:solidFill xmlns:a="http://schemas.openxmlformats.org/drawingml/2006/main">
            <a:srgbClr val="16323F"/>
          </a:solidFill>
        </p:spPr>
      </p:sp>
      <p:sp>
        <p:nvSpPr>
          <p:cNvPr id="3" name="Shape 1">
            <a:extLst xmlns:a="http://schemas.openxmlformats.org/drawingml/2006/main">
              <a:ext uri="{FF2B5EF4-FFF2-40B4-BE49-F238E27FC236}">
                <a16:creationId xmlns:a16="http://schemas.microsoft.com/office/drawing/2014/main" id="{572F77C0-8572-4C05-82B0-4AAF2202AEE8}"/>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ellipse">
            <a:avLst/>
          </a:prstGeom>
          <a:solidFill xmlns:a="http://schemas.openxmlformats.org/drawingml/2006/main">
            <a:srgbClr val="E0A94B"/>
          </a:solidFill>
        </p:spPr>
      </p:sp>
      <p:sp>
        <p:nvSpPr>
          <p:cNvPr id="4" name="Text 2">
            <a:extLst xmlns:a="http://schemas.openxmlformats.org/drawingml/2006/main">
              <a:ext uri="{FF2B5EF4-FFF2-40B4-BE49-F238E27FC236}">
                <a16:creationId xmlns:a16="http://schemas.microsoft.com/office/drawing/2014/main" id="{2F39887B-9A5E-403E-970B-30519A680F83}"/>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70" b="1">
                <a:solidFill>
                  <a:srgbClr val="0F2733"/>
                </a:solidFill>
                <a:latin typeface="Cambria"/>
                <a:ea typeface="Cambria"/>
                <a:cs typeface="Cambria"/>
              </a:rPr>
              <a:t>1</a:t>
            </a:r>
          </a:p>
        </p:txBody>
      </p:sp>
      <p:sp>
        <p:nvSpPr>
          <p:cNvPr id="5" name="Text 3">
            <a:extLst xmlns:a="http://schemas.openxmlformats.org/drawingml/2006/main">
              <a:ext uri="{FF2B5EF4-FFF2-40B4-BE49-F238E27FC236}">
                <a16:creationId xmlns:a16="http://schemas.microsoft.com/office/drawing/2014/main" id="{7B0728D2-5F0A-463A-B8AC-5E879E48EB04}"/>
              </a:ext>
            </a:extLst>
          </p:cNvPr>
          <p:cNvSpPr>
            <a:spLocks xmlns:a="http://schemas.openxmlformats.org/drawingml/2006/main" noGrp="1"/>
          </p:cNvSpPr>
          <p:nvPr/>
        </p:nvSpPr>
        <p:spPr>
          <a:xfrm xmlns:a="http://schemas.openxmlformats.org/drawingml/2006/main">
            <a:off x="1874520" y="100584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alibri"/>
                <a:ea typeface="Calibri"/>
                <a:cs typeface="Calibri"/>
              </a:rPr>
              <a:t>SECTION ONE</a:t>
            </a:r>
          </a:p>
        </p:txBody>
      </p:sp>
      <p:sp>
        <p:nvSpPr>
          <p:cNvPr id="6" name="Text 4">
            <a:extLst xmlns:a="http://schemas.openxmlformats.org/drawingml/2006/main">
              <a:ext uri="{FF2B5EF4-FFF2-40B4-BE49-F238E27FC236}">
                <a16:creationId xmlns:a16="http://schemas.microsoft.com/office/drawing/2014/main" id="{1B82C924-4042-4398-AC7F-F91B36B1F9BE}"/>
              </a:ext>
            </a:extLst>
          </p:cNvPr>
          <p:cNvSpPr>
            <a:spLocks xmlns:a="http://schemas.openxmlformats.org/drawingml/2006/main" noGrp="1"/>
          </p:cNvSpPr>
          <p:nvPr/>
        </p:nvSpPr>
        <p:spPr>
          <a:xfrm xmlns:a="http://schemas.openxmlformats.org/drawingml/2006/main">
            <a:off x="777240" y="2286000"/>
            <a:ext cx="1060704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600" b="1">
                <a:solidFill>
                  <a:srgbClr val="FFFFFF"/>
                </a:solidFill>
                <a:latin typeface="Cambria"/>
                <a:ea typeface="Cambria"/>
                <a:cs typeface="Cambria"/>
              </a:rPr>
              <a:t>Security &amp;</a:t>
            </a:r>
          </a:p>
          <a:p xmlns:a="http://schemas.openxmlformats.org/drawingml/2006/main">
            <a:pPr marL="0" indent="0">
              <a:buNone/>
            </a:pPr>
            <a:r>
              <a:rPr sz="4600" b="1">
                <a:solidFill>
                  <a:srgbClr val="FFFFFF"/>
                </a:solidFill>
                <a:latin typeface="Cambria"/>
                <a:ea typeface="Cambria"/>
                <a:cs typeface="Cambria"/>
              </a:rPr>
              <a:t>Attack Surface</a:t>
            </a:r>
          </a:p>
        </p:txBody>
      </p:sp>
      <p:sp>
        <p:nvSpPr>
          <p:cNvPr id="7" name="Text 5">
            <a:extLst xmlns:a="http://schemas.openxmlformats.org/drawingml/2006/main">
              <a:ext uri="{FF2B5EF4-FFF2-40B4-BE49-F238E27FC236}">
                <a16:creationId xmlns:a16="http://schemas.microsoft.com/office/drawing/2014/main" id="{325AD8FB-A12A-4B72-91C1-10668025FF58}"/>
              </a:ext>
            </a:extLst>
          </p:cNvPr>
          <p:cNvSpPr>
            <a:spLocks xmlns:a="http://schemas.openxmlformats.org/drawingml/2006/main" noGrp="1"/>
          </p:cNvSpPr>
          <p:nvPr/>
        </p:nvSpPr>
        <p:spPr>
          <a:xfrm xmlns:a="http://schemas.openxmlformats.org/drawingml/2006/main">
            <a:off x="822960" y="3657600"/>
            <a:ext cx="10058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i="1">
                <a:solidFill>
                  <a:srgbClr val="D7E5EC"/>
                </a:solidFill>
                <a:latin typeface="Calibri"/>
                <a:ea typeface="Calibri"/>
                <a:cs typeface="Calibri"/>
              </a:rPr>
              <a:t>Every item here removes something an attacker can poke — usually in one line.</a:t>
            </a:r>
          </a:p>
        </p:txBody>
      </p:sp>
    </p:spTree>
    <p:extLst>
      <p:ext uri="{BB962C8B-B14F-4D97-AF65-F5344CB8AC3E}">
        <p14:creationId xmlns:p14="http://schemas.microsoft.com/office/powerpoint/2010/main" val="1426793399"/>
      </p:ext>
    </p:extLst>
  </p:cSld>
</p:sld>
</file>

<file path=ppt/slides/slide8.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E5B7C3-2282-4149-A972-3A4BC3ACB4CC}"/>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SECURITY · 1 of 6</a:t>
            </a:r>
          </a:p>
        </p:txBody>
      </p:sp>
      <p:sp>
        <p:nvSpPr>
          <p:cNvPr id="3" name="Text 1">
            <a:extLst xmlns:a="http://schemas.openxmlformats.org/drawingml/2006/main">
              <a:ext uri="{FF2B5EF4-FFF2-40B4-BE49-F238E27FC236}">
                <a16:creationId xmlns:a16="http://schemas.microsoft.com/office/drawing/2014/main" id="{A2DCCAD4-252E-4C0E-A913-63466D3CD652}"/>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Restrict REST API user discovery</a:t>
            </a:r>
          </a:p>
        </p:txBody>
      </p:sp>
      <p:sp>
        <p:nvSpPr>
          <p:cNvPr id="4" name="Text 2">
            <a:extLst xmlns:a="http://schemas.openxmlformats.org/drawingml/2006/main">
              <a:ext uri="{FF2B5EF4-FFF2-40B4-BE49-F238E27FC236}">
                <a16:creationId xmlns:a16="http://schemas.microsoft.com/office/drawing/2014/main" id="{E74D8F23-55A5-474A-88AD-401380E04971}"/>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The /wp/v2/users endpoint hands out every author's login name to anyone — half of a brute-force guess, for free. Closing it for logged-out requests only keeps the editor and legit integrations working.</a:t>
            </a:r>
          </a:p>
        </p:txBody>
      </p:sp>
      <p:sp>
        <p:nvSpPr>
          <p:cNvPr id="5" name="Shape 3">
            <a:extLst xmlns:a="http://schemas.openxmlformats.org/drawingml/2006/main">
              <a:ext uri="{FF2B5EF4-FFF2-40B4-BE49-F238E27FC236}">
                <a16:creationId xmlns:a16="http://schemas.microsoft.com/office/drawing/2014/main" id="{F7D4C4D9-AD68-4B04-9DD0-EC7D7AC4B483}"/>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9E868F2D-5CC1-4383-B616-72377E63029D}"/>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restrict_rest_user_discovery</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yes</a:t>
            </a:r>
          </a:p>
        </p:txBody>
      </p:sp>
      <p:sp>
        <p:nvSpPr>
          <p:cNvPr id="7" name="Shape 5">
            <a:extLst xmlns:a="http://schemas.openxmlformats.org/drawingml/2006/main">
              <a:ext uri="{FF2B5EF4-FFF2-40B4-BE49-F238E27FC236}">
                <a16:creationId xmlns:a16="http://schemas.microsoft.com/office/drawing/2014/main" id="{30606E54-B009-4939-957E-3F5DFE3EB79A}"/>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9909C298-E3A4-4B0B-8D5D-2AA81B346BF6}"/>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DCEAF1"/>
                </a:solidFill>
                <a:latin typeface="Courier New"/>
                <a:ea typeface="Courier New"/>
                <a:cs typeface="Courier New"/>
              </a:rPr>
              <a:t>add_filter( 'rest_endpoints', function ( $ep ) {</a:t>
            </a:r>
          </a:p>
          <a:p xmlns:a="http://schemas.openxmlformats.org/drawingml/2006/main">
            <a:pPr marL="0" indent="0" algn="l">
              <a:lnSpc>
                <a:spcPct val="108000"/>
              </a:lnSpc>
              <a:buNone/>
            </a:pPr>
            <a:r>
              <a:rPr sz="1150">
                <a:solidFill>
                  <a:srgbClr val="DCEAF1"/>
                </a:solidFill>
                <a:latin typeface="Courier New"/>
                <a:ea typeface="Courier New"/>
                <a:cs typeface="Courier New"/>
              </a:rPr>
              <a:t>    if ( ! is_user_logged_in() ) {</a:t>
            </a:r>
          </a:p>
          <a:p xmlns:a="http://schemas.openxmlformats.org/drawingml/2006/main">
            <a:pPr marL="0" indent="0" algn="l">
              <a:lnSpc>
                <a:spcPct val="108000"/>
              </a:lnSpc>
              <a:buNone/>
            </a:pPr>
            <a:r>
              <a:rPr sz="1150">
                <a:solidFill>
                  <a:srgbClr val="E7C070"/>
                </a:solidFill>
                <a:latin typeface="Courier New"/>
                <a:ea typeface="Courier New"/>
                <a:cs typeface="Courier New"/>
              </a:rPr>
              <a:t>        unset( $ep['/wp/v2/users'] );</a:t>
            </a:r>
          </a:p>
          <a:p xmlns:a="http://schemas.openxmlformats.org/drawingml/2006/main">
            <a:pPr marL="0" indent="0" algn="l">
              <a:lnSpc>
                <a:spcPct val="108000"/>
              </a:lnSpc>
              <a:buNone/>
            </a:pPr>
            <a:r>
              <a:rPr sz="1150">
                <a:solidFill>
                  <a:srgbClr val="DCEAF1"/>
                </a:solidFill>
                <a:latin typeface="Courier New"/>
                <a:ea typeface="Courier New"/>
                <a:cs typeface="Courier New"/>
              </a:rPr>
              <a:t>        unset(</a:t>
            </a:r>
          </a:p>
          <a:p xmlns:a="http://schemas.openxmlformats.org/drawingml/2006/main">
            <a:pPr marL="0" indent="0" algn="l">
              <a:lnSpc>
                <a:spcPct val="108000"/>
              </a:lnSpc>
              <a:buNone/>
            </a:pPr>
            <a:r>
              <a:rPr sz="1150">
                <a:solidFill>
                  <a:srgbClr val="E7C070"/>
                </a:solidFill>
                <a:latin typeface="Courier New"/>
                <a:ea typeface="Courier New"/>
                <a:cs typeface="Courier New"/>
              </a:rPr>
              <a:t>          $ep['/wp/v2/users/(?P&lt;id&gt;[\d]+)']</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DCEAF1"/>
                </a:solidFill>
                <a:latin typeface="Courier New"/>
                <a:ea typeface="Courier New"/>
                <a:cs typeface="Courier New"/>
              </a:rPr>
              <a:t>    return $ep;</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p:txBody>
      </p:sp>
      <p:sp>
        <p:nvSpPr>
          <p:cNvPr id="9" name="Text 7">
            <a:extLst xmlns:a="http://schemas.openxmlformats.org/drawingml/2006/main">
              <a:ext uri="{FF2B5EF4-FFF2-40B4-BE49-F238E27FC236}">
                <a16:creationId xmlns:a16="http://schemas.microsoft.com/office/drawing/2014/main" id="{BAA03D75-B745-4F8D-825C-DF1A3DDB5B44}"/>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3E9D5767-8DC4-4DE7-895C-34BA1273DB31}"/>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8</a:t>
            </a:r>
          </a:p>
        </p:txBody>
      </p:sp>
    </p:spTree>
    <p:extLst>
      <p:ext uri="{BB962C8B-B14F-4D97-AF65-F5344CB8AC3E}">
        <p14:creationId xmlns:p14="http://schemas.microsoft.com/office/powerpoint/2010/main" val="1434785985"/>
      </p:ext>
    </p:extLst>
  </p:cSld>
</p:sld>
</file>

<file path=ppt/slides/slide9.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566193-3CDD-483C-8A50-A081E04AD8D8}"/>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SECURITY · 2 of 6 · opt-in</a:t>
            </a:r>
          </a:p>
        </p:txBody>
      </p:sp>
      <p:sp>
        <p:nvSpPr>
          <p:cNvPr id="3" name="Text 1">
            <a:extLst xmlns:a="http://schemas.openxmlformats.org/drawingml/2006/main">
              <a:ext uri="{FF2B5EF4-FFF2-40B4-BE49-F238E27FC236}">
                <a16:creationId xmlns:a16="http://schemas.microsoft.com/office/drawing/2014/main" id="{55ABD7D6-2A08-4CCA-8AC8-5BFDC53DA868}"/>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Lock REST to logged-in users (opt-in)</a:t>
            </a:r>
          </a:p>
        </p:txBody>
      </p:sp>
      <p:sp>
        <p:nvSpPr>
          <p:cNvPr id="4" name="Text 2">
            <a:extLst xmlns:a="http://schemas.openxmlformats.org/drawingml/2006/main">
              <a:ext uri="{FF2B5EF4-FFF2-40B4-BE49-F238E27FC236}">
                <a16:creationId xmlns:a16="http://schemas.microsoft.com/office/drawing/2014/main" id="{25205685-9FDA-4CE0-9BB2-7927175702C0}"/>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The sledgehammer version of the slide before: requiring auth for ALL REST calls stops anonymous scraping cold. It breaks anonymous REST — front-end blocks, embeds, search, outside integrations — so it ships off.</a:t>
            </a:r>
          </a:p>
        </p:txBody>
      </p:sp>
      <p:sp>
        <p:nvSpPr>
          <p:cNvPr id="5" name="Shape 3">
            <a:extLst xmlns:a="http://schemas.openxmlformats.org/drawingml/2006/main">
              <a:ext uri="{FF2B5EF4-FFF2-40B4-BE49-F238E27FC236}">
                <a16:creationId xmlns:a16="http://schemas.microsoft.com/office/drawing/2014/main" id="{5AEDBFA5-A6C4-4812-B5B5-BB3AE0392DAC}"/>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013FEE0D-7BDF-4A08-B78D-4D658254CBFA}"/>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disable_rest</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C88F33"/>
                </a:solidFill>
                <a:latin typeface="Courier New"/>
                <a:ea typeface="Courier New"/>
                <a:cs typeface="Courier New"/>
              </a:rPr>
              <a:t>no</a:t>
            </a:r>
          </a:p>
        </p:txBody>
      </p:sp>
      <p:sp>
        <p:nvSpPr>
          <p:cNvPr id="7" name="Shape 5">
            <a:extLst xmlns:a="http://schemas.openxmlformats.org/drawingml/2006/main">
              <a:ext uri="{FF2B5EF4-FFF2-40B4-BE49-F238E27FC236}">
                <a16:creationId xmlns:a16="http://schemas.microsoft.com/office/drawing/2014/main" id="{67F2B273-838A-4CC8-B317-3C61B3D4AFA5}"/>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C2F69309-976E-452C-8D04-927FB8E86ADF}"/>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DCEAF1"/>
                </a:solidFill>
                <a:latin typeface="Courier New"/>
                <a:ea typeface="Courier New"/>
                <a:cs typeface="Courier New"/>
              </a:rPr>
              <a:t>add_filter( 'rest_authentication_errors',</a:t>
            </a:r>
          </a:p>
          <a:p xmlns:a="http://schemas.openxmlformats.org/drawingml/2006/main">
            <a:pPr marL="0" indent="0" algn="l">
              <a:lnSpc>
                <a:spcPct val="108000"/>
              </a:lnSpc>
              <a:buNone/>
            </a:pPr>
            <a:r>
              <a:rPr sz="1150">
                <a:solidFill>
                  <a:srgbClr val="DCEAF1"/>
                </a:solidFill>
                <a:latin typeface="Courier New"/>
                <a:ea typeface="Courier New"/>
                <a:cs typeface="Courier New"/>
              </a:rPr>
              <a:t>  function ( $result ) {</a:t>
            </a:r>
          </a:p>
          <a:p xmlns:a="http://schemas.openxmlformats.org/drawingml/2006/main">
            <a:pPr marL="0" indent="0" algn="l">
              <a:lnSpc>
                <a:spcPct val="108000"/>
              </a:lnSpc>
              <a:buNone/>
            </a:pPr>
            <a:r>
              <a:rPr sz="1150">
                <a:solidFill>
                  <a:srgbClr val="DCEAF1"/>
                </a:solidFill>
                <a:latin typeface="Courier New"/>
                <a:ea typeface="Courier New"/>
                <a:cs typeface="Courier New"/>
              </a:rPr>
              <a:t>    if ( ! empty( $result ) ) return $result;</a:t>
            </a:r>
          </a:p>
          <a:p xmlns:a="http://schemas.openxmlformats.org/drawingml/2006/main">
            <a:pPr marL="0" indent="0" algn="l">
              <a:lnSpc>
                <a:spcPct val="108000"/>
              </a:lnSpc>
              <a:buNone/>
            </a:pPr>
            <a:r>
              <a:rPr sz="1150">
                <a:solidFill>
                  <a:srgbClr val="DCEAF1"/>
                </a:solidFill>
                <a:latin typeface="Courier New"/>
                <a:ea typeface="Courier New"/>
                <a:cs typeface="Courier New"/>
              </a:rPr>
              <a:t>    if ( ! is_user_logged_in() ) {</a:t>
            </a:r>
          </a:p>
          <a:p xmlns:a="http://schemas.openxmlformats.org/drawingml/2006/main">
            <a:pPr marL="0" indent="0" algn="l">
              <a:lnSpc>
                <a:spcPct val="108000"/>
              </a:lnSpc>
              <a:buNone/>
            </a:pPr>
            <a:r>
              <a:rPr sz="1150">
                <a:solidFill>
                  <a:srgbClr val="E7C070"/>
                </a:solidFill>
                <a:latin typeface="Courier New"/>
                <a:ea typeface="Courier New"/>
                <a:cs typeface="Courier New"/>
              </a:rPr>
              <a:t>      return new WP_Error(</a:t>
            </a:r>
          </a:p>
          <a:p xmlns:a="http://schemas.openxmlformats.org/drawingml/2006/main">
            <a:pPr marL="0" indent="0" algn="l">
              <a:lnSpc>
                <a:spcPct val="108000"/>
              </a:lnSpc>
              <a:buNone/>
            </a:pPr>
            <a:r>
              <a:rPr sz="1150">
                <a:solidFill>
                  <a:srgbClr val="E7C070"/>
                </a:solidFill>
                <a:latin typeface="Courier New"/>
                <a:ea typeface="Courier New"/>
                <a:cs typeface="Courier New"/>
              </a:rPr>
              <a:t>        'rest_not_logged_in', 'Auth required.',</a:t>
            </a:r>
          </a:p>
          <a:p xmlns:a="http://schemas.openxmlformats.org/drawingml/2006/main">
            <a:pPr marL="0" indent="0" algn="l">
              <a:lnSpc>
                <a:spcPct val="108000"/>
              </a:lnSpc>
              <a:buNone/>
            </a:pPr>
            <a:r>
              <a:rPr sz="1150">
                <a:solidFill>
                  <a:srgbClr val="E7C070"/>
                </a:solidFill>
                <a:latin typeface="Courier New"/>
                <a:ea typeface="Courier New"/>
                <a:cs typeface="Courier New"/>
              </a:rPr>
              <a:t>        array( 'status' =&gt; 401 )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DCEAF1"/>
                </a:solidFill>
                <a:latin typeface="Courier New"/>
                <a:ea typeface="Courier New"/>
                <a:cs typeface="Courier New"/>
              </a:rPr>
              <a:t>    return $result;</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p:txBody>
      </p:sp>
      <p:sp>
        <p:nvSpPr>
          <p:cNvPr id="9" name="Text 7">
            <a:extLst xmlns:a="http://schemas.openxmlformats.org/drawingml/2006/main">
              <a:ext uri="{FF2B5EF4-FFF2-40B4-BE49-F238E27FC236}">
                <a16:creationId xmlns:a16="http://schemas.microsoft.com/office/drawing/2014/main" id="{3A18F3D3-5467-42D6-AFCA-11DC5C110805}"/>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C543FC1F-0A70-48C8-8382-15849CA54C93}"/>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9</a:t>
            </a:r>
          </a:p>
        </p:txBody>
      </p:sp>
    </p:spTree>
    <p:extLst>
      <p:ext uri="{BB962C8B-B14F-4D97-AF65-F5344CB8AC3E}">
        <p14:creationId xmlns:p14="http://schemas.microsoft.com/office/powerpoint/2010/main" val="1212028560"/>
      </p:ext>
    </p:extLst>
  </p:cSld>
</p:sld>
</file>

<file path=ppt/slides/slide10.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4411277-9FFA-4BA6-99D9-5960492AB490}"/>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SECURITY · 3 of 6</a:t>
            </a:r>
          </a:p>
        </p:txBody>
      </p:sp>
      <p:sp>
        <p:nvSpPr>
          <p:cNvPr id="3" name="Text 1">
            <a:extLst xmlns:a="http://schemas.openxmlformats.org/drawingml/2006/main">
              <a:ext uri="{FF2B5EF4-FFF2-40B4-BE49-F238E27FC236}">
                <a16:creationId xmlns:a16="http://schemas.microsoft.com/office/drawing/2014/main" id="{DBE1AAD8-B230-43BD-8C18-3854C772C378}"/>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Lock XML-RPC down by category</a:t>
            </a:r>
          </a:p>
        </p:txBody>
      </p:sp>
      <p:sp>
        <p:nvSpPr>
          <p:cNvPr id="4" name="Text 2">
            <a:extLst xmlns:a="http://schemas.openxmlformats.org/drawingml/2006/main">
              <a:ext uri="{FF2B5EF4-FFF2-40B4-BE49-F238E27FC236}">
                <a16:creationId xmlns:a16="http://schemas.microsoft.com/office/drawing/2014/main" id="{5C2F69CB-C086-41D2-8465-AC68B084BF98}"/>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XML-RPC is legitimate but aging — an extra surface, not a backdoor. We unplug unused method families while preserving the endpoint for integrations that need it.</a:t>
            </a:r>
          </a:p>
        </p:txBody>
      </p:sp>
      <p:sp>
        <p:nvSpPr>
          <p:cNvPr id="5" name="Shape 3">
            <a:extLst xmlns:a="http://schemas.openxmlformats.org/drawingml/2006/main">
              <a:ext uri="{FF2B5EF4-FFF2-40B4-BE49-F238E27FC236}">
                <a16:creationId xmlns:a16="http://schemas.microsoft.com/office/drawing/2014/main" id="{316062F2-20C5-4886-BB3B-5C02A64227A6}"/>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116DE40A-B0FA-4E20-9797-257702B9FBBC}"/>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xmlrpc allow keys + block_xmlrpc_endpoint</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C88F33"/>
                </a:solidFill>
                <a:latin typeface="Courier New"/>
                <a:ea typeface="Courier New"/>
                <a:cs typeface="Courier New"/>
              </a:rPr>
              <a:t>no (all four)</a:t>
            </a:r>
          </a:p>
        </p:txBody>
      </p:sp>
      <p:sp>
        <p:nvSpPr>
          <p:cNvPr id="7" name="Shape 5">
            <a:extLst xmlns:a="http://schemas.openxmlformats.org/drawingml/2006/main">
              <a:ext uri="{FF2B5EF4-FFF2-40B4-BE49-F238E27FC236}">
                <a16:creationId xmlns:a16="http://schemas.microsoft.com/office/drawing/2014/main" id="{095CDF54-20D2-4EF6-9956-12412AE4D18E}"/>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928C663F-0FF9-41AA-81B6-E3FEF283D9D3}"/>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00">
                <a:solidFill>
                  <a:srgbClr val="8FBF9F"/>
                </a:solidFill>
                <a:latin typeface="Courier New"/>
                <a:ea typeface="Courier New"/>
                <a:cs typeface="Courier New"/>
              </a:rPr>
              <a:t>// each category off → remove its methods</a:t>
            </a:r>
          </a:p>
          <a:p xmlns:a="http://schemas.openxmlformats.org/drawingml/2006/main">
            <a:pPr marL="0" indent="0" algn="l">
              <a:lnSpc>
                <a:spcPct val="108000"/>
              </a:lnSpc>
              <a:buNone/>
            </a:pPr>
            <a:r>
              <a:rPr sz="1100">
                <a:solidFill>
                  <a:srgbClr val="DCEAF1"/>
                </a:solidFill>
                <a:latin typeface="Courier New"/>
                <a:ea typeface="Courier New"/>
                <a:cs typeface="Courier New"/>
              </a:rPr>
              <a:t>add_filter( 'xmlrpc_methods', function ( $m ) {</a:t>
            </a:r>
          </a:p>
          <a:p xmlns:a="http://schemas.openxmlformats.org/drawingml/2006/main">
            <a:pPr marL="0" indent="0" algn="l">
              <a:lnSpc>
                <a:spcPct val="108000"/>
              </a:lnSpc>
              <a:buNone/>
            </a:pPr>
            <a:r>
              <a:rPr sz="1100">
                <a:solidFill>
                  <a:srgbClr val="DCEAF1"/>
                </a:solidFill>
                <a:latin typeface="Courier New"/>
                <a:ea typeface="Courier New"/>
                <a:cs typeface="Courier New"/>
              </a:rPr>
              <a:t>  if ( ! allow( 'pingbacks' ) )</a:t>
            </a:r>
          </a:p>
          <a:p xmlns:a="http://schemas.openxmlformats.org/drawingml/2006/main">
            <a:pPr marL="0" indent="0" algn="l">
              <a:lnSpc>
                <a:spcPct val="108000"/>
              </a:lnSpc>
              <a:buNone/>
            </a:pPr>
            <a:r>
              <a:rPr sz="1100">
                <a:solidFill>
                  <a:srgbClr val="E7C070"/>
                </a:solidFill>
                <a:latin typeface="Courier New"/>
                <a:ea typeface="Courier New"/>
                <a:cs typeface="Courier New"/>
              </a:rPr>
              <a:t>    unset( $m['pingback.ping'] );</a:t>
            </a:r>
          </a:p>
          <a:p xmlns:a="http://schemas.openxmlformats.org/drawingml/2006/main">
            <a:pPr marL="0" indent="0" algn="l">
              <a:lnSpc>
                <a:spcPct val="108000"/>
              </a:lnSpc>
              <a:buNone/>
            </a:pPr>
            <a:r>
              <a:rPr sz="1100">
                <a:solidFill>
                  <a:srgbClr val="DCEAF1"/>
                </a:solidFill>
                <a:latin typeface="Courier New"/>
                <a:ea typeface="Courier New"/>
                <a:cs typeface="Courier New"/>
              </a:rPr>
              <a:t>  if ( ! allow( 'remote_publishing' ) )</a:t>
            </a:r>
          </a:p>
          <a:p xmlns:a="http://schemas.openxmlformats.org/drawingml/2006/main">
            <a:pPr marL="0" indent="0" algn="l">
              <a:lnSpc>
                <a:spcPct val="108000"/>
              </a:lnSpc>
              <a:buNone/>
            </a:pPr>
            <a:r>
              <a:rPr sz="1100">
                <a:solidFill>
                  <a:srgbClr val="8FBF9F"/>
                </a:solidFill>
                <a:latin typeface="Courier New"/>
                <a:ea typeface="Courier New"/>
                <a:cs typeface="Courier New"/>
              </a:rPr>
              <a:t>    // drop wp.* metaWeblog.* mt.* blogger.*</a:t>
            </a:r>
          </a:p>
          <a:p xmlns:a="http://schemas.openxmlformats.org/drawingml/2006/main">
            <a:pPr marL="0" indent="0" algn="l">
              <a:lnSpc>
                <a:spcPct val="108000"/>
              </a:lnSpc>
              <a:buNone/>
            </a:pPr>
            <a:r>
              <a:rPr sz="1100">
                <a:solidFill>
                  <a:srgbClr val="DCEAF1"/>
                </a:solidFill>
                <a:latin typeface="Courier New"/>
                <a:ea typeface="Courier New"/>
                <a:cs typeface="Courier New"/>
              </a:rPr>
              <a:t>  return $m;</a:t>
            </a:r>
          </a:p>
          <a:p xmlns:a="http://schemas.openxmlformats.org/drawingml/2006/main">
            <a:pPr marL="0" indent="0" algn="l">
              <a:lnSpc>
                <a:spcPct val="108000"/>
              </a:lnSpc>
              <a:buNone/>
            </a:pPr>
            <a:r>
              <a:rPr sz="1100">
                <a:solidFill>
                  <a:srgbClr val="DCEAF1"/>
                </a:solidFill>
                <a:latin typeface="Courier New"/>
                <a:ea typeface="Courier New"/>
                <a:cs typeface="Courier New"/>
              </a:rPr>
              <a:t>} );</a:t>
            </a:r>
          </a:p>
          <a:p xmlns:a="http://schemas.openxmlformats.org/drawingml/2006/main">
            <a:pPr marL="0" indent="0" algn="l">
              <a:lnSpc>
                <a:spcPct val="108000"/>
              </a:lnSpc>
              <a:buNone/>
            </a:pPr>
            <a:r>
              <a:rPr sz="1100">
                <a:solidFill>
                  <a:srgbClr val="DCEAF1"/>
                </a:solidFill>
                <a:latin typeface="Courier New"/>
                <a:ea typeface="Courier New"/>
                <a:cs typeface="Courier New"/>
              </a:rPr>
              <a:t> </a:t>
            </a:r>
          </a:p>
          <a:p xmlns:a="http://schemas.openxmlformats.org/drawingml/2006/main">
            <a:pPr marL="0" indent="0" algn="l">
              <a:lnSpc>
                <a:spcPct val="108000"/>
              </a:lnSpc>
              <a:buNone/>
            </a:pPr>
            <a:r>
              <a:rPr sz="1100">
                <a:solidFill>
                  <a:srgbClr val="8FBF9F"/>
                </a:solidFill>
                <a:latin typeface="Courier New"/>
                <a:ea typeface="Courier New"/>
                <a:cs typeface="Courier New"/>
              </a:rPr>
              <a:t>// multicall can't be filtered off (IXR re-adds it)</a:t>
            </a:r>
          </a:p>
          <a:p xmlns:a="http://schemas.openxmlformats.org/drawingml/2006/main">
            <a:pPr marL="0" indent="0" algn="l">
              <a:lnSpc>
                <a:spcPct val="108000"/>
              </a:lnSpc>
              <a:buNone/>
            </a:pPr>
            <a:r>
              <a:rPr sz="1100">
                <a:solidFill>
                  <a:srgbClr val="8FBF9F"/>
                </a:solidFill>
                <a:latin typeface="Courier New"/>
                <a:ea typeface="Courier New"/>
                <a:cs typeface="Courier New"/>
              </a:rPr>
              <a:t>// → swap in a server that refuses it</a:t>
            </a:r>
          </a:p>
          <a:p xmlns:a="http://schemas.openxmlformats.org/drawingml/2006/main">
            <a:pPr marL="0" indent="0" algn="l">
              <a:lnSpc>
                <a:spcPct val="108000"/>
              </a:lnSpc>
              <a:buNone/>
            </a:pPr>
            <a:r>
              <a:rPr sz="1100">
                <a:solidFill>
                  <a:srgbClr val="E7C070"/>
                </a:solidFill>
                <a:latin typeface="Courier New"/>
                <a:ea typeface="Courier New"/>
                <a:cs typeface="Courier New"/>
              </a:rPr>
              <a:t>add_filter( 'wp_xmlrpc_server_class', $refuse );</a:t>
            </a:r>
          </a:p>
        </p:txBody>
      </p:sp>
      <p:sp>
        <p:nvSpPr>
          <p:cNvPr id="9" name="Text 7">
            <a:extLst xmlns:a="http://schemas.openxmlformats.org/drawingml/2006/main">
              <a:ext uri="{FF2B5EF4-FFF2-40B4-BE49-F238E27FC236}">
                <a16:creationId xmlns:a16="http://schemas.microsoft.com/office/drawing/2014/main" id="{459119D9-8019-48CC-B52F-D0E7F7DF39FD}"/>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C1FA83A2-CD56-40E4-B027-1A02C2E563C5}"/>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10</a:t>
            </a:r>
          </a:p>
        </p:txBody>
      </p:sp>
    </p:spTree>
    <p:extLst>
      <p:ext uri="{BB962C8B-B14F-4D97-AF65-F5344CB8AC3E}">
        <p14:creationId xmlns:p14="http://schemas.microsoft.com/office/powerpoint/2010/main" val="1107284664"/>
      </p:ext>
    </p:extLst>
  </p:cSld>
</p:sld>
</file>

<file path=ppt/slides/slide11.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43582C1-C919-4726-BD40-19A6E0DBF6FD}"/>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SECURITY · 4 of 6</a:t>
            </a:r>
          </a:p>
        </p:txBody>
      </p:sp>
      <p:sp>
        <p:nvSpPr>
          <p:cNvPr id="3" name="Text 1">
            <a:extLst xmlns:a="http://schemas.openxmlformats.org/drawingml/2006/main">
              <a:ext uri="{FF2B5EF4-FFF2-40B4-BE49-F238E27FC236}">
                <a16:creationId xmlns:a16="http://schemas.microsoft.com/office/drawing/2014/main" id="{6643937D-D44F-4F4B-AC69-8FE399E64573}"/>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Keep Application Passwords available</a:t>
            </a:r>
          </a:p>
        </p:txBody>
      </p:sp>
      <p:sp>
        <p:nvSpPr>
          <p:cNvPr id="4" name="Text 2">
            <a:extLst xmlns:a="http://schemas.openxmlformats.org/drawingml/2006/main">
              <a:ext uri="{FF2B5EF4-FFF2-40B4-BE49-F238E27FC236}">
                <a16:creationId xmlns:a16="http://schemas.microsoft.com/office/drawing/2014/main" id="{AD14723F-16DE-4734-870E-24347A711F89}"/>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This is an existing default we don't lock down. An Application Password is like a spare key cut for one app: hashed, per-application, revocable on its own — the safer REST credential, and the only one core accepts for REST Basic Auth.</a:t>
            </a:r>
          </a:p>
        </p:txBody>
      </p:sp>
      <p:sp>
        <p:nvSpPr>
          <p:cNvPr id="5" name="Shape 3">
            <a:extLst xmlns:a="http://schemas.openxmlformats.org/drawingml/2006/main">
              <a:ext uri="{FF2B5EF4-FFF2-40B4-BE49-F238E27FC236}">
                <a16:creationId xmlns:a16="http://schemas.microsoft.com/office/drawing/2014/main" id="{3011E391-D117-41A1-90E8-1A1EF4B8EC38}"/>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A93627F9-974E-4AED-AC11-46B96579A7AD}"/>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disable_application_passwords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C88F33"/>
                </a:solidFill>
                <a:latin typeface="Courier New"/>
                <a:ea typeface="Courier New"/>
                <a:cs typeface="Courier New"/>
              </a:rPr>
              <a:t>no (available)</a:t>
            </a:r>
          </a:p>
        </p:txBody>
      </p:sp>
      <p:sp>
        <p:nvSpPr>
          <p:cNvPr id="7" name="Shape 5">
            <a:extLst xmlns:a="http://schemas.openxmlformats.org/drawingml/2006/main">
              <a:ext uri="{FF2B5EF4-FFF2-40B4-BE49-F238E27FC236}">
                <a16:creationId xmlns:a16="http://schemas.microsoft.com/office/drawing/2014/main" id="{91B4B8CC-E69B-4894-8D8C-19DADF8C71D1}"/>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4D4F67BC-1A1F-41DD-A9A8-4DD18ADC3675}"/>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250">
                <a:solidFill>
                  <a:srgbClr val="8FBF9F"/>
                </a:solidFill>
                <a:latin typeface="Courier New"/>
                <a:ea typeface="Courier New"/>
                <a:cs typeface="Courier New"/>
              </a:rPr>
              <a:t>// available by default —</a:t>
            </a:r>
          </a:p>
          <a:p xmlns:a="http://schemas.openxmlformats.org/drawingml/2006/main">
            <a:pPr marL="0" indent="0" algn="l">
              <a:lnSpc>
                <a:spcPct val="108000"/>
              </a:lnSpc>
              <a:buNone/>
            </a:pPr>
            <a:r>
              <a:rPr sz="1250">
                <a:solidFill>
                  <a:srgbClr val="8FBF9F"/>
                </a:solidFill>
                <a:latin typeface="Courier New"/>
                <a:ea typeface="Courier New"/>
                <a:cs typeface="Courier New"/>
              </a:rPr>
              <a:t>// prohibit only if opted in</a:t>
            </a:r>
          </a:p>
          <a:p xmlns:a="http://schemas.openxmlformats.org/drawingml/2006/main">
            <a:pPr marL="0" indent="0" algn="l">
              <a:lnSpc>
                <a:spcPct val="108000"/>
              </a:lnSpc>
              <a:buNone/>
            </a:pPr>
            <a:r>
              <a:rPr sz="1250">
                <a:solidFill>
                  <a:srgbClr val="DCEAF1"/>
                </a:solidFill>
                <a:latin typeface="Courier New"/>
                <a:ea typeface="Courier New"/>
                <a:cs typeface="Courier New"/>
              </a:rPr>
              <a:t>if ( wpyeg_defaults_enabled(</a:t>
            </a:r>
          </a:p>
          <a:p xmlns:a="http://schemas.openxmlformats.org/drawingml/2006/main">
            <a:pPr marL="0" indent="0" algn="l">
              <a:lnSpc>
                <a:spcPct val="108000"/>
              </a:lnSpc>
              <a:buNone/>
            </a:pPr>
            <a:r>
              <a:rPr sz="1250">
                <a:solidFill>
                  <a:srgbClr val="DCEAF1"/>
                </a:solidFill>
                <a:latin typeface="Courier New"/>
                <a:ea typeface="Courier New"/>
                <a:cs typeface="Courier New"/>
              </a:rPr>
              <a:t>       'disable_application_passwords' ) ) {</a:t>
            </a:r>
          </a:p>
          <a:p xmlns:a="http://schemas.openxmlformats.org/drawingml/2006/main">
            <a:pPr marL="0" indent="0" algn="l">
              <a:lnSpc>
                <a:spcPct val="108000"/>
              </a:lnSpc>
              <a:buNone/>
            </a:pPr>
            <a:r>
              <a:rPr sz="1250">
                <a:solidFill>
                  <a:srgbClr val="DCEAF1"/>
                </a:solidFill>
                <a:latin typeface="Courier New"/>
                <a:ea typeface="Courier New"/>
                <a:cs typeface="Courier New"/>
              </a:rPr>
              <a:t>  add_filter(</a:t>
            </a:r>
          </a:p>
          <a:p xmlns:a="http://schemas.openxmlformats.org/drawingml/2006/main">
            <a:pPr marL="0" indent="0" algn="l">
              <a:lnSpc>
                <a:spcPct val="108000"/>
              </a:lnSpc>
              <a:buNone/>
            </a:pPr>
            <a:r>
              <a:rPr sz="1250">
                <a:solidFill>
                  <a:srgbClr val="E7C070"/>
                </a:solidFill>
                <a:latin typeface="Courier New"/>
                <a:ea typeface="Courier New"/>
                <a:cs typeface="Courier New"/>
              </a:rPr>
              <a:t>    'wp_is_application_passwords_available',</a:t>
            </a:r>
          </a:p>
          <a:p xmlns:a="http://schemas.openxmlformats.org/drawingml/2006/main">
            <a:pPr marL="0" indent="0" algn="l">
              <a:lnSpc>
                <a:spcPct val="108000"/>
              </a:lnSpc>
              <a:buNone/>
            </a:pPr>
            <a:r>
              <a:rPr sz="1250">
                <a:solidFill>
                  <a:srgbClr val="E7C070"/>
                </a:solidFill>
                <a:latin typeface="Courier New"/>
                <a:ea typeface="Courier New"/>
                <a:cs typeface="Courier New"/>
              </a:rPr>
              <a:t>    '__return_false'</a:t>
            </a:r>
          </a:p>
          <a:p xmlns:a="http://schemas.openxmlformats.org/drawingml/2006/main">
            <a:pPr marL="0" indent="0" algn="l">
              <a:lnSpc>
                <a:spcPct val="108000"/>
              </a:lnSpc>
              <a:buNone/>
            </a:pPr>
            <a:r>
              <a:rPr sz="1250">
                <a:solidFill>
                  <a:srgbClr val="DCEAF1"/>
                </a:solidFill>
                <a:latin typeface="Courier New"/>
                <a:ea typeface="Courier New"/>
                <a:cs typeface="Courier New"/>
              </a:rPr>
              <a:t>  );</a:t>
            </a:r>
          </a:p>
          <a:p xmlns:a="http://schemas.openxmlformats.org/drawingml/2006/main">
            <a:pPr marL="0" indent="0" algn="l">
              <a:lnSpc>
                <a:spcPct val="108000"/>
              </a:lnSpc>
              <a:buNone/>
            </a:pPr>
            <a:r>
              <a:rPr sz="1250">
                <a:solidFill>
                  <a:srgbClr val="DCEAF1"/>
                </a:solidFill>
                <a:latin typeface="Courier New"/>
                <a:ea typeface="Courier New"/>
                <a:cs typeface="Courier New"/>
              </a:rPr>
              <a:t>}</a:t>
            </a:r>
          </a:p>
        </p:txBody>
      </p:sp>
      <p:sp>
        <p:nvSpPr>
          <p:cNvPr id="9" name="Text 7">
            <a:extLst xmlns:a="http://schemas.openxmlformats.org/drawingml/2006/main">
              <a:ext uri="{FF2B5EF4-FFF2-40B4-BE49-F238E27FC236}">
                <a16:creationId xmlns:a16="http://schemas.microsoft.com/office/drawing/2014/main" id="{BF653A58-5828-40CF-8FD6-21023823CBED}"/>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7D30152D-9BD9-4F73-9D8B-E8BE73B9B085}"/>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11</a:t>
            </a:r>
          </a:p>
        </p:txBody>
      </p:sp>
    </p:spTree>
    <p:extLst>
      <p:ext uri="{BB962C8B-B14F-4D97-AF65-F5344CB8AC3E}">
        <p14:creationId xmlns:p14="http://schemas.microsoft.com/office/powerpoint/2010/main" val="781013838"/>
      </p:ext>
    </p:extLst>
  </p:cSld>
</p:sld>
</file>

<file path=ppt/slides/slide12.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514EDD-F4F9-4B40-8049-D5B5686AE071}"/>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SECURITY · 5 of 6</a:t>
            </a:r>
          </a:p>
        </p:txBody>
      </p:sp>
      <p:sp>
        <p:nvSpPr>
          <p:cNvPr id="3" name="Text 1">
            <a:extLst xmlns:a="http://schemas.openxmlformats.org/drawingml/2006/main">
              <a:ext uri="{FF2B5EF4-FFF2-40B4-BE49-F238E27FC236}">
                <a16:creationId xmlns:a16="http://schemas.microsoft.com/office/drawing/2014/main" id="{41CCB56D-0E22-4ADA-92E2-886B3E7F73A3}"/>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Screen breaches without sending the password</a:t>
            </a:r>
          </a:p>
        </p:txBody>
      </p:sp>
      <p:sp>
        <p:nvSpPr>
          <p:cNvPr id="4" name="Text 2">
            <a:extLst xmlns:a="http://schemas.openxmlformats.org/drawingml/2006/main">
              <a:ext uri="{FF2B5EF4-FFF2-40B4-BE49-F238E27FC236}">
                <a16:creationId xmlns:a16="http://schemas.microsoft.com/office/drawing/2014/main" id="{98EF94B6-90D1-4991-B493-8833B834F5DA}"/>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p>
        </p:txBody>
      </p:sp>
      <p:sp>
        <p:nvSpPr>
          <p:cNvPr id="5" name="Shape 3">
            <a:extLst xmlns:a="http://schemas.openxmlformats.org/drawingml/2006/main">
              <a:ext uri="{FF2B5EF4-FFF2-40B4-BE49-F238E27FC236}">
                <a16:creationId xmlns:a16="http://schemas.microsoft.com/office/drawing/2014/main" id="{90A264C7-8F8A-4888-8EDD-A2E74B90BC98}"/>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2D615D64-09D1-4E18-B138-D450B9DDA8BA}"/>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require_strong_passwords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yes</a:t>
            </a:r>
          </a:p>
        </p:txBody>
      </p:sp>
      <p:sp>
        <p:nvSpPr>
          <p:cNvPr id="7" name="Shape 5">
            <a:extLst xmlns:a="http://schemas.openxmlformats.org/drawingml/2006/main">
              <a:ext uri="{FF2B5EF4-FFF2-40B4-BE49-F238E27FC236}">
                <a16:creationId xmlns:a16="http://schemas.microsoft.com/office/drawing/2014/main" id="{9B529A4D-C3EF-4789-924F-357C53F4B013}"/>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62131DDD-44D2-4322-B028-85460D58DCED}"/>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8FBF9F"/>
                </a:solidFill>
                <a:latin typeface="Courier New"/>
                <a:ea typeface="Courier New"/>
                <a:cs typeface="Courier New"/>
              </a:rPr>
              <a:t>$hash   = strtoupper( sha1( $pw ) );</a:t>
            </a:r>
          </a:p>
          <a:p xmlns:a="http://schemas.openxmlformats.org/drawingml/2006/main">
            <a:pPr marL="0" indent="0" algn="l">
              <a:lnSpc>
                <a:spcPct val="108000"/>
              </a:lnSpc>
              <a:buNone/>
            </a:pPr>
            <a:r>
              <a:rPr sz="1150">
                <a:solidFill>
                  <a:srgbClr val="E7C070"/>
                </a:solidFill>
                <a:latin typeface="Courier New"/>
                <a:ea typeface="Courier New"/>
                <a:cs typeface="Courier New"/>
              </a:rPr>
              <a:t>$prefix = substr( $hash, 0, 5 );</a:t>
            </a:r>
          </a:p>
          <a:p xmlns:a="http://schemas.openxmlformats.org/drawingml/2006/main">
            <a:pPr marL="0" indent="0" algn="l">
              <a:lnSpc>
                <a:spcPct val="108000"/>
              </a:lnSpc>
              <a:buNone/>
            </a:pPr>
            <a:r>
              <a:rPr sz="1150">
                <a:solidFill>
                  <a:srgbClr val="DCEAF1"/>
                </a:solidFill>
                <a:latin typeface="Courier New"/>
                <a:ea typeface="Courier New"/>
                <a:cs typeface="Courier New"/>
              </a:rPr>
              <a:t>$suffix = substr( $hash, 5 );</a:t>
            </a:r>
          </a:p>
          <a:p xmlns:a="http://schemas.openxmlformats.org/drawingml/2006/main">
            <a:pPr marL="0" indent="0" algn="l">
              <a:lnSpc>
                <a:spcPct val="108000"/>
              </a:lnSpc>
              <a:buNone/>
            </a:pPr>
            <a:r>
              <a:rPr sz="1150">
                <a:solidFill>
                  <a:srgbClr val="DCEAF1"/>
                </a:solidFill>
                <a:latin typeface="Courier New"/>
                <a:ea typeface="Courier New"/>
                <a:cs typeface="Courier New"/>
              </a:rPr>
              <a:t/>
            </a:r>
          </a:p>
          <a:p xmlns:a="http://schemas.openxmlformats.org/drawingml/2006/main">
            <a:pPr marL="0" indent="0" algn="l">
              <a:lnSpc>
                <a:spcPct val="108000"/>
              </a:lnSpc>
              <a:buNone/>
            </a:pPr>
            <a:r>
              <a:rPr sz="1150">
                <a:solidFill>
                  <a:srgbClr val="DCEAF1"/>
                </a:solidFill>
                <a:latin typeface="Courier New"/>
                <a:ea typeface="Courier New"/>
                <a:cs typeface="Courier New"/>
              </a:rPr>
              <a:t>// HIBP receives $prefix and returns</a:t>
            </a:r>
          </a:p>
          <a:p xmlns:a="http://schemas.openxmlformats.org/drawingml/2006/main">
            <a:pPr marL="0" indent="0" algn="l">
              <a:lnSpc>
                <a:spcPct val="108000"/>
              </a:lnSpc>
              <a:buNone/>
            </a:pPr>
            <a:r>
              <a:rPr sz="1150">
                <a:solidFill>
                  <a:srgbClr val="8FBF9F"/>
                </a:solidFill>
                <a:latin typeface="Courier New"/>
                <a:ea typeface="Courier New"/>
                <a:cs typeface="Courier New"/>
              </a:rPr>
              <a:t>// matching suffixes plus breach counts.</a:t>
            </a:r>
          </a:p>
          <a:p xmlns:a="http://schemas.openxmlformats.org/drawingml/2006/main">
            <a:pPr marL="0" indent="0" algn="l">
              <a:lnSpc>
                <a:spcPct val="108000"/>
              </a:lnSpc>
              <a:buNone/>
            </a:pPr>
            <a:r>
              <a:rPr sz="1150">
                <a:solidFill>
                  <a:srgbClr val="8FBF9F"/>
                </a:solidFill>
                <a:latin typeface="Courier New"/>
                <a:ea typeface="Courier New"/>
                <a:cs typeface="Courier New"/>
              </a:rPr>
              <a:t>// BBD compares $suffix locally.</a:t>
            </a:r>
          </a:p>
          <a:p xmlns:a="http://schemas.openxmlformats.org/drawingml/2006/main">
            <a:pPr marL="0" indent="0" algn="l">
              <a:lnSpc>
                <a:spcPct val="108000"/>
              </a:lnSpc>
              <a:buNone/>
            </a:pPr>
            <a:r>
              <a:rPr sz="1150">
                <a:solidFill>
                  <a:srgbClr val="E7C070"/>
                </a:solidFill>
                <a:latin typeface="Courier New"/>
                <a:ea typeface="Courier New"/>
                <a:cs typeface="Courier New"/>
              </a:rPr>
              <a:t>if ( response_contains( $suffix ) ) {</a:t>
            </a:r>
          </a:p>
          <a:p xmlns:a="http://schemas.openxmlformats.org/drawingml/2006/main">
            <a:pPr marL="0" indent="0" algn="l">
              <a:lnSpc>
                <a:spcPct val="108000"/>
              </a:lnSpc>
              <a:buNone/>
            </a:pPr>
            <a:r>
              <a:rPr sz="1150">
                <a:solidFill>
                  <a:srgbClr val="DCEAF1"/>
                </a:solidFill>
                <a:latin typeface="Courier New"/>
                <a:ea typeface="Courier New"/>
                <a:cs typeface="Courier New"/>
              </a:rPr>
              <a:t>    reject( 'Seen in a breach.' );</a:t>
            </a:r>
          </a:p>
          <a:p xmlns:a="http://schemas.openxmlformats.org/drawingml/2006/main">
            <a:pPr marL="0" indent="0" algn="l">
              <a:lnSpc>
                <a:spcPct val="108000"/>
              </a:lnSpc>
              <a:buNone/>
            </a:pPr>
            <a:r>
              <a:rPr sz="1150">
                <a:solidFill>
                  <a:srgbClr val="DCEAF1"/>
                </a:solidFill>
                <a:latin typeface="Courier New"/>
                <a:ea typeface="Courier New"/>
                <a:cs typeface="Courier New"/>
              </a:rPr>
              <a:t>}</a:t>
            </a:r>
          </a:p>
          <a:p xmlns:a="http://schemas.openxmlformats.org/drawingml/2006/main">
            <a:pPr marL="0" indent="0" algn="l">
              <a:lnSpc>
                <a:spcPct val="108000"/>
              </a:lnSpc>
              <a:buNone/>
            </a:pPr>
            <a:r>
              <a:rPr sz="1150">
                <a:solidFill>
                  <a:srgbClr val="DCEAF1"/>
                </a:solidFill>
                <a:latin typeface="Courier New"/>
                <a:ea typeface="Courier New"/>
                <a:cs typeface="Courier New"/>
              </a:rPr>
              <a:t>// invalid or 128 KiB =&gt; fail open</a:t>
            </a:r>
          </a:p>
        </p:txBody>
      </p:sp>
      <p:sp>
        <p:nvSpPr>
          <p:cNvPr id="9" name="Text 7">
            <a:extLst xmlns:a="http://schemas.openxmlformats.org/drawingml/2006/main">
              <a:ext uri="{FF2B5EF4-FFF2-40B4-BE49-F238E27FC236}">
                <a16:creationId xmlns:a16="http://schemas.microsoft.com/office/drawing/2014/main" id="{745378CC-04A4-4EA4-9C91-99CCFA76764F}"/>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197F0890-ED0D-4072-AE63-E0FC5559674C}"/>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12</a:t>
            </a:r>
          </a:p>
        </p:txBody>
      </p:sp>
    </p:spTree>
    <p:extLst>
      <p:ext uri="{BB962C8B-B14F-4D97-AF65-F5344CB8AC3E}">
        <p14:creationId xmlns:p14="http://schemas.microsoft.com/office/powerpoint/2010/main" val="1023462564"/>
      </p:ext>
    </p:extLst>
  </p:cSld>
</p:sld>
</file>

<file path=ppt/slides/slide13.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7230C90-43CC-418B-AC34-2B278699289D}"/>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SECURITY · 6 of 6</a:t>
            </a:r>
          </a:p>
        </p:txBody>
      </p:sp>
      <p:sp>
        <p:nvSpPr>
          <p:cNvPr id="3" name="Text 1">
            <a:extLst xmlns:a="http://schemas.openxmlformats.org/drawingml/2006/main">
              <a:ext uri="{FF2B5EF4-FFF2-40B4-BE49-F238E27FC236}">
                <a16:creationId xmlns:a16="http://schemas.microsoft.com/office/drawing/2014/main" id="{9C255718-7E57-4092-8BEE-44A2484F8F46}"/>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Remove fingerprints, add headers</a:t>
            </a:r>
          </a:p>
        </p:txBody>
      </p:sp>
      <p:sp>
        <p:nvSpPr>
          <p:cNvPr id="4" name="Text 2">
            <a:extLst xmlns:a="http://schemas.openxmlformats.org/drawingml/2006/main">
              <a:ext uri="{FF2B5EF4-FFF2-40B4-BE49-F238E27FC236}">
                <a16:creationId xmlns:a16="http://schemas.microsoft.com/office/drawing/2014/main" id="{048A4941-B65D-45CA-BD64-42720EE46824}"/>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Two headers with no real downside ship on; framing is its own setting, because it is the only one that can break a working site. Hiding the version is obscurity, not hardening, so it ships off.</a:t>
            </a:r>
          </a:p>
        </p:txBody>
      </p:sp>
      <p:sp>
        <p:nvSpPr>
          <p:cNvPr id="5" name="Shape 3">
            <a:extLst xmlns:a="http://schemas.openxmlformats.org/drawingml/2006/main">
              <a:ext uri="{FF2B5EF4-FFF2-40B4-BE49-F238E27FC236}">
                <a16:creationId xmlns:a16="http://schemas.microsoft.com/office/drawing/2014/main" id="{580F9A75-2D3B-4962-9FFE-6C9215407755}"/>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F414396F-46A9-4D9A-83D6-FF53C278F1AA}"/>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security_headers / frame_options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yes / SAMEORIGIN</a:t>
            </a:r>
          </a:p>
        </p:txBody>
      </p:sp>
      <p:sp>
        <p:nvSpPr>
          <p:cNvPr id="7" name="Shape 5">
            <a:extLst xmlns:a="http://schemas.openxmlformats.org/drawingml/2006/main">
              <a:ext uri="{FF2B5EF4-FFF2-40B4-BE49-F238E27FC236}">
                <a16:creationId xmlns:a16="http://schemas.microsoft.com/office/drawing/2014/main" id="{4594B9D9-4080-4EC9-9FB8-68A733A2FD66}"/>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74B1DE39-F676-4C5F-A0A2-CD2B1019A131}"/>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E7C070"/>
                </a:solidFill>
                <a:latin typeface="Courier New"/>
                <a:ea typeface="Courier New"/>
                <a:cs typeface="Courier New"/>
              </a:rPr>
              <a:t>remove_action( 'wp_head', 'wp_generator'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DCEAF1"/>
                </a:solidFill>
                <a:latin typeface="Courier New"/>
                <a:ea typeface="Courier New"/>
                <a:cs typeface="Courier New"/>
              </a:rPr>
              <a:t>add_filter( 'wp_headers', function ( $h ) {</a:t>
            </a:r>
          </a:p>
          <a:p xmlns:a="http://schemas.openxmlformats.org/drawingml/2006/main">
            <a:pPr marL="0" indent="0" algn="l">
              <a:lnSpc>
                <a:spcPct val="108000"/>
              </a:lnSpc>
              <a:buNone/>
            </a:pPr>
            <a:r>
              <a:rPr sz="1150">
                <a:solidFill>
                  <a:srgbClr val="8FBF9F"/>
                </a:solidFill>
                <a:latin typeface="Courier New"/>
                <a:ea typeface="Courier New"/>
                <a:cs typeface="Courier New"/>
              </a:rPr>
              <a:t>  // only fill in what nothing else set</a:t>
            </a:r>
          </a:p>
          <a:p xmlns:a="http://schemas.openxmlformats.org/drawingml/2006/main">
            <a:pPr marL="0" indent="0" algn="l">
              <a:lnSpc>
                <a:spcPct val="108000"/>
              </a:lnSpc>
              <a:buNone/>
            </a:pPr>
            <a:r>
              <a:rPr sz="1150">
                <a:solidFill>
                  <a:srgbClr val="DCEAF1"/>
                </a:solidFill>
                <a:latin typeface="Courier New"/>
                <a:ea typeface="Courier New"/>
                <a:cs typeface="Courier New"/>
              </a:rPr>
              <a:t>  if ( ! isset( $h['X-Content-Type-Options'] ) )</a:t>
            </a:r>
          </a:p>
          <a:p xmlns:a="http://schemas.openxmlformats.org/drawingml/2006/main">
            <a:pPr marL="0" indent="0" algn="l">
              <a:lnSpc>
                <a:spcPct val="108000"/>
              </a:lnSpc>
              <a:buNone/>
            </a:pPr>
            <a:r>
              <a:rPr sz="1150">
                <a:solidFill>
                  <a:srgbClr val="E7C070"/>
                </a:solidFill>
                <a:latin typeface="Courier New"/>
                <a:ea typeface="Courier New"/>
                <a:cs typeface="Courier New"/>
              </a:rPr>
              <a:t>    $h['X-Content-Type-Options'] = 'nosniff';</a:t>
            </a:r>
          </a:p>
          <a:p xmlns:a="http://schemas.openxmlformats.org/drawingml/2006/main">
            <a:pPr marL="0" indent="0" algn="l">
              <a:lnSpc>
                <a:spcPct val="108000"/>
              </a:lnSpc>
              <a:buNone/>
            </a:pPr>
            <a:r>
              <a:rPr sz="1150">
                <a:solidFill>
                  <a:srgbClr val="DCEAF1"/>
                </a:solidFill>
                <a:latin typeface="Courier New"/>
                <a:ea typeface="Courier New"/>
                <a:cs typeface="Courier New"/>
              </a:rPr>
              <a:t>  if ( ! isset( $h['Referrer-Policy'] ) )</a:t>
            </a:r>
          </a:p>
          <a:p xmlns:a="http://schemas.openxmlformats.org/drawingml/2006/main">
            <a:pPr marL="0" indent="0" algn="l">
              <a:lnSpc>
                <a:spcPct val="108000"/>
              </a:lnSpc>
              <a:buNone/>
            </a:pPr>
            <a:r>
              <a:rPr sz="1150">
                <a:solidFill>
                  <a:srgbClr val="E7C070"/>
                </a:solidFill>
                <a:latin typeface="Courier New"/>
                <a:ea typeface="Courier New"/>
                <a:cs typeface="Courier New"/>
              </a:rPr>
              <a:t>    $h['Referrer-Policy'] =</a:t>
            </a:r>
          </a:p>
          <a:p xmlns:a="http://schemas.openxmlformats.org/drawingml/2006/main">
            <a:pPr marL="0" indent="0" algn="l">
              <a:lnSpc>
                <a:spcPct val="108000"/>
              </a:lnSpc>
              <a:buNone/>
            </a:pPr>
            <a:r>
              <a:rPr sz="1150">
                <a:solidFill>
                  <a:srgbClr val="E7C070"/>
                </a:solidFill>
                <a:latin typeface="Courier New"/>
                <a:ea typeface="Courier New"/>
                <a:cs typeface="Courier New"/>
              </a:rPr>
              <a:t>      'strict-origin-when-cross-origin';</a:t>
            </a:r>
          </a:p>
          <a:p xmlns:a="http://schemas.openxmlformats.org/drawingml/2006/main">
            <a:pPr marL="0" indent="0" algn="l">
              <a:lnSpc>
                <a:spcPct val="108000"/>
              </a:lnSpc>
              <a:buNone/>
            </a:pPr>
            <a:r>
              <a:rPr sz="1150">
                <a:solidFill>
                  <a:srgbClr val="DCEAF1"/>
                </a:solidFill>
                <a:latin typeface="Courier New"/>
                <a:ea typeface="Courier New"/>
                <a:cs typeface="Courier New"/>
              </a:rPr>
              <a:t>  return $h;</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8FBF9F"/>
                </a:solidFill>
                <a:latin typeface="Courier New"/>
                <a:ea typeface="Courier New"/>
                <a:cs typeface="Courier New"/>
              </a:rPr>
              <a:t>// framing is its own setting - see the notes</a:t>
            </a:r>
          </a:p>
        </p:txBody>
      </p:sp>
      <p:sp>
        <p:nvSpPr>
          <p:cNvPr id="9" name="Text 7">
            <a:extLst xmlns:a="http://schemas.openxmlformats.org/drawingml/2006/main">
              <a:ext uri="{FF2B5EF4-FFF2-40B4-BE49-F238E27FC236}">
                <a16:creationId xmlns:a16="http://schemas.microsoft.com/office/drawing/2014/main" id="{650B98AA-DAA8-4095-8CDA-B755EB5192BE}"/>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4A0984B9-5154-4414-827B-CC5FE1A01305}"/>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13</a:t>
            </a:r>
          </a:p>
        </p:txBody>
      </p:sp>
    </p:spTree>
    <p:extLst>
      <p:ext uri="{BB962C8B-B14F-4D97-AF65-F5344CB8AC3E}">
        <p14:creationId xmlns:p14="http://schemas.microsoft.com/office/powerpoint/2010/main" val="219614781"/>
      </p:ext>
    </p:extLst>
  </p:cSld>
</p:sld>
</file>

<file path=ppt/slides/slide14.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C6F8EE7-67BB-4542-9F73-16C0EBB9CD87}"/>
              </a:ext>
            </a:extLst>
          </p:cNvPr>
          <p:cNvSpPr>
            <a:spLocks xmlns:a="http://schemas.openxmlformats.org/drawingml/2006/main" noGrp="1"/>
          </p:cNvSpPr>
          <p:nvPr/>
        </p:nvSpPr>
        <p:spPr>
          <a:xfrm xmlns:a="http://schemas.openxmlformats.org/drawingml/2006/main">
            <a:off x="0" y="5577840"/>
            <a:ext cx="12188952" cy="1280160"/>
          </a:xfrm>
          <a:prstGeom xmlns:a="http://schemas.openxmlformats.org/drawingml/2006/main" prst="rect">
            <a:avLst/>
          </a:prstGeom>
          <a:solidFill xmlns:a="http://schemas.openxmlformats.org/drawingml/2006/main">
            <a:srgbClr val="16323F"/>
          </a:solidFill>
        </p:spPr>
      </p:sp>
      <p:sp>
        <p:nvSpPr>
          <p:cNvPr id="3" name="Shape 1">
            <a:extLst xmlns:a="http://schemas.openxmlformats.org/drawingml/2006/main">
              <a:ext uri="{FF2B5EF4-FFF2-40B4-BE49-F238E27FC236}">
                <a16:creationId xmlns:a16="http://schemas.microsoft.com/office/drawing/2014/main" id="{A9F9DF62-ED56-493B-A45D-7CAA5B108644}"/>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ellipse">
            <a:avLst/>
          </a:prstGeom>
          <a:solidFill xmlns:a="http://schemas.openxmlformats.org/drawingml/2006/main">
            <a:srgbClr val="E0A94B"/>
          </a:solidFill>
        </p:spPr>
      </p:sp>
      <p:sp>
        <p:nvSpPr>
          <p:cNvPr id="4" name="Text 2">
            <a:extLst xmlns:a="http://schemas.openxmlformats.org/drawingml/2006/main">
              <a:ext uri="{FF2B5EF4-FFF2-40B4-BE49-F238E27FC236}">
                <a16:creationId xmlns:a16="http://schemas.microsoft.com/office/drawing/2014/main" id="{A5F77512-2761-4EB0-A6B7-91FD3BFC741F}"/>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70" b="1">
                <a:solidFill>
                  <a:srgbClr val="0F2733"/>
                </a:solidFill>
                <a:latin typeface="Cambria"/>
                <a:ea typeface="Cambria"/>
                <a:cs typeface="Cambria"/>
              </a:rPr>
              <a:t>2</a:t>
            </a:r>
          </a:p>
        </p:txBody>
      </p:sp>
      <p:sp>
        <p:nvSpPr>
          <p:cNvPr id="5" name="Text 3">
            <a:extLst xmlns:a="http://schemas.openxmlformats.org/drawingml/2006/main">
              <a:ext uri="{FF2B5EF4-FFF2-40B4-BE49-F238E27FC236}">
                <a16:creationId xmlns:a16="http://schemas.microsoft.com/office/drawing/2014/main" id="{74230459-94AF-491E-BA1B-0883104E9F44}"/>
              </a:ext>
            </a:extLst>
          </p:cNvPr>
          <p:cNvSpPr>
            <a:spLocks xmlns:a="http://schemas.openxmlformats.org/drawingml/2006/main" noGrp="1"/>
          </p:cNvSpPr>
          <p:nvPr/>
        </p:nvSpPr>
        <p:spPr>
          <a:xfrm xmlns:a="http://schemas.openxmlformats.org/drawingml/2006/main">
            <a:off x="1874520" y="100584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alibri"/>
                <a:ea typeface="Calibri"/>
                <a:cs typeface="Calibri"/>
              </a:rPr>
              <a:t>SECTION TWO</a:t>
            </a:r>
          </a:p>
        </p:txBody>
      </p:sp>
      <p:sp>
        <p:nvSpPr>
          <p:cNvPr id="6" name="Text 4">
            <a:extLst xmlns:a="http://schemas.openxmlformats.org/drawingml/2006/main">
              <a:ext uri="{FF2B5EF4-FFF2-40B4-BE49-F238E27FC236}">
                <a16:creationId xmlns:a16="http://schemas.microsoft.com/office/drawing/2014/main" id="{D4369B20-2F5C-42AA-8AFE-A45ADE8DAAFC}"/>
              </a:ext>
            </a:extLst>
          </p:cNvPr>
          <p:cNvSpPr>
            <a:spLocks xmlns:a="http://schemas.openxmlformats.org/drawingml/2006/main" noGrp="1"/>
          </p:cNvSpPr>
          <p:nvPr/>
        </p:nvSpPr>
        <p:spPr>
          <a:xfrm xmlns:a="http://schemas.openxmlformats.org/drawingml/2006/main">
            <a:off x="777240" y="2286000"/>
            <a:ext cx="1060704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600" b="1">
                <a:solidFill>
                  <a:srgbClr val="FFFFFF"/>
                </a:solidFill>
                <a:latin typeface="Cambria"/>
                <a:ea typeface="Cambria"/>
                <a:cs typeface="Cambria"/>
              </a:rPr>
              <a:t>Content &amp;</a:t>
            </a:r>
          </a:p>
          <a:p xmlns:a="http://schemas.openxmlformats.org/drawingml/2006/main">
            <a:pPr marL="0" indent="0">
              <a:buNone/>
            </a:pPr>
            <a:r>
              <a:rPr sz="4600" b="1">
                <a:solidFill>
                  <a:srgbClr val="FFFFFF"/>
                </a:solidFill>
                <a:latin typeface="Cambria"/>
                <a:ea typeface="Cambria"/>
                <a:cs typeface="Cambria"/>
              </a:rPr>
              <a:t>Public Surfaces</a:t>
            </a:r>
          </a:p>
        </p:txBody>
      </p:sp>
      <p:sp>
        <p:nvSpPr>
          <p:cNvPr id="7" name="Text 5">
            <a:extLst xmlns:a="http://schemas.openxmlformats.org/drawingml/2006/main">
              <a:ext uri="{FF2B5EF4-FFF2-40B4-BE49-F238E27FC236}">
                <a16:creationId xmlns:a16="http://schemas.microsoft.com/office/drawing/2014/main" id="{671D0D5D-B8B2-4ECF-9578-65A001AE107D}"/>
              </a:ext>
            </a:extLst>
          </p:cNvPr>
          <p:cNvSpPr>
            <a:spLocks xmlns:a="http://schemas.openxmlformats.org/drawingml/2006/main" noGrp="1"/>
          </p:cNvSpPr>
          <p:nvPr/>
        </p:nvSpPr>
        <p:spPr>
          <a:xfrm xmlns:a="http://schemas.openxmlformats.org/drawingml/2006/main">
            <a:off x="822960" y="3657600"/>
            <a:ext cx="10058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i="1">
                <a:solidFill>
                  <a:srgbClr val="D7E5EC"/>
                </a:solidFill>
                <a:latin typeface="Calibri"/>
                <a:ea typeface="Calibri"/>
                <a:cs typeface="Calibri"/>
              </a:rPr>
              <a:t>Close the spam funnels and the thin pages Google (and bots) love to crawl.</a:t>
            </a:r>
          </a:p>
        </p:txBody>
      </p:sp>
    </p:spTree>
    <p:extLst>
      <p:ext uri="{BB962C8B-B14F-4D97-AF65-F5344CB8AC3E}">
        <p14:creationId xmlns:p14="http://schemas.microsoft.com/office/powerpoint/2010/main" val="1261837813"/>
      </p:ext>
    </p:extLst>
  </p:cSld>
</p:sld>
</file>

<file path=ppt/slides/slide15.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E67DF85-34F9-433C-B82E-D0B438117988}"/>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CONTENT · 1 of 3</a:t>
            </a:r>
          </a:p>
        </p:txBody>
      </p:sp>
      <p:sp>
        <p:nvSpPr>
          <p:cNvPr id="3" name="Text 1">
            <a:extLst xmlns:a="http://schemas.openxmlformats.org/drawingml/2006/main">
              <a:ext uri="{FF2B5EF4-FFF2-40B4-BE49-F238E27FC236}">
                <a16:creationId xmlns:a16="http://schemas.microsoft.com/office/drawing/2014/main" id="{0BD84755-939C-4FC1-B808-137C24E6ABC7}"/>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Disable comments, trackbacks &amp; pingbacks</a:t>
            </a:r>
          </a:p>
        </p:txBody>
      </p:sp>
      <p:sp>
        <p:nvSpPr>
          <p:cNvPr id="4" name="Text 2">
            <a:extLst xmlns:a="http://schemas.openxmlformats.org/drawingml/2006/main">
              <a:ext uri="{FF2B5EF4-FFF2-40B4-BE49-F238E27FC236}">
                <a16:creationId xmlns:a16="http://schemas.microsoft.com/office/drawing/2014/main" id="{9C2453C5-5FF2-45DA-9F0C-68DF90717C31}"/>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For many sites, comments are a spam magnet with little upside. Here we close them everywhere, hide existing threads, and drop the admin menu.</a:t>
            </a:r>
          </a:p>
        </p:txBody>
      </p:sp>
      <p:sp>
        <p:nvSpPr>
          <p:cNvPr id="5" name="Shape 3">
            <a:extLst xmlns:a="http://schemas.openxmlformats.org/drawingml/2006/main">
              <a:ext uri="{FF2B5EF4-FFF2-40B4-BE49-F238E27FC236}">
                <a16:creationId xmlns:a16="http://schemas.microsoft.com/office/drawing/2014/main" id="{EBF6130F-E78D-4325-9374-B75A91AD7847}"/>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89A4D4E9-4C3F-4C40-BECA-8766F3C7220E}"/>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disable_comments / disable_pingbacks / disable_self_pingbacks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yes each</a:t>
            </a:r>
          </a:p>
        </p:txBody>
      </p:sp>
      <p:sp>
        <p:nvSpPr>
          <p:cNvPr id="7" name="Shape 5">
            <a:extLst xmlns:a="http://schemas.openxmlformats.org/drawingml/2006/main">
              <a:ext uri="{FF2B5EF4-FFF2-40B4-BE49-F238E27FC236}">
                <a16:creationId xmlns:a16="http://schemas.microsoft.com/office/drawing/2014/main" id="{8E0106A9-CB21-4B54-8E60-2CA5A90530F3}"/>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CC7E1AA5-1A7A-40B1-8900-40EC782BF8D4}"/>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E7C070"/>
                </a:solidFill>
                <a:latin typeface="Courier New"/>
                <a:ea typeface="Courier New"/>
                <a:cs typeface="Courier New"/>
              </a:rPr>
              <a:t>add_filter( 'comments_open', '__return_false', 20 );</a:t>
            </a:r>
          </a:p>
          <a:p xmlns:a="http://schemas.openxmlformats.org/drawingml/2006/main">
            <a:pPr marL="0" indent="0" algn="l">
              <a:lnSpc>
                <a:spcPct val="108000"/>
              </a:lnSpc>
              <a:buNone/>
            </a:pPr>
            <a:r>
              <a:rPr sz="1150">
                <a:solidFill>
                  <a:srgbClr val="E7C070"/>
                </a:solidFill>
                <a:latin typeface="Courier New"/>
                <a:ea typeface="Courier New"/>
                <a:cs typeface="Courier New"/>
              </a:rPr>
              <a:t>add_filter( 'pings_open',    '__return_false', 20 );</a:t>
            </a:r>
          </a:p>
          <a:p xmlns:a="http://schemas.openxmlformats.org/drawingml/2006/main">
            <a:pPr marL="0" indent="0" algn="l">
              <a:lnSpc>
                <a:spcPct val="108000"/>
              </a:lnSpc>
              <a:buNone/>
            </a:pPr>
            <a:r>
              <a:rPr sz="1150">
                <a:solidFill>
                  <a:srgbClr val="DCEAF1"/>
                </a:solidFill>
                <a:latin typeface="Courier New"/>
                <a:ea typeface="Courier New"/>
                <a:cs typeface="Courier New"/>
              </a:rPr>
              <a:t>add_filter( 'comments_array',</a:t>
            </a:r>
          </a:p>
          <a:p xmlns:a="http://schemas.openxmlformats.org/drawingml/2006/main">
            <a:pPr marL="0" indent="0" algn="l">
              <a:lnSpc>
                <a:spcPct val="108000"/>
              </a:lnSpc>
              <a:buNone/>
            </a:pPr>
            <a:r>
              <a:rPr sz="1150">
                <a:solidFill>
                  <a:srgbClr val="DCEAF1"/>
                </a:solidFill>
                <a:latin typeface="Courier New"/>
                <a:ea typeface="Courier New"/>
                <a:cs typeface="Courier New"/>
              </a:rPr>
              <a:t>            '__return_empty_array', 20 );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8FBF9F"/>
                </a:solidFill>
                <a:latin typeface="Courier New"/>
                <a:ea typeface="Courier New"/>
                <a:cs typeface="Courier New"/>
              </a:rPr>
              <a:t>// + remove_post_type_support() on init</a:t>
            </a:r>
          </a:p>
          <a:p xmlns:a="http://schemas.openxmlformats.org/drawingml/2006/main">
            <a:pPr marL="0" indent="0" algn="l">
              <a:lnSpc>
                <a:spcPct val="108000"/>
              </a:lnSpc>
              <a:buNone/>
            </a:pPr>
            <a:r>
              <a:rPr sz="1150">
                <a:solidFill>
                  <a:srgbClr val="8FBF9F"/>
                </a:solidFill>
                <a:latin typeface="Courier New"/>
                <a:ea typeface="Courier New"/>
                <a:cs typeface="Courier New"/>
              </a:rPr>
              <a:t>// + remove_menu_page('edit-comments.php')</a:t>
            </a:r>
          </a:p>
          <a:p xmlns:a="http://schemas.openxmlformats.org/drawingml/2006/main">
            <a:pPr marL="0" indent="0" algn="l">
              <a:lnSpc>
                <a:spcPct val="108000"/>
              </a:lnSpc>
              <a:buNone/>
            </a:pPr>
            <a:r>
              <a:rPr sz="1150">
                <a:solidFill>
                  <a:srgbClr val="8FBF9F"/>
                </a:solidFill>
                <a:latin typeface="Courier New"/>
                <a:ea typeface="Courier New"/>
                <a:cs typeface="Courier New"/>
              </a:rPr>
              <a:t>// + drop the admin-bar comments node</a:t>
            </a:r>
          </a:p>
        </p:txBody>
      </p:sp>
      <p:sp>
        <p:nvSpPr>
          <p:cNvPr id="9" name="Text 7">
            <a:extLst xmlns:a="http://schemas.openxmlformats.org/drawingml/2006/main">
              <a:ext uri="{FF2B5EF4-FFF2-40B4-BE49-F238E27FC236}">
                <a16:creationId xmlns:a16="http://schemas.microsoft.com/office/drawing/2014/main" id="{18B0B00E-AD12-4C94-900E-EC231622F233}"/>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D82200A6-9E7E-4441-A9F5-6440DCB15648}"/>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15</a:t>
            </a:r>
          </a:p>
        </p:txBody>
      </p:sp>
    </p:spTree>
    <p:extLst>
      <p:ext uri="{BB962C8B-B14F-4D97-AF65-F5344CB8AC3E}">
        <p14:creationId xmlns:p14="http://schemas.microsoft.com/office/powerpoint/2010/main" val="1698930245"/>
      </p:ext>
    </p:extLst>
  </p:cSld>
</p:sld>
</file>

<file path=ppt/slides/slide16.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C03F41C-0285-41AC-85A7-C7455D3CEBE3}"/>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CONTENT · 2 of 3</a:t>
            </a:r>
          </a:p>
        </p:txBody>
      </p:sp>
      <p:sp>
        <p:nvSpPr>
          <p:cNvPr id="3" name="Text 1">
            <a:extLst xmlns:a="http://schemas.openxmlformats.org/drawingml/2006/main">
              <a:ext uri="{FF2B5EF4-FFF2-40B4-BE49-F238E27FC236}">
                <a16:creationId xmlns:a16="http://schemas.microsoft.com/office/drawing/2014/main" id="{DD650998-D4CC-4E4A-8EA0-EA4510001BE9}"/>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Redirect author &amp; attachment pages</a:t>
            </a:r>
          </a:p>
        </p:txBody>
      </p:sp>
      <p:sp>
        <p:nvSpPr>
          <p:cNvPr id="4" name="Text 2">
            <a:extLst xmlns:a="http://schemas.openxmlformats.org/drawingml/2006/main">
              <a:ext uri="{FF2B5EF4-FFF2-40B4-BE49-F238E27FC236}">
                <a16:creationId xmlns:a16="http://schemas.microsoft.com/office/drawing/2014/main" id="{63CC66D7-3F84-4909-A99D-2535A6D7EDA1}"/>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Author archives expose the authors' usernames in the URL, and attachment pages are near-empty media wrappers. Both dilute SEO and are targets for trouble. Same hook, two conditions.</a:t>
            </a:r>
          </a:p>
        </p:txBody>
      </p:sp>
      <p:sp>
        <p:nvSpPr>
          <p:cNvPr id="5" name="Shape 3">
            <a:extLst xmlns:a="http://schemas.openxmlformats.org/drawingml/2006/main">
              <a:ext uri="{FF2B5EF4-FFF2-40B4-BE49-F238E27FC236}">
                <a16:creationId xmlns:a16="http://schemas.microsoft.com/office/drawing/2014/main" id="{5BBDF500-69F5-4FDA-B8A3-D354FA5DDE3E}"/>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A2D51BC4-8A85-4B02-947E-9C4F3F3ECC4F}"/>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disable_author_archives / redirect_attachment_pages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yes / yes</a:t>
            </a:r>
          </a:p>
        </p:txBody>
      </p:sp>
      <p:sp>
        <p:nvSpPr>
          <p:cNvPr id="7" name="Shape 5">
            <a:extLst xmlns:a="http://schemas.openxmlformats.org/drawingml/2006/main">
              <a:ext uri="{FF2B5EF4-FFF2-40B4-BE49-F238E27FC236}">
                <a16:creationId xmlns:a16="http://schemas.microsoft.com/office/drawing/2014/main" id="{AF3CC886-6280-4EBD-AB35-9A48A0F7ACB7}"/>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2E004FDF-7B66-4B9E-B4EB-2D05025FD92B}"/>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DCEAF1"/>
                </a:solidFill>
                <a:latin typeface="Courier New"/>
                <a:ea typeface="Courier New"/>
                <a:cs typeface="Courier New"/>
              </a:rPr>
              <a:t>add_action( 'template_redirect', function () {</a:t>
            </a:r>
          </a:p>
          <a:p xmlns:a="http://schemas.openxmlformats.org/drawingml/2006/main">
            <a:pPr marL="0" indent="0" algn="l">
              <a:lnSpc>
                <a:spcPct val="108000"/>
              </a:lnSpc>
              <a:buNone/>
            </a:pPr>
            <a:r>
              <a:rPr sz="1150">
                <a:solidFill>
                  <a:srgbClr val="E7C070"/>
                </a:solidFill>
                <a:latin typeface="Courier New"/>
                <a:ea typeface="Courier New"/>
                <a:cs typeface="Courier New"/>
              </a:rPr>
              <a:t>  if ( is_author() ) {</a:t>
            </a:r>
          </a:p>
          <a:p xmlns:a="http://schemas.openxmlformats.org/drawingml/2006/main">
            <a:pPr marL="0" indent="0" algn="l">
              <a:lnSpc>
                <a:spcPct val="108000"/>
              </a:lnSpc>
              <a:buNone/>
            </a:pPr>
            <a:r>
              <a:rPr sz="1150">
                <a:solidFill>
                  <a:srgbClr val="DCEAF1"/>
                </a:solidFill>
                <a:latin typeface="Courier New"/>
                <a:ea typeface="Courier New"/>
                <a:cs typeface="Courier New"/>
              </a:rPr>
              <a:t>    wp_safe_redirect( home_url('/'), 301 );</a:t>
            </a:r>
          </a:p>
          <a:p xmlns:a="http://schemas.openxmlformats.org/drawingml/2006/main">
            <a:pPr marL="0" indent="0" algn="l">
              <a:lnSpc>
                <a:spcPct val="108000"/>
              </a:lnSpc>
              <a:buNone/>
            </a:pPr>
            <a:r>
              <a:rPr sz="1150">
                <a:solidFill>
                  <a:srgbClr val="DCEAF1"/>
                </a:solidFill>
                <a:latin typeface="Courier New"/>
                <a:ea typeface="Courier New"/>
                <a:cs typeface="Courier New"/>
              </a:rPr>
              <a:t>    exit;</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E7C070"/>
                </a:solidFill>
                <a:latin typeface="Courier New"/>
                <a:ea typeface="Courier New"/>
                <a:cs typeface="Courier New"/>
              </a:rPr>
              <a:t>  if ( is_attachment() ) {</a:t>
            </a:r>
          </a:p>
          <a:p xmlns:a="http://schemas.openxmlformats.org/drawingml/2006/main">
            <a:pPr marL="0" indent="0" algn="l">
              <a:lnSpc>
                <a:spcPct val="108000"/>
              </a:lnSpc>
              <a:buNone/>
            </a:pPr>
            <a:r>
              <a:rPr sz="1150">
                <a:solidFill>
                  <a:srgbClr val="8FBF9F"/>
                </a:solidFill>
                <a:latin typeface="Courier New"/>
                <a:ea typeface="Courier New"/>
                <a:cs typeface="Courier New"/>
              </a:rPr>
              <a:t>    // parent post, else the FILE - never home</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p:txBody>
      </p:sp>
      <p:sp>
        <p:nvSpPr>
          <p:cNvPr id="9" name="Text 7">
            <a:extLst xmlns:a="http://schemas.openxmlformats.org/drawingml/2006/main">
              <a:ext uri="{FF2B5EF4-FFF2-40B4-BE49-F238E27FC236}">
                <a16:creationId xmlns:a16="http://schemas.microsoft.com/office/drawing/2014/main" id="{8EF10298-99DA-4057-A9C5-05796796E9CA}"/>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76A2D334-1923-48C0-92CB-AE06E5AE3651}"/>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16</a:t>
            </a:r>
          </a:p>
        </p:txBody>
      </p:sp>
    </p:spTree>
    <p:extLst>
      <p:ext uri="{BB962C8B-B14F-4D97-AF65-F5344CB8AC3E}">
        <p14:creationId xmlns:p14="http://schemas.microsoft.com/office/powerpoint/2010/main" val="343288435"/>
      </p:ext>
    </p:extLst>
  </p:cSld>
</p:sld>
</file>

<file path=ppt/slides/slide17.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7CB7CB9-D9C5-4C86-9D35-1A830DF6D36D}"/>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CONTENT · 3 of 3</a:t>
            </a:r>
          </a:p>
        </p:txBody>
      </p:sp>
      <p:sp>
        <p:nvSpPr>
          <p:cNvPr id="3" name="Text 1">
            <a:extLst xmlns:a="http://schemas.openxmlformats.org/drawingml/2006/main">
              <a:ext uri="{FF2B5EF4-FFF2-40B4-BE49-F238E27FC236}">
                <a16:creationId xmlns:a16="http://schemas.microsoft.com/office/drawing/2014/main" id="{C58435D5-FA4B-4257-BC5E-74D1A769F233}"/>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Disable the emoji script</a:t>
            </a:r>
          </a:p>
        </p:txBody>
      </p:sp>
      <p:sp>
        <p:nvSpPr>
          <p:cNvPr id="4" name="Text 2">
            <a:extLst xmlns:a="http://schemas.openxmlformats.org/drawingml/2006/main">
              <a:ext uri="{FF2B5EF4-FFF2-40B4-BE49-F238E27FC236}">
                <a16:creationId xmlns:a16="http://schemas.microsoft.com/office/drawing/2014/main" id="{AD9437F8-FD1A-4F15-B080-F1F3CB88F243}"/>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WordPress core injects an emoji-detection script and inline CSS on every page load, plus a DNS-prefetch hint. Modern browsers render emoji natively, so this is pure dead weight.</a:t>
            </a:r>
          </a:p>
        </p:txBody>
      </p:sp>
      <p:sp>
        <p:nvSpPr>
          <p:cNvPr id="5" name="Shape 3">
            <a:extLst xmlns:a="http://schemas.openxmlformats.org/drawingml/2006/main">
              <a:ext uri="{FF2B5EF4-FFF2-40B4-BE49-F238E27FC236}">
                <a16:creationId xmlns:a16="http://schemas.microsoft.com/office/drawing/2014/main" id="{EC5A275D-CB6C-403F-ACD9-0B43BC59F005}"/>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58282837-407E-4B65-AC5A-B7A64BE81305}"/>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disable_emojis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yes</a:t>
            </a:r>
          </a:p>
        </p:txBody>
      </p:sp>
      <p:sp>
        <p:nvSpPr>
          <p:cNvPr id="7" name="Shape 5">
            <a:extLst xmlns:a="http://schemas.openxmlformats.org/drawingml/2006/main">
              <a:ext uri="{FF2B5EF4-FFF2-40B4-BE49-F238E27FC236}">
                <a16:creationId xmlns:a16="http://schemas.microsoft.com/office/drawing/2014/main" id="{3DE54C1A-C7BC-4145-9FED-EF1B23DBFDBF}"/>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1E780F81-C2B9-41FE-A0EA-A711261DAF7C}"/>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DCEAF1"/>
                </a:solidFill>
                <a:latin typeface="Courier New"/>
                <a:ea typeface="Courier New"/>
                <a:cs typeface="Courier New"/>
              </a:rPr>
              <a:t>add_action( 'init', function () {</a:t>
            </a:r>
          </a:p>
          <a:p xmlns:a="http://schemas.openxmlformats.org/drawingml/2006/main">
            <a:pPr marL="0" indent="0" algn="l">
              <a:lnSpc>
                <a:spcPct val="108000"/>
              </a:lnSpc>
              <a:buNone/>
            </a:pPr>
            <a:r>
              <a:rPr sz="1150">
                <a:solidFill>
                  <a:srgbClr val="E7C070"/>
                </a:solidFill>
                <a:latin typeface="Courier New"/>
                <a:ea typeface="Courier New"/>
                <a:cs typeface="Courier New"/>
              </a:rPr>
              <a:t>  remove_action( 'wp_head',</a:t>
            </a:r>
          </a:p>
          <a:p xmlns:a="http://schemas.openxmlformats.org/drawingml/2006/main">
            <a:pPr marL="0" indent="0" algn="l">
              <a:lnSpc>
                <a:spcPct val="108000"/>
              </a:lnSpc>
              <a:buNone/>
            </a:pPr>
            <a:r>
              <a:rPr sz="1150">
                <a:solidFill>
                  <a:srgbClr val="E7C070"/>
                </a:solidFill>
                <a:latin typeface="Courier New"/>
                <a:ea typeface="Courier New"/>
                <a:cs typeface="Courier New"/>
              </a:rPr>
              <a:t>    'print_emoji_detection_script', 7 );</a:t>
            </a:r>
          </a:p>
          <a:p xmlns:a="http://schemas.openxmlformats.org/drawingml/2006/main">
            <a:pPr marL="0" indent="0" algn="l">
              <a:lnSpc>
                <a:spcPct val="108000"/>
              </a:lnSpc>
              <a:buNone/>
            </a:pPr>
            <a:r>
              <a:rPr sz="1150">
                <a:solidFill>
                  <a:srgbClr val="E7C070"/>
                </a:solidFill>
                <a:latin typeface="Courier New"/>
                <a:ea typeface="Courier New"/>
                <a:cs typeface="Courier New"/>
              </a:rPr>
              <a:t>  remove_action( 'wp_print_styles',</a:t>
            </a:r>
          </a:p>
          <a:p xmlns:a="http://schemas.openxmlformats.org/drawingml/2006/main">
            <a:pPr marL="0" indent="0" algn="l">
              <a:lnSpc>
                <a:spcPct val="108000"/>
              </a:lnSpc>
              <a:buNone/>
            </a:pPr>
            <a:r>
              <a:rPr sz="1150">
                <a:solidFill>
                  <a:srgbClr val="E7C070"/>
                </a:solidFill>
                <a:latin typeface="Courier New"/>
                <a:ea typeface="Courier New"/>
                <a:cs typeface="Courier New"/>
              </a:rPr>
              <a:t>    'print_emoji_styles' );</a:t>
            </a:r>
          </a:p>
          <a:p xmlns:a="http://schemas.openxmlformats.org/drawingml/2006/main">
            <a:pPr marL="0" indent="0" algn="l">
              <a:lnSpc>
                <a:spcPct val="108000"/>
              </a:lnSpc>
              <a:buNone/>
            </a:pPr>
            <a:r>
              <a:rPr sz="1150">
                <a:solidFill>
                  <a:srgbClr val="8FBF9F"/>
                </a:solidFill>
                <a:latin typeface="Courier New"/>
                <a:ea typeface="Courier New"/>
                <a:cs typeface="Courier New"/>
              </a:rPr>
              <a:t>  // ...admin + feed + mail variants too</a:t>
            </a:r>
          </a:p>
          <a:p xmlns:a="http://schemas.openxmlformats.org/drawingml/2006/main">
            <a:pPr marL="0" indent="0" algn="l">
              <a:lnSpc>
                <a:spcPct val="108000"/>
              </a:lnSpc>
              <a:buNone/>
            </a:pPr>
            <a:r>
              <a:rPr sz="1150">
                <a:solidFill>
                  <a:srgbClr val="DCEAF1"/>
                </a:solidFill>
                <a:latin typeface="Courier New"/>
                <a:ea typeface="Courier New"/>
                <a:cs typeface="Courier New"/>
              </a:rPr>
              <a:t>  add_filter( 'emoji_svg_url',</a:t>
            </a:r>
          </a:p>
          <a:p xmlns:a="http://schemas.openxmlformats.org/drawingml/2006/main">
            <a:pPr marL="0" indent="0" algn="l">
              <a:lnSpc>
                <a:spcPct val="108000"/>
              </a:lnSpc>
              <a:buNone/>
            </a:pPr>
            <a:r>
              <a:rPr sz="1150">
                <a:solidFill>
                  <a:srgbClr val="DCEAF1"/>
                </a:solidFill>
                <a:latin typeface="Courier New"/>
                <a:ea typeface="Courier New"/>
                <a:cs typeface="Courier New"/>
              </a:rPr>
              <a:t>              '__return_false'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p:txBody>
      </p:sp>
      <p:sp>
        <p:nvSpPr>
          <p:cNvPr id="9" name="Text 7">
            <a:extLst xmlns:a="http://schemas.openxmlformats.org/drawingml/2006/main">
              <a:ext uri="{FF2B5EF4-FFF2-40B4-BE49-F238E27FC236}">
                <a16:creationId xmlns:a16="http://schemas.microsoft.com/office/drawing/2014/main" id="{B5D45175-9AA5-4E4F-94AF-54953C551E3E}"/>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CE5AC576-7E1B-47AD-8095-2F3C3DEDA935}"/>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17</a:t>
            </a:r>
          </a:p>
        </p:txBody>
      </p:sp>
    </p:spTree>
    <p:extLst>
      <p:ext uri="{BB962C8B-B14F-4D97-AF65-F5344CB8AC3E}">
        <p14:creationId xmlns:p14="http://schemas.microsoft.com/office/powerpoint/2010/main" val="794601280"/>
      </p:ext>
    </p:extLst>
  </p:cSld>
</p:sld>
</file>

<file path=ppt/slides/slide18.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13002FF-72BA-4833-B7A2-EE0B663D6E24}"/>
              </a:ext>
            </a:extLst>
          </p:cNvPr>
          <p:cNvSpPr>
            <a:spLocks xmlns:a="http://schemas.openxmlformats.org/drawingml/2006/main" noGrp="1"/>
          </p:cNvSpPr>
          <p:nvPr/>
        </p:nvSpPr>
        <p:spPr>
          <a:xfrm xmlns:a="http://schemas.openxmlformats.org/drawingml/2006/main">
            <a:off x="0" y="5577840"/>
            <a:ext cx="12188952" cy="1280160"/>
          </a:xfrm>
          <a:prstGeom xmlns:a="http://schemas.openxmlformats.org/drawingml/2006/main" prst="rect">
            <a:avLst/>
          </a:prstGeom>
          <a:solidFill xmlns:a="http://schemas.openxmlformats.org/drawingml/2006/main">
            <a:srgbClr val="16323F"/>
          </a:solidFill>
        </p:spPr>
      </p:sp>
      <p:sp>
        <p:nvSpPr>
          <p:cNvPr id="3" name="Shape 1">
            <a:extLst xmlns:a="http://schemas.openxmlformats.org/drawingml/2006/main">
              <a:ext uri="{FF2B5EF4-FFF2-40B4-BE49-F238E27FC236}">
                <a16:creationId xmlns:a16="http://schemas.microsoft.com/office/drawing/2014/main" id="{88F820EA-62DD-489C-B4F4-9D34F700BF5F}"/>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ellipse">
            <a:avLst/>
          </a:prstGeom>
          <a:solidFill xmlns:a="http://schemas.openxmlformats.org/drawingml/2006/main">
            <a:srgbClr val="E0A94B"/>
          </a:solidFill>
        </p:spPr>
      </p:sp>
      <p:sp>
        <p:nvSpPr>
          <p:cNvPr id="4" name="Text 2">
            <a:extLst xmlns:a="http://schemas.openxmlformats.org/drawingml/2006/main">
              <a:ext uri="{FF2B5EF4-FFF2-40B4-BE49-F238E27FC236}">
                <a16:creationId xmlns:a16="http://schemas.microsoft.com/office/drawing/2014/main" id="{121E69B8-0D64-44E7-8131-5F67DD90F7E8}"/>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70" b="1">
                <a:solidFill>
                  <a:srgbClr val="0F2733"/>
                </a:solidFill>
                <a:latin typeface="Cambria"/>
                <a:ea typeface="Cambria"/>
                <a:cs typeface="Cambria"/>
              </a:rPr>
              <a:t>3</a:t>
            </a:r>
          </a:p>
        </p:txBody>
      </p:sp>
      <p:sp>
        <p:nvSpPr>
          <p:cNvPr id="5" name="Text 3">
            <a:extLst xmlns:a="http://schemas.openxmlformats.org/drawingml/2006/main">
              <a:ext uri="{FF2B5EF4-FFF2-40B4-BE49-F238E27FC236}">
                <a16:creationId xmlns:a16="http://schemas.microsoft.com/office/drawing/2014/main" id="{0EC0E733-9E3C-4EF6-8B38-B632189813CB}"/>
              </a:ext>
            </a:extLst>
          </p:cNvPr>
          <p:cNvSpPr>
            <a:spLocks xmlns:a="http://schemas.openxmlformats.org/drawingml/2006/main" noGrp="1"/>
          </p:cNvSpPr>
          <p:nvPr/>
        </p:nvSpPr>
        <p:spPr>
          <a:xfrm xmlns:a="http://schemas.openxmlformats.org/drawingml/2006/main">
            <a:off x="1874520" y="100584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alibri"/>
                <a:ea typeface="Calibri"/>
                <a:cs typeface="Calibri"/>
              </a:rPr>
              <a:t>SECTION THREE</a:t>
            </a:r>
          </a:p>
        </p:txBody>
      </p:sp>
      <p:sp>
        <p:nvSpPr>
          <p:cNvPr id="6" name="Text 4">
            <a:extLst xmlns:a="http://schemas.openxmlformats.org/drawingml/2006/main">
              <a:ext uri="{FF2B5EF4-FFF2-40B4-BE49-F238E27FC236}">
                <a16:creationId xmlns:a16="http://schemas.microsoft.com/office/drawing/2014/main" id="{4F98B69C-3E58-4A11-8786-8C96369B1F9A}"/>
              </a:ext>
            </a:extLst>
          </p:cNvPr>
          <p:cNvSpPr>
            <a:spLocks xmlns:a="http://schemas.openxmlformats.org/drawingml/2006/main" noGrp="1"/>
          </p:cNvSpPr>
          <p:nvPr/>
        </p:nvSpPr>
        <p:spPr>
          <a:xfrm xmlns:a="http://schemas.openxmlformats.org/drawingml/2006/main">
            <a:off x="777240" y="2286000"/>
            <a:ext cx="1060704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600" b="1">
                <a:solidFill>
                  <a:srgbClr val="FFFFFF"/>
                </a:solidFill>
                <a:latin typeface="Cambria"/>
                <a:ea typeface="Cambria"/>
                <a:cs typeface="Cambria"/>
              </a:rPr>
              <a:t>Admin UX &amp;</a:t>
            </a:r>
          </a:p>
          <a:p xmlns:a="http://schemas.openxmlformats.org/drawingml/2006/main">
            <a:pPr marL="0" indent="0">
              <a:buNone/>
            </a:pPr>
            <a:r>
              <a:rPr sz="4600" b="1">
                <a:solidFill>
                  <a:srgbClr val="FFFFFF"/>
                </a:solidFill>
                <a:latin typeface="Cambria"/>
                <a:ea typeface="Cambria"/>
                <a:cs typeface="Cambria"/>
              </a:rPr>
              <a:t>Login Sessions</a:t>
            </a:r>
          </a:p>
        </p:txBody>
      </p:sp>
      <p:sp>
        <p:nvSpPr>
          <p:cNvPr id="7" name="Text 5">
            <a:extLst xmlns:a="http://schemas.openxmlformats.org/drawingml/2006/main">
              <a:ext uri="{FF2B5EF4-FFF2-40B4-BE49-F238E27FC236}">
                <a16:creationId xmlns:a16="http://schemas.microsoft.com/office/drawing/2014/main" id="{D3835D8C-E3A5-4CC0-B80A-91A37F5FEBE4}"/>
              </a:ext>
            </a:extLst>
          </p:cNvPr>
          <p:cNvSpPr>
            <a:spLocks xmlns:a="http://schemas.openxmlformats.org/drawingml/2006/main" noGrp="1"/>
          </p:cNvSpPr>
          <p:nvPr/>
        </p:nvSpPr>
        <p:spPr>
          <a:xfrm xmlns:a="http://schemas.openxmlformats.org/drawingml/2006/main">
            <a:off x="822960" y="3657600"/>
            <a:ext cx="10058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i="1">
                <a:solidFill>
                  <a:srgbClr val="D7E5EC"/>
                </a:solidFill>
                <a:latin typeface="Calibri"/>
                <a:ea typeface="Calibri"/>
                <a:cs typeface="Calibri"/>
              </a:rPr>
              <a:t>Small quality-of-life defaults: a calmer dashboard and sensible session policy.</a:t>
            </a:r>
          </a:p>
        </p:txBody>
      </p:sp>
    </p:spTree>
    <p:extLst>
      <p:ext uri="{BB962C8B-B14F-4D97-AF65-F5344CB8AC3E}">
        <p14:creationId xmlns:p14="http://schemas.microsoft.com/office/powerpoint/2010/main" val="231836765"/>
      </p:ext>
    </p:extLst>
  </p:cSld>
</p:sld>
</file>

<file path=ppt/slides/slide19.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C6A84FF-654E-4291-9DF6-E0FE43BA0E69}"/>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ADMIN UX</a:t>
            </a:r>
          </a:p>
        </p:txBody>
      </p:sp>
      <p:sp>
        <p:nvSpPr>
          <p:cNvPr id="3" name="Text 1">
            <a:extLst xmlns:a="http://schemas.openxmlformats.org/drawingml/2006/main">
              <a:ext uri="{FF2B5EF4-FFF2-40B4-BE49-F238E27FC236}">
                <a16:creationId xmlns:a16="http://schemas.microsoft.com/office/drawing/2014/main" id="{8840DF85-4443-4A1C-AAE0-2B875585B6A6}"/>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Faster search, quieter admin bar</a:t>
            </a:r>
          </a:p>
        </p:txBody>
      </p:sp>
      <p:sp>
        <p:nvSpPr>
          <p:cNvPr id="4" name="Text 2">
            <a:extLst xmlns:a="http://schemas.openxmlformats.org/drawingml/2006/main">
              <a:ext uri="{FF2B5EF4-FFF2-40B4-BE49-F238E27FC236}">
                <a16:creationId xmlns:a16="http://schemas.microsoft.com/office/drawing/2014/main" id="{FC6F7C35-176D-4545-B15C-EA9EEFEC3F4C}"/>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Search the admin post list on a big site and WordPress reads every word of every post — like finding a book by reading the whole library. Title-only search checks just the spines, and it's far faster.</a:t>
            </a:r>
          </a:p>
        </p:txBody>
      </p:sp>
      <p:sp>
        <p:nvSpPr>
          <p:cNvPr id="5" name="Shape 3">
            <a:extLst xmlns:a="http://schemas.openxmlformats.org/drawingml/2006/main">
              <a:ext uri="{FF2B5EF4-FFF2-40B4-BE49-F238E27FC236}">
                <a16:creationId xmlns:a16="http://schemas.microsoft.com/office/drawing/2014/main" id="{0B05F898-1629-4C7E-BACE-E0689195D0FF}"/>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7326C487-F3A2-4905-87A9-DB0E46130016}"/>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title_only_admin_search / frontend_admin_bar_behavior</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C88F33"/>
                </a:solidFill>
                <a:latin typeface="Courier New"/>
                <a:ea typeface="Courier New"/>
                <a:cs typeface="Courier New"/>
              </a:rPr>
              <a:t>no / ''</a:t>
            </a:r>
          </a:p>
        </p:txBody>
      </p:sp>
      <p:sp>
        <p:nvSpPr>
          <p:cNvPr id="7" name="Shape 5">
            <a:extLst xmlns:a="http://schemas.openxmlformats.org/drawingml/2006/main">
              <a:ext uri="{FF2B5EF4-FFF2-40B4-BE49-F238E27FC236}">
                <a16:creationId xmlns:a16="http://schemas.microsoft.com/office/drawing/2014/main" id="{EF8F7332-55F4-42E5-8FCA-F432A03EB387}"/>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98FF223D-BC78-4661-980F-A682BEB8096A}"/>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00">
                <a:solidFill>
                  <a:srgbClr val="8FBF9F"/>
                </a:solidFill>
                <a:latin typeface="Courier New"/>
                <a:ea typeface="Courier New"/>
                <a:cs typeface="Courier New"/>
              </a:rPr>
              <a:t>// title-only admin search — narrow the COLUMNS</a:t>
            </a:r>
          </a:p>
          <a:p xmlns:a="http://schemas.openxmlformats.org/drawingml/2006/main">
            <a:pPr marL="0" indent="0" algn="l">
              <a:lnSpc>
                <a:spcPct val="108000"/>
              </a:lnSpc>
              <a:buNone/>
            </a:pPr>
            <a:r>
              <a:rPr sz="1100">
                <a:solidFill>
                  <a:srgbClr val="DCEAF1"/>
                </a:solidFill>
                <a:latin typeface="Courier New"/>
                <a:ea typeface="Courier New"/>
                <a:cs typeface="Courier New"/>
              </a:rPr>
              <a:t>add_filter( 'post_search_columns',</a:t>
            </a:r>
          </a:p>
          <a:p xmlns:a="http://schemas.openxmlformats.org/drawingml/2006/main">
            <a:pPr marL="0" indent="0" algn="l">
              <a:lnSpc>
                <a:spcPct val="108000"/>
              </a:lnSpc>
              <a:buNone/>
            </a:pPr>
            <a:r>
              <a:rPr sz="1100">
                <a:solidFill>
                  <a:srgbClr val="DCEAF1"/>
                </a:solidFill>
                <a:latin typeface="Courier New"/>
                <a:ea typeface="Courier New"/>
                <a:cs typeface="Courier New"/>
              </a:rPr>
              <a:t>  function ( $cols, $s, $q ) {</a:t>
            </a:r>
          </a:p>
          <a:p xmlns:a="http://schemas.openxmlformats.org/drawingml/2006/main">
            <a:pPr marL="0" indent="0" algn="l">
              <a:lnSpc>
                <a:spcPct val="108000"/>
              </a:lnSpc>
              <a:buNone/>
            </a:pPr>
            <a:r>
              <a:rPr sz="1100">
                <a:solidFill>
                  <a:srgbClr val="DCEAF1"/>
                </a:solidFill>
                <a:latin typeface="Courier New"/>
                <a:ea typeface="Courier New"/>
                <a:cs typeface="Courier New"/>
              </a:rPr>
              <a:t>    if ( is_admin() &amp;&amp; $q-&gt;is_main_query() )</a:t>
            </a:r>
          </a:p>
          <a:p xmlns:a="http://schemas.openxmlformats.org/drawingml/2006/main">
            <a:pPr marL="0" indent="0" algn="l">
              <a:lnSpc>
                <a:spcPct val="108000"/>
              </a:lnSpc>
              <a:buNone/>
            </a:pPr>
            <a:r>
              <a:rPr sz="1100">
                <a:solidFill>
                  <a:srgbClr val="E7C070"/>
                </a:solidFill>
                <a:latin typeface="Courier New"/>
                <a:ea typeface="Courier New"/>
                <a:cs typeface="Courier New"/>
              </a:rPr>
              <a:t>        return array( 'post_title' );</a:t>
            </a:r>
          </a:p>
          <a:p xmlns:a="http://schemas.openxmlformats.org/drawingml/2006/main">
            <a:pPr marL="0" indent="0" algn="l">
              <a:lnSpc>
                <a:spcPct val="108000"/>
              </a:lnSpc>
              <a:buNone/>
            </a:pPr>
            <a:r>
              <a:rPr sz="1100">
                <a:solidFill>
                  <a:srgbClr val="DCEAF1"/>
                </a:solidFill>
                <a:latin typeface="Courier New"/>
                <a:ea typeface="Courier New"/>
                <a:cs typeface="Courier New"/>
              </a:rPr>
              <a:t>    return $cols;   // front-end untouched</a:t>
            </a:r>
          </a:p>
          <a:p xmlns:a="http://schemas.openxmlformats.org/drawingml/2006/main">
            <a:pPr marL="0" indent="0" algn="l">
              <a:lnSpc>
                <a:spcPct val="108000"/>
              </a:lnSpc>
              <a:buNone/>
            </a:pPr>
            <a:r>
              <a:rPr sz="1100">
                <a:solidFill>
                  <a:srgbClr val="DCEAF1"/>
                </a:solidFill>
                <a:latin typeface="Courier New"/>
                <a:ea typeface="Courier New"/>
                <a:cs typeface="Courier New"/>
              </a:rPr>
              <a:t>  }, 10, 3 );</a:t>
            </a:r>
          </a:p>
          <a:p xmlns:a="http://schemas.openxmlformats.org/drawingml/2006/main">
            <a:pPr marL="0" indent="0" algn="l">
              <a:lnSpc>
                <a:spcPct val="108000"/>
              </a:lnSpc>
              <a:buNone/>
            </a:pPr>
            <a:r>
              <a:rPr sz="1100">
                <a:solidFill>
                  <a:srgbClr val="8FBF9F"/>
                </a:solidFill>
                <a:latin typeface="Courier New"/>
                <a:ea typeface="Courier New"/>
                <a:cs typeface="Courier New"/>
              </a:rPr>
              <a:t>// hide bar for non-admins</a:t>
            </a:r>
          </a:p>
          <a:p xmlns:a="http://schemas.openxmlformats.org/drawingml/2006/main">
            <a:pPr marL="0" indent="0" algn="l">
              <a:lnSpc>
                <a:spcPct val="108000"/>
              </a:lnSpc>
              <a:buNone/>
            </a:pPr>
            <a:r>
              <a:rPr sz="1100">
                <a:solidFill>
                  <a:srgbClr val="DCEAF1"/>
                </a:solidFill>
                <a:latin typeface="Courier New"/>
                <a:ea typeface="Courier New"/>
                <a:cs typeface="Courier New"/>
              </a:rPr>
              <a:t>add_filter( 'show_admin_bar', fn( $s ) =&gt;</a:t>
            </a:r>
          </a:p>
          <a:p xmlns:a="http://schemas.openxmlformats.org/drawingml/2006/main">
            <a:pPr marL="0" indent="0" algn="l">
              <a:lnSpc>
                <a:spcPct val="108000"/>
              </a:lnSpc>
              <a:buNone/>
            </a:pPr>
            <a:r>
              <a:rPr sz="1100">
                <a:solidFill>
                  <a:srgbClr val="E7C070"/>
                </a:solidFill>
                <a:latin typeface="Courier New"/>
                <a:ea typeface="Courier New"/>
                <a:cs typeface="Courier New"/>
              </a:rPr>
              <a:t>  current_user_can('manage_options') ? $s : false );</a:t>
            </a:r>
          </a:p>
        </p:txBody>
      </p:sp>
      <p:sp>
        <p:nvSpPr>
          <p:cNvPr id="9" name="Text 7">
            <a:extLst xmlns:a="http://schemas.openxmlformats.org/drawingml/2006/main">
              <a:ext uri="{FF2B5EF4-FFF2-40B4-BE49-F238E27FC236}">
                <a16:creationId xmlns:a16="http://schemas.microsoft.com/office/drawing/2014/main" id="{2E5AE0DE-0794-4746-A83D-2CDC35B3DAD3}"/>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EE63048D-10F6-49AB-966F-0158650F2132}"/>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19</a:t>
            </a:r>
          </a:p>
        </p:txBody>
      </p:sp>
    </p:spTree>
    <p:extLst>
      <p:ext uri="{BB962C8B-B14F-4D97-AF65-F5344CB8AC3E}">
        <p14:creationId xmlns:p14="http://schemas.microsoft.com/office/powerpoint/2010/main" val="39541825"/>
      </p:ext>
    </p:extLst>
  </p:cSld>
</p:sld>
</file>

<file path=ppt/slides/slide20.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EC7358C-18E5-43C3-8A19-D9D3BC21C371}"/>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LOGIN &amp; SESSIONS</a:t>
            </a:r>
          </a:p>
        </p:txBody>
      </p:sp>
      <p:sp>
        <p:nvSpPr>
          <p:cNvPr id="3" name="Text 1">
            <a:extLst xmlns:a="http://schemas.openxmlformats.org/drawingml/2006/main">
              <a:ext uri="{FF2B5EF4-FFF2-40B4-BE49-F238E27FC236}">
                <a16:creationId xmlns:a16="http://schemas.microsoft.com/office/drawing/2014/main" id="{39918A8D-5372-49BE-8E2A-BCEDAA14D6F7}"/>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Right-size the login session</a:t>
            </a:r>
          </a:p>
        </p:txBody>
      </p:sp>
      <p:sp>
        <p:nvSpPr>
          <p:cNvPr id="4" name="Text 2">
            <a:extLst xmlns:a="http://schemas.openxmlformats.org/drawingml/2006/main">
              <a:ext uri="{FF2B5EF4-FFF2-40B4-BE49-F238E27FC236}">
                <a16:creationId xmlns:a16="http://schemas.microsoft.com/office/drawing/2014/main" id="{D24A65C6-3023-4519-9E7E-4D359A26F0B0}"/>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Click “Remember Me” and you stay logged in for 14 days. Cap that extended session, optionally shorten the regular one, or hide the checkbox entirely. One filter covers all three.</a:t>
            </a:r>
          </a:p>
        </p:txBody>
      </p:sp>
      <p:sp>
        <p:nvSpPr>
          <p:cNvPr id="5" name="Shape 3">
            <a:extLst xmlns:a="http://schemas.openxmlformats.org/drawingml/2006/main">
              <a:ext uri="{FF2B5EF4-FFF2-40B4-BE49-F238E27FC236}">
                <a16:creationId xmlns:a16="http://schemas.microsoft.com/office/drawing/2014/main" id="{66473415-5BFC-4412-B1F2-F5B72E146440}"/>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65DB451F-4B11-40E1-83AB-C886E515A38F}"/>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disable_remember_me / remember_me_days / session_regular_hours</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no / 5 / 0</a:t>
            </a:r>
          </a:p>
        </p:txBody>
      </p:sp>
      <p:sp>
        <p:nvSpPr>
          <p:cNvPr id="7" name="Shape 5">
            <a:extLst xmlns:a="http://schemas.openxmlformats.org/drawingml/2006/main">
              <a:ext uri="{FF2B5EF4-FFF2-40B4-BE49-F238E27FC236}">
                <a16:creationId xmlns:a16="http://schemas.microsoft.com/office/drawing/2014/main" id="{BCD68E66-D6ED-4D39-AD29-88198D74B528}"/>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3816D4F1-D55D-4621-8F28-E640B2B8AA46}"/>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DCEAF1"/>
                </a:solidFill>
                <a:latin typeface="Courier New"/>
                <a:ea typeface="Courier New"/>
                <a:cs typeface="Courier New"/>
              </a:rPr>
              <a:t>add_filter( 'auth_cookie_expiration',</a:t>
            </a:r>
          </a:p>
          <a:p xmlns:a="http://schemas.openxmlformats.org/drawingml/2006/main">
            <a:pPr marL="0" indent="0" algn="l">
              <a:lnSpc>
                <a:spcPct val="108000"/>
              </a:lnSpc>
              <a:buNone/>
            </a:pPr>
            <a:r>
              <a:rPr sz="1150">
                <a:solidFill>
                  <a:srgbClr val="DCEAF1"/>
                </a:solidFill>
                <a:latin typeface="Courier New"/>
                <a:ea typeface="Courier New"/>
                <a:cs typeface="Courier New"/>
              </a:rPr>
              <a:t>  function ( $exp, $uid, $remember ) {</a:t>
            </a:r>
          </a:p>
          <a:p xmlns:a="http://schemas.openxmlformats.org/drawingml/2006/main">
            <a:pPr marL="0" indent="0" algn="l">
              <a:lnSpc>
                <a:spcPct val="108000"/>
              </a:lnSpc>
              <a:buNone/>
            </a:pPr>
            <a:r>
              <a:rPr sz="1150">
                <a:solidFill>
                  <a:srgbClr val="DCEAF1"/>
                </a:solidFill>
                <a:latin typeface="Courier New"/>
                <a:ea typeface="Courier New"/>
                <a:cs typeface="Courier New"/>
              </a:rPr>
              <a:t>    if ( $remember ) {</a:t>
            </a:r>
          </a:p>
          <a:p xmlns:a="http://schemas.openxmlformats.org/drawingml/2006/main">
            <a:pPr marL="0" indent="0" algn="l">
              <a:lnSpc>
                <a:spcPct val="108000"/>
              </a:lnSpc>
              <a:buNone/>
            </a:pPr>
            <a:r>
              <a:rPr sz="1150">
                <a:solidFill>
                  <a:srgbClr val="E7C070"/>
                </a:solidFill>
                <a:latin typeface="Courier New"/>
                <a:ea typeface="Courier New"/>
                <a:cs typeface="Courier New"/>
              </a:rPr>
              <a:t>      return 5 * DAY_IN_SECONDS;</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E7C070"/>
                </a:solidFill>
                <a:latin typeface="Courier New"/>
                <a:ea typeface="Courier New"/>
                <a:cs typeface="Courier New"/>
              </a:rPr>
              <a:t>    return 12 * HOUR_IN_SECONDS;</a:t>
            </a:r>
          </a:p>
          <a:p xmlns:a="http://schemas.openxmlformats.org/drawingml/2006/main">
            <a:pPr marL="0" indent="0" algn="l">
              <a:lnSpc>
                <a:spcPct val="108000"/>
              </a:lnSpc>
              <a:buNone/>
            </a:pPr>
            <a:r>
              <a:rPr sz="1150">
                <a:solidFill>
                  <a:srgbClr val="DCEAF1"/>
                </a:solidFill>
                <a:latin typeface="Courier New"/>
                <a:ea typeface="Courier New"/>
                <a:cs typeface="Courier New"/>
              </a:rPr>
              <a:t>  }, 10, 3 );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8FBF9F"/>
                </a:solidFill>
                <a:latin typeface="Courier New"/>
                <a:ea typeface="Courier New"/>
                <a:cs typeface="Courier New"/>
              </a:rPr>
              <a:t>// DAY_IN_SECONDS: core time constant</a:t>
            </a:r>
          </a:p>
        </p:txBody>
      </p:sp>
      <p:sp>
        <p:nvSpPr>
          <p:cNvPr id="9" name="Text 7">
            <a:extLst xmlns:a="http://schemas.openxmlformats.org/drawingml/2006/main">
              <a:ext uri="{FF2B5EF4-FFF2-40B4-BE49-F238E27FC236}">
                <a16:creationId xmlns:a16="http://schemas.microsoft.com/office/drawing/2014/main" id="{A0C620C3-0ED5-465C-939A-585B75664D85}"/>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109912EB-56F7-45D4-9D7A-628DBB3253D6}"/>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20</a:t>
            </a:r>
          </a:p>
        </p:txBody>
      </p:sp>
    </p:spTree>
    <p:extLst>
      <p:ext uri="{BB962C8B-B14F-4D97-AF65-F5344CB8AC3E}">
        <p14:creationId xmlns:p14="http://schemas.microsoft.com/office/powerpoint/2010/main" val="53686041"/>
      </p:ext>
    </p:extLst>
  </p:cSld>
</p:sld>
</file>

<file path=ppt/slides/slide21.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EA60FB1-2577-4858-8E15-E442D6641785}"/>
              </a:ext>
            </a:extLst>
          </p:cNvPr>
          <p:cNvSpPr>
            <a:spLocks xmlns:a="http://schemas.openxmlformats.org/drawingml/2006/main" noGrp="1"/>
          </p:cNvSpPr>
          <p:nvPr/>
        </p:nvSpPr>
        <p:spPr>
          <a:xfrm xmlns:a="http://schemas.openxmlformats.org/drawingml/2006/main">
            <a:off x="0" y="5577840"/>
            <a:ext cx="12188952" cy="1280160"/>
          </a:xfrm>
          <a:prstGeom xmlns:a="http://schemas.openxmlformats.org/drawingml/2006/main" prst="rect">
            <a:avLst/>
          </a:prstGeom>
          <a:solidFill xmlns:a="http://schemas.openxmlformats.org/drawingml/2006/main">
            <a:srgbClr val="16323F"/>
          </a:solidFill>
        </p:spPr>
      </p:sp>
      <p:sp>
        <p:nvSpPr>
          <p:cNvPr id="3" name="Shape 1">
            <a:extLst xmlns:a="http://schemas.openxmlformats.org/drawingml/2006/main">
              <a:ext uri="{FF2B5EF4-FFF2-40B4-BE49-F238E27FC236}">
                <a16:creationId xmlns:a16="http://schemas.microsoft.com/office/drawing/2014/main" id="{3B15A6A6-AE6B-4171-B47C-3C6B8E20987C}"/>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ellipse">
            <a:avLst/>
          </a:prstGeom>
          <a:solidFill xmlns:a="http://schemas.openxmlformats.org/drawingml/2006/main">
            <a:srgbClr val="E0A94B"/>
          </a:solidFill>
        </p:spPr>
      </p:sp>
      <p:sp>
        <p:nvSpPr>
          <p:cNvPr id="4" name="Text 2">
            <a:extLst xmlns:a="http://schemas.openxmlformats.org/drawingml/2006/main">
              <a:ext uri="{FF2B5EF4-FFF2-40B4-BE49-F238E27FC236}">
                <a16:creationId xmlns:a16="http://schemas.microsoft.com/office/drawing/2014/main" id="{16BFA9C5-F1FE-45A3-BFCC-EB93D6093041}"/>
              </a:ext>
            </a:extLst>
          </p:cNvPr>
          <p:cNvSpPr>
            <a:spLocks xmlns:a="http://schemas.openxmlformats.org/drawingml/2006/main" noGrp="1"/>
          </p:cNvSpPr>
          <p:nvPr/>
        </p:nvSpPr>
        <p:spPr>
          <a:xfrm xmlns:a="http://schemas.openxmlformats.org/drawingml/2006/main">
            <a:off x="777240" y="914400"/>
            <a:ext cx="86868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70" b="1">
                <a:solidFill>
                  <a:srgbClr val="0F2733"/>
                </a:solidFill>
                <a:latin typeface="Cambria"/>
                <a:ea typeface="Cambria"/>
                <a:cs typeface="Cambria"/>
              </a:rPr>
              <a:t>4</a:t>
            </a:r>
          </a:p>
        </p:txBody>
      </p:sp>
      <p:sp>
        <p:nvSpPr>
          <p:cNvPr id="5" name="Text 3">
            <a:extLst xmlns:a="http://schemas.openxmlformats.org/drawingml/2006/main">
              <a:ext uri="{FF2B5EF4-FFF2-40B4-BE49-F238E27FC236}">
                <a16:creationId xmlns:a16="http://schemas.microsoft.com/office/drawing/2014/main" id="{22A2709F-50E1-4235-8AA1-28D7F271032D}"/>
              </a:ext>
            </a:extLst>
          </p:cNvPr>
          <p:cNvSpPr>
            <a:spLocks xmlns:a="http://schemas.openxmlformats.org/drawingml/2006/main" noGrp="1"/>
          </p:cNvSpPr>
          <p:nvPr/>
        </p:nvSpPr>
        <p:spPr>
          <a:xfrm xmlns:a="http://schemas.openxmlformats.org/drawingml/2006/main">
            <a:off x="1874520" y="100584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alibri"/>
                <a:ea typeface="Calibri"/>
                <a:cs typeface="Calibri"/>
              </a:rPr>
              <a:t>SECTION FOUR</a:t>
            </a:r>
          </a:p>
        </p:txBody>
      </p:sp>
      <p:sp>
        <p:nvSpPr>
          <p:cNvPr id="6" name="Text 4">
            <a:extLst xmlns:a="http://schemas.openxmlformats.org/drawingml/2006/main">
              <a:ext uri="{FF2B5EF4-FFF2-40B4-BE49-F238E27FC236}">
                <a16:creationId xmlns:a16="http://schemas.microsoft.com/office/drawing/2014/main" id="{D83A0CD1-58B7-427E-A390-48924921A935}"/>
              </a:ext>
            </a:extLst>
          </p:cNvPr>
          <p:cNvSpPr>
            <a:spLocks xmlns:a="http://schemas.openxmlformats.org/drawingml/2006/main" noGrp="1"/>
          </p:cNvSpPr>
          <p:nvPr/>
        </p:nvSpPr>
        <p:spPr>
          <a:xfrm xmlns:a="http://schemas.openxmlformats.org/drawingml/2006/main">
            <a:off x="777240" y="2286000"/>
            <a:ext cx="1060704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600" b="1">
                <a:solidFill>
                  <a:srgbClr val="FFFFFF"/>
                </a:solidFill>
                <a:latin typeface="Cambria"/>
                <a:ea typeface="Cambria"/>
                <a:cs typeface="Cambria"/>
              </a:rPr>
              <a:t>Branding &amp;</a:t>
            </a:r>
          </a:p>
          <a:p xmlns:a="http://schemas.openxmlformats.org/drawingml/2006/main">
            <a:pPr marL="0" indent="0">
              <a:buNone/>
            </a:pPr>
            <a:r>
              <a:rPr sz="4600" b="1">
                <a:solidFill>
                  <a:srgbClr val="FFFFFF"/>
                </a:solidFill>
                <a:latin typeface="Cambria"/>
                <a:ea typeface="Cambria"/>
                <a:cs typeface="Cambria"/>
              </a:rPr>
              <a:t>Performance</a:t>
            </a:r>
          </a:p>
        </p:txBody>
      </p:sp>
      <p:sp>
        <p:nvSpPr>
          <p:cNvPr id="7" name="Text 5">
            <a:extLst xmlns:a="http://schemas.openxmlformats.org/drawingml/2006/main">
              <a:ext uri="{FF2B5EF4-FFF2-40B4-BE49-F238E27FC236}">
                <a16:creationId xmlns:a16="http://schemas.microsoft.com/office/drawing/2014/main" id="{754A4955-C322-4DFE-BF7C-F6952FCE2FD8}"/>
              </a:ext>
            </a:extLst>
          </p:cNvPr>
          <p:cNvSpPr>
            <a:spLocks xmlns:a="http://schemas.openxmlformats.org/drawingml/2006/main" noGrp="1"/>
          </p:cNvSpPr>
          <p:nvPr/>
        </p:nvSpPr>
        <p:spPr>
          <a:xfrm xmlns:a="http://schemas.openxmlformats.org/drawingml/2006/main">
            <a:off x="822960" y="3657600"/>
            <a:ext cx="10058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i="1">
                <a:solidFill>
                  <a:srgbClr val="D7E5EC"/>
                </a:solidFill>
                <a:latin typeface="Calibri"/>
                <a:ea typeface="Calibri"/>
                <a:cs typeface="Calibri"/>
              </a:rPr>
              <a:t>Own the login screen, then shave the last bit of weight off every page.</a:t>
            </a:r>
          </a:p>
        </p:txBody>
      </p:sp>
    </p:spTree>
    <p:extLst>
      <p:ext uri="{BB962C8B-B14F-4D97-AF65-F5344CB8AC3E}">
        <p14:creationId xmlns:p14="http://schemas.microsoft.com/office/powerpoint/2010/main" val="1874293724"/>
      </p:ext>
    </p:extLst>
  </p:cSld>
</p:sld>
</file>

<file path=ppt/slides/slide22.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E4B6C92-24C2-4CE9-A260-FC53790933F3}"/>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BRANDING</a:t>
            </a:r>
          </a:p>
        </p:txBody>
      </p:sp>
      <p:sp>
        <p:nvSpPr>
          <p:cNvPr id="3" name="Text 1">
            <a:extLst xmlns:a="http://schemas.openxmlformats.org/drawingml/2006/main">
              <a:ext uri="{FF2B5EF4-FFF2-40B4-BE49-F238E27FC236}">
                <a16:creationId xmlns:a16="http://schemas.microsoft.com/office/drawing/2014/main" id="{5ADDA712-5DB0-41E5-9746-D8A44A594484}"/>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Own the login screen</a:t>
            </a:r>
          </a:p>
        </p:txBody>
      </p:sp>
      <p:sp>
        <p:nvSpPr>
          <p:cNvPr id="4" name="Text 2">
            <a:extLst xmlns:a="http://schemas.openxmlformats.org/drawingml/2006/main">
              <a:ext uri="{FF2B5EF4-FFF2-40B4-BE49-F238E27FC236}">
                <a16:creationId xmlns:a16="http://schemas.microsoft.com/office/drawing/2014/main" id="{AB3EF9DB-72F1-42C3-B771-B57648315BF1}"/>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The default WordPress logo sends users to wordpress.org. Removing, unlinking, or replacing it keeps the login screen organizationally consistent and prevents an unexpected external destination. BBD leaves it unchanged unless you opt in.</a:t>
            </a:r>
          </a:p>
        </p:txBody>
      </p:sp>
      <p:sp>
        <p:nvSpPr>
          <p:cNvPr id="5" name="Shape 3">
            <a:extLst xmlns:a="http://schemas.openxmlformats.org/drawingml/2006/main">
              <a:ext uri="{FF2B5EF4-FFF2-40B4-BE49-F238E27FC236}">
                <a16:creationId xmlns:a16="http://schemas.microsoft.com/office/drawing/2014/main" id="{A01C0543-F336-40BC-AD41-1C83A276FD0C}"/>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72DFA685-50BE-41F2-B634-D89D3346CFF7}"/>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login_logo_behavior</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27607A"/>
                </a:solidFill>
                <a:latin typeface="Courier New"/>
                <a:ea typeface="Courier New"/>
                <a:cs typeface="Courier New"/>
              </a:rPr>
              <a:t>keep_default (keep / remove / unlink / replace)</a:t>
            </a:r>
          </a:p>
        </p:txBody>
      </p:sp>
      <p:sp>
        <p:nvSpPr>
          <p:cNvPr id="7" name="Shape 5">
            <a:extLst xmlns:a="http://schemas.openxmlformats.org/drawingml/2006/main">
              <a:ext uri="{FF2B5EF4-FFF2-40B4-BE49-F238E27FC236}">
                <a16:creationId xmlns:a16="http://schemas.microsoft.com/office/drawing/2014/main" id="{F3AD57F5-8F97-430D-B99B-8376B00DCD86}"/>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25EC5324-D3F0-4B42-8867-9A914CA6594A}"/>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200">
                <a:solidFill>
                  <a:srgbClr val="8FBF9F"/>
                </a:solidFill>
                <a:latin typeface="Courier New"/>
                <a:ea typeface="Courier New"/>
                <a:cs typeface="Courier New"/>
              </a:rPr>
              <a:t>// remove, unlink, or replace — a choice</a:t>
            </a:r>
          </a:p>
          <a:p xmlns:a="http://schemas.openxmlformats.org/drawingml/2006/main">
            <a:pPr marL="0" indent="0" algn="l">
              <a:lnSpc>
                <a:spcPct val="108000"/>
              </a:lnSpc>
              <a:buNone/>
            </a:pPr>
            <a:r>
              <a:rPr sz="1200">
                <a:solidFill>
                  <a:srgbClr val="E7C070"/>
                </a:solidFill>
                <a:latin typeface="Courier New"/>
                <a:ea typeface="Courier New"/>
                <a:cs typeface="Courier New"/>
              </a:rPr>
              <a:t>add_action( 'login_head', $logo_css );</a:t>
            </a:r>
          </a:p>
          <a:p xmlns:a="http://schemas.openxmlformats.org/drawingml/2006/main">
            <a:pPr marL="0" indent="0" algn="l">
              <a:lnSpc>
                <a:spcPct val="108000"/>
              </a:lnSpc>
              <a:buNone/>
            </a:pPr>
            <a:r>
              <a:rPr sz="1200">
                <a:solidFill>
                  <a:srgbClr val="DCEAF1"/>
                </a:solidFill>
                <a:latin typeface="Courier New"/>
                <a:ea typeface="Courier New"/>
                <a:cs typeface="Courier New"/>
              </a:rPr>
              <a:t> </a:t>
            </a:r>
          </a:p>
          <a:p xmlns:a="http://schemas.openxmlformats.org/drawingml/2006/main">
            <a:pPr marL="0" indent="0" algn="l">
              <a:lnSpc>
                <a:spcPct val="108000"/>
              </a:lnSpc>
              <a:buNone/>
            </a:pPr>
            <a:r>
              <a:rPr sz="1200">
                <a:solidFill>
                  <a:srgbClr val="8FBF9F"/>
                </a:solidFill>
                <a:latin typeface="Courier New"/>
                <a:ea typeface="Courier New"/>
                <a:cs typeface="Courier New"/>
              </a:rPr>
              <a:t>// any change points the link home</a:t>
            </a:r>
          </a:p>
          <a:p xmlns:a="http://schemas.openxmlformats.org/drawingml/2006/main">
            <a:pPr marL="0" indent="0" algn="l">
              <a:lnSpc>
                <a:spcPct val="108000"/>
              </a:lnSpc>
              <a:buNone/>
            </a:pPr>
            <a:r>
              <a:rPr sz="1200">
                <a:solidFill>
                  <a:srgbClr val="8FBF9F"/>
                </a:solidFill>
                <a:latin typeface="Courier New"/>
                <a:ea typeface="Courier New"/>
                <a:cs typeface="Courier New"/>
              </a:rPr>
              <a:t>// (no separate toggle)</a:t>
            </a:r>
          </a:p>
          <a:p xmlns:a="http://schemas.openxmlformats.org/drawingml/2006/main">
            <a:pPr marL="0" indent="0" algn="l">
              <a:lnSpc>
                <a:spcPct val="108000"/>
              </a:lnSpc>
              <a:buNone/>
            </a:pPr>
            <a:r>
              <a:rPr sz="1200">
                <a:solidFill>
                  <a:srgbClr val="E7C070"/>
                </a:solidFill>
                <a:latin typeface="Courier New"/>
                <a:ea typeface="Courier New"/>
                <a:cs typeface="Courier New"/>
              </a:rPr>
              <a:t>add_filter( 'login_headerurl', 'home_url' );</a:t>
            </a:r>
          </a:p>
          <a:p xmlns:a="http://schemas.openxmlformats.org/drawingml/2006/main">
            <a:pPr marL="0" indent="0" algn="l">
              <a:lnSpc>
                <a:spcPct val="108000"/>
              </a:lnSpc>
              <a:buNone/>
            </a:pPr>
            <a:r>
              <a:rPr sz="1200">
                <a:solidFill>
                  <a:srgbClr val="DCEAF1"/>
                </a:solidFill>
                <a:latin typeface="Courier New"/>
                <a:ea typeface="Courier New"/>
                <a:cs typeface="Courier New"/>
              </a:rPr>
              <a:t>add_filter( 'login_headertext', fn() =&gt;</a:t>
            </a:r>
          </a:p>
          <a:p xmlns:a="http://schemas.openxmlformats.org/drawingml/2006/main">
            <a:pPr marL="0" indent="0" algn="l">
              <a:lnSpc>
                <a:spcPct val="108000"/>
              </a:lnSpc>
              <a:buNone/>
            </a:pPr>
            <a:r>
              <a:rPr sz="1200">
                <a:solidFill>
                  <a:srgbClr val="E7C070"/>
                </a:solidFill>
                <a:latin typeface="Courier New"/>
                <a:ea typeface="Courier New"/>
                <a:cs typeface="Courier New"/>
              </a:rPr>
              <a:t>            get_bloginfo( 'name' ) );</a:t>
            </a:r>
          </a:p>
        </p:txBody>
      </p:sp>
      <p:sp>
        <p:nvSpPr>
          <p:cNvPr id="9" name="Text 7">
            <a:extLst xmlns:a="http://schemas.openxmlformats.org/drawingml/2006/main">
              <a:ext uri="{FF2B5EF4-FFF2-40B4-BE49-F238E27FC236}">
                <a16:creationId xmlns:a16="http://schemas.microsoft.com/office/drawing/2014/main" id="{26263BA1-C395-45D4-B252-39C52411C771}"/>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F15247F9-BCF1-443C-83D9-D3EB612BB81B}"/>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22</a:t>
            </a:r>
          </a:p>
        </p:txBody>
      </p:sp>
    </p:spTree>
    <p:extLst>
      <p:ext uri="{BB962C8B-B14F-4D97-AF65-F5344CB8AC3E}">
        <p14:creationId xmlns:p14="http://schemas.microsoft.com/office/powerpoint/2010/main" val="1167432529"/>
      </p:ext>
    </p:extLst>
  </p:cSld>
</p:sld>
</file>

<file path=ppt/slides/slide23.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A38899E-5379-4773-A7EA-93CFEC3DB518}"/>
              </a:ext>
            </a:extLst>
          </p:cNvPr>
          <p:cNvSpPr>
            <a:spLocks xmlns:a="http://schemas.openxmlformats.org/drawingml/2006/main" noGrp="1"/>
          </p:cNvSpPr>
          <p:nvPr/>
        </p:nvSpPr>
        <p:spPr>
          <a:xfrm xmlns:a="http://schemas.openxmlformats.org/drawingml/2006/main">
            <a:off x="548640" y="457200"/>
            <a:ext cx="7315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3E7E9C"/>
                </a:solidFill>
                <a:latin typeface="Calibri"/>
                <a:ea typeface="Calibri"/>
                <a:cs typeface="Calibri"/>
              </a:rPr>
              <a:t>PERFORMANCE · opt-in</a:t>
            </a:r>
          </a:p>
        </p:txBody>
      </p:sp>
      <p:sp>
        <p:nvSpPr>
          <p:cNvPr id="3" name="Text 1">
            <a:extLst xmlns:a="http://schemas.openxmlformats.org/drawingml/2006/main">
              <a:ext uri="{FF2B5EF4-FFF2-40B4-BE49-F238E27FC236}">
                <a16:creationId xmlns:a16="http://schemas.microsoft.com/office/drawing/2014/main" id="{4C3DF3B4-4187-4123-A3CD-30EFE3AF8364}"/>
              </a:ext>
            </a:extLst>
          </p:cNvPr>
          <p:cNvSpPr>
            <a:spLocks xmlns:a="http://schemas.openxmlformats.org/drawingml/2006/main" noGrp="1"/>
          </p:cNvSpPr>
          <p:nvPr/>
        </p:nvSpPr>
        <p:spPr>
          <a:xfrm xmlns:a="http://schemas.openxmlformats.org/drawingml/2006/main">
            <a:off x="548640" y="777240"/>
            <a:ext cx="110642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Throttle Heartbeat — and a default we deleted</a:t>
            </a:r>
          </a:p>
        </p:txBody>
      </p:sp>
      <p:sp>
        <p:nvSpPr>
          <p:cNvPr id="4" name="Text 2">
            <a:extLst xmlns:a="http://schemas.openxmlformats.org/drawingml/2006/main">
              <a:ext uri="{FF2B5EF4-FFF2-40B4-BE49-F238E27FC236}">
                <a16:creationId xmlns:a16="http://schemas.microsoft.com/office/drawing/2014/main" id="{56B85A1E-5F2C-4895-9ED2-396FCA59811D}"/>
              </a:ext>
            </a:extLst>
          </p:cNvPr>
          <p:cNvSpPr>
            <a:spLocks xmlns:a="http://schemas.openxmlformats.org/drawingml/2006/main" noGrp="1"/>
          </p:cNvSpPr>
          <p:nvPr/>
        </p:nvSpPr>
        <p:spPr>
          <a:xfrm xmlns:a="http://schemas.openxmlformats.org/drawingml/2006/main">
            <a:off x="548640" y="1783080"/>
            <a:ext cx="489204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2000"/>
              </a:lnSpc>
              <a:buNone/>
            </a:pPr>
            <a:r>
              <a:rPr sz="1600">
                <a:solidFill>
                  <a:srgbClr val="4A5A63"/>
                </a:solidFill>
                <a:latin typeface="Calibri"/>
                <a:ea typeface="Calibri"/>
                <a:cs typeface="Calibri"/>
              </a:rPr>
              <a:t>Throttle Heartbeat to ease up on weak shared hosting. The more interesting half is the toggle that used to be here: WordPress 6.3 gave scripts a per-script loading strategy, so our blanket defer filter had to go.</a:t>
            </a:r>
          </a:p>
        </p:txBody>
      </p:sp>
      <p:sp>
        <p:nvSpPr>
          <p:cNvPr id="5" name="Shape 3">
            <a:extLst xmlns:a="http://schemas.openxmlformats.org/drawingml/2006/main">
              <a:ext uri="{FF2B5EF4-FFF2-40B4-BE49-F238E27FC236}">
                <a16:creationId xmlns:a16="http://schemas.microsoft.com/office/drawing/2014/main" id="{231E26A2-9BF6-4A2F-B132-8A877BCD9CBE}"/>
              </a:ext>
            </a:extLst>
          </p:cNvPr>
          <p:cNvSpPr>
            <a:spLocks xmlns:a="http://schemas.openxmlformats.org/drawingml/2006/main" noGrp="1"/>
          </p:cNvSpPr>
          <p:nvPr/>
        </p:nvSpPr>
        <p:spPr>
          <a:xfrm xmlns:a="http://schemas.openxmlformats.org/drawingml/2006/main">
            <a:off x="548640" y="5074920"/>
            <a:ext cx="4892040" cy="960120"/>
          </a:xfrm>
          <a:prstGeom xmlns:a="http://schemas.openxmlformats.org/drawingml/2006/main" prst="roundRect">
            <a:avLst>
              <a:gd name="adj" fmla="val 7619"/>
            </a:avLst>
          </a:prstGeom>
          <a:solidFill xmlns:a="http://schemas.openxmlformats.org/drawingml/2006/main">
            <a:srgbClr val="EAF1F5"/>
          </a:solidFill>
          <a:ln xmlns:a="http://schemas.openxmlformats.org/drawingml/2006/main" w="12700">
            <a:solidFill>
              <a:srgbClr val="3E7E9C"/>
            </a:solidFill>
            <a:prstDash val="solid"/>
          </a:ln>
        </p:spPr>
      </p:sp>
      <p:sp>
        <p:nvSpPr>
          <p:cNvPr id="6" name="Text 4">
            <a:extLst xmlns:a="http://schemas.openxmlformats.org/drawingml/2006/main">
              <a:ext uri="{FF2B5EF4-FFF2-40B4-BE49-F238E27FC236}">
                <a16:creationId xmlns:a16="http://schemas.microsoft.com/office/drawing/2014/main" id="{F4EDEC52-C5C4-42FA-9E18-DB8778D50D04}"/>
              </a:ext>
            </a:extLst>
          </p:cNvPr>
          <p:cNvSpPr>
            <a:spLocks xmlns:a="http://schemas.openxmlformats.org/drawingml/2006/main" noGrp="1"/>
          </p:cNvSpPr>
          <p:nvPr/>
        </p:nvSpPr>
        <p:spPr>
          <a:xfrm xmlns:a="http://schemas.openxmlformats.org/drawingml/2006/main">
            <a:off x="731520" y="5166360"/>
            <a:ext cx="45720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150" b="1">
                <a:solidFill>
                  <a:srgbClr val="3E7E9C"/>
                </a:solidFill>
                <a:latin typeface="Courier New"/>
                <a:ea typeface="Courier New"/>
                <a:cs typeface="Courier New"/>
              </a:rPr>
              <a:t>KEY</a:t>
            </a:r>
            <a:r>
              <a:rPr sz="1150" b="1">
                <a:solidFill>
                  <a:srgbClr val="3E7E9C"/>
                </a:solidFill>
                <a:latin typeface="Courier New"/>
                <a:ea typeface="Courier New"/>
                <a:cs typeface="Courier New"/>
              </a:rPr>
              <a:t>   </a:t>
            </a:r>
            <a:r>
              <a:rPr sz="1150" b="1">
                <a:solidFill>
                  <a:srgbClr val="0F2733"/>
                </a:solidFill>
                <a:latin typeface="Courier New"/>
                <a:ea typeface="Courier New"/>
                <a:cs typeface="Courier New"/>
              </a:rPr>
              <a:t>throttle_heartbeat</a:t>
            </a:r>
          </a:p>
          <a:p xmlns:a="http://schemas.openxmlformats.org/drawingml/2006/main">
            <a:pPr marL="0" indent="0">
              <a:lnSpc>
                <a:spcPct val="115000"/>
              </a:lnSpc>
              <a:buNone/>
            </a:pPr>
            <a:r>
              <a:rPr sz="1150" b="1">
                <a:solidFill>
                  <a:srgbClr val="3E7E9C"/>
                </a:solidFill>
                <a:latin typeface="Courier New"/>
                <a:ea typeface="Courier New"/>
                <a:cs typeface="Courier New"/>
              </a:rPr>
              <a:t>DEFAULT   </a:t>
            </a:r>
          </a:p>
          <a:p xmlns:a="http://schemas.openxmlformats.org/drawingml/2006/main">
            <a:pPr marL="0" indent="0">
              <a:lnSpc>
                <a:spcPct val="115000"/>
              </a:lnSpc>
              <a:buNone/>
            </a:pPr>
            <a:r>
              <a:rPr sz="1150" b="1">
                <a:solidFill>
                  <a:srgbClr val="C88F33"/>
                </a:solidFill>
                <a:latin typeface="Courier New"/>
                <a:ea typeface="Courier New"/>
                <a:cs typeface="Courier New"/>
              </a:rPr>
              <a:t>no (opt-in)</a:t>
            </a:r>
          </a:p>
        </p:txBody>
      </p:sp>
      <p:sp>
        <p:nvSpPr>
          <p:cNvPr id="7" name="Shape 5">
            <a:extLst xmlns:a="http://schemas.openxmlformats.org/drawingml/2006/main">
              <a:ext uri="{FF2B5EF4-FFF2-40B4-BE49-F238E27FC236}">
                <a16:creationId xmlns:a16="http://schemas.microsoft.com/office/drawing/2014/main" id="{BD76FCC8-6298-4BAE-B9AE-1DAB7C5D471F}"/>
              </a:ext>
            </a:extLst>
          </p:cNvPr>
          <p:cNvSpPr>
            <a:spLocks xmlns:a="http://schemas.openxmlformats.org/drawingml/2006/main" noGrp="1"/>
          </p:cNvSpPr>
          <p:nvPr/>
        </p:nvSpPr>
        <p:spPr>
          <a:xfrm xmlns:a="http://schemas.openxmlformats.org/drawingml/2006/main">
            <a:off x="5715000" y="1783080"/>
            <a:ext cx="5897880" cy="4251960"/>
          </a:xfrm>
          <a:prstGeom xmlns:a="http://schemas.openxmlformats.org/drawingml/2006/main" prst="roundRect">
            <a:avLst>
              <a:gd name="adj" fmla="val 172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8" name="Text 6">
            <a:extLst xmlns:a="http://schemas.openxmlformats.org/drawingml/2006/main">
              <a:ext uri="{FF2B5EF4-FFF2-40B4-BE49-F238E27FC236}">
                <a16:creationId xmlns:a16="http://schemas.microsoft.com/office/drawing/2014/main" id="{FC43CA54-3639-4D02-AD5F-F60E81737154}"/>
              </a:ext>
            </a:extLst>
          </p:cNvPr>
          <p:cNvSpPr>
            <a:spLocks xmlns:a="http://schemas.openxmlformats.org/drawingml/2006/main" noGrp="1"/>
          </p:cNvSpPr>
          <p:nvPr/>
        </p:nvSpPr>
        <p:spPr>
          <a:xfrm xmlns:a="http://schemas.openxmlformats.org/drawingml/2006/main">
            <a:off x="5916168" y="1947672"/>
            <a:ext cx="5495544" cy="3922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150">
                <a:solidFill>
                  <a:srgbClr val="DCEAF1"/>
                </a:solidFill>
                <a:latin typeface="Courier New"/>
                <a:ea typeface="Courier New"/>
                <a:cs typeface="Courier New"/>
              </a:rPr>
              <a:t>add_filter( 'heartbeat_settings', fn( $s ) =&gt; {</a:t>
            </a:r>
          </a:p>
          <a:p xmlns:a="http://schemas.openxmlformats.org/drawingml/2006/main">
            <a:pPr marL="0" indent="0" algn="l">
              <a:lnSpc>
                <a:spcPct val="108000"/>
              </a:lnSpc>
              <a:buNone/>
            </a:pPr>
            <a:r>
              <a:rPr sz="1150">
                <a:solidFill>
                  <a:srgbClr val="E7C070"/>
                </a:solidFill>
                <a:latin typeface="Courier New"/>
                <a:ea typeface="Courier New"/>
                <a:cs typeface="Courier New"/>
              </a:rPr>
              <a:t>  $s['interval'] = 60; return $s;</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DCEAF1"/>
                </a:solidFill>
                <a:latin typeface="Courier New"/>
                <a:ea typeface="Courier New"/>
                <a:cs typeface="Courier New"/>
              </a:rPr>
              <a:t> </a:t>
            </a:r>
          </a:p>
          <a:p xmlns:a="http://schemas.openxmlformats.org/drawingml/2006/main">
            <a:pPr marL="0" indent="0" algn="l">
              <a:lnSpc>
                <a:spcPct val="108000"/>
              </a:lnSpc>
              <a:buNone/>
            </a:pPr>
            <a:r>
              <a:rPr sz="1150">
                <a:solidFill>
                  <a:srgbClr val="8FBF9F"/>
                </a:solidFill>
                <a:latin typeface="Courier New"/>
                <a:ea typeface="Courier New"/>
                <a:cs typeface="Courier New"/>
              </a:rPr>
              <a:t>// Deferring is NOT a setting here. Since WP 6.3:</a:t>
            </a:r>
          </a:p>
          <a:p xmlns:a="http://schemas.openxmlformats.org/drawingml/2006/main">
            <a:pPr marL="0" indent="0" algn="l">
              <a:lnSpc>
                <a:spcPct val="108000"/>
              </a:lnSpc>
              <a:buNone/>
            </a:pPr>
            <a:r>
              <a:rPr sz="1150">
                <a:solidFill>
                  <a:srgbClr val="DCEAF1"/>
                </a:solidFill>
                <a:latin typeface="Courier New"/>
                <a:ea typeface="Courier New"/>
                <a:cs typeface="Courier New"/>
              </a:rPr>
              <a:t>wp_enqueue_script( 'front', $src, array(), '1.0',</a:t>
            </a:r>
          </a:p>
          <a:p xmlns:a="http://schemas.openxmlformats.org/drawingml/2006/main">
            <a:pPr marL="0" indent="0" algn="l">
              <a:lnSpc>
                <a:spcPct val="108000"/>
              </a:lnSpc>
              <a:buNone/>
            </a:pPr>
            <a:r>
              <a:rPr sz="1150">
                <a:solidFill>
                  <a:srgbClr val="E7C070"/>
                </a:solidFill>
                <a:latin typeface="Courier New"/>
                <a:ea typeface="Courier New"/>
                <a:cs typeface="Courier New"/>
              </a:rPr>
              <a:t>  array( 'strategy' =&gt; 'defer' ) );</a:t>
            </a:r>
          </a:p>
        </p:txBody>
      </p:sp>
      <p:sp>
        <p:nvSpPr>
          <p:cNvPr id="9" name="Text 7">
            <a:extLst xmlns:a="http://schemas.openxmlformats.org/drawingml/2006/main">
              <a:ext uri="{FF2B5EF4-FFF2-40B4-BE49-F238E27FC236}">
                <a16:creationId xmlns:a16="http://schemas.microsoft.com/office/drawing/2014/main" id="{C9A8750F-5641-4A4F-BC8D-0A54D2E33FFB}"/>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10" name="Text 8">
            <a:extLst xmlns:a="http://schemas.openxmlformats.org/drawingml/2006/main">
              <a:ext uri="{FF2B5EF4-FFF2-40B4-BE49-F238E27FC236}">
                <a16:creationId xmlns:a16="http://schemas.microsoft.com/office/drawing/2014/main" id="{37C7AC04-C30B-4D9C-A077-2436EC57D165}"/>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23</a:t>
            </a:r>
          </a:p>
        </p:txBody>
      </p:sp>
    </p:spTree>
    <p:extLst>
      <p:ext uri="{BB962C8B-B14F-4D97-AF65-F5344CB8AC3E}">
        <p14:creationId xmlns:p14="http://schemas.microsoft.com/office/powerpoint/2010/main" val="1465580794"/>
      </p:ext>
    </p:extLst>
  </p:cSld>
</p:sld>
</file>

<file path=ppt/slides/slide24.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7CC4008-636B-4299-92CC-7F779B87103E}"/>
              </a:ext>
            </a:extLst>
          </p:cNvPr>
          <p:cNvSpPr>
            <a:spLocks xmlns:a="http://schemas.openxmlformats.org/drawingml/2006/main" noGrp="1"/>
          </p:cNvSpPr>
          <p:nvPr/>
        </p:nvSpPr>
        <p:spPr>
          <a:xfrm xmlns:a="http://schemas.openxmlformats.org/drawingml/2006/main">
            <a:off x="548640" y="50292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0F2733"/>
                </a:solidFill>
                <a:latin typeface="Cambria"/>
                <a:ea typeface="Cambria"/>
                <a:cs typeface="Cambria"/>
              </a:rPr>
              <a:t>Three things a plugin can't toggle</a:t>
            </a:r>
          </a:p>
        </p:txBody>
      </p:sp>
      <p:sp>
        <p:nvSpPr>
          <p:cNvPr id="3" name="Text 1">
            <a:extLst xmlns:a="http://schemas.openxmlformats.org/drawingml/2006/main">
              <a:ext uri="{FF2B5EF4-FFF2-40B4-BE49-F238E27FC236}">
                <a16:creationId xmlns:a16="http://schemas.microsoft.com/office/drawing/2014/main" id="{E9C4555E-8600-498F-9A6E-E17855F072FF}"/>
              </a:ext>
            </a:extLst>
          </p:cNvPr>
          <p:cNvSpPr>
            <a:spLocks xmlns:a="http://schemas.openxmlformats.org/drawingml/2006/main" noGrp="1"/>
          </p:cNvSpPr>
          <p:nvPr/>
        </p:nvSpPr>
        <p:spPr>
          <a:xfrm xmlns:a="http://schemas.openxmlformats.org/drawingml/2006/main">
            <a:off x="548640" y="1280160"/>
            <a:ext cx="107899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a:solidFill>
                  <a:srgbClr val="4A5A63"/>
                </a:solidFill>
                <a:latin typeface="Calibri"/>
                <a:ea typeface="Calibri"/>
                <a:cs typeface="Calibri"/>
              </a:rPr>
              <a:t>Some defaults live in wp-config.php, above the plugin layer, because they must load before plugins do. Document them as manual steps in your onboarding checklist.</a:t>
            </a:r>
          </a:p>
        </p:txBody>
      </p:sp>
      <p:sp>
        <p:nvSpPr>
          <p:cNvPr id="4" name="Shape 2">
            <a:extLst xmlns:a="http://schemas.openxmlformats.org/drawingml/2006/main">
              <a:ext uri="{FF2B5EF4-FFF2-40B4-BE49-F238E27FC236}">
                <a16:creationId xmlns:a16="http://schemas.microsoft.com/office/drawing/2014/main" id="{EAD5153A-4726-4F2D-B092-F6BFAF79CEB8}"/>
              </a:ext>
            </a:extLst>
          </p:cNvPr>
          <p:cNvSpPr>
            <a:spLocks xmlns:a="http://schemas.openxmlformats.org/drawingml/2006/main" noGrp="1"/>
          </p:cNvSpPr>
          <p:nvPr/>
        </p:nvSpPr>
        <p:spPr>
          <a:xfrm xmlns:a="http://schemas.openxmlformats.org/drawingml/2006/main">
            <a:off x="548640" y="2148840"/>
            <a:ext cx="11064240" cy="1920240"/>
          </a:xfrm>
          <a:prstGeom xmlns:a="http://schemas.openxmlformats.org/drawingml/2006/main" prst="roundRect">
            <a:avLst>
              <a:gd name="adj" fmla="val 3810"/>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5" name="Text 3">
            <a:extLst xmlns:a="http://schemas.openxmlformats.org/drawingml/2006/main">
              <a:ext uri="{FF2B5EF4-FFF2-40B4-BE49-F238E27FC236}">
                <a16:creationId xmlns:a16="http://schemas.microsoft.com/office/drawing/2014/main" id="{636EE0EE-1204-4908-ABAC-E5B09CA485B2}"/>
              </a:ext>
            </a:extLst>
          </p:cNvPr>
          <p:cNvSpPr>
            <a:spLocks xmlns:a="http://schemas.openxmlformats.org/drawingml/2006/main" noGrp="1"/>
          </p:cNvSpPr>
          <p:nvPr/>
        </p:nvSpPr>
        <p:spPr>
          <a:xfrm xmlns:a="http://schemas.openxmlformats.org/drawingml/2006/main">
            <a:off x="749808" y="2313432"/>
            <a:ext cx="10661904" cy="15910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400">
                <a:solidFill>
                  <a:srgbClr val="DCEAF1"/>
                </a:solidFill>
                <a:latin typeface="Courier New"/>
                <a:ea typeface="Courier New"/>
                <a:cs typeface="Courier New"/>
              </a:rPr>
              <a:t>define( 'DISALLOW_FILE_EDIT', true );  // no in-dashboard code editor</a:t>
            </a:r>
          </a:p>
          <a:p xmlns:a="http://schemas.openxmlformats.org/drawingml/2006/main">
            <a:pPr marL="0" indent="0" algn="l">
              <a:lnSpc>
                <a:spcPct val="108000"/>
              </a:lnSpc>
              <a:buNone/>
            </a:pPr>
            <a:r>
              <a:rPr sz="1400">
                <a:solidFill>
                  <a:srgbClr val="DCEAF1"/>
                </a:solidFill>
                <a:latin typeface="Courier New"/>
                <a:ea typeface="Courier New"/>
                <a:cs typeface="Courier New"/>
              </a:rPr>
              <a:t>define( 'AUTOSAVE_INTERVAL', 120 );    // gentler autosave (seconds)</a:t>
            </a:r>
          </a:p>
          <a:p xmlns:a="http://schemas.openxmlformats.org/drawingml/2006/main">
            <a:pPr marL="0" indent="0" algn="l">
              <a:lnSpc>
                <a:spcPct val="108000"/>
              </a:lnSpc>
              <a:buNone/>
            </a:pPr>
            <a:r>
              <a:rPr sz="1400">
                <a:solidFill>
                  <a:srgbClr val="DCEAF1"/>
                </a:solidFill>
                <a:latin typeface="Courier New"/>
                <a:ea typeface="Courier New"/>
                <a:cs typeface="Courier New"/>
              </a:rPr>
              <a:t>define( 'WP_POST_REVISIONS', 10 );     // cap revision-table bloat</a:t>
            </a:r>
          </a:p>
        </p:txBody>
      </p:sp>
      <p:sp>
        <p:nvSpPr>
          <p:cNvPr id="6" name="Shape 4">
            <a:extLst xmlns:a="http://schemas.openxmlformats.org/drawingml/2006/main">
              <a:ext uri="{FF2B5EF4-FFF2-40B4-BE49-F238E27FC236}">
                <a16:creationId xmlns:a16="http://schemas.microsoft.com/office/drawing/2014/main" id="{39AB61C7-99DC-432F-8103-799C7DC7292D}"/>
              </a:ext>
            </a:extLst>
          </p:cNvPr>
          <p:cNvSpPr>
            <a:spLocks xmlns:a="http://schemas.openxmlformats.org/drawingml/2006/main" noGrp="1"/>
          </p:cNvSpPr>
          <p:nvPr/>
        </p:nvSpPr>
        <p:spPr>
          <a:xfrm xmlns:a="http://schemas.openxmlformats.org/drawingml/2006/main">
            <a:off x="548640" y="4343400"/>
            <a:ext cx="3520440" cy="150876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7" name="Shape 5">
            <a:extLst xmlns:a="http://schemas.openxmlformats.org/drawingml/2006/main">
              <a:ext uri="{FF2B5EF4-FFF2-40B4-BE49-F238E27FC236}">
                <a16:creationId xmlns:a16="http://schemas.microsoft.com/office/drawing/2014/main" id="{EAE66EA5-FDD1-409A-994B-DCF5C343369E}"/>
              </a:ext>
            </a:extLst>
          </p:cNvPr>
          <p:cNvSpPr>
            <a:spLocks xmlns:a="http://schemas.openxmlformats.org/drawingml/2006/main" noGrp="1"/>
          </p:cNvSpPr>
          <p:nvPr/>
        </p:nvSpPr>
        <p:spPr>
          <a:xfrm xmlns:a="http://schemas.openxmlformats.org/drawingml/2006/main">
            <a:off x="804672" y="4590288"/>
            <a:ext cx="457200" cy="457200"/>
          </a:xfrm>
          <a:prstGeom xmlns:a="http://schemas.openxmlformats.org/drawingml/2006/main" prst="ellipse">
            <a:avLst/>
          </a:prstGeom>
          <a:solidFill xmlns:a="http://schemas.openxmlformats.org/drawingml/2006/main">
            <a:srgbClr val="27607A"/>
          </a:solidFill>
        </p:spPr>
      </p:sp>
      <p:sp>
        <p:nvSpPr>
          <p:cNvPr id="8" name="Text 6">
            <a:extLst xmlns:a="http://schemas.openxmlformats.org/drawingml/2006/main">
              <a:ext uri="{FF2B5EF4-FFF2-40B4-BE49-F238E27FC236}">
                <a16:creationId xmlns:a16="http://schemas.microsoft.com/office/drawing/2014/main" id="{61F8CB6D-CC27-4427-BA5A-038FD183DD2E}"/>
              </a:ext>
            </a:extLst>
          </p:cNvPr>
          <p:cNvSpPr>
            <a:spLocks xmlns:a="http://schemas.openxmlformats.org/drawingml/2006/main" noGrp="1"/>
          </p:cNvSpPr>
          <p:nvPr/>
        </p:nvSpPr>
        <p:spPr>
          <a:xfrm xmlns:a="http://schemas.openxmlformats.org/drawingml/2006/main">
            <a:off x="804672" y="459028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1</a:t>
            </a:r>
          </a:p>
        </p:txBody>
      </p:sp>
      <p:sp>
        <p:nvSpPr>
          <p:cNvPr id="9" name="Text 7">
            <a:extLst xmlns:a="http://schemas.openxmlformats.org/drawingml/2006/main">
              <a:ext uri="{FF2B5EF4-FFF2-40B4-BE49-F238E27FC236}">
                <a16:creationId xmlns:a16="http://schemas.microsoft.com/office/drawing/2014/main" id="{CA520E30-63FB-4FDB-B61F-42DCB775F615}"/>
              </a:ext>
            </a:extLst>
          </p:cNvPr>
          <p:cNvSpPr>
            <a:spLocks xmlns:a="http://schemas.openxmlformats.org/drawingml/2006/main" noGrp="1"/>
          </p:cNvSpPr>
          <p:nvPr/>
        </p:nvSpPr>
        <p:spPr>
          <a:xfrm xmlns:a="http://schemas.openxmlformats.org/drawingml/2006/main">
            <a:off x="1417320" y="4526280"/>
            <a:ext cx="25146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F2733"/>
                </a:solidFill>
                <a:latin typeface="Cambria"/>
                <a:ea typeface="Cambria"/>
                <a:cs typeface="Cambria"/>
              </a:rPr>
              <a:t>Kills the theme/plugin editor</a:t>
            </a:r>
          </a:p>
        </p:txBody>
      </p:sp>
      <p:sp>
        <p:nvSpPr>
          <p:cNvPr id="10" name="Text 8">
            <a:extLst xmlns:a="http://schemas.openxmlformats.org/drawingml/2006/main">
              <a:ext uri="{FF2B5EF4-FFF2-40B4-BE49-F238E27FC236}">
                <a16:creationId xmlns:a16="http://schemas.microsoft.com/office/drawing/2014/main" id="{27C76501-9427-4B65-BCBF-0527F3AC8C8C}"/>
              </a:ext>
            </a:extLst>
          </p:cNvPr>
          <p:cNvSpPr>
            <a:spLocks xmlns:a="http://schemas.openxmlformats.org/drawingml/2006/main" noGrp="1"/>
          </p:cNvSpPr>
          <p:nvPr/>
        </p:nvSpPr>
        <p:spPr>
          <a:xfrm xmlns:a="http://schemas.openxmlformats.org/drawingml/2006/main">
            <a:off x="804672" y="5138928"/>
            <a:ext cx="30632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a:solidFill>
                  <a:srgbClr val="4A5A63"/>
                </a:solidFill>
                <a:latin typeface="Calibri"/>
                <a:ea typeface="Calibri"/>
                <a:cs typeface="Calibri"/>
              </a:rPr>
              <a:t>A stolen admin login can't rewrite your PHP.</a:t>
            </a:r>
          </a:p>
        </p:txBody>
      </p:sp>
      <p:sp>
        <p:nvSpPr>
          <p:cNvPr id="11" name="Shape 9">
            <a:extLst xmlns:a="http://schemas.openxmlformats.org/drawingml/2006/main">
              <a:ext uri="{FF2B5EF4-FFF2-40B4-BE49-F238E27FC236}">
                <a16:creationId xmlns:a16="http://schemas.microsoft.com/office/drawing/2014/main" id="{DFBE3680-2A26-40BF-8C12-0B914779919F}"/>
              </a:ext>
            </a:extLst>
          </p:cNvPr>
          <p:cNvSpPr>
            <a:spLocks xmlns:a="http://schemas.openxmlformats.org/drawingml/2006/main" noGrp="1"/>
          </p:cNvSpPr>
          <p:nvPr/>
        </p:nvSpPr>
        <p:spPr>
          <a:xfrm xmlns:a="http://schemas.openxmlformats.org/drawingml/2006/main">
            <a:off x="4270248" y="4343400"/>
            <a:ext cx="3520440" cy="150876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2" name="Shape 10">
            <a:extLst xmlns:a="http://schemas.openxmlformats.org/drawingml/2006/main">
              <a:ext uri="{FF2B5EF4-FFF2-40B4-BE49-F238E27FC236}">
                <a16:creationId xmlns:a16="http://schemas.microsoft.com/office/drawing/2014/main" id="{97968CB7-C473-4469-8188-CC0DC45F1CFF}"/>
              </a:ext>
            </a:extLst>
          </p:cNvPr>
          <p:cNvSpPr>
            <a:spLocks xmlns:a="http://schemas.openxmlformats.org/drawingml/2006/main" noGrp="1"/>
          </p:cNvSpPr>
          <p:nvPr/>
        </p:nvSpPr>
        <p:spPr>
          <a:xfrm xmlns:a="http://schemas.openxmlformats.org/drawingml/2006/main">
            <a:off x="4526280" y="4590288"/>
            <a:ext cx="457200" cy="457200"/>
          </a:xfrm>
          <a:prstGeom xmlns:a="http://schemas.openxmlformats.org/drawingml/2006/main" prst="ellipse">
            <a:avLst/>
          </a:prstGeom>
          <a:solidFill xmlns:a="http://schemas.openxmlformats.org/drawingml/2006/main">
            <a:srgbClr val="27607A"/>
          </a:solidFill>
        </p:spPr>
      </p:sp>
      <p:sp>
        <p:nvSpPr>
          <p:cNvPr id="13" name="Text 11">
            <a:extLst xmlns:a="http://schemas.openxmlformats.org/drawingml/2006/main">
              <a:ext uri="{FF2B5EF4-FFF2-40B4-BE49-F238E27FC236}">
                <a16:creationId xmlns:a16="http://schemas.microsoft.com/office/drawing/2014/main" id="{E738D5F1-754A-40DD-BF90-E7F737ECA795}"/>
              </a:ext>
            </a:extLst>
          </p:cNvPr>
          <p:cNvSpPr>
            <a:spLocks xmlns:a="http://schemas.openxmlformats.org/drawingml/2006/main" noGrp="1"/>
          </p:cNvSpPr>
          <p:nvPr/>
        </p:nvSpPr>
        <p:spPr>
          <a:xfrm xmlns:a="http://schemas.openxmlformats.org/drawingml/2006/main">
            <a:off x="4526280" y="459028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2</a:t>
            </a:r>
          </a:p>
        </p:txBody>
      </p:sp>
      <p:sp>
        <p:nvSpPr>
          <p:cNvPr id="14" name="Text 12">
            <a:extLst xmlns:a="http://schemas.openxmlformats.org/drawingml/2006/main">
              <a:ext uri="{FF2B5EF4-FFF2-40B4-BE49-F238E27FC236}">
                <a16:creationId xmlns:a16="http://schemas.microsoft.com/office/drawing/2014/main" id="{D161B8EF-96AD-44B6-8D6E-9752BB0FCFA3}"/>
              </a:ext>
            </a:extLst>
          </p:cNvPr>
          <p:cNvSpPr>
            <a:spLocks xmlns:a="http://schemas.openxmlformats.org/drawingml/2006/main" noGrp="1"/>
          </p:cNvSpPr>
          <p:nvPr/>
        </p:nvSpPr>
        <p:spPr>
          <a:xfrm xmlns:a="http://schemas.openxmlformats.org/drawingml/2006/main">
            <a:off x="5138928" y="4526280"/>
            <a:ext cx="25146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F2733"/>
                </a:solidFill>
                <a:latin typeface="Cambria"/>
                <a:ea typeface="Cambria"/>
                <a:cs typeface="Cambria"/>
              </a:rPr>
              <a:t>Writes to the DB less often</a:t>
            </a:r>
          </a:p>
        </p:txBody>
      </p:sp>
      <p:sp>
        <p:nvSpPr>
          <p:cNvPr id="15" name="Text 13">
            <a:extLst xmlns:a="http://schemas.openxmlformats.org/drawingml/2006/main">
              <a:ext uri="{FF2B5EF4-FFF2-40B4-BE49-F238E27FC236}">
                <a16:creationId xmlns:a16="http://schemas.microsoft.com/office/drawing/2014/main" id="{4F3C7EC1-4EDD-403A-A53A-CF85AE4CA7B4}"/>
              </a:ext>
            </a:extLst>
          </p:cNvPr>
          <p:cNvSpPr>
            <a:spLocks xmlns:a="http://schemas.openxmlformats.org/drawingml/2006/main" noGrp="1"/>
          </p:cNvSpPr>
          <p:nvPr/>
        </p:nvSpPr>
        <p:spPr>
          <a:xfrm xmlns:a="http://schemas.openxmlformats.org/drawingml/2006/main">
            <a:off x="4526280" y="5138928"/>
            <a:ext cx="30632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a:solidFill>
                  <a:srgbClr val="4A5A63"/>
                </a:solidFill>
                <a:latin typeface="Calibri"/>
                <a:ea typeface="Calibri"/>
                <a:cs typeface="Calibri"/>
              </a:rPr>
              <a:t>Fewer autosave revisions during long edits.</a:t>
            </a:r>
          </a:p>
        </p:txBody>
      </p:sp>
      <p:sp>
        <p:nvSpPr>
          <p:cNvPr id="16" name="Shape 14">
            <a:extLst xmlns:a="http://schemas.openxmlformats.org/drawingml/2006/main">
              <a:ext uri="{FF2B5EF4-FFF2-40B4-BE49-F238E27FC236}">
                <a16:creationId xmlns:a16="http://schemas.microsoft.com/office/drawing/2014/main" id="{C32781C0-C463-426A-9B1C-1306D461DAA4}"/>
              </a:ext>
            </a:extLst>
          </p:cNvPr>
          <p:cNvSpPr>
            <a:spLocks xmlns:a="http://schemas.openxmlformats.org/drawingml/2006/main" noGrp="1"/>
          </p:cNvSpPr>
          <p:nvPr/>
        </p:nvSpPr>
        <p:spPr>
          <a:xfrm xmlns:a="http://schemas.openxmlformats.org/drawingml/2006/main">
            <a:off x="7991856" y="4343400"/>
            <a:ext cx="3520440" cy="150876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63500" dist="25400" dir="5400000" sx="100000" sy="100000" kx="0" ky="0" algn="bl" rotWithShape="0">
              <a:srgbClr val="C7D4DB">
                <a:alpha val="50000"/>
              </a:srgbClr>
            </a:outerShdw>
          </a:effectLst>
        </p:spPr>
      </p:sp>
      <p:sp>
        <p:nvSpPr>
          <p:cNvPr id="17" name="Shape 15">
            <a:extLst xmlns:a="http://schemas.openxmlformats.org/drawingml/2006/main">
              <a:ext uri="{FF2B5EF4-FFF2-40B4-BE49-F238E27FC236}">
                <a16:creationId xmlns:a16="http://schemas.microsoft.com/office/drawing/2014/main" id="{72C9C9C7-596C-4E4C-A7B8-E296C7CDEB4D}"/>
              </a:ext>
            </a:extLst>
          </p:cNvPr>
          <p:cNvSpPr>
            <a:spLocks xmlns:a="http://schemas.openxmlformats.org/drawingml/2006/main" noGrp="1"/>
          </p:cNvSpPr>
          <p:nvPr/>
        </p:nvSpPr>
        <p:spPr>
          <a:xfrm xmlns:a="http://schemas.openxmlformats.org/drawingml/2006/main">
            <a:off x="8247888" y="4590288"/>
            <a:ext cx="457200" cy="457200"/>
          </a:xfrm>
          <a:prstGeom xmlns:a="http://schemas.openxmlformats.org/drawingml/2006/main" prst="ellipse">
            <a:avLst/>
          </a:prstGeom>
          <a:solidFill xmlns:a="http://schemas.openxmlformats.org/drawingml/2006/main">
            <a:srgbClr val="27607A"/>
          </a:solidFill>
        </p:spPr>
      </p:sp>
      <p:sp>
        <p:nvSpPr>
          <p:cNvPr id="18" name="Text 16">
            <a:extLst xmlns:a="http://schemas.openxmlformats.org/drawingml/2006/main">
              <a:ext uri="{FF2B5EF4-FFF2-40B4-BE49-F238E27FC236}">
                <a16:creationId xmlns:a16="http://schemas.microsoft.com/office/drawing/2014/main" id="{D590397D-3A1E-488A-9E6E-4EBA5BAB9515}"/>
              </a:ext>
            </a:extLst>
          </p:cNvPr>
          <p:cNvSpPr>
            <a:spLocks xmlns:a="http://schemas.openxmlformats.org/drawingml/2006/main" noGrp="1"/>
          </p:cNvSpPr>
          <p:nvPr/>
        </p:nvSpPr>
        <p:spPr>
          <a:xfrm xmlns:a="http://schemas.openxmlformats.org/drawingml/2006/main">
            <a:off x="8247888" y="459028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3</a:t>
            </a:r>
          </a:p>
        </p:txBody>
      </p:sp>
      <p:sp>
        <p:nvSpPr>
          <p:cNvPr id="19" name="Text 17">
            <a:extLst xmlns:a="http://schemas.openxmlformats.org/drawingml/2006/main">
              <a:ext uri="{FF2B5EF4-FFF2-40B4-BE49-F238E27FC236}">
                <a16:creationId xmlns:a16="http://schemas.microsoft.com/office/drawing/2014/main" id="{8DF03D59-979D-42AA-96A3-41FA10E9F0B3}"/>
              </a:ext>
            </a:extLst>
          </p:cNvPr>
          <p:cNvSpPr>
            <a:spLocks xmlns:a="http://schemas.openxmlformats.org/drawingml/2006/main" noGrp="1"/>
          </p:cNvSpPr>
          <p:nvPr/>
        </p:nvSpPr>
        <p:spPr>
          <a:xfrm xmlns:a="http://schemas.openxmlformats.org/drawingml/2006/main">
            <a:off x="8860536" y="4526280"/>
            <a:ext cx="25146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F2733"/>
                </a:solidFill>
                <a:latin typeface="Cambria"/>
                <a:ea typeface="Cambria"/>
                <a:cs typeface="Cambria"/>
              </a:rPr>
              <a:t>Keeps revisions in check</a:t>
            </a:r>
          </a:p>
        </p:txBody>
      </p:sp>
      <p:sp>
        <p:nvSpPr>
          <p:cNvPr id="20" name="Text 18">
            <a:extLst xmlns:a="http://schemas.openxmlformats.org/drawingml/2006/main">
              <a:ext uri="{FF2B5EF4-FFF2-40B4-BE49-F238E27FC236}">
                <a16:creationId xmlns:a16="http://schemas.microsoft.com/office/drawing/2014/main" id="{25E9E8C2-0FC8-4EE9-B392-F4F5FA8202AF}"/>
              </a:ext>
            </a:extLst>
          </p:cNvPr>
          <p:cNvSpPr>
            <a:spLocks xmlns:a="http://schemas.openxmlformats.org/drawingml/2006/main" noGrp="1"/>
          </p:cNvSpPr>
          <p:nvPr/>
        </p:nvSpPr>
        <p:spPr>
          <a:xfrm xmlns:a="http://schemas.openxmlformats.org/drawingml/2006/main">
            <a:off x="8247888" y="5138928"/>
            <a:ext cx="30632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a:solidFill>
                  <a:srgbClr val="4A5A63"/>
                </a:solidFill>
                <a:latin typeface="Calibri"/>
                <a:ea typeface="Calibri"/>
                <a:cs typeface="Calibri"/>
              </a:rPr>
              <a:t>Ten per post instead of unbounded growth.</a:t>
            </a:r>
          </a:p>
        </p:txBody>
      </p:sp>
      <p:sp>
        <p:nvSpPr>
          <p:cNvPr id="21" name="Text 19">
            <a:extLst xmlns:a="http://schemas.openxmlformats.org/drawingml/2006/main">
              <a:ext uri="{FF2B5EF4-FFF2-40B4-BE49-F238E27FC236}">
                <a16:creationId xmlns:a16="http://schemas.microsoft.com/office/drawing/2014/main" id="{91E4D1ED-7FAD-4E6C-B7AB-74E6B451AE4D}"/>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22" name="Text 20">
            <a:extLst xmlns:a="http://schemas.openxmlformats.org/drawingml/2006/main">
              <a:ext uri="{FF2B5EF4-FFF2-40B4-BE49-F238E27FC236}">
                <a16:creationId xmlns:a16="http://schemas.microsoft.com/office/drawing/2014/main" id="{40A0CDDF-C4E9-4F07-991B-F7F2635F13AC}"/>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24</a:t>
            </a:r>
          </a:p>
        </p:txBody>
      </p:sp>
    </p:spTree>
    <p:extLst>
      <p:ext uri="{BB962C8B-B14F-4D97-AF65-F5344CB8AC3E}">
        <p14:creationId xmlns:p14="http://schemas.microsoft.com/office/powerpoint/2010/main" val="996112210"/>
      </p:ext>
    </p:extLst>
  </p:cSld>
</p:sld>
</file>

<file path=ppt/slides/slide25.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CEBAD6-846E-466E-A4E6-8FABDF6ED8B9}"/>
              </a:ext>
            </a:extLst>
          </p:cNvPr>
          <p:cNvSpPr>
            <a:spLocks xmlns:a="http://schemas.openxmlformats.org/drawingml/2006/main" noGrp="1"/>
          </p:cNvSpPr>
          <p:nvPr/>
        </p:nvSpPr>
        <p:spPr>
          <a:xfrm xmlns:a="http://schemas.openxmlformats.org/drawingml/2006/main">
            <a:off x="640080" y="5486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FFFFFF"/>
                </a:solidFill>
                <a:latin typeface="Cambria"/>
                <a:ea typeface="Cambria"/>
                <a:cs typeface="Cambria"/>
              </a:rPr>
              <a:t>How the plugin is built</a:t>
            </a:r>
          </a:p>
        </p:txBody>
      </p:sp>
      <p:sp>
        <p:nvSpPr>
          <p:cNvPr id="3" name="Text 1">
            <a:extLst xmlns:a="http://schemas.openxmlformats.org/drawingml/2006/main">
              <a:ext uri="{FF2B5EF4-FFF2-40B4-BE49-F238E27FC236}">
                <a16:creationId xmlns:a16="http://schemas.microsoft.com/office/drawing/2014/main" id="{B766D935-2DD2-44E3-95D6-19B49270C4A2}"/>
              </a:ext>
            </a:extLst>
          </p:cNvPr>
          <p:cNvSpPr>
            <a:spLocks xmlns:a="http://schemas.openxmlformats.org/drawingml/2006/main" noGrp="1"/>
          </p:cNvSpPr>
          <p:nvPr/>
        </p:nvSpPr>
        <p:spPr>
          <a:xfrm xmlns:a="http://schemas.openxmlformats.org/drawingml/2006/main">
            <a:off x="640080" y="1325880"/>
            <a:ext cx="105156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i="1">
                <a:solidFill>
                  <a:srgbClr val="D7E5EC"/>
                </a:solidFill>
                <a:latin typeface="Calibri"/>
                <a:ea typeface="Calibri"/>
                <a:cs typeface="Calibri"/>
              </a:rPr>
              <a:t>One array is the whole map. Read it and you understand the plugin.</a:t>
            </a:r>
          </a:p>
        </p:txBody>
      </p:sp>
      <p:sp>
        <p:nvSpPr>
          <p:cNvPr id="4" name="Shape 2">
            <a:extLst xmlns:a="http://schemas.openxmlformats.org/drawingml/2006/main">
              <a:ext uri="{FF2B5EF4-FFF2-40B4-BE49-F238E27FC236}">
                <a16:creationId xmlns:a16="http://schemas.microsoft.com/office/drawing/2014/main" id="{D2E25746-B7D9-4913-BBD5-33E8EBEB6EBB}"/>
              </a:ext>
            </a:extLst>
          </p:cNvPr>
          <p:cNvSpPr>
            <a:spLocks xmlns:a="http://schemas.openxmlformats.org/drawingml/2006/main" noGrp="1"/>
          </p:cNvSpPr>
          <p:nvPr/>
        </p:nvSpPr>
        <p:spPr>
          <a:xfrm xmlns:a="http://schemas.openxmlformats.org/drawingml/2006/main">
            <a:off x="640080" y="2148840"/>
            <a:ext cx="3429000" cy="2331720"/>
          </a:xfrm>
          <a:prstGeom xmlns:a="http://schemas.openxmlformats.org/drawingml/2006/main" prst="roundRect">
            <a:avLst>
              <a:gd name="adj" fmla="val 3922"/>
            </a:avLst>
          </a:prstGeom>
          <a:solidFill xmlns:a="http://schemas.openxmlformats.org/drawingml/2006/main">
            <a:srgbClr val="16323F"/>
          </a:solidFill>
          <a:ln xmlns:a="http://schemas.openxmlformats.org/drawingml/2006/main" w="12700">
            <a:solidFill>
              <a:srgbClr val="27607A"/>
            </a:solidFill>
            <a:prstDash val="solid"/>
          </a:ln>
        </p:spPr>
      </p:sp>
      <p:sp>
        <p:nvSpPr>
          <p:cNvPr id="5" name="Shape 3">
            <a:extLst xmlns:a="http://schemas.openxmlformats.org/drawingml/2006/main">
              <a:ext uri="{FF2B5EF4-FFF2-40B4-BE49-F238E27FC236}">
                <a16:creationId xmlns:a16="http://schemas.microsoft.com/office/drawing/2014/main" id="{FB0E30CD-F8B8-4FD7-8150-5A60EF522024}"/>
              </a:ext>
            </a:extLst>
          </p:cNvPr>
          <p:cNvSpPr>
            <a:spLocks xmlns:a="http://schemas.openxmlformats.org/drawingml/2006/main" noGrp="1"/>
          </p:cNvSpPr>
          <p:nvPr/>
        </p:nvSpPr>
        <p:spPr>
          <a:xfrm xmlns:a="http://schemas.openxmlformats.org/drawingml/2006/main">
            <a:off x="914400" y="2395728"/>
            <a:ext cx="566928" cy="566928"/>
          </a:xfrm>
          <a:prstGeom xmlns:a="http://schemas.openxmlformats.org/drawingml/2006/main" prst="ellipse">
            <a:avLst/>
          </a:prstGeom>
          <a:solidFill xmlns:a="http://schemas.openxmlformats.org/drawingml/2006/main">
            <a:srgbClr val="E0A94B"/>
          </a:solidFill>
        </p:spPr>
      </p:sp>
      <p:sp>
        <p:nvSpPr>
          <p:cNvPr id="6" name="Text 4">
            <a:extLst xmlns:a="http://schemas.openxmlformats.org/drawingml/2006/main">
              <a:ext uri="{FF2B5EF4-FFF2-40B4-BE49-F238E27FC236}">
                <a16:creationId xmlns:a16="http://schemas.microsoft.com/office/drawing/2014/main" id="{877C69EB-89B5-4294-BE2D-13E440BF1397}"/>
              </a:ext>
            </a:extLst>
          </p:cNvPr>
          <p:cNvSpPr>
            <a:spLocks xmlns:a="http://schemas.openxmlformats.org/drawingml/2006/main" noGrp="1"/>
          </p:cNvSpPr>
          <p:nvPr/>
        </p:nvSpPr>
        <p:spPr>
          <a:xfrm xmlns:a="http://schemas.openxmlformats.org/drawingml/2006/main">
            <a:off x="914400" y="2395728"/>
            <a:ext cx="566928"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12" b="1">
                <a:solidFill>
                  <a:srgbClr val="0F2733"/>
                </a:solidFill>
                <a:latin typeface="Cambria"/>
                <a:ea typeface="Cambria"/>
                <a:cs typeface="Cambria"/>
              </a:rPr>
              <a:t>1</a:t>
            </a:r>
          </a:p>
        </p:txBody>
      </p:sp>
      <p:sp>
        <p:nvSpPr>
          <p:cNvPr id="7" name="Text 5">
            <a:extLst xmlns:a="http://schemas.openxmlformats.org/drawingml/2006/main">
              <a:ext uri="{FF2B5EF4-FFF2-40B4-BE49-F238E27FC236}">
                <a16:creationId xmlns:a16="http://schemas.microsoft.com/office/drawing/2014/main" id="{BFF5202E-8F27-4AB3-9FE6-7B28E51787EC}"/>
              </a:ext>
            </a:extLst>
          </p:cNvPr>
          <p:cNvSpPr>
            <a:spLocks xmlns:a="http://schemas.openxmlformats.org/drawingml/2006/main" noGrp="1"/>
          </p:cNvSpPr>
          <p:nvPr/>
        </p:nvSpPr>
        <p:spPr>
          <a:xfrm xmlns:a="http://schemas.openxmlformats.org/drawingml/2006/main">
            <a:off x="1645920" y="2450592"/>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ourier New"/>
                <a:ea typeface="Courier New"/>
                <a:cs typeface="Courier New"/>
              </a:rPr>
              <a:t>schema()</a:t>
            </a:r>
          </a:p>
        </p:txBody>
      </p:sp>
      <p:sp>
        <p:nvSpPr>
          <p:cNvPr id="8" name="Text 6">
            <a:extLst xmlns:a="http://schemas.openxmlformats.org/drawingml/2006/main">
              <a:ext uri="{FF2B5EF4-FFF2-40B4-BE49-F238E27FC236}">
                <a16:creationId xmlns:a16="http://schemas.microsoft.com/office/drawing/2014/main" id="{D97370FF-3A59-465F-856A-F69ACE20A943}"/>
              </a:ext>
            </a:extLst>
          </p:cNvPr>
          <p:cNvSpPr>
            <a:spLocks xmlns:a="http://schemas.openxmlformats.org/drawingml/2006/main" noGrp="1"/>
          </p:cNvSpPr>
          <p:nvPr/>
        </p:nvSpPr>
        <p:spPr>
          <a:xfrm xmlns:a="http://schemas.openxmlformats.org/drawingml/2006/main">
            <a:off x="932688" y="3154680"/>
            <a:ext cx="28346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400">
                <a:solidFill>
                  <a:srgbClr val="D7E5EC"/>
                </a:solidFill>
                <a:latin typeface="Calibri"/>
                <a:ea typeface="Calibri"/>
                <a:cs typeface="Calibri"/>
              </a:rPr>
              <a:t>One array: every setting, its default, type &amp; group. The single source of truth.</a:t>
            </a:r>
          </a:p>
        </p:txBody>
      </p:sp>
      <p:sp>
        <p:nvSpPr>
          <p:cNvPr id="9" name="Text 7">
            <a:extLst xmlns:a="http://schemas.openxmlformats.org/drawingml/2006/main">
              <a:ext uri="{FF2B5EF4-FFF2-40B4-BE49-F238E27FC236}">
                <a16:creationId xmlns:a16="http://schemas.microsoft.com/office/drawing/2014/main" id="{0537471B-D069-4FD3-A01E-EA2D19F38F14}"/>
              </a:ext>
            </a:extLst>
          </p:cNvPr>
          <p:cNvSpPr>
            <a:spLocks xmlns:a="http://schemas.openxmlformats.org/drawingml/2006/main" noGrp="1"/>
          </p:cNvSpPr>
          <p:nvPr/>
        </p:nvSpPr>
        <p:spPr>
          <a:xfrm xmlns:a="http://schemas.openxmlformats.org/drawingml/2006/main">
            <a:off x="4041648" y="2148840"/>
            <a:ext cx="457200" cy="2331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00">
                <a:solidFill>
                  <a:srgbClr val="E0A94B"/>
                </a:solidFill>
                <a:latin typeface="Calibri"/>
                <a:ea typeface="Calibri"/>
                <a:cs typeface="Calibri"/>
              </a:rPr>
              <a:t>➜</a:t>
            </a:r>
          </a:p>
        </p:txBody>
      </p:sp>
      <p:sp>
        <p:nvSpPr>
          <p:cNvPr id="10" name="Shape 8">
            <a:extLst xmlns:a="http://schemas.openxmlformats.org/drawingml/2006/main">
              <a:ext uri="{FF2B5EF4-FFF2-40B4-BE49-F238E27FC236}">
                <a16:creationId xmlns:a16="http://schemas.microsoft.com/office/drawing/2014/main" id="{39E76548-E0A8-495A-B445-E3345BDA6576}"/>
              </a:ext>
            </a:extLst>
          </p:cNvPr>
          <p:cNvSpPr>
            <a:spLocks xmlns:a="http://schemas.openxmlformats.org/drawingml/2006/main" noGrp="1"/>
          </p:cNvSpPr>
          <p:nvPr/>
        </p:nvSpPr>
        <p:spPr>
          <a:xfrm xmlns:a="http://schemas.openxmlformats.org/drawingml/2006/main">
            <a:off x="4389120" y="2148840"/>
            <a:ext cx="3429000" cy="2331720"/>
          </a:xfrm>
          <a:prstGeom xmlns:a="http://schemas.openxmlformats.org/drawingml/2006/main" prst="roundRect">
            <a:avLst>
              <a:gd name="adj" fmla="val 3922"/>
            </a:avLst>
          </a:prstGeom>
          <a:solidFill xmlns:a="http://schemas.openxmlformats.org/drawingml/2006/main">
            <a:srgbClr val="16323F"/>
          </a:solidFill>
          <a:ln xmlns:a="http://schemas.openxmlformats.org/drawingml/2006/main" w="12700">
            <a:solidFill>
              <a:srgbClr val="27607A"/>
            </a:solidFill>
            <a:prstDash val="solid"/>
          </a:ln>
        </p:spPr>
      </p:sp>
      <p:sp>
        <p:nvSpPr>
          <p:cNvPr id="11" name="Shape 9">
            <a:extLst xmlns:a="http://schemas.openxmlformats.org/drawingml/2006/main">
              <a:ext uri="{FF2B5EF4-FFF2-40B4-BE49-F238E27FC236}">
                <a16:creationId xmlns:a16="http://schemas.microsoft.com/office/drawing/2014/main" id="{8F7AE804-04A3-41A2-862E-B196E2CD8092}"/>
              </a:ext>
            </a:extLst>
          </p:cNvPr>
          <p:cNvSpPr>
            <a:spLocks xmlns:a="http://schemas.openxmlformats.org/drawingml/2006/main" noGrp="1"/>
          </p:cNvSpPr>
          <p:nvPr/>
        </p:nvSpPr>
        <p:spPr>
          <a:xfrm xmlns:a="http://schemas.openxmlformats.org/drawingml/2006/main">
            <a:off x="4663440" y="2395728"/>
            <a:ext cx="566928" cy="566928"/>
          </a:xfrm>
          <a:prstGeom xmlns:a="http://schemas.openxmlformats.org/drawingml/2006/main" prst="ellipse">
            <a:avLst/>
          </a:prstGeom>
          <a:solidFill xmlns:a="http://schemas.openxmlformats.org/drawingml/2006/main">
            <a:srgbClr val="E0A94B"/>
          </a:solidFill>
        </p:spPr>
      </p:sp>
      <p:sp>
        <p:nvSpPr>
          <p:cNvPr id="12" name="Text 10">
            <a:extLst xmlns:a="http://schemas.openxmlformats.org/drawingml/2006/main">
              <a:ext uri="{FF2B5EF4-FFF2-40B4-BE49-F238E27FC236}">
                <a16:creationId xmlns:a16="http://schemas.microsoft.com/office/drawing/2014/main" id="{440F0D40-36C1-4DA7-ADAC-7BD30626A00B}"/>
              </a:ext>
            </a:extLst>
          </p:cNvPr>
          <p:cNvSpPr>
            <a:spLocks xmlns:a="http://schemas.openxmlformats.org/drawingml/2006/main" noGrp="1"/>
          </p:cNvSpPr>
          <p:nvPr/>
        </p:nvSpPr>
        <p:spPr>
          <a:xfrm xmlns:a="http://schemas.openxmlformats.org/drawingml/2006/main">
            <a:off x="4663440" y="2395728"/>
            <a:ext cx="566928"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12" b="1">
                <a:solidFill>
                  <a:srgbClr val="0F2733"/>
                </a:solidFill>
                <a:latin typeface="Cambria"/>
                <a:ea typeface="Cambria"/>
                <a:cs typeface="Cambria"/>
              </a:rPr>
              <a:t>2</a:t>
            </a:r>
          </a:p>
        </p:txBody>
      </p:sp>
      <p:sp>
        <p:nvSpPr>
          <p:cNvPr id="13" name="Text 11">
            <a:extLst xmlns:a="http://schemas.openxmlformats.org/drawingml/2006/main">
              <a:ext uri="{FF2B5EF4-FFF2-40B4-BE49-F238E27FC236}">
                <a16:creationId xmlns:a16="http://schemas.microsoft.com/office/drawing/2014/main" id="{D7352B89-7B76-4124-B156-CA559CB8853F}"/>
              </a:ext>
            </a:extLst>
          </p:cNvPr>
          <p:cNvSpPr>
            <a:spLocks xmlns:a="http://schemas.openxmlformats.org/drawingml/2006/main" noGrp="1"/>
          </p:cNvSpPr>
          <p:nvPr/>
        </p:nvSpPr>
        <p:spPr>
          <a:xfrm xmlns:a="http://schemas.openxmlformats.org/drawingml/2006/main">
            <a:off x="5394960" y="2450592"/>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ourier New"/>
                <a:ea typeface="Courier New"/>
                <a:cs typeface="Courier New"/>
              </a:rPr>
              <a:t>settings page</a:t>
            </a:r>
          </a:p>
        </p:txBody>
      </p:sp>
      <p:sp>
        <p:nvSpPr>
          <p:cNvPr id="14" name="Text 12">
            <a:extLst xmlns:a="http://schemas.openxmlformats.org/drawingml/2006/main">
              <a:ext uri="{FF2B5EF4-FFF2-40B4-BE49-F238E27FC236}">
                <a16:creationId xmlns:a16="http://schemas.microsoft.com/office/drawing/2014/main" id="{C0AEAE2D-D5C3-42E0-AB88-ACCC41E7FC6E}"/>
              </a:ext>
            </a:extLst>
          </p:cNvPr>
          <p:cNvSpPr>
            <a:spLocks xmlns:a="http://schemas.openxmlformats.org/drawingml/2006/main" noGrp="1"/>
          </p:cNvSpPr>
          <p:nvPr/>
        </p:nvSpPr>
        <p:spPr>
          <a:xfrm xmlns:a="http://schemas.openxmlformats.org/drawingml/2006/main">
            <a:off x="4681728" y="3154680"/>
            <a:ext cx="28346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400">
                <a:solidFill>
                  <a:srgbClr val="D7E5EC"/>
                </a:solidFill>
                <a:latin typeface="Calibri"/>
                <a:ea typeface="Calibri"/>
                <a:cs typeface="Calibri"/>
              </a:rPr>
              <a:t>Loops the schema to render toggles under Settings → Better by Default.</a:t>
            </a:r>
          </a:p>
        </p:txBody>
      </p:sp>
      <p:sp>
        <p:nvSpPr>
          <p:cNvPr id="15" name="Text 13">
            <a:extLst xmlns:a="http://schemas.openxmlformats.org/drawingml/2006/main">
              <a:ext uri="{FF2B5EF4-FFF2-40B4-BE49-F238E27FC236}">
                <a16:creationId xmlns:a16="http://schemas.microsoft.com/office/drawing/2014/main" id="{88BFE91A-95EF-4BCC-B72F-2B601FFA5A53}"/>
              </a:ext>
            </a:extLst>
          </p:cNvPr>
          <p:cNvSpPr>
            <a:spLocks xmlns:a="http://schemas.openxmlformats.org/drawingml/2006/main" noGrp="1"/>
          </p:cNvSpPr>
          <p:nvPr/>
        </p:nvSpPr>
        <p:spPr>
          <a:xfrm xmlns:a="http://schemas.openxmlformats.org/drawingml/2006/main">
            <a:off x="7790688" y="2148840"/>
            <a:ext cx="457200" cy="2331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400">
                <a:solidFill>
                  <a:srgbClr val="E0A94B"/>
                </a:solidFill>
                <a:latin typeface="Calibri"/>
                <a:ea typeface="Calibri"/>
                <a:cs typeface="Calibri"/>
              </a:rPr>
              <a:t>➜</a:t>
            </a:r>
          </a:p>
        </p:txBody>
      </p:sp>
      <p:sp>
        <p:nvSpPr>
          <p:cNvPr id="16" name="Shape 14">
            <a:extLst xmlns:a="http://schemas.openxmlformats.org/drawingml/2006/main">
              <a:ext uri="{FF2B5EF4-FFF2-40B4-BE49-F238E27FC236}">
                <a16:creationId xmlns:a16="http://schemas.microsoft.com/office/drawing/2014/main" id="{A9897137-682E-46B4-A390-5FD1C913D980}"/>
              </a:ext>
            </a:extLst>
          </p:cNvPr>
          <p:cNvSpPr>
            <a:spLocks xmlns:a="http://schemas.openxmlformats.org/drawingml/2006/main" noGrp="1"/>
          </p:cNvSpPr>
          <p:nvPr/>
        </p:nvSpPr>
        <p:spPr>
          <a:xfrm xmlns:a="http://schemas.openxmlformats.org/drawingml/2006/main">
            <a:off x="8138160" y="2148840"/>
            <a:ext cx="3429000" cy="2331720"/>
          </a:xfrm>
          <a:prstGeom xmlns:a="http://schemas.openxmlformats.org/drawingml/2006/main" prst="roundRect">
            <a:avLst>
              <a:gd name="adj" fmla="val 3922"/>
            </a:avLst>
          </a:prstGeom>
          <a:solidFill xmlns:a="http://schemas.openxmlformats.org/drawingml/2006/main">
            <a:srgbClr val="16323F"/>
          </a:solidFill>
          <a:ln xmlns:a="http://schemas.openxmlformats.org/drawingml/2006/main" w="12700">
            <a:solidFill>
              <a:srgbClr val="27607A"/>
            </a:solidFill>
            <a:prstDash val="solid"/>
          </a:ln>
        </p:spPr>
      </p:sp>
      <p:sp>
        <p:nvSpPr>
          <p:cNvPr id="17" name="Shape 15">
            <a:extLst xmlns:a="http://schemas.openxmlformats.org/drawingml/2006/main">
              <a:ext uri="{FF2B5EF4-FFF2-40B4-BE49-F238E27FC236}">
                <a16:creationId xmlns:a16="http://schemas.microsoft.com/office/drawing/2014/main" id="{0AD2BD6C-9084-4EC8-B0FF-6E8F215C419A}"/>
              </a:ext>
            </a:extLst>
          </p:cNvPr>
          <p:cNvSpPr>
            <a:spLocks xmlns:a="http://schemas.openxmlformats.org/drawingml/2006/main" noGrp="1"/>
          </p:cNvSpPr>
          <p:nvPr/>
        </p:nvSpPr>
        <p:spPr>
          <a:xfrm xmlns:a="http://schemas.openxmlformats.org/drawingml/2006/main">
            <a:off x="8412480" y="2395728"/>
            <a:ext cx="566928" cy="566928"/>
          </a:xfrm>
          <a:prstGeom xmlns:a="http://schemas.openxmlformats.org/drawingml/2006/main" prst="ellipse">
            <a:avLst/>
          </a:prstGeom>
          <a:solidFill xmlns:a="http://schemas.openxmlformats.org/drawingml/2006/main">
            <a:srgbClr val="E0A94B"/>
          </a:solidFill>
        </p:spPr>
      </p:sp>
      <p:sp>
        <p:nvSpPr>
          <p:cNvPr id="18" name="Text 16">
            <a:extLst xmlns:a="http://schemas.openxmlformats.org/drawingml/2006/main">
              <a:ext uri="{FF2B5EF4-FFF2-40B4-BE49-F238E27FC236}">
                <a16:creationId xmlns:a16="http://schemas.microsoft.com/office/drawing/2014/main" id="{4717C6EE-A5E3-4A41-AA52-F52794ED9E52}"/>
              </a:ext>
            </a:extLst>
          </p:cNvPr>
          <p:cNvSpPr>
            <a:spLocks xmlns:a="http://schemas.openxmlformats.org/drawingml/2006/main" noGrp="1"/>
          </p:cNvSpPr>
          <p:nvPr/>
        </p:nvSpPr>
        <p:spPr>
          <a:xfrm xmlns:a="http://schemas.openxmlformats.org/drawingml/2006/main">
            <a:off x="8412480" y="2395728"/>
            <a:ext cx="566928"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12" b="1">
                <a:solidFill>
                  <a:srgbClr val="0F2733"/>
                </a:solidFill>
                <a:latin typeface="Cambria"/>
                <a:ea typeface="Cambria"/>
                <a:cs typeface="Cambria"/>
              </a:rPr>
              <a:t>3</a:t>
            </a:r>
          </a:p>
        </p:txBody>
      </p:sp>
      <p:sp>
        <p:nvSpPr>
          <p:cNvPr id="19" name="Text 17">
            <a:extLst xmlns:a="http://schemas.openxmlformats.org/drawingml/2006/main">
              <a:ext uri="{FF2B5EF4-FFF2-40B4-BE49-F238E27FC236}">
                <a16:creationId xmlns:a16="http://schemas.microsoft.com/office/drawing/2014/main" id="{221DD884-2DFB-4264-9BDB-A4BEAF9CE188}"/>
              </a:ext>
            </a:extLst>
          </p:cNvPr>
          <p:cNvSpPr>
            <a:spLocks xmlns:a="http://schemas.openxmlformats.org/drawingml/2006/main" noGrp="1"/>
          </p:cNvSpPr>
          <p:nvPr/>
        </p:nvSpPr>
        <p:spPr>
          <a:xfrm xmlns:a="http://schemas.openxmlformats.org/drawingml/2006/main">
            <a:off x="9144000" y="2450592"/>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E0A94B"/>
                </a:solidFill>
                <a:latin typeface="Courier New"/>
                <a:ea typeface="Courier New"/>
                <a:cs typeface="Courier New"/>
              </a:rPr>
              <a:t>bootstrap()</a:t>
            </a:r>
          </a:p>
        </p:txBody>
      </p:sp>
      <p:sp>
        <p:nvSpPr>
          <p:cNvPr id="20" name="Text 18">
            <a:extLst xmlns:a="http://schemas.openxmlformats.org/drawingml/2006/main">
              <a:ext uri="{FF2B5EF4-FFF2-40B4-BE49-F238E27FC236}">
                <a16:creationId xmlns:a16="http://schemas.microsoft.com/office/drawing/2014/main" id="{52A37A61-A822-443B-A1A2-0B11CDB200C4}"/>
              </a:ext>
            </a:extLst>
          </p:cNvPr>
          <p:cNvSpPr>
            <a:spLocks xmlns:a="http://schemas.openxmlformats.org/drawingml/2006/main" noGrp="1"/>
          </p:cNvSpPr>
          <p:nvPr/>
        </p:nvSpPr>
        <p:spPr>
          <a:xfrm xmlns:a="http://schemas.openxmlformats.org/drawingml/2006/main">
            <a:off x="8430768" y="3154680"/>
            <a:ext cx="28346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400">
                <a:solidFill>
                  <a:srgbClr val="D7E5EC"/>
                </a:solidFill>
                <a:latin typeface="Calibri"/>
                <a:ea typeface="Calibri"/>
                <a:cs typeface="Calibri"/>
              </a:rPr>
              <a:t>For each ENABLED key, wires its add_filter / add_action to the right hook.</a:t>
            </a:r>
          </a:p>
        </p:txBody>
      </p:sp>
      <p:sp>
        <p:nvSpPr>
          <p:cNvPr id="21" name="Shape 19">
            <a:extLst xmlns:a="http://schemas.openxmlformats.org/drawingml/2006/main">
              <a:ext uri="{FF2B5EF4-FFF2-40B4-BE49-F238E27FC236}">
                <a16:creationId xmlns:a16="http://schemas.microsoft.com/office/drawing/2014/main" id="{474867C6-0E14-41FC-9526-0B17AD214F45}"/>
              </a:ext>
            </a:extLst>
          </p:cNvPr>
          <p:cNvSpPr>
            <a:spLocks xmlns:a="http://schemas.openxmlformats.org/drawingml/2006/main" noGrp="1"/>
          </p:cNvSpPr>
          <p:nvPr/>
        </p:nvSpPr>
        <p:spPr>
          <a:xfrm xmlns:a="http://schemas.openxmlformats.org/drawingml/2006/main">
            <a:off x="640080" y="4709160"/>
            <a:ext cx="10927080" cy="1234440"/>
          </a:xfrm>
          <a:prstGeom xmlns:a="http://schemas.openxmlformats.org/drawingml/2006/main" prst="roundRect">
            <a:avLst>
              <a:gd name="adj" fmla="val 5926"/>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22" name="Text 20">
            <a:extLst xmlns:a="http://schemas.openxmlformats.org/drawingml/2006/main">
              <a:ext uri="{FF2B5EF4-FFF2-40B4-BE49-F238E27FC236}">
                <a16:creationId xmlns:a16="http://schemas.microsoft.com/office/drawing/2014/main" id="{6FD7D8AB-9484-4C20-8BB1-5740E56301D3}"/>
              </a:ext>
            </a:extLst>
          </p:cNvPr>
          <p:cNvSpPr>
            <a:spLocks xmlns:a="http://schemas.openxmlformats.org/drawingml/2006/main" noGrp="1"/>
          </p:cNvSpPr>
          <p:nvPr/>
        </p:nvSpPr>
        <p:spPr>
          <a:xfrm xmlns:a="http://schemas.openxmlformats.org/drawingml/2006/main">
            <a:off x="841248" y="4873752"/>
            <a:ext cx="10524744" cy="9052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250">
                <a:solidFill>
                  <a:srgbClr val="8FBF9F"/>
                </a:solidFill>
                <a:latin typeface="Courier New"/>
                <a:ea typeface="Courier New"/>
                <a:cs typeface="Courier New"/>
              </a:rPr>
              <a:t>$stored = get_option('wpyeg_better_by_default');   // read once</a:t>
            </a:r>
          </a:p>
          <a:p xmlns:a="http://schemas.openxmlformats.org/drawingml/2006/main">
            <a:pPr marL="0" indent="0" algn="l">
              <a:lnSpc>
                <a:spcPct val="108000"/>
              </a:lnSpc>
              <a:buNone/>
            </a:pPr>
            <a:r>
              <a:rPr sz="1250">
                <a:solidFill>
                  <a:srgbClr val="DCEAF1"/>
                </a:solidFill>
                <a:latin typeface="Courier New"/>
                <a:ea typeface="Courier New"/>
                <a:cs typeface="Courier New"/>
              </a:rPr>
              <a:t>foreach ( wpyeg_defaults_schema() as $key =&gt; $field ) { /* render + wire */ }</a:t>
            </a:r>
          </a:p>
        </p:txBody>
      </p:sp>
    </p:spTree>
    <p:extLst>
      <p:ext uri="{BB962C8B-B14F-4D97-AF65-F5344CB8AC3E}">
        <p14:creationId xmlns:p14="http://schemas.microsoft.com/office/powerpoint/2010/main" val="244236996"/>
      </p:ext>
    </p:extLst>
  </p:cSld>
</p:sld>
</file>

<file path=ppt/slides/slide26.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EF3699D-3C00-4982-8F05-F14D1C2494B6}"/>
              </a:ext>
            </a:extLst>
          </p:cNvPr>
          <p:cNvSpPr>
            <a:spLocks xmlns:a="http://schemas.openxmlformats.org/drawingml/2006/main" noGrp="1"/>
          </p:cNvSpPr>
          <p:nvPr/>
        </p:nvSpPr>
        <p:spPr>
          <a:xfrm xmlns:a="http://schemas.openxmlformats.org/drawingml/2006/main">
            <a:off x="548640" y="502920"/>
            <a:ext cx="640080" cy="640080"/>
          </a:xfrm>
          <a:prstGeom xmlns:a="http://schemas.openxmlformats.org/drawingml/2006/main" prst="ellipse">
            <a:avLst/>
          </a:prstGeom>
          <a:solidFill xmlns:a="http://schemas.openxmlformats.org/drawingml/2006/main">
            <a:srgbClr val="E0A94B"/>
          </a:solidFill>
        </p:spPr>
      </p:sp>
      <p:sp>
        <p:nvSpPr>
          <p:cNvPr id="3" name="Text 1">
            <a:extLst xmlns:a="http://schemas.openxmlformats.org/drawingml/2006/main">
              <a:ext uri="{FF2B5EF4-FFF2-40B4-BE49-F238E27FC236}">
                <a16:creationId xmlns:a16="http://schemas.microsoft.com/office/drawing/2014/main" id="{29272718-BC69-415E-AE59-B193601021BE}"/>
              </a:ext>
            </a:extLst>
          </p:cNvPr>
          <p:cNvSpPr>
            <a:spLocks xmlns:a="http://schemas.openxmlformats.org/drawingml/2006/main" noGrp="1"/>
          </p:cNvSpPr>
          <p:nvPr/>
        </p:nvSpPr>
        <p:spPr>
          <a:xfrm xmlns:a="http://schemas.openxmlformats.org/drawingml/2006/main">
            <a:off x="548640" y="50292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a:t>
            </a:r>
          </a:p>
        </p:txBody>
      </p:sp>
      <p:sp>
        <p:nvSpPr>
          <p:cNvPr id="4" name="Text 2">
            <a:extLst xmlns:a="http://schemas.openxmlformats.org/drawingml/2006/main">
              <a:ext uri="{FF2B5EF4-FFF2-40B4-BE49-F238E27FC236}">
                <a16:creationId xmlns:a16="http://schemas.microsoft.com/office/drawing/2014/main" id="{27970E17-4AC7-433A-B60F-B20063DD9E7C}"/>
              </a:ext>
            </a:extLst>
          </p:cNvPr>
          <p:cNvSpPr>
            <a:spLocks xmlns:a="http://schemas.openxmlformats.org/drawingml/2006/main" noGrp="1"/>
          </p:cNvSpPr>
          <p:nvPr/>
        </p:nvSpPr>
        <p:spPr>
          <a:xfrm xmlns:a="http://schemas.openxmlformats.org/drawingml/2006/main">
            <a:off x="1325880" y="502920"/>
            <a:ext cx="1005840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Hands-on: install &amp; flip switches</a:t>
            </a:r>
          </a:p>
        </p:txBody>
      </p:sp>
      <p:sp>
        <p:nvSpPr>
          <p:cNvPr id="5" name="Shape 3">
            <a:extLst xmlns:a="http://schemas.openxmlformats.org/drawingml/2006/main">
              <a:ext uri="{FF2B5EF4-FFF2-40B4-BE49-F238E27FC236}">
                <a16:creationId xmlns:a16="http://schemas.microsoft.com/office/drawing/2014/main" id="{7773B76D-986D-47E6-B4FA-4A5E0AD5236B}"/>
              </a:ext>
            </a:extLst>
          </p:cNvPr>
          <p:cNvSpPr>
            <a:spLocks xmlns:a="http://schemas.openxmlformats.org/drawingml/2006/main" noGrp="1"/>
          </p:cNvSpPr>
          <p:nvPr/>
        </p:nvSpPr>
        <p:spPr>
          <a:xfrm xmlns:a="http://schemas.openxmlformats.org/drawingml/2006/main">
            <a:off x="548640" y="1371600"/>
            <a:ext cx="11064240" cy="9144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50800" dist="25400" dir="5400000" sx="100000" sy="100000" kx="0" ky="0" algn="bl" rotWithShape="0">
              <a:srgbClr val="C7D4DB">
                <a:alpha val="50000"/>
              </a:srgbClr>
            </a:outerShdw>
          </a:effectLst>
        </p:spPr>
      </p:sp>
      <p:sp>
        <p:nvSpPr>
          <p:cNvPr id="6" name="Shape 4">
            <a:extLst xmlns:a="http://schemas.openxmlformats.org/drawingml/2006/main">
              <a:ext uri="{FF2B5EF4-FFF2-40B4-BE49-F238E27FC236}">
                <a16:creationId xmlns:a16="http://schemas.microsoft.com/office/drawing/2014/main" id="{61F07B8F-84AF-4543-8102-E7A559446342}"/>
              </a:ext>
            </a:extLst>
          </p:cNvPr>
          <p:cNvSpPr>
            <a:spLocks xmlns:a="http://schemas.openxmlformats.org/drawingml/2006/main" noGrp="1"/>
          </p:cNvSpPr>
          <p:nvPr/>
        </p:nvSpPr>
        <p:spPr>
          <a:xfrm xmlns:a="http://schemas.openxmlformats.org/drawingml/2006/main">
            <a:off x="822960" y="1600200"/>
            <a:ext cx="457200" cy="457200"/>
          </a:xfrm>
          <a:prstGeom xmlns:a="http://schemas.openxmlformats.org/drawingml/2006/main" prst="ellipse">
            <a:avLst/>
          </a:prstGeom>
          <a:solidFill xmlns:a="http://schemas.openxmlformats.org/drawingml/2006/main">
            <a:srgbClr val="27607A"/>
          </a:solidFill>
        </p:spPr>
      </p:sp>
      <p:sp>
        <p:nvSpPr>
          <p:cNvPr id="7" name="Text 5">
            <a:extLst xmlns:a="http://schemas.openxmlformats.org/drawingml/2006/main">
              <a:ext uri="{FF2B5EF4-FFF2-40B4-BE49-F238E27FC236}">
                <a16:creationId xmlns:a16="http://schemas.microsoft.com/office/drawing/2014/main" id="{1C139F66-2B49-4AFA-98CC-F59EFB98625D}"/>
              </a:ext>
            </a:extLst>
          </p:cNvPr>
          <p:cNvSpPr>
            <a:spLocks xmlns:a="http://schemas.openxmlformats.org/drawingml/2006/main" noGrp="1"/>
          </p:cNvSpPr>
          <p:nvPr/>
        </p:nvSpPr>
        <p:spPr>
          <a:xfrm xmlns:a="http://schemas.openxmlformats.org/drawingml/2006/main">
            <a:off x="822960" y="160020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1</a:t>
            </a:r>
          </a:p>
        </p:txBody>
      </p:sp>
      <p:sp>
        <p:nvSpPr>
          <p:cNvPr id="8" name="Text 6">
            <a:extLst xmlns:a="http://schemas.openxmlformats.org/drawingml/2006/main">
              <a:ext uri="{FF2B5EF4-FFF2-40B4-BE49-F238E27FC236}">
                <a16:creationId xmlns:a16="http://schemas.microsoft.com/office/drawing/2014/main" id="{C1B0CF96-F277-40CE-BE82-FD7ADE57DE36}"/>
              </a:ext>
            </a:extLst>
          </p:cNvPr>
          <p:cNvSpPr>
            <a:spLocks xmlns:a="http://schemas.openxmlformats.org/drawingml/2006/main" noGrp="1"/>
          </p:cNvSpPr>
          <p:nvPr/>
        </p:nvSpPr>
        <p:spPr>
          <a:xfrm xmlns:a="http://schemas.openxmlformats.org/drawingml/2006/main">
            <a:off x="1463040" y="1444752"/>
            <a:ext cx="3291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F2733"/>
                </a:solidFill>
                <a:latin typeface="Cambria"/>
                <a:ea typeface="Cambria"/>
                <a:cs typeface="Cambria"/>
              </a:rPr>
              <a:t>Upload the plugin</a:t>
            </a:r>
          </a:p>
        </p:txBody>
      </p:sp>
      <p:sp>
        <p:nvSpPr>
          <p:cNvPr id="9" name="Text 7">
            <a:extLst xmlns:a="http://schemas.openxmlformats.org/drawingml/2006/main">
              <a:ext uri="{FF2B5EF4-FFF2-40B4-BE49-F238E27FC236}">
                <a16:creationId xmlns:a16="http://schemas.microsoft.com/office/drawing/2014/main" id="{43BF6C76-F9DC-4328-AEF9-734195C1ADBE}"/>
              </a:ext>
            </a:extLst>
          </p:cNvPr>
          <p:cNvSpPr>
            <a:spLocks xmlns:a="http://schemas.openxmlformats.org/drawingml/2006/main" noGrp="1"/>
          </p:cNvSpPr>
          <p:nvPr/>
        </p:nvSpPr>
        <p:spPr>
          <a:xfrm xmlns:a="http://schemas.openxmlformats.org/drawingml/2006/main">
            <a:off x="4754880" y="1444752"/>
            <a:ext cx="667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4A5A63"/>
                </a:solidFill>
                <a:latin typeface="Calibri"/>
                <a:ea typeface="Calibri"/>
                <a:cs typeface="Calibri"/>
              </a:rPr>
              <a:t>Plugins → Add New → Upload Plugin → choose sane-defaults.zip → Activate.</a:t>
            </a:r>
          </a:p>
        </p:txBody>
      </p:sp>
      <p:sp>
        <p:nvSpPr>
          <p:cNvPr id="10" name="Shape 8">
            <a:extLst xmlns:a="http://schemas.openxmlformats.org/drawingml/2006/main">
              <a:ext uri="{FF2B5EF4-FFF2-40B4-BE49-F238E27FC236}">
                <a16:creationId xmlns:a16="http://schemas.microsoft.com/office/drawing/2014/main" id="{5995FB84-30B3-4A12-B0E6-D57D886C8C96}"/>
              </a:ext>
            </a:extLst>
          </p:cNvPr>
          <p:cNvSpPr>
            <a:spLocks xmlns:a="http://schemas.openxmlformats.org/drawingml/2006/main" noGrp="1"/>
          </p:cNvSpPr>
          <p:nvPr/>
        </p:nvSpPr>
        <p:spPr>
          <a:xfrm xmlns:a="http://schemas.openxmlformats.org/drawingml/2006/main">
            <a:off x="548640" y="2414016"/>
            <a:ext cx="11064240" cy="9144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50800" dist="25400" dir="5400000" sx="100000" sy="100000" kx="0" ky="0" algn="bl" rotWithShape="0">
              <a:srgbClr val="C7D4DB">
                <a:alpha val="50000"/>
              </a:srgbClr>
            </a:outerShdw>
          </a:effectLst>
        </p:spPr>
      </p:sp>
      <p:sp>
        <p:nvSpPr>
          <p:cNvPr id="11" name="Shape 9">
            <a:extLst xmlns:a="http://schemas.openxmlformats.org/drawingml/2006/main">
              <a:ext uri="{FF2B5EF4-FFF2-40B4-BE49-F238E27FC236}">
                <a16:creationId xmlns:a16="http://schemas.microsoft.com/office/drawing/2014/main" id="{09F7F160-887A-41EB-B0D3-96F383E3C3C9}"/>
              </a:ext>
            </a:extLst>
          </p:cNvPr>
          <p:cNvSpPr>
            <a:spLocks xmlns:a="http://schemas.openxmlformats.org/drawingml/2006/main" noGrp="1"/>
          </p:cNvSpPr>
          <p:nvPr/>
        </p:nvSpPr>
        <p:spPr>
          <a:xfrm xmlns:a="http://schemas.openxmlformats.org/drawingml/2006/main">
            <a:off x="822960" y="2642616"/>
            <a:ext cx="457200" cy="457200"/>
          </a:xfrm>
          <a:prstGeom xmlns:a="http://schemas.openxmlformats.org/drawingml/2006/main" prst="ellipse">
            <a:avLst/>
          </a:prstGeom>
          <a:solidFill xmlns:a="http://schemas.openxmlformats.org/drawingml/2006/main">
            <a:srgbClr val="27607A"/>
          </a:solidFill>
        </p:spPr>
      </p:sp>
      <p:sp>
        <p:nvSpPr>
          <p:cNvPr id="12" name="Text 10">
            <a:extLst xmlns:a="http://schemas.openxmlformats.org/drawingml/2006/main">
              <a:ext uri="{FF2B5EF4-FFF2-40B4-BE49-F238E27FC236}">
                <a16:creationId xmlns:a16="http://schemas.microsoft.com/office/drawing/2014/main" id="{7C9D2580-F53D-4768-B23D-5384D4CF84B3}"/>
              </a:ext>
            </a:extLst>
          </p:cNvPr>
          <p:cNvSpPr>
            <a:spLocks xmlns:a="http://schemas.openxmlformats.org/drawingml/2006/main" noGrp="1"/>
          </p:cNvSpPr>
          <p:nvPr/>
        </p:nvSpPr>
        <p:spPr>
          <a:xfrm xmlns:a="http://schemas.openxmlformats.org/drawingml/2006/main">
            <a:off x="822960" y="2642616"/>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2</a:t>
            </a:r>
          </a:p>
        </p:txBody>
      </p:sp>
      <p:sp>
        <p:nvSpPr>
          <p:cNvPr id="13" name="Text 11">
            <a:extLst xmlns:a="http://schemas.openxmlformats.org/drawingml/2006/main">
              <a:ext uri="{FF2B5EF4-FFF2-40B4-BE49-F238E27FC236}">
                <a16:creationId xmlns:a16="http://schemas.microsoft.com/office/drawing/2014/main" id="{751C37CC-1CD8-4963-89E6-06F75B842E14}"/>
              </a:ext>
            </a:extLst>
          </p:cNvPr>
          <p:cNvSpPr>
            <a:spLocks xmlns:a="http://schemas.openxmlformats.org/drawingml/2006/main" noGrp="1"/>
          </p:cNvSpPr>
          <p:nvPr/>
        </p:nvSpPr>
        <p:spPr>
          <a:xfrm xmlns:a="http://schemas.openxmlformats.org/drawingml/2006/main">
            <a:off x="1463040" y="2487168"/>
            <a:ext cx="3291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F2733"/>
                </a:solidFill>
                <a:latin typeface="Cambria"/>
                <a:ea typeface="Cambria"/>
                <a:cs typeface="Cambria"/>
              </a:rPr>
              <a:t>Open the settings</a:t>
            </a:r>
          </a:p>
        </p:txBody>
      </p:sp>
      <p:sp>
        <p:nvSpPr>
          <p:cNvPr id="14" name="Text 12">
            <a:extLst xmlns:a="http://schemas.openxmlformats.org/drawingml/2006/main">
              <a:ext uri="{FF2B5EF4-FFF2-40B4-BE49-F238E27FC236}">
                <a16:creationId xmlns:a16="http://schemas.microsoft.com/office/drawing/2014/main" id="{4213D4CF-B03D-486D-B6F4-A11F84B1C88A}"/>
              </a:ext>
            </a:extLst>
          </p:cNvPr>
          <p:cNvSpPr>
            <a:spLocks xmlns:a="http://schemas.openxmlformats.org/drawingml/2006/main" noGrp="1"/>
          </p:cNvSpPr>
          <p:nvPr/>
        </p:nvSpPr>
        <p:spPr>
          <a:xfrm xmlns:a="http://schemas.openxmlformats.org/drawingml/2006/main">
            <a:off x="4754880" y="2487168"/>
            <a:ext cx="667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4A5A63"/>
                </a:solidFill>
                <a:latin typeface="Calibri"/>
                <a:ea typeface="Calibri"/>
                <a:cs typeface="Calibri"/>
              </a:rPr>
              <a:t>Settings → Better by Default; every toggle grouped by category.</a:t>
            </a:r>
          </a:p>
        </p:txBody>
      </p:sp>
      <p:sp>
        <p:nvSpPr>
          <p:cNvPr id="15" name="Shape 13">
            <a:extLst xmlns:a="http://schemas.openxmlformats.org/drawingml/2006/main">
              <a:ext uri="{FF2B5EF4-FFF2-40B4-BE49-F238E27FC236}">
                <a16:creationId xmlns:a16="http://schemas.microsoft.com/office/drawing/2014/main" id="{67D73B65-0DD2-4BA7-9B4D-C120A34E1CF4}"/>
              </a:ext>
            </a:extLst>
          </p:cNvPr>
          <p:cNvSpPr>
            <a:spLocks xmlns:a="http://schemas.openxmlformats.org/drawingml/2006/main" noGrp="1"/>
          </p:cNvSpPr>
          <p:nvPr/>
        </p:nvSpPr>
        <p:spPr>
          <a:xfrm xmlns:a="http://schemas.openxmlformats.org/drawingml/2006/main">
            <a:off x="548640" y="3456432"/>
            <a:ext cx="11064240" cy="9144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50800" dist="25400" dir="5400000" sx="100000" sy="100000" kx="0" ky="0" algn="bl" rotWithShape="0">
              <a:srgbClr val="C7D4DB">
                <a:alpha val="50000"/>
              </a:srgbClr>
            </a:outerShdw>
          </a:effectLst>
        </p:spPr>
      </p:sp>
      <p:sp>
        <p:nvSpPr>
          <p:cNvPr id="16" name="Shape 14">
            <a:extLst xmlns:a="http://schemas.openxmlformats.org/drawingml/2006/main">
              <a:ext uri="{FF2B5EF4-FFF2-40B4-BE49-F238E27FC236}">
                <a16:creationId xmlns:a16="http://schemas.microsoft.com/office/drawing/2014/main" id="{77880366-08A5-49D3-A728-6F1EE6E7FB6A}"/>
              </a:ext>
            </a:extLst>
          </p:cNvPr>
          <p:cNvSpPr>
            <a:spLocks xmlns:a="http://schemas.openxmlformats.org/drawingml/2006/main" noGrp="1"/>
          </p:cNvSpPr>
          <p:nvPr/>
        </p:nvSpPr>
        <p:spPr>
          <a:xfrm xmlns:a="http://schemas.openxmlformats.org/drawingml/2006/main">
            <a:off x="822960" y="3685032"/>
            <a:ext cx="457200" cy="457200"/>
          </a:xfrm>
          <a:prstGeom xmlns:a="http://schemas.openxmlformats.org/drawingml/2006/main" prst="ellipse">
            <a:avLst/>
          </a:prstGeom>
          <a:solidFill xmlns:a="http://schemas.openxmlformats.org/drawingml/2006/main">
            <a:srgbClr val="27607A"/>
          </a:solidFill>
        </p:spPr>
      </p:sp>
      <p:sp>
        <p:nvSpPr>
          <p:cNvPr id="17" name="Text 15">
            <a:extLst xmlns:a="http://schemas.openxmlformats.org/drawingml/2006/main">
              <a:ext uri="{FF2B5EF4-FFF2-40B4-BE49-F238E27FC236}">
                <a16:creationId xmlns:a16="http://schemas.microsoft.com/office/drawing/2014/main" id="{7C2FBD4D-CCA9-41E6-BF18-D49F96EDD36A}"/>
              </a:ext>
            </a:extLst>
          </p:cNvPr>
          <p:cNvSpPr>
            <a:spLocks xmlns:a="http://schemas.openxmlformats.org/drawingml/2006/main" noGrp="1"/>
          </p:cNvSpPr>
          <p:nvPr/>
        </p:nvSpPr>
        <p:spPr>
          <a:xfrm xmlns:a="http://schemas.openxmlformats.org/drawingml/2006/main">
            <a:off x="822960" y="3685032"/>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3</a:t>
            </a:r>
          </a:p>
        </p:txBody>
      </p:sp>
      <p:sp>
        <p:nvSpPr>
          <p:cNvPr id="18" name="Text 16">
            <a:extLst xmlns:a="http://schemas.openxmlformats.org/drawingml/2006/main">
              <a:ext uri="{FF2B5EF4-FFF2-40B4-BE49-F238E27FC236}">
                <a16:creationId xmlns:a16="http://schemas.microsoft.com/office/drawing/2014/main" id="{09BD3A22-4F82-4ED5-886F-E05A055A84B2}"/>
              </a:ext>
            </a:extLst>
          </p:cNvPr>
          <p:cNvSpPr>
            <a:spLocks xmlns:a="http://schemas.openxmlformats.org/drawingml/2006/main" noGrp="1"/>
          </p:cNvSpPr>
          <p:nvPr/>
        </p:nvSpPr>
        <p:spPr>
          <a:xfrm xmlns:a="http://schemas.openxmlformats.org/drawingml/2006/main">
            <a:off x="1463040" y="3529584"/>
            <a:ext cx="3291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F2733"/>
                </a:solidFill>
                <a:latin typeface="Cambria"/>
                <a:ea typeface="Cambria"/>
                <a:cs typeface="Cambria"/>
              </a:rPr>
              <a:t>Verify a default</a:t>
            </a:r>
          </a:p>
        </p:txBody>
      </p:sp>
      <p:sp>
        <p:nvSpPr>
          <p:cNvPr id="19" name="Text 17">
            <a:extLst xmlns:a="http://schemas.openxmlformats.org/drawingml/2006/main">
              <a:ext uri="{FF2B5EF4-FFF2-40B4-BE49-F238E27FC236}">
                <a16:creationId xmlns:a16="http://schemas.microsoft.com/office/drawing/2014/main" id="{2D0308CF-9B64-467D-A004-C49A658C4D44}"/>
              </a:ext>
            </a:extLst>
          </p:cNvPr>
          <p:cNvSpPr>
            <a:spLocks xmlns:a="http://schemas.openxmlformats.org/drawingml/2006/main" noGrp="1"/>
          </p:cNvSpPr>
          <p:nvPr/>
        </p:nvSpPr>
        <p:spPr>
          <a:xfrm xmlns:a="http://schemas.openxmlformats.org/drawingml/2006/main">
            <a:off x="4754880" y="3529584"/>
            <a:ext cx="667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4A5A63"/>
                </a:solidFill>
                <a:latin typeface="Calibri"/>
                <a:ea typeface="Calibri"/>
                <a:cs typeface="Calibri"/>
              </a:rPr>
              <a:t>Visit /wp-json/wp/v2/users logged out → 401 or empty, not a list of usernames.</a:t>
            </a:r>
          </a:p>
        </p:txBody>
      </p:sp>
      <p:sp>
        <p:nvSpPr>
          <p:cNvPr id="20" name="Shape 18">
            <a:extLst xmlns:a="http://schemas.openxmlformats.org/drawingml/2006/main">
              <a:ext uri="{FF2B5EF4-FFF2-40B4-BE49-F238E27FC236}">
                <a16:creationId xmlns:a16="http://schemas.microsoft.com/office/drawing/2014/main" id="{C95E9FE0-E1D2-4A65-BEEE-8C05D76512CE}"/>
              </a:ext>
            </a:extLst>
          </p:cNvPr>
          <p:cNvSpPr>
            <a:spLocks xmlns:a="http://schemas.openxmlformats.org/drawingml/2006/main" noGrp="1"/>
          </p:cNvSpPr>
          <p:nvPr/>
        </p:nvSpPr>
        <p:spPr>
          <a:xfrm xmlns:a="http://schemas.openxmlformats.org/drawingml/2006/main">
            <a:off x="548640" y="4498848"/>
            <a:ext cx="11064240" cy="9144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2700">
            <a:solidFill>
              <a:srgbClr val="DCE6EB"/>
            </a:solidFill>
            <a:prstDash val="solid"/>
          </a:ln>
          <a:effectLst xmlns:a="http://schemas.openxmlformats.org/drawingml/2006/main">
            <a:outerShdw blurRad="50800" dist="25400" dir="5400000" sx="100000" sy="100000" kx="0" ky="0" algn="bl" rotWithShape="0">
              <a:srgbClr val="C7D4DB">
                <a:alpha val="50000"/>
              </a:srgbClr>
            </a:outerShdw>
          </a:effectLst>
        </p:spPr>
      </p:sp>
      <p:sp>
        <p:nvSpPr>
          <p:cNvPr id="21" name="Shape 19">
            <a:extLst xmlns:a="http://schemas.openxmlformats.org/drawingml/2006/main">
              <a:ext uri="{FF2B5EF4-FFF2-40B4-BE49-F238E27FC236}">
                <a16:creationId xmlns:a16="http://schemas.microsoft.com/office/drawing/2014/main" id="{49ED081E-30DE-4AD4-87B6-F3933CD585A0}"/>
              </a:ext>
            </a:extLst>
          </p:cNvPr>
          <p:cNvSpPr>
            <a:spLocks xmlns:a="http://schemas.openxmlformats.org/drawingml/2006/main" noGrp="1"/>
          </p:cNvSpPr>
          <p:nvPr/>
        </p:nvSpPr>
        <p:spPr>
          <a:xfrm xmlns:a="http://schemas.openxmlformats.org/drawingml/2006/main">
            <a:off x="822960" y="4727448"/>
            <a:ext cx="457200" cy="457200"/>
          </a:xfrm>
          <a:prstGeom xmlns:a="http://schemas.openxmlformats.org/drawingml/2006/main" prst="ellipse">
            <a:avLst/>
          </a:prstGeom>
          <a:solidFill xmlns:a="http://schemas.openxmlformats.org/drawingml/2006/main">
            <a:srgbClr val="27607A"/>
          </a:solidFill>
        </p:spPr>
      </p:sp>
      <p:sp>
        <p:nvSpPr>
          <p:cNvPr id="22" name="Text 20">
            <a:extLst xmlns:a="http://schemas.openxmlformats.org/drawingml/2006/main">
              <a:ext uri="{FF2B5EF4-FFF2-40B4-BE49-F238E27FC236}">
                <a16:creationId xmlns:a16="http://schemas.microsoft.com/office/drawing/2014/main" id="{E29CB19E-7AA2-4E90-AA64-5D4A50D03E52}"/>
              </a:ext>
            </a:extLst>
          </p:cNvPr>
          <p:cNvSpPr>
            <a:spLocks xmlns:a="http://schemas.openxmlformats.org/drawingml/2006/main" noGrp="1"/>
          </p:cNvSpPr>
          <p:nvPr/>
        </p:nvSpPr>
        <p:spPr>
          <a:xfrm xmlns:a="http://schemas.openxmlformats.org/drawingml/2006/main">
            <a:off x="822960" y="472744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mbria"/>
                <a:ea typeface="Cambria"/>
                <a:cs typeface="Cambria"/>
              </a:rPr>
              <a:t>4</a:t>
            </a:r>
          </a:p>
        </p:txBody>
      </p:sp>
      <p:sp>
        <p:nvSpPr>
          <p:cNvPr id="23" name="Text 21">
            <a:extLst xmlns:a="http://schemas.openxmlformats.org/drawingml/2006/main">
              <a:ext uri="{FF2B5EF4-FFF2-40B4-BE49-F238E27FC236}">
                <a16:creationId xmlns:a16="http://schemas.microsoft.com/office/drawing/2014/main" id="{6FB2B084-DF69-4F22-BC26-6A1C7B9EAA74}"/>
              </a:ext>
            </a:extLst>
          </p:cNvPr>
          <p:cNvSpPr>
            <a:spLocks xmlns:a="http://schemas.openxmlformats.org/drawingml/2006/main" noGrp="1"/>
          </p:cNvSpPr>
          <p:nvPr/>
        </p:nvSpPr>
        <p:spPr>
          <a:xfrm xmlns:a="http://schemas.openxmlformats.org/drawingml/2006/main">
            <a:off x="1463040" y="4572000"/>
            <a:ext cx="3291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F2733"/>
                </a:solidFill>
                <a:latin typeface="Cambria"/>
                <a:ea typeface="Cambria"/>
                <a:cs typeface="Cambria"/>
              </a:rPr>
              <a:t>Toggle &amp; re-check</a:t>
            </a:r>
          </a:p>
        </p:txBody>
      </p:sp>
      <p:sp>
        <p:nvSpPr>
          <p:cNvPr id="24" name="Text 22">
            <a:extLst xmlns:a="http://schemas.openxmlformats.org/drawingml/2006/main">
              <a:ext uri="{FF2B5EF4-FFF2-40B4-BE49-F238E27FC236}">
                <a16:creationId xmlns:a16="http://schemas.microsoft.com/office/drawing/2014/main" id="{760B6D70-C486-47BA-8111-CCE2D621335B}"/>
              </a:ext>
            </a:extLst>
          </p:cNvPr>
          <p:cNvSpPr>
            <a:spLocks xmlns:a="http://schemas.openxmlformats.org/drawingml/2006/main" noGrp="1"/>
          </p:cNvSpPr>
          <p:nvPr/>
        </p:nvSpPr>
        <p:spPr>
          <a:xfrm xmlns:a="http://schemas.openxmlformats.org/drawingml/2006/main">
            <a:off x="4754880" y="4572000"/>
            <a:ext cx="667512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4A5A63"/>
                </a:solidFill>
                <a:latin typeface="Calibri"/>
                <a:ea typeface="Calibri"/>
                <a:cs typeface="Calibri"/>
              </a:rPr>
              <a:t>Flip a switch off, reload, watch the behavior change.</a:t>
            </a:r>
          </a:p>
        </p:txBody>
      </p:sp>
      <p:sp>
        <p:nvSpPr>
          <p:cNvPr id="25" name="Shape 23">
            <a:extLst xmlns:a="http://schemas.openxmlformats.org/drawingml/2006/main">
              <a:ext uri="{FF2B5EF4-FFF2-40B4-BE49-F238E27FC236}">
                <a16:creationId xmlns:a16="http://schemas.microsoft.com/office/drawing/2014/main" id="{33CAA58D-A27E-4EAB-AB08-E2945DDE1417}"/>
              </a:ext>
            </a:extLst>
          </p:cNvPr>
          <p:cNvSpPr>
            <a:spLocks xmlns:a="http://schemas.openxmlformats.org/drawingml/2006/main" noGrp="1"/>
          </p:cNvSpPr>
          <p:nvPr/>
        </p:nvSpPr>
        <p:spPr>
          <a:xfrm xmlns:a="http://schemas.openxmlformats.org/drawingml/2006/main">
            <a:off x="548640" y="5577840"/>
            <a:ext cx="11064240" cy="658368"/>
          </a:xfrm>
          <a:prstGeom xmlns:a="http://schemas.openxmlformats.org/drawingml/2006/main" prst="roundRect">
            <a:avLst>
              <a:gd name="adj" fmla="val 9722"/>
            </a:avLst>
          </a:prstGeom>
          <a:solidFill xmlns:a="http://schemas.openxmlformats.org/drawingml/2006/main">
            <a:srgbClr val="0E2836"/>
          </a:solidFill>
          <a:ln xmlns:a="http://schemas.openxmlformats.org/drawingml/2006/main" w="12700">
            <a:solidFill>
              <a:srgbClr val="27607A"/>
            </a:solidFill>
            <a:prstDash val="solid"/>
          </a:ln>
        </p:spPr>
      </p:sp>
      <p:sp>
        <p:nvSpPr>
          <p:cNvPr id="26" name="Text 24">
            <a:extLst xmlns:a="http://schemas.openxmlformats.org/drawingml/2006/main">
              <a:ext uri="{FF2B5EF4-FFF2-40B4-BE49-F238E27FC236}">
                <a16:creationId xmlns:a16="http://schemas.microsoft.com/office/drawing/2014/main" id="{210A3E5A-B5EA-44C9-8F14-05B62392F8A8}"/>
              </a:ext>
            </a:extLst>
          </p:cNvPr>
          <p:cNvSpPr>
            <a:spLocks xmlns:a="http://schemas.openxmlformats.org/drawingml/2006/main" noGrp="1"/>
          </p:cNvSpPr>
          <p:nvPr/>
        </p:nvSpPr>
        <p:spPr>
          <a:xfrm xmlns:a="http://schemas.openxmlformats.org/drawingml/2006/main">
            <a:off x="777240" y="5577840"/>
            <a:ext cx="10607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E0A94B"/>
                </a:solidFill>
                <a:latin typeface="Courier New"/>
                <a:ea typeface="Courier New"/>
                <a:cs typeface="Courier New"/>
              </a:rPr>
              <a:t>prefer the terminal?   </a:t>
            </a:r>
            <a:r>
              <a:rPr sz="1300">
                <a:solidFill>
                  <a:srgbClr val="E7C070"/>
                </a:solidFill>
                <a:latin typeface="Courier New"/>
                <a:ea typeface="Courier New"/>
                <a:cs typeface="Courier New"/>
              </a:rPr>
              <a:t>wp plugin install ./sane-defaults.zip --activate</a:t>
            </a:r>
          </a:p>
        </p:txBody>
      </p:sp>
      <p:sp>
        <p:nvSpPr>
          <p:cNvPr id="27" name="Text 25">
            <a:extLst xmlns:a="http://schemas.openxmlformats.org/drawingml/2006/main">
              <a:ext uri="{FF2B5EF4-FFF2-40B4-BE49-F238E27FC236}">
                <a16:creationId xmlns:a16="http://schemas.microsoft.com/office/drawing/2014/main" id="{4B7782DF-93A0-41A5-984D-F624C09CA739}"/>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28" name="Text 26">
            <a:extLst xmlns:a="http://schemas.openxmlformats.org/drawingml/2006/main">
              <a:ext uri="{FF2B5EF4-FFF2-40B4-BE49-F238E27FC236}">
                <a16:creationId xmlns:a16="http://schemas.microsoft.com/office/drawing/2014/main" id="{7C490D8B-D3EB-46A1-9BA1-EB6A12BF6CDB}"/>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26</a:t>
            </a:r>
          </a:p>
        </p:txBody>
      </p:sp>
    </p:spTree>
    <p:extLst>
      <p:ext uri="{BB962C8B-B14F-4D97-AF65-F5344CB8AC3E}">
        <p14:creationId xmlns:p14="http://schemas.microsoft.com/office/powerpoint/2010/main" val="2077699739"/>
      </p:ext>
    </p:extLst>
  </p:cSld>
</p:sld>
</file>

<file path=ppt/slides/slide27.xml><?xml version="1.0" encoding="utf-8"?>
<p:sld xmlns:p="http://schemas.openxmlformats.org/presentationml/2006/main">
  <p:cSld>
    <p:bg>
      <p:bgPr>
        <a:solidFill xmlns:a="http://schemas.openxmlformats.org/drawingml/2006/main">
          <a:srgbClr val="27607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E789772-2830-41B9-B6F1-77DB41C553AC}"/>
              </a:ext>
            </a:extLst>
          </p:cNvPr>
          <p:cNvSpPr>
            <a:spLocks xmlns:a="http://schemas.openxmlformats.org/drawingml/2006/main" noGrp="1"/>
          </p:cNvSpPr>
          <p:nvPr/>
        </p:nvSpPr>
        <p:spPr>
          <a:xfrm xmlns:a="http://schemas.openxmlformats.org/drawingml/2006/main">
            <a:off x="731520" y="822960"/>
            <a:ext cx="10058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E0A94B"/>
                </a:solidFill>
                <a:latin typeface="Calibri"/>
                <a:ea typeface="Calibri"/>
                <a:cs typeface="Calibri"/>
              </a:rPr>
              <a:t>Your turn</a:t>
            </a:r>
          </a:p>
        </p:txBody>
      </p:sp>
      <p:sp>
        <p:nvSpPr>
          <p:cNvPr id="3" name="Text 1">
            <a:extLst xmlns:a="http://schemas.openxmlformats.org/drawingml/2006/main">
              <a:ext uri="{FF2B5EF4-FFF2-40B4-BE49-F238E27FC236}">
                <a16:creationId xmlns:a16="http://schemas.microsoft.com/office/drawing/2014/main" id="{5DE06E08-1CA3-4555-B886-36C6CBE54DD3}"/>
              </a:ext>
            </a:extLst>
          </p:cNvPr>
          <p:cNvSpPr>
            <a:spLocks xmlns:a="http://schemas.openxmlformats.org/drawingml/2006/main" noGrp="1"/>
          </p:cNvSpPr>
          <p:nvPr/>
        </p:nvSpPr>
        <p:spPr>
          <a:xfrm xmlns:a="http://schemas.openxmlformats.org/drawingml/2006/main">
            <a:off x="731520" y="1371600"/>
            <a:ext cx="106070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600" b="1">
                <a:solidFill>
                  <a:srgbClr val="FFFFFF"/>
                </a:solidFill>
                <a:latin typeface="Cambria"/>
                <a:ea typeface="Cambria"/>
                <a:cs typeface="Cambria"/>
              </a:rPr>
              <a:t>Add one new default to the plugin</a:t>
            </a:r>
          </a:p>
        </p:txBody>
      </p:sp>
      <p:sp>
        <p:nvSpPr>
          <p:cNvPr id="4" name="Text 2">
            <a:extLst xmlns:a="http://schemas.openxmlformats.org/drawingml/2006/main">
              <a:ext uri="{FF2B5EF4-FFF2-40B4-BE49-F238E27FC236}">
                <a16:creationId xmlns:a16="http://schemas.microsoft.com/office/drawing/2014/main" id="{AB07DA65-4AFD-48C0-9E94-DD26FDCE0DFB}"/>
              </a:ext>
            </a:extLst>
          </p:cNvPr>
          <p:cNvSpPr>
            <a:spLocks xmlns:a="http://schemas.openxmlformats.org/drawingml/2006/main" noGrp="1"/>
          </p:cNvSpPr>
          <p:nvPr/>
        </p:nvSpPr>
        <p:spPr>
          <a:xfrm xmlns:a="http://schemas.openxmlformats.org/drawingml/2006/main">
            <a:off x="731520" y="2468880"/>
            <a:ext cx="10515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i="1">
                <a:solidFill>
                  <a:srgbClr val="D7E5EC"/>
                </a:solidFill>
                <a:latin typeface="Calibri"/>
                <a:ea typeface="Calibri"/>
                <a:cs typeface="Calibri"/>
              </a:rPr>
              <a:t>Goal: disable the WordPress dashboard “Welcome” panel. Two small edits — no new settings-page code.</a:t>
            </a:r>
          </a:p>
        </p:txBody>
      </p:sp>
      <p:sp>
        <p:nvSpPr>
          <p:cNvPr id="5" name="Shape 3">
            <a:extLst xmlns:a="http://schemas.openxmlformats.org/drawingml/2006/main">
              <a:ext uri="{FF2B5EF4-FFF2-40B4-BE49-F238E27FC236}">
                <a16:creationId xmlns:a16="http://schemas.microsoft.com/office/drawing/2014/main" id="{3D3E29C6-9C34-44C4-AE7B-3E4854769EEF}"/>
              </a:ext>
            </a:extLst>
          </p:cNvPr>
          <p:cNvSpPr>
            <a:spLocks xmlns:a="http://schemas.openxmlformats.org/drawingml/2006/main" noGrp="1"/>
          </p:cNvSpPr>
          <p:nvPr/>
        </p:nvSpPr>
        <p:spPr>
          <a:xfrm xmlns:a="http://schemas.openxmlformats.org/drawingml/2006/main">
            <a:off x="731520" y="3246120"/>
            <a:ext cx="10698480" cy="2468880"/>
          </a:xfrm>
          <a:prstGeom xmlns:a="http://schemas.openxmlformats.org/drawingml/2006/main" prst="roundRect">
            <a:avLst>
              <a:gd name="adj" fmla="val 2963"/>
            </a:avLst>
          </a:prstGeom>
          <a:solidFill xmlns:a="http://schemas.openxmlformats.org/drawingml/2006/main">
            <a:srgbClr val="0E2836"/>
          </a:solidFill>
          <a:ln xmlns:a="http://schemas.openxmlformats.org/drawingml/2006/main" w="12700">
            <a:solidFill>
              <a:srgbClr val="27607A"/>
            </a:solidFill>
            <a:prstDash val="solid"/>
          </a:ln>
          <a:effectLst xmlns:a="http://schemas.openxmlformats.org/drawingml/2006/main">
            <a:outerShdw blurRad="76200" dist="38100" dir="5400000" sx="100000" sy="100000" kx="0" ky="0" algn="bl" rotWithShape="0">
              <a:srgbClr val="0A1A22">
                <a:alpha val="40000"/>
              </a:srgbClr>
            </a:outerShdw>
          </a:effectLst>
        </p:spPr>
      </p:sp>
      <p:sp>
        <p:nvSpPr>
          <p:cNvPr id="6" name="Text 4">
            <a:extLst xmlns:a="http://schemas.openxmlformats.org/drawingml/2006/main">
              <a:ext uri="{FF2B5EF4-FFF2-40B4-BE49-F238E27FC236}">
                <a16:creationId xmlns:a16="http://schemas.microsoft.com/office/drawing/2014/main" id="{54112506-8FD2-482D-8C66-4B123DB65191}"/>
              </a:ext>
            </a:extLst>
          </p:cNvPr>
          <p:cNvSpPr>
            <a:spLocks xmlns:a="http://schemas.openxmlformats.org/drawingml/2006/main" noGrp="1"/>
          </p:cNvSpPr>
          <p:nvPr/>
        </p:nvSpPr>
        <p:spPr>
          <a:xfrm xmlns:a="http://schemas.openxmlformats.org/drawingml/2006/main">
            <a:off x="932688" y="3410712"/>
            <a:ext cx="10296144" cy="21396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8000"/>
              </a:lnSpc>
              <a:buNone/>
            </a:pPr>
            <a:r>
              <a:rPr sz="1300">
                <a:solidFill>
                  <a:srgbClr val="8FBF9F"/>
                </a:solidFill>
                <a:latin typeface="Courier New"/>
                <a:ea typeface="Courier New"/>
                <a:cs typeface="Courier New"/>
              </a:rPr>
              <a:t>// 1) add a schema entry in wpyeg_defaults_schema()</a:t>
            </a:r>
          </a:p>
          <a:p xmlns:a="http://schemas.openxmlformats.org/drawingml/2006/main">
            <a:pPr marL="0" indent="0" algn="l">
              <a:lnSpc>
                <a:spcPct val="108000"/>
              </a:lnSpc>
              <a:buNone/>
            </a:pPr>
            <a:r>
              <a:rPr sz="1300">
                <a:solidFill>
                  <a:srgbClr val="DCEAF1"/>
                </a:solidFill>
                <a:latin typeface="Courier New"/>
                <a:ea typeface="Courier New"/>
                <a:cs typeface="Courier New"/>
              </a:rPr>
              <a:t>'hide_welcome_panel' =&gt; array(</a:t>
            </a:r>
          </a:p>
          <a:p xmlns:a="http://schemas.openxmlformats.org/drawingml/2006/main">
            <a:pPr marL="0" indent="0" algn="l">
              <a:lnSpc>
                <a:spcPct val="108000"/>
              </a:lnSpc>
              <a:buNone/>
            </a:pPr>
            <a:r>
              <a:rPr sz="1300">
                <a:solidFill>
                  <a:srgbClr val="E7C070"/>
                </a:solidFill>
                <a:latin typeface="Courier New"/>
                <a:ea typeface="Courier New"/>
                <a:cs typeface="Courier New"/>
              </a:rPr>
              <a:t>    'default' =&gt; 'yes', 'type' =&gt; 'toggle', 'group' =&gt; 'ux',</a:t>
            </a:r>
          </a:p>
          <a:p xmlns:a="http://schemas.openxmlformats.org/drawingml/2006/main">
            <a:pPr marL="0" indent="0" algn="l">
              <a:lnSpc>
                <a:spcPct val="108000"/>
              </a:lnSpc>
              <a:buNone/>
            </a:pPr>
            <a:r>
              <a:rPr sz="1300">
                <a:solidFill>
                  <a:srgbClr val="DCEAF1"/>
                </a:solidFill>
                <a:latin typeface="Courier New"/>
                <a:ea typeface="Courier New"/>
                <a:cs typeface="Courier New"/>
              </a:rPr>
              <a:t>    'label' =&gt; 'Hide dashboard welcome panel',</a:t>
            </a:r>
          </a:p>
          <a:p xmlns:a="http://schemas.openxmlformats.org/drawingml/2006/main">
            <a:pPr marL="0" indent="0" algn="l">
              <a:lnSpc>
                <a:spcPct val="108000"/>
              </a:lnSpc>
              <a:buNone/>
            </a:pPr>
            <a:r>
              <a:rPr sz="1300">
                <a:solidFill>
                  <a:srgbClr val="DCEAF1"/>
                </a:solidFill>
                <a:latin typeface="Courier New"/>
                <a:ea typeface="Courier New"/>
                <a:cs typeface="Courier New"/>
              </a:rPr>
              <a:t>),</a:t>
            </a:r>
          </a:p>
          <a:p xmlns:a="http://schemas.openxmlformats.org/drawingml/2006/main">
            <a:pPr marL="0" indent="0" algn="l">
              <a:lnSpc>
                <a:spcPct val="108000"/>
              </a:lnSpc>
              <a:buNone/>
            </a:pPr>
            <a:r>
              <a:rPr sz="1300">
                <a:solidFill>
                  <a:srgbClr val="DCEAF1"/>
                </a:solidFill>
                <a:latin typeface="Courier New"/>
                <a:ea typeface="Courier New"/>
                <a:cs typeface="Courier New"/>
              </a:rPr>
              <a:t> </a:t>
            </a:r>
          </a:p>
          <a:p xmlns:a="http://schemas.openxmlformats.org/drawingml/2006/main">
            <a:pPr marL="0" indent="0" algn="l">
              <a:lnSpc>
                <a:spcPct val="108000"/>
              </a:lnSpc>
              <a:buNone/>
            </a:pPr>
            <a:r>
              <a:rPr sz="1300">
                <a:solidFill>
                  <a:srgbClr val="8FBF9F"/>
                </a:solidFill>
                <a:latin typeface="Courier New"/>
                <a:ea typeface="Courier New"/>
                <a:cs typeface="Courier New"/>
              </a:rPr>
              <a:t>// 2) wire it inside wpyeg_defaults_bootstrap()</a:t>
            </a:r>
          </a:p>
          <a:p xmlns:a="http://schemas.openxmlformats.org/drawingml/2006/main">
            <a:pPr marL="0" indent="0" algn="l">
              <a:lnSpc>
                <a:spcPct val="108000"/>
              </a:lnSpc>
              <a:buNone/>
            </a:pPr>
            <a:r>
              <a:rPr sz="1300">
                <a:solidFill>
                  <a:srgbClr val="DCEAF1"/>
                </a:solidFill>
                <a:latin typeface="Courier New"/>
                <a:ea typeface="Courier New"/>
                <a:cs typeface="Courier New"/>
              </a:rPr>
              <a:t>if ( wpyeg_defaults_enabled( 'hide_welcome_panel' ) ) {</a:t>
            </a:r>
          </a:p>
          <a:p xmlns:a="http://schemas.openxmlformats.org/drawingml/2006/main">
            <a:pPr marL="0" indent="0" algn="l">
              <a:lnSpc>
                <a:spcPct val="108000"/>
              </a:lnSpc>
              <a:buNone/>
            </a:pPr>
            <a:r>
              <a:rPr sz="1300">
                <a:solidFill>
                  <a:srgbClr val="E7C070"/>
                </a:solidFill>
                <a:latin typeface="Courier New"/>
                <a:ea typeface="Courier New"/>
                <a:cs typeface="Courier New"/>
              </a:rPr>
              <a:t>    remove_action( 'welcome_panel', 'wp_welcome_panel' );</a:t>
            </a:r>
          </a:p>
          <a:p xmlns:a="http://schemas.openxmlformats.org/drawingml/2006/main">
            <a:pPr marL="0" indent="0" algn="l">
              <a:lnSpc>
                <a:spcPct val="108000"/>
              </a:lnSpc>
              <a:buNone/>
            </a:pPr>
            <a:r>
              <a:rPr sz="1300">
                <a:solidFill>
                  <a:srgbClr val="DCEAF1"/>
                </a:solidFill>
                <a:latin typeface="Courier New"/>
                <a:ea typeface="Courier New"/>
                <a:cs typeface="Courier New"/>
              </a:rPr>
              <a:t>}</a:t>
            </a:r>
          </a:p>
        </p:txBody>
      </p:sp>
    </p:spTree>
    <p:extLst>
      <p:ext uri="{BB962C8B-B14F-4D97-AF65-F5344CB8AC3E}">
        <p14:creationId xmlns:p14="http://schemas.microsoft.com/office/powerpoint/2010/main" val="1232328567"/>
      </p:ext>
    </p:extLst>
  </p:cSld>
</p:sld>
</file>

<file path=ppt/slides/slide28.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46FD8B8-5EC0-467C-A8E1-41CBCC5872E5}"/>
              </a:ext>
            </a:extLst>
          </p:cNvPr>
          <p:cNvSpPr>
            <a:spLocks xmlns:a="http://schemas.openxmlformats.org/drawingml/2006/main" noGrp="1"/>
          </p:cNvSpPr>
          <p:nvPr/>
        </p:nvSpPr>
        <p:spPr>
          <a:xfrm xmlns:a="http://schemas.openxmlformats.org/drawingml/2006/main">
            <a:off x="548640" y="411480"/>
            <a:ext cx="109728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Schema map — security surfaces and credentials</a:t>
            </a:r>
          </a:p>
        </p:txBody>
      </p:sp>
      <p:sp>
        <p:nvSpPr>
          <p:cNvPr id="3" name="Text 1">
            <a:extLst xmlns:a="http://schemas.openxmlformats.org/drawingml/2006/main">
              <a:ext uri="{FF2B5EF4-FFF2-40B4-BE49-F238E27FC236}">
                <a16:creationId xmlns:a16="http://schemas.microsoft.com/office/drawing/2014/main" id="{7C8F1493-9316-41EA-B78B-DBFBCE1BCAB6}"/>
              </a:ext>
            </a:extLst>
          </p:cNvPr>
          <p:cNvSpPr>
            <a:spLocks xmlns:a="http://schemas.openxmlformats.org/drawingml/2006/main" noGrp="1"/>
          </p:cNvSpPr>
          <p:nvPr/>
        </p:nvSpPr>
        <p:spPr>
          <a:xfrm xmlns:a="http://schemas.openxmlformats.org/drawingml/2006/main">
            <a:off x="548640" y="1097280"/>
            <a:ext cx="10972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3E7E9C"/>
                </a:solidFill>
                <a:latin typeface="Calibri"/>
                <a:ea typeface="Calibri"/>
                <a:cs typeface="Calibri"/>
              </a:rPr>
              <a:t>Exact keys and defaults from wpyeg_defaults_schema().</a:t>
            </a:r>
          </a:p>
        </p:txBody>
      </p:sp>
      <p:graphicFrame>
        <p:nvGraphicFramePr>
          <p:cNvPr id="10" name="Table 0"/>
          <p:cNvGraphicFramePr/>
          <p:nvPr/>
        </p:nvGraphicFramePr>
        <p:xfrm>
          <a:off xmlns:a="http://schemas.openxmlformats.org/drawingml/2006/main" x="548640" y="1508760"/>
          <a:ext xmlns:a="http://schemas.openxmlformats.org/drawingml/2006/main" cx="11064240" cy="914400"/>
        </p:xfrm>
        <a:graphic xmlns:a="http://schemas.openxmlformats.org/drawingml/2006/main">
          <a:graphicData uri="http://schemas.openxmlformats.org/drawingml/2006/table">
            <a:tbl>
              <a:tblPr/>
              <a:tblGrid>
                <a:gridCol w="4572000"/>
                <a:gridCol w="4480560"/>
                <a:gridCol w="2011680"/>
              </a:tblGrid>
              <a:tr h="402336">
                <a:tc>
                  <a:txBody>
                    <a:bodyPr/>
                    <a:lstStyle/>
                    <a:p>
                      <a:pPr marL="0" indent="0" algn="l">
                        <a:buNone/>
                      </a:pPr>
                      <a:r>
                        <a:rPr sz="1300" b="1">
                          <a:solidFill>
                            <a:srgbClr val="FFFFFF"/>
                          </a:solidFill>
                          <a:latin typeface="Calibri"/>
                          <a:ea typeface="Calibri"/>
                          <a:cs typeface="Calibri"/>
                        </a:rPr>
                        <a:t>Setting key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c>
                  <a:txBody>
                    <a:bodyPr/>
                    <a:lstStyle/>
                    <a:p>
                      <a:pPr marL="0" indent="0" algn="l">
                        <a:buNone/>
                      </a:pPr>
                      <a:r>
                        <a:rPr sz="1200" b="1">
                          <a:solidFill>
                            <a:srgbClr val="FFFFFF"/>
                          </a:solidFill>
                          <a:latin typeface="Courier New"/>
                          <a:ea typeface="Courier New"/>
                          <a:cs typeface="Courier New"/>
                        </a:rPr>
                        <a:t>Default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c>
                  <a:txBody>
                    <a:bodyPr/>
                    <a:lstStyle/>
                    <a:p>
                      <a:pPr marL="0" indent="0" algn="l">
                        <a:buNone/>
                      </a:pPr>
                      <a:r>
                        <a:rPr sz="1300" b="1">
                          <a:solidFill>
                            <a:srgbClr val="FFFFFF"/>
                          </a:solidFill>
                          <a:latin typeface="Calibri"/>
                          <a:ea typeface="Calibri"/>
                          <a:cs typeface="Calibri"/>
                        </a:rPr>
                        <a:t>Core hook / authority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r>
              <a:tr h="402336">
                <a:tc>
                  <a:txBody>
                    <a:bodyPr/>
                    <a:lstStyle/>
                    <a:p>
                      <a:pPr marL="0" indent="0" algn="l">
                        <a:buNone/>
                      </a:pPr>
                      <a:r>
                        <a:rPr sz="1250">
                          <a:solidFill>
                            <a:srgbClr val="0F2733"/>
                          </a:solidFill>
                          <a:latin typeface="Calibri"/>
                          <a:ea typeface="Calibri"/>
                          <a:cs typeface="Calibri"/>
                        </a:rPr>
                        <a:t>restrict_rest_user_discovery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yes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rest_endpoints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disable_rest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no</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rest_authentication_errors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xmlrpc_allow_pingbacks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no</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xmlrpc_methods / headers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xmlrpc_allow_remote_publishing</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no</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xmlrpc_methods / discovery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xmlrpc_allow_multicall</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no</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wp_xmlrpc_server_class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block_xmlrpc_endpoint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no</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template_redirect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disable_application_passwords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no</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wp_is_application_passwords_available</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require_strong_passwords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yes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server-side password validation</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bl>
          </a:graphicData>
        </a:graphic>
      </p:graphicFrame>
      <p:sp>
        <p:nvSpPr>
          <p:cNvPr id="5" name="Text 2">
            <a:extLst xmlns:a="http://schemas.openxmlformats.org/drawingml/2006/main">
              <a:ext uri="{FF2B5EF4-FFF2-40B4-BE49-F238E27FC236}">
                <a16:creationId xmlns:a16="http://schemas.microsoft.com/office/drawing/2014/main" id="{8942035D-1812-438D-B51E-FD5D056C5B1E}"/>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6" name="Text 3">
            <a:extLst xmlns:a="http://schemas.openxmlformats.org/drawingml/2006/main">
              <a:ext uri="{FF2B5EF4-FFF2-40B4-BE49-F238E27FC236}">
                <a16:creationId xmlns:a16="http://schemas.microsoft.com/office/drawing/2014/main" id="{A340C09C-C3A4-4FB8-B9D0-9FFE80013E0C}"/>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28</a:t>
            </a:r>
          </a:p>
        </p:txBody>
      </p:sp>
    </p:spTree>
    <p:extLst>
      <p:ext uri="{BB962C8B-B14F-4D97-AF65-F5344CB8AC3E}">
        <p14:creationId xmlns:p14="http://schemas.microsoft.com/office/powerpoint/2010/main" val="547410723"/>
      </p:ext>
    </p:extLst>
  </p:cSld>
</p:sld>
</file>

<file path=ppt/slides/slide29.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46FD8B8-5EC0-467C-A8E1-41CBCC5872E5}"/>
              </a:ext>
            </a:extLst>
          </p:cNvPr>
          <p:cNvSpPr>
            <a:spLocks xmlns:a="http://schemas.openxmlformats.org/drawingml/2006/main" noGrp="1"/>
          </p:cNvSpPr>
          <p:nvPr/>
        </p:nvSpPr>
        <p:spPr>
          <a:xfrm xmlns:a="http://schemas.openxmlformats.org/drawingml/2006/main">
            <a:off x="548640" y="411480"/>
            <a:ext cx="109728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Schema map — security policy and updates</a:t>
            </a:r>
          </a:p>
        </p:txBody>
      </p:sp>
      <p:sp>
        <p:nvSpPr>
          <p:cNvPr id="3" name="Text 1">
            <a:extLst xmlns:a="http://schemas.openxmlformats.org/drawingml/2006/main">
              <a:ext uri="{FF2B5EF4-FFF2-40B4-BE49-F238E27FC236}">
                <a16:creationId xmlns:a16="http://schemas.microsoft.com/office/drawing/2014/main" id="{7C8F1493-9316-41EA-B78B-DBFBCE1BCAB6}"/>
              </a:ext>
            </a:extLst>
          </p:cNvPr>
          <p:cNvSpPr>
            <a:spLocks xmlns:a="http://schemas.openxmlformats.org/drawingml/2006/main" noGrp="1"/>
          </p:cNvSpPr>
          <p:nvPr/>
        </p:nvSpPr>
        <p:spPr>
          <a:xfrm xmlns:a="http://schemas.openxmlformats.org/drawingml/2006/main">
            <a:off x="548640" y="1097280"/>
            <a:ext cx="10972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3E7E9C"/>
                </a:solidFill>
                <a:latin typeface="Calibri"/>
                <a:ea typeface="Calibri"/>
                <a:cs typeface="Calibri"/>
              </a:rPr>
              <a:t>Plugin defaults and the policies intentionally left to other layers.</a:t>
            </a:r>
          </a:p>
        </p:txBody>
      </p:sp>
      <p:graphicFrame>
        <p:nvGraphicFramePr>
          <p:cNvPr id="10" name="Table 0"/>
          <p:cNvGraphicFramePr/>
          <p:nvPr/>
        </p:nvGraphicFramePr>
        <p:xfrm>
          <a:off xmlns:a="http://schemas.openxmlformats.org/drawingml/2006/main" x="548640" y="1508760"/>
          <a:ext xmlns:a="http://schemas.openxmlformats.org/drawingml/2006/main" cx="11064240" cy="914400"/>
        </p:xfrm>
        <a:graphic xmlns:a="http://schemas.openxmlformats.org/drawingml/2006/main">
          <a:graphicData uri="http://schemas.openxmlformats.org/drawingml/2006/table">
            <a:tbl>
              <a:tblPr/>
              <a:tblGrid>
                <a:gridCol w="4572000"/>
                <a:gridCol w="4480560"/>
                <a:gridCol w="2011680"/>
              </a:tblGrid>
              <a:tr h="402336">
                <a:tc>
                  <a:txBody>
                    <a:bodyPr/>
                    <a:lstStyle/>
                    <a:p>
                      <a:pPr marL="0" indent="0" algn="l">
                        <a:buNone/>
                      </a:pPr>
                      <a:r>
                        <a:rPr sz="1300" b="1">
                          <a:solidFill>
                            <a:srgbClr val="FFFFFF"/>
                          </a:solidFill>
                          <a:latin typeface="Calibri"/>
                          <a:ea typeface="Calibri"/>
                          <a:cs typeface="Calibri"/>
                        </a:rPr>
                        <a:t>Setting key or owner</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c>
                  <a:txBody>
                    <a:bodyPr/>
                    <a:lstStyle/>
                    <a:p>
                      <a:pPr marL="0" indent="0" algn="l">
                        <a:buNone/>
                      </a:pPr>
                      <a:r>
                        <a:rPr sz="1200" b="1">
                          <a:solidFill>
                            <a:srgbClr val="FFFFFF"/>
                          </a:solidFill>
                          <a:latin typeface="Courier New"/>
                          <a:ea typeface="Courier New"/>
                          <a:cs typeface="Courier New"/>
                        </a:rPr>
                        <a:t>Default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c>
                  <a:txBody>
                    <a:bodyPr/>
                    <a:lstStyle/>
                    <a:p>
                      <a:pPr marL="0" indent="0" algn="l">
                        <a:buNone/>
                      </a:pPr>
                      <a:r>
                        <a:rPr sz="1300" b="1">
                          <a:solidFill>
                            <a:srgbClr val="FFFFFF"/>
                          </a:solidFill>
                          <a:latin typeface="Calibri"/>
                          <a:ea typeface="Calibri"/>
                          <a:cs typeface="Calibri"/>
                        </a:rPr>
                        <a:t>Core hook / authority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r>
              <a:tr h="402336">
                <a:tc>
                  <a:txBody>
                    <a:bodyPr/>
                    <a:lstStyle/>
                    <a:p>
                      <a:pPr marL="0" indent="0" algn="l">
                        <a:buNone/>
                      </a:pPr>
                      <a:r>
                        <a:rPr sz="1250">
                          <a:solidFill>
                            <a:srgbClr val="0F2733"/>
                          </a:solidFill>
                          <a:latin typeface="Calibri"/>
                          <a:ea typeface="Calibri"/>
                          <a:cs typeface="Calibri"/>
                        </a:rPr>
                        <a:t>remove_version</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no</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wp_head / the_generator</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security_headers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yes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wp_headers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frame_options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SAMEORIGIN</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wp_headers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disable_ai_connectors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yes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wp_supports_ai / Connectors screen</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core_update_policy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minor</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automatic core-update filters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Translation files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inherit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WordPress / host / fleet tooling</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Plugin and theme code</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per-item</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WordPress per-item choices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WP_AUTO_UPDATE_CORE</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operator</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wp-config.php wins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bl>
          </a:graphicData>
        </a:graphic>
      </p:graphicFrame>
      <p:sp>
        <p:nvSpPr>
          <p:cNvPr id="5" name="Text 2">
            <a:extLst xmlns:a="http://schemas.openxmlformats.org/drawingml/2006/main">
              <a:ext uri="{FF2B5EF4-FFF2-40B4-BE49-F238E27FC236}">
                <a16:creationId xmlns:a16="http://schemas.microsoft.com/office/drawing/2014/main" id="{8942035D-1812-438D-B51E-FD5D056C5B1E}"/>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6" name="Text 3">
            <a:extLst xmlns:a="http://schemas.openxmlformats.org/drawingml/2006/main">
              <a:ext uri="{FF2B5EF4-FFF2-40B4-BE49-F238E27FC236}">
                <a16:creationId xmlns:a16="http://schemas.microsoft.com/office/drawing/2014/main" id="{A340C09C-C3A4-4FB8-B9D0-9FFE80013E0C}"/>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29</a:t>
            </a:r>
          </a:p>
        </p:txBody>
      </p:sp>
    </p:spTree>
    <p:extLst>
      <p:ext uri="{BB962C8B-B14F-4D97-AF65-F5344CB8AC3E}">
        <p14:creationId xmlns:p14="http://schemas.microsoft.com/office/powerpoint/2010/main" val="547410723"/>
      </p:ext>
    </p:extLst>
  </p:cSld>
</p:sld>
</file>

<file path=ppt/slides/slide30.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46FD8B8-5EC0-467C-A8E1-41CBCC5872E5}"/>
              </a:ext>
            </a:extLst>
          </p:cNvPr>
          <p:cNvSpPr>
            <a:spLocks xmlns:a="http://schemas.openxmlformats.org/drawingml/2006/main" noGrp="1"/>
          </p:cNvSpPr>
          <p:nvPr/>
        </p:nvSpPr>
        <p:spPr>
          <a:xfrm xmlns:a="http://schemas.openxmlformats.org/drawingml/2006/main">
            <a:off x="548640" y="411480"/>
            <a:ext cx="109728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Schema map — content and everyday UX</a:t>
            </a:r>
          </a:p>
        </p:txBody>
      </p:sp>
      <p:sp>
        <p:nvSpPr>
          <p:cNvPr id="3" name="Text 1">
            <a:extLst xmlns:a="http://schemas.openxmlformats.org/drawingml/2006/main">
              <a:ext uri="{FF2B5EF4-FFF2-40B4-BE49-F238E27FC236}">
                <a16:creationId xmlns:a16="http://schemas.microsoft.com/office/drawing/2014/main" id="{7C8F1493-9316-41EA-B78B-DBFBCE1BCAB6}"/>
              </a:ext>
            </a:extLst>
          </p:cNvPr>
          <p:cNvSpPr>
            <a:spLocks xmlns:a="http://schemas.openxmlformats.org/drawingml/2006/main" noGrp="1"/>
          </p:cNvSpPr>
          <p:nvPr/>
        </p:nvSpPr>
        <p:spPr>
          <a:xfrm xmlns:a="http://schemas.openxmlformats.org/drawingml/2006/main">
            <a:off x="548640" y="1097280"/>
            <a:ext cx="10972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3E7E9C"/>
                </a:solidFill>
                <a:latin typeface="Calibri"/>
                <a:ea typeface="Calibri"/>
                <a:cs typeface="Calibri"/>
              </a:rPr>
              <a:t>The schema group is authoritative; emoji removal is a Content setting.</a:t>
            </a:r>
          </a:p>
        </p:txBody>
      </p:sp>
      <p:graphicFrame>
        <p:nvGraphicFramePr>
          <p:cNvPr id="10" name="Table 0"/>
          <p:cNvGraphicFramePr/>
          <p:nvPr/>
        </p:nvGraphicFramePr>
        <p:xfrm>
          <a:off xmlns:a="http://schemas.openxmlformats.org/drawingml/2006/main" x="548640" y="1508760"/>
          <a:ext xmlns:a="http://schemas.openxmlformats.org/drawingml/2006/main" cx="11064240" cy="914400"/>
        </p:xfrm>
        <a:graphic xmlns:a="http://schemas.openxmlformats.org/drawingml/2006/main">
          <a:graphicData uri="http://schemas.openxmlformats.org/drawingml/2006/table">
            <a:tbl>
              <a:tblPr/>
              <a:tblGrid>
                <a:gridCol w="4572000"/>
                <a:gridCol w="4480560"/>
                <a:gridCol w="2011680"/>
              </a:tblGrid>
              <a:tr h="402336">
                <a:tc>
                  <a:txBody>
                    <a:bodyPr/>
                    <a:lstStyle/>
                    <a:p>
                      <a:pPr marL="0" indent="0" algn="l">
                        <a:buNone/>
                      </a:pPr>
                      <a:r>
                        <a:rPr sz="1300" b="1">
                          <a:solidFill>
                            <a:srgbClr val="FFFFFF"/>
                          </a:solidFill>
                          <a:latin typeface="Calibri"/>
                          <a:ea typeface="Calibri"/>
                          <a:cs typeface="Calibri"/>
                        </a:rPr>
                        <a:t>Setting key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c>
                  <a:txBody>
                    <a:bodyPr/>
                    <a:lstStyle/>
                    <a:p>
                      <a:pPr marL="0" indent="0" algn="l">
                        <a:buNone/>
                      </a:pPr>
                      <a:r>
                        <a:rPr sz="1200" b="1">
                          <a:solidFill>
                            <a:srgbClr val="FFFFFF"/>
                          </a:solidFill>
                          <a:latin typeface="Courier New"/>
                          <a:ea typeface="Courier New"/>
                          <a:cs typeface="Courier New"/>
                        </a:rPr>
                        <a:t>Default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c>
                  <a:txBody>
                    <a:bodyPr/>
                    <a:lstStyle/>
                    <a:p>
                      <a:pPr marL="0" indent="0" algn="l">
                        <a:buNone/>
                      </a:pPr>
                      <a:r>
                        <a:rPr sz="1300" b="1">
                          <a:solidFill>
                            <a:srgbClr val="FFFFFF"/>
                          </a:solidFill>
                          <a:latin typeface="Calibri"/>
                          <a:ea typeface="Calibri"/>
                          <a:cs typeface="Calibri"/>
                        </a:rPr>
                        <a:t>Core hook / authority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r>
              <a:tr h="402336">
                <a:tc>
                  <a:txBody>
                    <a:bodyPr/>
                    <a:lstStyle/>
                    <a:p>
                      <a:pPr marL="0" indent="0" algn="l">
                        <a:buNone/>
                      </a:pPr>
                      <a:r>
                        <a:rPr sz="1250">
                          <a:solidFill>
                            <a:srgbClr val="0F2733"/>
                          </a:solidFill>
                          <a:latin typeface="Calibri"/>
                          <a:ea typeface="Calibri"/>
                          <a:cs typeface="Calibri"/>
                        </a:rPr>
                        <a:t>disable_comments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yes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comments, UI, post-type support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disable_pingbacks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yes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default ping options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disable_self_pingbacks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yes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pre_ping</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disable_author_archives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yes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template_redirect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redirect_attachment_pages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yes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template_redirect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disable_emojis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yes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init removes emoji assets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title_only_admin_search</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no</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post_search_columns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frontend_admin_bar_behavior</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show_admin_bar</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bl>
          </a:graphicData>
        </a:graphic>
      </p:graphicFrame>
      <p:sp>
        <p:nvSpPr>
          <p:cNvPr id="5" name="Text 2">
            <a:extLst xmlns:a="http://schemas.openxmlformats.org/drawingml/2006/main">
              <a:ext uri="{FF2B5EF4-FFF2-40B4-BE49-F238E27FC236}">
                <a16:creationId xmlns:a16="http://schemas.microsoft.com/office/drawing/2014/main" id="{8942035D-1812-438D-B51E-FD5D056C5B1E}"/>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6" name="Text 3">
            <a:extLst xmlns:a="http://schemas.openxmlformats.org/drawingml/2006/main">
              <a:ext uri="{FF2B5EF4-FFF2-40B4-BE49-F238E27FC236}">
                <a16:creationId xmlns:a16="http://schemas.microsoft.com/office/drawing/2014/main" id="{A340C09C-C3A4-4FB8-B9D0-9FFE80013E0C}"/>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30</a:t>
            </a:r>
          </a:p>
        </p:txBody>
      </p:sp>
    </p:spTree>
    <p:extLst>
      <p:ext uri="{BB962C8B-B14F-4D97-AF65-F5344CB8AC3E}">
        <p14:creationId xmlns:p14="http://schemas.microsoft.com/office/powerpoint/2010/main" val="547410723"/>
      </p:ext>
    </p:extLst>
  </p:cSld>
</p:sld>
</file>

<file path=ppt/slides/slide31.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46FD8B8-5EC0-467C-A8E1-41CBCC5872E5}"/>
              </a:ext>
            </a:extLst>
          </p:cNvPr>
          <p:cNvSpPr>
            <a:spLocks xmlns:a="http://schemas.openxmlformats.org/drawingml/2006/main" noGrp="1"/>
          </p:cNvSpPr>
          <p:nvPr/>
        </p:nvSpPr>
        <p:spPr>
          <a:xfrm xmlns:a="http://schemas.openxmlformats.org/drawingml/2006/main">
            <a:off x="548640" y="411480"/>
            <a:ext cx="109728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0F2733"/>
                </a:solidFill>
                <a:latin typeface="Cambria"/>
                <a:ea typeface="Cambria"/>
                <a:cs typeface="Cambria"/>
              </a:rPr>
              <a:t>Schema map — login, branding, and performance</a:t>
            </a:r>
          </a:p>
        </p:txBody>
      </p:sp>
      <p:sp>
        <p:nvSpPr>
          <p:cNvPr id="3" name="Text 1">
            <a:extLst xmlns:a="http://schemas.openxmlformats.org/drawingml/2006/main">
              <a:ext uri="{FF2B5EF4-FFF2-40B4-BE49-F238E27FC236}">
                <a16:creationId xmlns:a16="http://schemas.microsoft.com/office/drawing/2014/main" id="{7C8F1493-9316-41EA-B78B-DBFBCE1BCAB6}"/>
              </a:ext>
            </a:extLst>
          </p:cNvPr>
          <p:cNvSpPr>
            <a:spLocks xmlns:a="http://schemas.openxmlformats.org/drawingml/2006/main" noGrp="1"/>
          </p:cNvSpPr>
          <p:nvPr/>
        </p:nvSpPr>
        <p:spPr>
          <a:xfrm xmlns:a="http://schemas.openxmlformats.org/drawingml/2006/main">
            <a:off x="548640" y="1097280"/>
            <a:ext cx="10972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3E7E9C"/>
                </a:solidFill>
                <a:latin typeface="Calibri"/>
                <a:ea typeface="Calibri"/>
                <a:cs typeface="Calibri"/>
              </a:rPr>
              <a:t>Schema keys live in one option array; constants remain above plugins.</a:t>
            </a:r>
          </a:p>
        </p:txBody>
      </p:sp>
      <p:graphicFrame>
        <p:nvGraphicFramePr>
          <p:cNvPr id="10" name="Table 0"/>
          <p:cNvGraphicFramePr/>
          <p:nvPr/>
        </p:nvGraphicFramePr>
        <p:xfrm>
          <a:off xmlns:a="http://schemas.openxmlformats.org/drawingml/2006/main" x="548640" y="1508760"/>
          <a:ext xmlns:a="http://schemas.openxmlformats.org/drawingml/2006/main" cx="11064240" cy="914400"/>
        </p:xfrm>
        <a:graphic xmlns:a="http://schemas.openxmlformats.org/drawingml/2006/main">
          <a:graphicData uri="http://schemas.openxmlformats.org/drawingml/2006/table">
            <a:tbl>
              <a:tblPr/>
              <a:tblGrid>
                <a:gridCol w="4572000"/>
                <a:gridCol w="4480560"/>
                <a:gridCol w="2011680"/>
              </a:tblGrid>
              <a:tr h="402336">
                <a:tc>
                  <a:txBody>
                    <a:bodyPr/>
                    <a:lstStyle/>
                    <a:p>
                      <a:pPr marL="0" indent="0" algn="l">
                        <a:buNone/>
                      </a:pPr>
                      <a:r>
                        <a:rPr sz="1300" b="1">
                          <a:solidFill>
                            <a:srgbClr val="FFFFFF"/>
                          </a:solidFill>
                          <a:latin typeface="Calibri"/>
                          <a:ea typeface="Calibri"/>
                          <a:cs typeface="Calibri"/>
                        </a:rPr>
                        <a:t>Setting key or storage</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c>
                  <a:txBody>
                    <a:bodyPr/>
                    <a:lstStyle/>
                    <a:p>
                      <a:pPr marL="0" indent="0" algn="l">
                        <a:buNone/>
                      </a:pPr>
                      <a:r>
                        <a:rPr sz="1200" b="1">
                          <a:solidFill>
                            <a:srgbClr val="FFFFFF"/>
                          </a:solidFill>
                          <a:latin typeface="Courier New"/>
                          <a:ea typeface="Courier New"/>
                          <a:cs typeface="Courier New"/>
                        </a:rPr>
                        <a:t>Default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c>
                  <a:txBody>
                    <a:bodyPr/>
                    <a:lstStyle/>
                    <a:p>
                      <a:pPr marL="0" indent="0" algn="l">
                        <a:buNone/>
                      </a:pPr>
                      <a:r>
                        <a:rPr sz="1300" b="1">
                          <a:solidFill>
                            <a:srgbClr val="FFFFFF"/>
                          </a:solidFill>
                          <a:latin typeface="Calibri"/>
                          <a:ea typeface="Calibri"/>
                          <a:cs typeface="Calibri"/>
                        </a:rPr>
                        <a:t>Core hook / role</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27607A"/>
                    </a:solidFill>
                  </a:tcPr>
                </a:tc>
              </a:tr>
              <a:tr h="402336">
                <a:tc>
                  <a:txBody>
                    <a:bodyPr/>
                    <a:lstStyle/>
                    <a:p>
                      <a:pPr marL="0" indent="0" algn="l">
                        <a:buNone/>
                      </a:pPr>
                      <a:r>
                        <a:rPr sz="1250">
                          <a:solidFill>
                            <a:srgbClr val="0F2733"/>
                          </a:solidFill>
                          <a:latin typeface="Calibri"/>
                          <a:ea typeface="Calibri"/>
                          <a:cs typeface="Calibri"/>
                        </a:rPr>
                        <a:t>disable_remember_me</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no</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login UI / cookie expiration</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remember_me_days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5</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auth_cookie_expiration</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session_regular_hours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0</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auth_cookie_expiration</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login_logo_behavior</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keep_default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login header presentation</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throttle_heartbeat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no</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Heartbeat settings / enqueue</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wpyeg_better_by_default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array</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the only wp_options row</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r h="402336">
                <a:tc>
                  <a:txBody>
                    <a:bodyPr/>
                    <a:lstStyle/>
                    <a:p>
                      <a:pPr marL="0" indent="0" algn="l">
                        <a:buNone/>
                      </a:pPr>
                      <a:r>
                        <a:rPr sz="1250">
                          <a:solidFill>
                            <a:srgbClr val="0F2733"/>
                          </a:solidFill>
                          <a:latin typeface="Calibri"/>
                          <a:ea typeface="Calibri"/>
                          <a:cs typeface="Calibri"/>
                        </a:rPr>
                        <a:t>DISALLOW_FILE_EDIT</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100">
                          <a:solidFill>
                            <a:srgbClr val="27607A"/>
                          </a:solidFill>
                          <a:latin typeface="Courier New"/>
                          <a:ea typeface="Courier New"/>
                          <a:cs typeface="Courier New"/>
                        </a:rPr>
                        <a:t>manual</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c>
                  <a:txBody>
                    <a:bodyPr/>
                    <a:lstStyle/>
                    <a:p>
                      <a:pPr marL="0" indent="0" algn="l">
                        <a:buNone/>
                      </a:pPr>
                      <a:r>
                        <a:rPr sz="1200">
                          <a:solidFill>
                            <a:srgbClr val="4A5A63"/>
                          </a:solidFill>
                          <a:latin typeface="Calibri"/>
                          <a:ea typeface="Calibri"/>
                          <a:cs typeface="Calibri"/>
                        </a:rPr>
                        <a:t>wp-config.php</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FFFFFF"/>
                    </a:solidFill>
                  </a:tcPr>
                </a:tc>
              </a:tr>
              <a:tr h="402336">
                <a:tc>
                  <a:txBody>
                    <a:bodyPr/>
                    <a:lstStyle/>
                    <a:p>
                      <a:pPr marL="0" indent="0" algn="l">
                        <a:buNone/>
                      </a:pPr>
                      <a:r>
                        <a:rPr sz="1250">
                          <a:solidFill>
                            <a:srgbClr val="0F2733"/>
                          </a:solidFill>
                          <a:latin typeface="Calibri"/>
                          <a:ea typeface="Calibri"/>
                          <a:cs typeface="Calibri"/>
                        </a:rPr>
                        <a:t>revisions / autosave</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100">
                          <a:solidFill>
                            <a:srgbClr val="27607A"/>
                          </a:solidFill>
                          <a:latin typeface="Courier New"/>
                          <a:ea typeface="Courier New"/>
                          <a:cs typeface="Courier New"/>
                        </a:rPr>
                        <a:t>manual</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c>
                  <a:txBody>
                    <a:bodyPr/>
                    <a:lstStyle/>
                    <a:p>
                      <a:pPr marL="0" indent="0" algn="l">
                        <a:buNone/>
                      </a:pPr>
                      <a:r>
                        <a:rPr sz="1200">
                          <a:solidFill>
                            <a:srgbClr val="4A5A63"/>
                          </a:solidFill>
                          <a:latin typeface="Calibri"/>
                          <a:ea typeface="Calibri"/>
                          <a:cs typeface="Calibri"/>
                        </a:rPr>
                        <a:t>wp-config.php constants</a:t>
                      </a:r>
                    </a:p>
                  </a:txBody>
                  <a:tcPr marL="50800" marR="50800" marT="50800" marB="50800" anchor="ctr">
                    <a:lnL w="12700" cmpd="sng">
                      <a:solidFill>
                        <a:srgbClr val="DCE6EB"/>
                      </a:solidFill>
                      <a:prstDash val="solid"/>
                    </a:lnL>
                    <a:lnR w="12700" cmpd="sng">
                      <a:solidFill>
                        <a:srgbClr val="DCE6EB"/>
                      </a:solidFill>
                      <a:prstDash val="solid"/>
                    </a:lnR>
                    <a:lnT w="12700" cmpd="sng">
                      <a:solidFill>
                        <a:srgbClr val="DCE6EB"/>
                      </a:solidFill>
                      <a:prstDash val="solid"/>
                    </a:lnT>
                    <a:lnB w="12700" cmpd="sng">
                      <a:solidFill>
                        <a:srgbClr val="DCE6EB"/>
                      </a:solidFill>
                      <a:prstDash val="solid"/>
                    </a:lnB>
                    <a:solidFill>
                      <a:srgbClr val="EAF1F5"/>
                    </a:solidFill>
                  </a:tcPr>
                </a:tc>
              </a:tr>
            </a:tbl>
          </a:graphicData>
        </a:graphic>
      </p:graphicFrame>
      <p:sp>
        <p:nvSpPr>
          <p:cNvPr id="5" name="Text 2">
            <a:extLst xmlns:a="http://schemas.openxmlformats.org/drawingml/2006/main">
              <a:ext uri="{FF2B5EF4-FFF2-40B4-BE49-F238E27FC236}">
                <a16:creationId xmlns:a16="http://schemas.microsoft.com/office/drawing/2014/main" id="{8942035D-1812-438D-B51E-FD5D056C5B1E}"/>
              </a:ext>
            </a:extLst>
          </p:cNvPr>
          <p:cNvSpPr>
            <a:spLocks xmlns:a="http://schemas.openxmlformats.org/drawingml/2006/main" noGrp="1"/>
          </p:cNvSpPr>
          <p:nvPr/>
        </p:nvSpPr>
        <p:spPr>
          <a:xfrm xmlns:a="http://schemas.openxmlformats.org/drawingml/2006/main">
            <a:off x="502920" y="642823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b="1">
                <a:solidFill>
                  <a:srgbClr val="C88F33"/>
                </a:solidFill>
                <a:latin typeface="Calibri"/>
                <a:ea typeface="Calibri"/>
                <a:cs typeface="Calibri"/>
              </a:rPr>
              <a:t>WPYEG</a:t>
            </a:r>
            <a:r>
              <a:rPr sz="900">
                <a:solidFill>
                  <a:srgbClr val="8A9AA3"/>
                </a:solidFill>
                <a:latin typeface="Calibri"/>
                <a:ea typeface="Calibri"/>
                <a:cs typeface="Calibri"/>
              </a:rPr>
              <a:t>  ·  Better by Default</a:t>
            </a:r>
          </a:p>
        </p:txBody>
      </p:sp>
      <p:sp>
        <p:nvSpPr>
          <p:cNvPr id="6" name="Text 3">
            <a:extLst xmlns:a="http://schemas.openxmlformats.org/drawingml/2006/main">
              <a:ext uri="{FF2B5EF4-FFF2-40B4-BE49-F238E27FC236}">
                <a16:creationId xmlns:a16="http://schemas.microsoft.com/office/drawing/2014/main" id="{A340C09C-C3A4-4FB8-B9D0-9FFE80013E0C}"/>
              </a:ext>
            </a:extLst>
          </p:cNvPr>
          <p:cNvSpPr>
            <a:spLocks xmlns:a="http://schemas.openxmlformats.org/drawingml/2006/main" noGrp="1"/>
          </p:cNvSpPr>
          <p:nvPr/>
        </p:nvSpPr>
        <p:spPr>
          <a:xfrm xmlns:a="http://schemas.openxmlformats.org/drawingml/2006/main">
            <a:off x="11155680" y="6428232"/>
            <a:ext cx="5486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8A9AA3"/>
                </a:solidFill>
                <a:latin typeface="Calibri"/>
                <a:ea typeface="Calibri"/>
                <a:cs typeface="Calibri"/>
              </a:rPr>
              <a:t>31</a:t>
            </a:r>
          </a:p>
        </p:txBody>
      </p:sp>
    </p:spTree>
    <p:extLst>
      <p:ext uri="{BB962C8B-B14F-4D97-AF65-F5344CB8AC3E}">
        <p14:creationId xmlns:p14="http://schemas.microsoft.com/office/powerpoint/2010/main" val="547410723"/>
      </p:ext>
    </p:extLst>
  </p:cSld>
</p:sld>
</file>

<file path=ppt/slides/slide32.xml><?xml version="1.0" encoding="utf-8"?>
<p:sld xmlns:p="http://schemas.openxmlformats.org/presentationml/2006/main">
  <p:cSld>
    <p:bg>
      <p:bgPr>
        <a:solidFill xmlns:a="http://schemas.openxmlformats.org/drawingml/2006/main">
          <a:srgbClr val="0F2733"/>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6B40EE4-DE58-4AD0-9916-2117014E6E22}"/>
              </a:ext>
            </a:extLst>
          </p:cNvPr>
          <p:cNvSpPr>
            <a:spLocks xmlns:a="http://schemas.openxmlformats.org/drawingml/2006/main" noGrp="1"/>
          </p:cNvSpPr>
          <p:nvPr/>
        </p:nvSpPr>
        <p:spPr>
          <a:xfrm xmlns:a="http://schemas.openxmlformats.org/drawingml/2006/main">
            <a:off x="0" y="5212080"/>
            <a:ext cx="12188952" cy="1645920"/>
          </a:xfrm>
          <a:prstGeom xmlns:a="http://schemas.openxmlformats.org/drawingml/2006/main" prst="rect">
            <a:avLst/>
          </a:prstGeom>
          <a:solidFill xmlns:a="http://schemas.openxmlformats.org/drawingml/2006/main">
            <a:srgbClr val="16323F"/>
          </a:solidFill>
        </p:spPr>
      </p:sp>
      <p:sp>
        <p:nvSpPr>
          <p:cNvPr id="3" name="Shape 1">
            <a:extLst xmlns:a="http://schemas.openxmlformats.org/drawingml/2006/main">
              <a:ext uri="{FF2B5EF4-FFF2-40B4-BE49-F238E27FC236}">
                <a16:creationId xmlns:a16="http://schemas.microsoft.com/office/drawing/2014/main" id="{50695B20-5C73-442A-ABA7-3266D214BEDB}"/>
              </a:ext>
            </a:extLst>
          </p:cNvPr>
          <p:cNvSpPr>
            <a:spLocks xmlns:a="http://schemas.openxmlformats.org/drawingml/2006/main" noGrp="1"/>
          </p:cNvSpPr>
          <p:nvPr/>
        </p:nvSpPr>
        <p:spPr>
          <a:xfrm xmlns:a="http://schemas.openxmlformats.org/drawingml/2006/main">
            <a:off x="777240" y="777240"/>
            <a:ext cx="640080" cy="640080"/>
          </a:xfrm>
          <a:prstGeom xmlns:a="http://schemas.openxmlformats.org/drawingml/2006/main" prst="ellipse">
            <a:avLst/>
          </a:prstGeom>
          <a:solidFill xmlns:a="http://schemas.openxmlformats.org/drawingml/2006/main">
            <a:srgbClr val="E0A94B"/>
          </a:solidFill>
        </p:spPr>
      </p:sp>
      <p:sp>
        <p:nvSpPr>
          <p:cNvPr id="4" name="Text 2">
            <a:extLst xmlns:a="http://schemas.openxmlformats.org/drawingml/2006/main">
              <a:ext uri="{FF2B5EF4-FFF2-40B4-BE49-F238E27FC236}">
                <a16:creationId xmlns:a16="http://schemas.microsoft.com/office/drawing/2014/main" id="{21C676A7-6454-4630-8B28-757E1EF2D30A}"/>
              </a:ext>
            </a:extLst>
          </p:cNvPr>
          <p:cNvSpPr>
            <a:spLocks xmlns:a="http://schemas.openxmlformats.org/drawingml/2006/main" noGrp="1"/>
          </p:cNvSpPr>
          <p:nvPr/>
        </p:nvSpPr>
        <p:spPr>
          <a:xfrm xmlns:a="http://schemas.openxmlformats.org/drawingml/2006/main">
            <a:off x="777240" y="77724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20" b="1">
                <a:solidFill>
                  <a:srgbClr val="0F2733"/>
                </a:solidFill>
                <a:latin typeface="Cambria"/>
                <a:ea typeface="Cambria"/>
                <a:cs typeface="Cambria"/>
              </a:rPr>
              <a:t>{ }</a:t>
            </a:r>
          </a:p>
        </p:txBody>
      </p:sp>
      <p:sp>
        <p:nvSpPr>
          <p:cNvPr id="5" name="Text 3">
            <a:extLst xmlns:a="http://schemas.openxmlformats.org/drawingml/2006/main">
              <a:ext uri="{FF2B5EF4-FFF2-40B4-BE49-F238E27FC236}">
                <a16:creationId xmlns:a16="http://schemas.microsoft.com/office/drawing/2014/main" id="{812DDA1B-0137-4857-A775-E49823FCBD47}"/>
              </a:ext>
            </a:extLst>
          </p:cNvPr>
          <p:cNvSpPr>
            <a:spLocks xmlns:a="http://schemas.openxmlformats.org/drawingml/2006/main" noGrp="1"/>
          </p:cNvSpPr>
          <p:nvPr/>
        </p:nvSpPr>
        <p:spPr>
          <a:xfrm xmlns:a="http://schemas.openxmlformats.org/drawingml/2006/main">
            <a:off x="777240" y="1737360"/>
            <a:ext cx="1060704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FFFFFF"/>
                </a:solidFill>
                <a:latin typeface="Cambria"/>
                <a:ea typeface="Cambria"/>
                <a:cs typeface="Cambria"/>
              </a:rPr>
              <a:t>Thanks, WPYEG!</a:t>
            </a:r>
          </a:p>
        </p:txBody>
      </p:sp>
      <p:sp>
        <p:nvSpPr>
          <p:cNvPr id="6" name="Text 4">
            <a:extLst xmlns:a="http://schemas.openxmlformats.org/drawingml/2006/main">
              <a:ext uri="{FF2B5EF4-FFF2-40B4-BE49-F238E27FC236}">
                <a16:creationId xmlns:a16="http://schemas.microsoft.com/office/drawing/2014/main" id="{3168BC04-3954-47CC-B82F-9E5F8E246364}"/>
              </a:ext>
            </a:extLst>
          </p:cNvPr>
          <p:cNvSpPr>
            <a:spLocks xmlns:a="http://schemas.openxmlformats.org/drawingml/2006/main" noGrp="1"/>
          </p:cNvSpPr>
          <p:nvPr/>
        </p:nvSpPr>
        <p:spPr>
          <a:xfrm xmlns:a="http://schemas.openxmlformats.org/drawingml/2006/main">
            <a:off x="822960" y="2926080"/>
            <a:ext cx="100584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i="1">
                <a:solidFill>
                  <a:srgbClr val="D7E5EC"/>
                </a:solidFill>
                <a:latin typeface="Calibri"/>
                <a:ea typeface="Calibri"/>
                <a:cs typeface="Calibri"/>
              </a:rPr>
              <a:t>Set your defaults wisely.</a:t>
            </a:r>
          </a:p>
        </p:txBody>
      </p:sp>
      <p:sp>
        <p:nvSpPr>
          <p:cNvPr id="7" name="Text 5">
            <a:extLst xmlns:a="http://schemas.openxmlformats.org/drawingml/2006/main">
              <a:ext uri="{FF2B5EF4-FFF2-40B4-BE49-F238E27FC236}">
                <a16:creationId xmlns:a16="http://schemas.microsoft.com/office/drawing/2014/main" id="{79AA2872-7BB7-40B3-B0CF-473E1FBE2BA2}"/>
              </a:ext>
            </a:extLst>
          </p:cNvPr>
          <p:cNvSpPr>
            <a:spLocks xmlns:a="http://schemas.openxmlformats.org/drawingml/2006/main" noGrp="1"/>
          </p:cNvSpPr>
          <p:nvPr/>
        </p:nvSpPr>
        <p:spPr>
          <a:xfrm xmlns:a="http://schemas.openxmlformats.org/drawingml/2006/main">
            <a:off x="822960" y="4023360"/>
            <a:ext cx="10515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E0A94B"/>
                </a:solidFill>
                <a:latin typeface="Courier New"/>
                <a:ea typeface="Courier New"/>
                <a:cs typeface="Courier New"/>
              </a:rPr>
              <a:t>Files:  </a:t>
            </a:r>
            <a:r>
              <a:rPr sz="1400">
                <a:solidFill>
                  <a:srgbClr val="D7E5EC"/>
                </a:solidFill>
                <a:latin typeface="Courier New"/>
                <a:ea typeface="Courier New"/>
                <a:cs typeface="Courier New"/>
              </a:rPr>
              <a:t>sane-defaults.zip</a:t>
            </a:r>
            <a:r>
              <a:rPr sz="1400">
                <a:solidFill>
                  <a:srgbClr val="8A9AA3"/>
                </a:solidFill>
                <a:latin typeface="Courier New"/>
                <a:ea typeface="Courier New"/>
                <a:cs typeface="Courier New"/>
              </a:rPr>
              <a:t>   ·   </a:t>
            </a:r>
            <a:r>
              <a:rPr sz="1400">
                <a:solidFill>
                  <a:srgbClr val="D7E5EC"/>
                </a:solidFill>
                <a:latin typeface="Courier New"/>
                <a:ea typeface="Courier New"/>
                <a:cs typeface="Courier New"/>
              </a:rPr>
              <a:t>wordpress-default-settings.md</a:t>
            </a:r>
          </a:p>
        </p:txBody>
      </p:sp>
      <p:sp>
        <p:nvSpPr>
          <p:cNvPr id="8" name="Text 6">
            <a:extLst xmlns:a="http://schemas.openxmlformats.org/drawingml/2006/main">
              <a:ext uri="{FF2B5EF4-FFF2-40B4-BE49-F238E27FC236}">
                <a16:creationId xmlns:a16="http://schemas.microsoft.com/office/drawing/2014/main" id="{3E8817C5-4C0B-445A-A3F6-BC2D7B17DD37}"/>
              </a:ext>
            </a:extLst>
          </p:cNvPr>
          <p:cNvSpPr>
            <a:spLocks xmlns:a="http://schemas.openxmlformats.org/drawingml/2006/main" noGrp="1"/>
          </p:cNvSpPr>
          <p:nvPr/>
        </p:nvSpPr>
        <p:spPr>
          <a:xfrm xmlns:a="http://schemas.openxmlformats.org/drawingml/2006/main">
            <a:off x="822960" y="5623560"/>
            <a:ext cx="105156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FFFFF"/>
                </a:solidFill>
                <a:latin typeface="Calibri"/>
                <a:ea typeface="Calibri"/>
                <a:cs typeface="Calibri"/>
              </a:rPr>
              <a:t>Questions?  </a:t>
            </a:r>
            <a:r>
              <a:rPr sz="1600">
                <a:solidFill>
                  <a:srgbClr val="D7E5EC"/>
                </a:solidFill>
                <a:latin typeface="Calibri"/>
                <a:ea typeface="Calibri"/>
                <a:cs typeface="Calibri"/>
              </a:rPr>
              <a:t>License GPL-3.0-or-later</a:t>
            </a:r>
          </a:p>
        </p:txBody>
      </p:sp>
    </p:spTree>
    <p:extLst>
      <p:ext uri="{BB962C8B-B14F-4D97-AF65-F5344CB8AC3E}">
        <p14:creationId xmlns:p14="http://schemas.microsoft.com/office/powerpoint/2010/main" val="82956894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2026-07-21T14:32:11.1520000Z</dcterms:created>
  <dcterms:modified xsi:type="dcterms:W3CDTF">2026-07-21T14:32:11.1520000Z</dcterms:modified>
</coreProperties>
</file>