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D2ACF07-5A43-4D38-BA50-148209092E7D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Welcome to WPYEG. Tonight we build one small plugin that flips a menu of sensible defaults on any WordPress site. Whether you write PHP daily or just manage sites, you'll leave knowing WHY each default matters and HOW to toggle it.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These aren't hypothetical. Every one is a default you can flip. The rest of the talk is: which doors, and the one line of code that closes each.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you remember nothing else: a default is an add_filter behind an if( option ). Once you see that shape, the entire plugin is just twenty variations of it.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Analogy for non-devs: an action is a doorbell (do something at a moment); a filter is a mail slot (change a value in transit). __return_false is a tiny helper that just hands back false — perfect for switching a feature off.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Roadmap. We'll spend most time on security and content, then move fast through UX, login, branding, performance, and end at the plugin that bundles them.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Security first. The theme: close what you don't use. You can't exploit an endpoint that isn't there.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Removed routes return the normal REST no-route response, usually 404 — not 401. This is surface reduction, not a promise that author identities are secret.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Check trusted integrations first. Blocking xmlrpc.php itself belongs at the web server or edge.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Passwords are documented core API credentials. Treat availability as policy context, not a failed security check.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NIST recommends length, blocklists, rate limiting, paste/password-manager support, and no forced composition or periodic rotation.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Prefer CSP frame-ancestors over relying only on X-Frame-Options. Roll out CSP from an inventory and report-only phase.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Big red switch. Default off on purpose. Great teaching moment: not every default should default to ON — some are opt-in because they trade functionality for safety.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 section. These reduce spam surface and clean up thin, duplicate URLs that hurt SEO.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 client wants comments, leave this off — but still consider closing pingbacks/trackbacks, which are almost pure spam.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Homepage redirects create soft-404 and misleading canonical behavior. Multi-author publications should enable and curate author pages.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win, but it's on literally every page. Good example of a 'why is this even on?' default.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quality-of-life defaults. These are more about daily experience and session safety than raw hardening.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manage_options is a capability, not the name of an Administrator role. Hiding the toolbar does not remove wp-admin access.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Revoke existing sessions separately. Client-side checkbox removal alone is bypassable.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 pair of sections: a branding touch on the login screen, then two performance levers.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preference, not a hardening control. Keep it out of security scorecards.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WordPress 6.3+ resolves eligible loading strategies through dependency trees. Never inject defer into every script tag.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not enable DISALLOW_FILE_MODS on a site that relies on dashboard updates. These constants are clearer in deployment config, not impossible for plugins to define.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design lesson: a data-driven plugin. Adding a new default = one array entry + one if-block in bootstrap. No new settings-page code. That's the pattern to steal.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 this live if there's a sandbox. The /wp-json/wp/v2/users check is the crowd-pleaser — before/after is instantly visible. For the terminal crowd, the WP-CLI one-liner installs and activates from the zip in one shot; swap the local path for a URL if the zip is hosted.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Great confidence-builder. It proves the data-driven pattern: they touch two spots and a real feature toggles. If time is short, walk it verbally.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Screenshot slide. Everything ON-by-default in one view, mapped to the core hook so they can find it in the code.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Wrap: hand out the zip and the reference doc. Invite them to add their own favorite default to the schema and share it back with the group.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5394960"/>
            <a:ext cx="12188520" cy="1462680"/>
          </a:xfrm>
          <a:prstGeom prst="rect">
            <a:avLst/>
          </a:prstGeom>
          <a:solidFill>
            <a:srgbClr val="1632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777240" y="731520"/>
            <a:ext cx="658080" cy="65808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777240" y="73152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7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{ }</a:t>
            </a:r>
            <a:endParaRPr lang="en-CA" sz="18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1600200" y="82296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WPYEG · Edmonton WordPress Meetup</a:t>
            </a:r>
            <a:endParaRPr lang="en-CA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777240" y="2148840"/>
            <a:ext cx="107895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6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Better by Default</a:t>
            </a:r>
            <a:endParaRPr lang="en-CA" sz="6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22960" y="3977640"/>
            <a:ext cx="10240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0" i="1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Explicit, testable starting policies — one toggle at a time.</a:t>
            </a:r>
            <a:endParaRPr lang="en-CA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57150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E5EC"/>
                </a:solidFill>
                <a:effectLst/>
                <a:uFillTx/>
                <a:latin typeface="Courier New"/>
                <a:ea typeface="Courier New"/>
              </a:rPr>
              <a:t>A hands-on workshop  </a:t>
            </a:r>
            <a:r>
              <a:rPr lang="en-US" sz="1400" b="0" u="none" strike="noStrike">
                <a:solidFill>
                  <a:srgbClr val="E0A94B"/>
                </a:solidFill>
                <a:effectLst/>
                <a:uFillTx/>
                <a:latin typeface="Courier New"/>
                <a:ea typeface="Courier New"/>
              </a:rPr>
              <a:t>·  the better-by-default plugin</a:t>
            </a:r>
            <a:endParaRPr lang="en-C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548640" y="50292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A default is an assumption, not a guarantee</a:t>
            </a:r>
            <a:endParaRPr lang="en-CA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548640" y="1371600"/>
            <a:ext cx="10789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WordPress optimizes for broad compatibility. Our job is to make each project's assumptions explicit, reversible, and testable.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"/>
          <p:cNvSpPr/>
          <p:nvPr/>
        </p:nvSpPr>
        <p:spPr>
          <a:xfrm>
            <a:off x="548640" y="2423160"/>
            <a:ext cx="5257440" cy="1691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3"/>
          <p:cNvSpPr/>
          <p:nvPr/>
        </p:nvSpPr>
        <p:spPr>
          <a:xfrm>
            <a:off x="822960" y="2743200"/>
            <a:ext cx="502560" cy="50256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822960" y="27432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CA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1508760" y="2697480"/>
            <a:ext cx="4068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Name the outcome</a:t>
            </a:r>
            <a:endParaRPr lang="en-CA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6"/>
          <p:cNvSpPr/>
          <p:nvPr/>
        </p:nvSpPr>
        <p:spPr>
          <a:xfrm>
            <a:off x="1508760" y="3173040"/>
            <a:ext cx="40687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Say what the control changes — and what public surface or workflow remains.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7"/>
          <p:cNvSpPr/>
          <p:nvPr/>
        </p:nvSpPr>
        <p:spPr>
          <a:xfrm>
            <a:off x="6355080" y="2423160"/>
            <a:ext cx="5257440" cy="1691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8"/>
          <p:cNvSpPr/>
          <p:nvPr/>
        </p:nvSpPr>
        <p:spPr>
          <a:xfrm>
            <a:off x="6629400" y="2743200"/>
            <a:ext cx="502560" cy="50256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6629400" y="27432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CA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7315200" y="2697480"/>
            <a:ext cx="4068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Price compatibility</a:t>
            </a:r>
            <a:endParaRPr lang="en-CA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7315200" y="3173040"/>
            <a:ext cx="40687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REST, XML-RPC, comments, archives, and sessions can serve legitimate needs.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548640" y="4526280"/>
            <a:ext cx="5257440" cy="1691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3"/>
          <p:cNvSpPr/>
          <p:nvPr/>
        </p:nvSpPr>
        <p:spPr>
          <a:xfrm>
            <a:off x="822960" y="4846320"/>
            <a:ext cx="502560" cy="502560"/>
          </a:xfrm>
          <a:prstGeom prst="ellipse">
            <a:avLst/>
          </a:prstGeom>
          <a:solidFill>
            <a:srgbClr val="C88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4"/>
          <p:cNvSpPr/>
          <p:nvPr/>
        </p:nvSpPr>
        <p:spPr>
          <a:xfrm>
            <a:off x="822960" y="48463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CA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1508760" y="4800600"/>
            <a:ext cx="4068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Choose the right layer</a:t>
            </a:r>
            <a:endParaRPr lang="en-CA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6"/>
          <p:cNvSpPr/>
          <p:nvPr/>
        </p:nvSpPr>
        <p:spPr>
          <a:xfrm>
            <a:off x="1508760" y="5276160"/>
            <a:ext cx="40687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Some policy belongs in WordPress; headers and endpoint blocking may belong at the edge.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7"/>
          <p:cNvSpPr/>
          <p:nvPr/>
        </p:nvSpPr>
        <p:spPr>
          <a:xfrm>
            <a:off x="6355080" y="4526280"/>
            <a:ext cx="5257440" cy="1691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8"/>
          <p:cNvSpPr/>
          <p:nvPr/>
        </p:nvSpPr>
        <p:spPr>
          <a:xfrm>
            <a:off x="6629400" y="4846320"/>
            <a:ext cx="502560" cy="502560"/>
          </a:xfrm>
          <a:prstGeom prst="ellipse">
            <a:avLst/>
          </a:prstGeom>
          <a:solidFill>
            <a:srgbClr val="C88F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9"/>
          <p:cNvSpPr/>
          <p:nvPr/>
        </p:nvSpPr>
        <p:spPr>
          <a:xfrm>
            <a:off x="6629400" y="484632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3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CA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0"/>
          <p:cNvSpPr/>
          <p:nvPr/>
        </p:nvSpPr>
        <p:spPr>
          <a:xfrm>
            <a:off x="7315200" y="4800600"/>
            <a:ext cx="4068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Verify real behavior</a:t>
            </a:r>
            <a:endParaRPr lang="en-CA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1"/>
          <p:cNvSpPr/>
          <p:nvPr/>
        </p:nvSpPr>
        <p:spPr>
          <a:xfrm>
            <a:off x="7315200" y="5276160"/>
            <a:ext cx="40687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Test status codes, callable methods, cookies, query semantics, and integrations.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2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3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760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731520" y="10515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The one idea to take home</a:t>
            </a:r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731520" y="1737360"/>
            <a:ext cx="106981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 “default” is an explicit,</a:t>
            </a:r>
            <a:endParaRPr lang="en-CA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testable hook behind a toggle.</a:t>
            </a:r>
            <a:endParaRPr lang="en-CA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"/>
          <p:cNvSpPr/>
          <p:nvPr/>
        </p:nvSpPr>
        <p:spPr>
          <a:xfrm>
            <a:off x="731520" y="4114800"/>
            <a:ext cx="10698120" cy="1737000"/>
          </a:xfrm>
          <a:prstGeom prst="roundRect">
            <a:avLst>
              <a:gd name="adj" fmla="val 4211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4"/>
          <p:cNvSpPr/>
          <p:nvPr/>
        </p:nvSpPr>
        <p:spPr>
          <a:xfrm>
            <a:off x="932760" y="4279320"/>
            <a:ext cx="10295640" cy="14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if ( wpyeg_defaults_enabled( 'disable_xmlrpc' ) ) {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add_filter( 'xmlrpc_methods', '__return_empty_array' );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}   // delivery is simple; accuracy is the work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548640" y="5029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Two words, gently: hooks &amp; filters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548640" y="1280160"/>
            <a:ext cx="10789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WordPress is built to be interrupted on purpose. You don't edit core — you hop in at labeled moments.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548640" y="2148840"/>
            <a:ext cx="11063880" cy="164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868680" y="2651760"/>
            <a:ext cx="639720" cy="63972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868680" y="265176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1737360" y="235008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7607A"/>
                </a:solidFill>
                <a:effectLst/>
                <a:uFillTx/>
                <a:latin typeface="Cambria"/>
                <a:ea typeface="Cambria"/>
              </a:rPr>
              <a:t>Action</a:t>
            </a:r>
            <a:endParaRPr lang="en-CA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737360" y="2834640"/>
            <a:ext cx="5851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“When you reach this moment, also DO this.” A doorbell you answer.</a:t>
            </a:r>
            <a:endParaRPr lang="en-CA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7"/>
          <p:cNvSpPr/>
          <p:nvPr/>
        </p:nvSpPr>
        <p:spPr>
          <a:xfrm>
            <a:off x="7772400" y="2606040"/>
            <a:ext cx="3611520" cy="731160"/>
          </a:xfrm>
          <a:prstGeom prst="roundRect">
            <a:avLst>
              <a:gd name="adj" fmla="val 7500"/>
            </a:avLst>
          </a:prstGeom>
          <a:solidFill>
            <a:srgbClr val="0E28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8"/>
          <p:cNvSpPr/>
          <p:nvPr/>
        </p:nvSpPr>
        <p:spPr>
          <a:xfrm>
            <a:off x="7909560" y="2606040"/>
            <a:ext cx="3382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add_action( 'init', fn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548640" y="4023360"/>
            <a:ext cx="11063880" cy="164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0"/>
          <p:cNvSpPr/>
          <p:nvPr/>
        </p:nvSpPr>
        <p:spPr>
          <a:xfrm>
            <a:off x="868680" y="4526280"/>
            <a:ext cx="639720" cy="63972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868680" y="45262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2"/>
          <p:cNvSpPr/>
          <p:nvPr/>
        </p:nvSpPr>
        <p:spPr>
          <a:xfrm>
            <a:off x="1737360" y="4224600"/>
            <a:ext cx="2742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7607A"/>
                </a:solidFill>
                <a:effectLst/>
                <a:uFillTx/>
                <a:latin typeface="Cambria"/>
                <a:ea typeface="Cambria"/>
              </a:rPr>
              <a:t>Filter</a:t>
            </a:r>
            <a:endParaRPr lang="en-CA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3"/>
          <p:cNvSpPr/>
          <p:nvPr/>
        </p:nvSpPr>
        <p:spPr>
          <a:xfrm>
            <a:off x="1737360" y="4709160"/>
            <a:ext cx="5851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“Before you use this value, let me CHANGE it first.” A mail slot that edits the letter.</a:t>
            </a:r>
            <a:endParaRPr lang="en-CA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4"/>
          <p:cNvSpPr/>
          <p:nvPr/>
        </p:nvSpPr>
        <p:spPr>
          <a:xfrm>
            <a:off x="7772400" y="4480560"/>
            <a:ext cx="3611520" cy="731160"/>
          </a:xfrm>
          <a:prstGeom prst="roundRect">
            <a:avLst>
              <a:gd name="adj" fmla="val 7500"/>
            </a:avLst>
          </a:prstGeom>
          <a:solidFill>
            <a:srgbClr val="0E28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7909560" y="4480560"/>
            <a:ext cx="3382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add_filter( 'xmlrpc_enabled', '__return_false'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7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548640" y="5029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Six categories of default</a:t>
            </a:r>
            <a:endParaRPr lang="en-CA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"/>
          <p:cNvSpPr/>
          <p:nvPr/>
        </p:nvSpPr>
        <p:spPr>
          <a:xfrm>
            <a:off x="548640" y="1554480"/>
            <a:ext cx="3501720" cy="1965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868680" y="1874520"/>
            <a:ext cx="639720" cy="6397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"/>
          <p:cNvSpPr/>
          <p:nvPr/>
        </p:nvSpPr>
        <p:spPr>
          <a:xfrm>
            <a:off x="868680" y="18745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4"/>
          <p:cNvSpPr/>
          <p:nvPr/>
        </p:nvSpPr>
        <p:spPr>
          <a:xfrm>
            <a:off x="868680" y="2606040"/>
            <a:ext cx="286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Security</a:t>
            </a:r>
            <a:endParaRPr lang="en-CA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5"/>
          <p:cNvSpPr/>
          <p:nvPr/>
        </p:nvSpPr>
        <p:spPr>
          <a:xfrm>
            <a:off x="868680" y="3017520"/>
            <a:ext cx="286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Reduce unused callable surface</a:t>
            </a:r>
            <a:endParaRPr lang="en-C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6"/>
          <p:cNvSpPr/>
          <p:nvPr/>
        </p:nvSpPr>
        <p:spPr>
          <a:xfrm>
            <a:off x="4507920" y="1554480"/>
            <a:ext cx="3501720" cy="1965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7"/>
          <p:cNvSpPr/>
          <p:nvPr/>
        </p:nvSpPr>
        <p:spPr>
          <a:xfrm>
            <a:off x="4827960" y="1874520"/>
            <a:ext cx="639720" cy="6397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8"/>
          <p:cNvSpPr/>
          <p:nvPr/>
        </p:nvSpPr>
        <p:spPr>
          <a:xfrm>
            <a:off x="4827960" y="18745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9"/>
          <p:cNvSpPr/>
          <p:nvPr/>
        </p:nvSpPr>
        <p:spPr>
          <a:xfrm>
            <a:off x="4827960" y="2606040"/>
            <a:ext cx="286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Content</a:t>
            </a:r>
            <a:endParaRPr lang="en-CA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0"/>
          <p:cNvSpPr/>
          <p:nvPr/>
        </p:nvSpPr>
        <p:spPr>
          <a:xfrm>
            <a:off x="4827960" y="3017520"/>
            <a:ext cx="286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Close unused public surfaces</a:t>
            </a:r>
            <a:endParaRPr lang="en-C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1"/>
          <p:cNvSpPr/>
          <p:nvPr/>
        </p:nvSpPr>
        <p:spPr>
          <a:xfrm>
            <a:off x="8467200" y="1554480"/>
            <a:ext cx="3501720" cy="1965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2"/>
          <p:cNvSpPr/>
          <p:nvPr/>
        </p:nvSpPr>
        <p:spPr>
          <a:xfrm>
            <a:off x="8787240" y="1874520"/>
            <a:ext cx="639720" cy="6397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8787240" y="18745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4"/>
          <p:cNvSpPr/>
          <p:nvPr/>
        </p:nvSpPr>
        <p:spPr>
          <a:xfrm>
            <a:off x="8787240" y="2606040"/>
            <a:ext cx="286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Admin UX</a:t>
            </a:r>
            <a:endParaRPr lang="en-CA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8787240" y="3017520"/>
            <a:ext cx="286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Calmer, faster dashboard</a:t>
            </a:r>
            <a:endParaRPr lang="en-C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6"/>
          <p:cNvSpPr/>
          <p:nvPr/>
        </p:nvSpPr>
        <p:spPr>
          <a:xfrm>
            <a:off x="548640" y="3977640"/>
            <a:ext cx="3501720" cy="1965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7"/>
          <p:cNvSpPr/>
          <p:nvPr/>
        </p:nvSpPr>
        <p:spPr>
          <a:xfrm>
            <a:off x="868680" y="4297680"/>
            <a:ext cx="639720" cy="6397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868680" y="42976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9"/>
          <p:cNvSpPr/>
          <p:nvPr/>
        </p:nvSpPr>
        <p:spPr>
          <a:xfrm>
            <a:off x="868680" y="5029200"/>
            <a:ext cx="286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Login</a:t>
            </a:r>
            <a:endParaRPr lang="en-CA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868680" y="5440680"/>
            <a:ext cx="286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Sessions &amp; credentials</a:t>
            </a:r>
            <a:endParaRPr lang="en-C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1"/>
          <p:cNvSpPr/>
          <p:nvPr/>
        </p:nvSpPr>
        <p:spPr>
          <a:xfrm>
            <a:off x="4507920" y="3977640"/>
            <a:ext cx="3501720" cy="1965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2"/>
          <p:cNvSpPr/>
          <p:nvPr/>
        </p:nvSpPr>
        <p:spPr>
          <a:xfrm>
            <a:off x="4827960" y="4297680"/>
            <a:ext cx="639720" cy="6397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3"/>
          <p:cNvSpPr/>
          <p:nvPr/>
        </p:nvSpPr>
        <p:spPr>
          <a:xfrm>
            <a:off x="4827960" y="42976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4"/>
          <p:cNvSpPr/>
          <p:nvPr/>
        </p:nvSpPr>
        <p:spPr>
          <a:xfrm>
            <a:off x="4827960" y="5029200"/>
            <a:ext cx="286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Branding</a:t>
            </a:r>
            <a:endParaRPr lang="en-CA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5"/>
          <p:cNvSpPr/>
          <p:nvPr/>
        </p:nvSpPr>
        <p:spPr>
          <a:xfrm>
            <a:off x="4827960" y="5440680"/>
            <a:ext cx="286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Own the login screen</a:t>
            </a:r>
            <a:endParaRPr lang="en-C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6"/>
          <p:cNvSpPr/>
          <p:nvPr/>
        </p:nvSpPr>
        <p:spPr>
          <a:xfrm>
            <a:off x="8467200" y="3977640"/>
            <a:ext cx="3501720" cy="19656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7"/>
          <p:cNvSpPr/>
          <p:nvPr/>
        </p:nvSpPr>
        <p:spPr>
          <a:xfrm>
            <a:off x="8787240" y="4297680"/>
            <a:ext cx="639720" cy="6397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8"/>
          <p:cNvSpPr/>
          <p:nvPr/>
        </p:nvSpPr>
        <p:spPr>
          <a:xfrm>
            <a:off x="8787240" y="42976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9"/>
          <p:cNvSpPr/>
          <p:nvPr/>
        </p:nvSpPr>
        <p:spPr>
          <a:xfrm>
            <a:off x="8787240" y="5029200"/>
            <a:ext cx="286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Performance</a:t>
            </a:r>
            <a:endParaRPr lang="en-CA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0"/>
          <p:cNvSpPr/>
          <p:nvPr/>
        </p:nvSpPr>
        <p:spPr>
          <a:xfrm>
            <a:off x="8787240" y="5440680"/>
            <a:ext cx="286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Trim the page weight</a:t>
            </a:r>
            <a:endParaRPr lang="en-C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1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32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0" y="5577840"/>
            <a:ext cx="12188520" cy="1279800"/>
          </a:xfrm>
          <a:prstGeom prst="rect">
            <a:avLst/>
          </a:prstGeom>
          <a:solidFill>
            <a:srgbClr val="1632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"/>
          <p:cNvSpPr/>
          <p:nvPr/>
        </p:nvSpPr>
        <p:spPr>
          <a:xfrm>
            <a:off x="777240" y="914400"/>
            <a:ext cx="868320" cy="8683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777240" y="9144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7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CA" sz="2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1874520" y="10058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SECTION ONE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777240" y="2286000"/>
            <a:ext cx="106066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Security &amp;</a:t>
            </a:r>
            <a:endParaRPr lang="en-CA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Attack Surface</a:t>
            </a:r>
            <a:endParaRPr lang="en-CA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822960" y="36576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i="1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Every item here removes something an attacker can poke — usually in one line.</a:t>
            </a:r>
            <a:endParaRPr lang="en-CA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SECURITY · 1 of 6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Restrict REST API user discovery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Core exposes public author records and user_nicename slugs — not private user_login values. Removing all core user routes reduces anonymous discovery, but other public author data can remain.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wpyeg_restrict_rest_user_discovery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7607A"/>
                </a:solidFill>
                <a:effectLst/>
                <a:uFillTx/>
                <a:latin typeface="Courier New"/>
                <a:ea typeface="Courier New"/>
              </a:rPr>
              <a:t>yes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foreach ( array_keys( $endpoints ) as $route 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if ( preg_match( '#^/wp/v2/users(?:/|$)#', $route ) 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unset( $endpoints[ $route ]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SECURITY · 2 of 6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Disable XML-RPC methods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The xmlrpc_enabled filter only disables authenticated methods. Remove the registered method surface and discovery hints to make the setting truthful. The endpoint file itself may still return a fault.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wpyeg_disable_xmlrpc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7607A"/>
                </a:solidFill>
                <a:effectLst/>
                <a:uFillTx/>
                <a:latin typeface="Courier New"/>
                <a:ea typeface="Courier New"/>
              </a:rPr>
              <a:t>yes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add_filter( 'xmlrpc_enabled', '__return_false'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add_filter(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'xmlrpc_methods',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'__return_empty_array',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PHP_INT_MAX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remove_action( 'wp_head', 'rsd_link'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SECURITY · 3 of 6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Application Passwords: explicit policy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Application Passwords are hashed, per-application, revocable integration credentials. Availability is not itself a flaw. Keep them available unless organizational policy forbids them.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wpyeg_disable_application_passwords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88F33"/>
                </a:solidFill>
                <a:effectLst/>
                <a:uFillTx/>
                <a:latin typeface="Courier New"/>
                <a:ea typeface="Courier New"/>
              </a:rPr>
              <a:t>no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add_filter(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'wp_is_application_passwords_available',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'__return_false'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Optional site-policy prohibition.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Inventory and revoke unused credentials.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SECURITY · 4 of 6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Require strong passwords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Enforce at least 15 characters and reject common or user-specific values. Avoid arbitrary composition rules. Validate core profile, reset, and REST user flows, then test custom registration, CLI, and SSO separately.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wpyeg_require_strong_passwords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7607A"/>
                </a:solidFill>
                <a:effectLst/>
                <a:uFillTx/>
                <a:latin typeface="Courier New"/>
                <a:ea typeface="Courier New"/>
              </a:rPr>
              <a:t>yes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$length = function_exists( 'mb_strlen' 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? mb_strlen( $password 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: strlen( $password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if ( 15 &gt; $length 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return new WP_Error(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'password_too_short',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  'Use 15+ characters.'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SECURITY · 5 of 6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Metadata and headers: use the right layer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Removing the generator tag is hygiene, not hardening. The wp_headers filter does not cover every REST/error/redirect, static file, or cached edge response. Configure security headers at the server or CDN.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wpyeg_remove_version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88F33"/>
                </a:solidFill>
                <a:effectLst/>
                <a:uFillTx/>
                <a:latin typeface="Courier New"/>
                <a:ea typeface="Courier New"/>
              </a:rPr>
              <a:t>no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remove_action( 'wp_head', 'wp_generator'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add_filter( 'the_generator', '__return_empty_string'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Patch promptly; verify headers at edge.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SECURITY · 6 of 6 · opt-in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Lock REST to logged-in users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Requiring auth for every REST request can break public blocks, forms, search, oEmbed, and integrations. It ships off. Use it only after an endpoint inventory and compatibility test.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wpyeg_disable_rest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88F33"/>
                </a:solidFill>
                <a:effectLst/>
                <a:uFillTx/>
                <a:latin typeface="Courier New"/>
                <a:ea typeface="Courier New"/>
              </a:rPr>
              <a:t>no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if ( ! empty( $result ) 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return $result;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if ( ! is_user_logged_in() 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return new WP_Error(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'rest_not_logged_in',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'Authentication required.',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  array( 'status' =&gt; 401 )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0"/>
          <p:cNvSpPr/>
          <p:nvPr/>
        </p:nvSpPr>
        <p:spPr>
          <a:xfrm>
            <a:off x="0" y="5577840"/>
            <a:ext cx="12188520" cy="1279800"/>
          </a:xfrm>
          <a:prstGeom prst="rect">
            <a:avLst/>
          </a:prstGeom>
          <a:solidFill>
            <a:srgbClr val="1632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"/>
          <p:cNvSpPr/>
          <p:nvPr/>
        </p:nvSpPr>
        <p:spPr>
          <a:xfrm>
            <a:off x="777240" y="914400"/>
            <a:ext cx="868320" cy="8683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777240" y="9144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7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CA" sz="2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"/>
          <p:cNvSpPr/>
          <p:nvPr/>
        </p:nvSpPr>
        <p:spPr>
          <a:xfrm>
            <a:off x="1874520" y="10058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SECTION TWO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777240" y="2286000"/>
            <a:ext cx="106066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Content &amp;</a:t>
            </a:r>
            <a:endParaRPr lang="en-CA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Public Surfaces</a:t>
            </a:r>
            <a:endParaRPr lang="en-CA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5"/>
          <p:cNvSpPr/>
          <p:nvPr/>
        </p:nvSpPr>
        <p:spPr>
          <a:xfrm>
            <a:off x="822960" y="36576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i="1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Close the spam funnels and the thin pages Google (and bots) love to crawl.</a:t>
            </a:r>
            <a:endParaRPr lang="en-CA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CONTENT · 1 of 3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Disable comments, trackbacks &amp; pingbacks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For most business sites, comments are a spam magnet with little upside. We close them everywhere, hide existing threads, drop the admin menu, and default new posts to pings-closed.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wpyeg_disable_comments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7607A"/>
                </a:solidFill>
                <a:effectLst/>
                <a:uFillTx/>
                <a:latin typeface="Courier New"/>
                <a:ea typeface="Courier New"/>
              </a:rPr>
              <a:t>yes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add_filter( 'comments_open', '__return_false', 20 );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add_filter( 'pings_open', '__return_false', 20 );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add_filter( 'comments_array', '__return_empty_array', 20 );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+ remove_post_type_support() on init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+ remove_menu_page('edit-comments.php')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+ drop the admin-bar comments node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CONTENT · 2 of 3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Author archives &amp; legacy attachment pages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Disabled author archives should return a real 404 and suppress numeric-author canonical redirects. WordPress 6.4+ already disables attachment pages on new sites; redirects mainly help upgraded sites.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wpyeg_disable_author_archives / _redirect_attachment_pages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88F33"/>
                </a:solidFill>
                <a:effectLst/>
                <a:uFillTx/>
                <a:latin typeface="Courier New"/>
                <a:ea typeface="Courier New"/>
              </a:rPr>
              <a:t>yes / no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if ( is_author() 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$wp_query-&gt;set_404();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status_header( 404 );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nocache_headers();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Legacy attachment: parent or media file.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CONTENT · 3 of 3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Disable emoji compatibility support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Core injects an emoji-detection script and inline CSS on every page load, plus a DNS-prefetch hint. Modern browsers render emoji natively, so this is pure dead weight you can shed.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wpyeg_disable_emojis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7607A"/>
                </a:solidFill>
                <a:effectLst/>
                <a:uFillTx/>
                <a:latin typeface="Courier New"/>
                <a:ea typeface="Courier New"/>
              </a:rPr>
              <a:t>yes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add_action( 'init', function ()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remove_action( 'wp_head',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'print_emoji_detection_script', 7 );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remove_action( 'wp_print_styles',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'print_emoji_styles'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  // ...admin + feed + mail variants too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add_filter( 'emoji_svg_url',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            '__return_false'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}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5577840"/>
            <a:ext cx="12188520" cy="1279800"/>
          </a:xfrm>
          <a:prstGeom prst="rect">
            <a:avLst/>
          </a:prstGeom>
          <a:solidFill>
            <a:srgbClr val="1632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777240" y="914400"/>
            <a:ext cx="868320" cy="8683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777240" y="9144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7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CA" sz="2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1874520" y="10058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SECTION THREE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777240" y="2286000"/>
            <a:ext cx="106066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Admin UX &amp;</a:t>
            </a:r>
            <a:endParaRPr lang="en-CA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Login Sessions</a:t>
            </a:r>
            <a:endParaRPr lang="en-CA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822960" y="36576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i="1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Small quality-of-life defaults: a calmer dashboard and sensible session policy.</a:t>
            </a:r>
            <a:endParaRPr lang="en-CA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ADMIN UX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Faster search, quieter admin bar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Title-only search changes editor expectations, so it is opt-in. Use core's search-column filter to preserve term parsing, exclusions, password constraints, and SQL composition. Toolbar visibility is UX, not authorization.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wpyeg_title_only_admin_search / _frontend_admin_bar_behavior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88F33"/>
                </a:solidFill>
                <a:effectLst/>
                <a:uFillTx/>
                <a:latin typeface="Courier New"/>
                <a:ea typeface="Courier New"/>
              </a:rPr>
              <a:t>no / ''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add_filter(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'post_search_columns',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function ( $columns, $search, $query 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  if ( is_admin() &amp;&amp; $query-&gt;is_search() 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  return array( 'post_title'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  return $columns;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},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10,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3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LOGIN &amp; SESSIONS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Right-size the login session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WordPress defaults are approximately 14 days remembered and 48 hours regular. Keep those defaults unless policy says otherwise. To disable Remember Me, remove the submitted value server-side; CSS is only presentation.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wpyeg_remember_me_days / _session_regular_hours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7607A"/>
                </a:solidFill>
                <a:effectLst/>
                <a:uFillTx/>
                <a:latin typeface="Courier New"/>
                <a:ea typeface="Courier New"/>
              </a:rPr>
              <a:t>0 / 0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add_action(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'login_init',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static function ()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unset( $_POST['rememberme']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unset( $_REQUEST['rememberme']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Expiration changes affect new cookies only.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0" y="5577840"/>
            <a:ext cx="12188520" cy="1279800"/>
          </a:xfrm>
          <a:prstGeom prst="rect">
            <a:avLst/>
          </a:prstGeom>
          <a:solidFill>
            <a:srgbClr val="1632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"/>
          <p:cNvSpPr/>
          <p:nvPr/>
        </p:nvSpPr>
        <p:spPr>
          <a:xfrm>
            <a:off x="777240" y="914400"/>
            <a:ext cx="868320" cy="8683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"/>
          <p:cNvSpPr/>
          <p:nvPr/>
        </p:nvSpPr>
        <p:spPr>
          <a:xfrm>
            <a:off x="777240" y="914400"/>
            <a:ext cx="8683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7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CA" sz="2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3"/>
          <p:cNvSpPr/>
          <p:nvPr/>
        </p:nvSpPr>
        <p:spPr>
          <a:xfrm>
            <a:off x="1874520" y="10058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SECTION FOUR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4"/>
          <p:cNvSpPr/>
          <p:nvPr/>
        </p:nvSpPr>
        <p:spPr>
          <a:xfrm>
            <a:off x="777240" y="2286000"/>
            <a:ext cx="106066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Branding &amp;</a:t>
            </a:r>
            <a:endParaRPr lang="en-CA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Performance</a:t>
            </a:r>
            <a:endParaRPr lang="en-CA" sz="4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822960" y="365760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i="1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Own the login screen, then shave the last bit of weight off every page.</a:t>
            </a:r>
            <a:endParaRPr lang="en-CA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BRANDING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Brand the login screen — when useful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The WordPress logo is not a security leak. Keep core behavior by default; remove or replace it only when the project calls for branded authentication UX.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wpyeg_login_logo_behavior / _login_logo_link_home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88F33"/>
                </a:solidFill>
                <a:effectLst/>
                <a:uFillTx/>
                <a:latin typeface="Courier New"/>
                <a:ea typeface="Courier New"/>
              </a:rPr>
              <a:t>default / no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add_filter( 'login_headerurl', 'home_url'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add_filter(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'login_headertext',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static function () {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  return get_bloginfo( 'name' 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548640" y="45720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PERFORMANCE · opt-in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548640" y="777240"/>
            <a:ext cx="11063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Throttle Heartbeat; declare script strategy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548640" y="1783080"/>
            <a:ext cx="48916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An opt-in 60-second Heartbeat interval may reduce polling, but do not deregister it: autosave, post locking, sessions, and plugins use it. Declare defer/async per owned script through core's dependency-aware API.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3"/>
          <p:cNvSpPr/>
          <p:nvPr/>
        </p:nvSpPr>
        <p:spPr>
          <a:xfrm>
            <a:off x="548640" y="5074920"/>
            <a:ext cx="4891680" cy="959760"/>
          </a:xfrm>
          <a:prstGeom prst="roundRect">
            <a:avLst>
              <a:gd name="adj" fmla="val 7619"/>
            </a:avLst>
          </a:prstGeom>
          <a:solidFill>
            <a:srgbClr val="EAF1F5"/>
          </a:solidFill>
          <a:ln w="12700">
            <a:solidFill>
              <a:srgbClr val="3E7E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4"/>
          <p:cNvSpPr/>
          <p:nvPr/>
        </p:nvSpPr>
        <p:spPr>
          <a:xfrm>
            <a:off x="731520" y="516636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OPTION   </a:t>
            </a:r>
            <a:r>
              <a:rPr lang="en-US" sz="1300" b="1" u="none" strike="noStrike">
                <a:solidFill>
                  <a:srgbClr val="0F2733"/>
                </a:solidFill>
                <a:effectLst/>
                <a:uFillTx/>
                <a:latin typeface="Courier New"/>
                <a:ea typeface="Courier New"/>
              </a:rPr>
              <a:t>wpyeg_throttle_heartbeat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E7E9C"/>
                </a:solidFill>
                <a:effectLst/>
                <a:uFillTx/>
                <a:latin typeface="Courier New"/>
                <a:ea typeface="Courier New"/>
              </a:rPr>
              <a:t>DEFAULT   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88F33"/>
                </a:solidFill>
                <a:effectLst/>
                <a:uFillTx/>
                <a:latin typeface="Courier New"/>
                <a:ea typeface="Courier New"/>
              </a:rPr>
              <a:t>no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5"/>
          <p:cNvSpPr/>
          <p:nvPr/>
        </p:nvSpPr>
        <p:spPr>
          <a:xfrm>
            <a:off x="5715000" y="1783080"/>
            <a:ext cx="5897520" cy="4251600"/>
          </a:xfrm>
          <a:prstGeom prst="roundRect">
            <a:avLst>
              <a:gd name="adj" fmla="val 172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5916240" y="1947600"/>
            <a:ext cx="549504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$settings['interval'] = 60;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wp_enqueue_script(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'example-feature',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$src,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array(),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'1.0.0',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array( 'strategy' =&gt; 'defer' 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);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8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548640" y="502920"/>
            <a:ext cx="10972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Deployment policy belongs in configuration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548640" y="1280160"/>
            <a:ext cx="10789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Plugins can define constants early, but wp-config.php or environment configuration makes deployment ownership clearer.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548640" y="2148840"/>
            <a:ext cx="11063880" cy="1919880"/>
          </a:xfrm>
          <a:prstGeom prst="roundRect">
            <a:avLst>
              <a:gd name="adj" fmla="val 3810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749880" y="2313360"/>
            <a:ext cx="10661400" cy="159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define( 'DISALLOW_FILE_EDIT', true );  // no in-dashboard code editor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define( 'DISALLOW_FILE_MODS', true );  // managed deployments only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define( 'AUTOSAVE_INTERVAL', 120 );    // gentler autosave (seconds)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define( 'WP_POST_REVISIONS', 10 );     // cap revision-table bloat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548640" y="4343400"/>
            <a:ext cx="3520080" cy="15084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804600" y="4590360"/>
            <a:ext cx="456840" cy="45684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804600" y="4590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1417320" y="4526280"/>
            <a:ext cx="2514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Separate deployment policy</a:t>
            </a:r>
            <a:endParaRPr lang="en-C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804600" y="5139000"/>
            <a:ext cx="3062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File editing and update ownership are different decisions.</a:t>
            </a:r>
            <a:endParaRPr lang="en-C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9"/>
          <p:cNvSpPr/>
          <p:nvPr/>
        </p:nvSpPr>
        <p:spPr>
          <a:xfrm>
            <a:off x="4270320" y="4343400"/>
            <a:ext cx="3520080" cy="15084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0"/>
          <p:cNvSpPr/>
          <p:nvPr/>
        </p:nvSpPr>
        <p:spPr>
          <a:xfrm>
            <a:off x="4526280" y="4590360"/>
            <a:ext cx="456840" cy="45684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4526280" y="4590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5139000" y="4526280"/>
            <a:ext cx="2514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Protect the update path</a:t>
            </a:r>
            <a:endParaRPr lang="en-C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3"/>
          <p:cNvSpPr/>
          <p:nvPr/>
        </p:nvSpPr>
        <p:spPr>
          <a:xfrm>
            <a:off x="4526280" y="5139000"/>
            <a:ext cx="3062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DISALLOW_FILE_MODS requires an external update workflow.</a:t>
            </a:r>
            <a:endParaRPr lang="en-C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4"/>
          <p:cNvSpPr/>
          <p:nvPr/>
        </p:nvSpPr>
        <p:spPr>
          <a:xfrm>
            <a:off x="7992000" y="4343400"/>
            <a:ext cx="3520080" cy="15084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633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5"/>
          <p:cNvSpPr/>
          <p:nvPr/>
        </p:nvSpPr>
        <p:spPr>
          <a:xfrm>
            <a:off x="8247960" y="4590360"/>
            <a:ext cx="456840" cy="45684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6"/>
          <p:cNvSpPr/>
          <p:nvPr/>
        </p:nvSpPr>
        <p:spPr>
          <a:xfrm>
            <a:off x="8247960" y="4590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8860680" y="4526280"/>
            <a:ext cx="2514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Tune editorial storage</a:t>
            </a:r>
            <a:endParaRPr lang="en-CA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8247960" y="5139000"/>
            <a:ext cx="3062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Autosave and revisions are workflow/capacity choices.</a:t>
            </a:r>
            <a:endParaRPr lang="en-C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9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0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640080" y="54864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the plugin is built</a:t>
            </a:r>
            <a:endParaRPr lang="en-CA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40080" y="132588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One array is the whole map. Read it and you understand the plugin.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"/>
          <p:cNvSpPr/>
          <p:nvPr/>
        </p:nvSpPr>
        <p:spPr>
          <a:xfrm>
            <a:off x="640080" y="2148840"/>
            <a:ext cx="3428640" cy="233136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3"/>
          <p:cNvSpPr/>
          <p:nvPr/>
        </p:nvSpPr>
        <p:spPr>
          <a:xfrm>
            <a:off x="914400" y="2395800"/>
            <a:ext cx="566640" cy="56664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914400" y="23958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1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CA" sz="16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1645920" y="245052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0A94B"/>
                </a:solidFill>
                <a:effectLst/>
                <a:uFillTx/>
                <a:latin typeface="Courier New"/>
                <a:ea typeface="Courier New"/>
              </a:rPr>
              <a:t>schema()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932760" y="3154680"/>
            <a:ext cx="28342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One array: every setting, its default, type &amp; group. The single source of truth.</a:t>
            </a:r>
            <a:endParaRPr lang="en-C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4041720" y="2148840"/>
            <a:ext cx="45684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➜</a:t>
            </a:r>
            <a:endParaRPr lang="en-CA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8"/>
          <p:cNvSpPr/>
          <p:nvPr/>
        </p:nvSpPr>
        <p:spPr>
          <a:xfrm>
            <a:off x="4389120" y="2148840"/>
            <a:ext cx="3428640" cy="233136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9"/>
          <p:cNvSpPr/>
          <p:nvPr/>
        </p:nvSpPr>
        <p:spPr>
          <a:xfrm>
            <a:off x="4663440" y="2395800"/>
            <a:ext cx="566640" cy="56664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4663440" y="23958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1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CA" sz="16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5394960" y="245052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0A94B"/>
                </a:solidFill>
                <a:effectLst/>
                <a:uFillTx/>
                <a:latin typeface="Courier New"/>
                <a:ea typeface="Courier New"/>
              </a:rPr>
              <a:t>settings page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2"/>
          <p:cNvSpPr/>
          <p:nvPr/>
        </p:nvSpPr>
        <p:spPr>
          <a:xfrm>
            <a:off x="4681800" y="3154680"/>
            <a:ext cx="28342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Loops the schema to render toggles under Settings → Better by Default.</a:t>
            </a:r>
            <a:endParaRPr lang="en-C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7790760" y="2148840"/>
            <a:ext cx="45684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➜</a:t>
            </a:r>
            <a:endParaRPr lang="en-CA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4"/>
          <p:cNvSpPr/>
          <p:nvPr/>
        </p:nvSpPr>
        <p:spPr>
          <a:xfrm>
            <a:off x="8138160" y="2148840"/>
            <a:ext cx="3428640" cy="2331360"/>
          </a:xfrm>
          <a:prstGeom prst="roundRect">
            <a:avLst>
              <a:gd name="adj" fmla="val 3922"/>
            </a:avLst>
          </a:prstGeom>
          <a:solidFill>
            <a:srgbClr val="16323F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5"/>
          <p:cNvSpPr/>
          <p:nvPr/>
        </p:nvSpPr>
        <p:spPr>
          <a:xfrm>
            <a:off x="8412480" y="2395800"/>
            <a:ext cx="566640" cy="56664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6"/>
          <p:cNvSpPr/>
          <p:nvPr/>
        </p:nvSpPr>
        <p:spPr>
          <a:xfrm>
            <a:off x="8412480" y="2395800"/>
            <a:ext cx="5666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1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CA" sz="16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7"/>
          <p:cNvSpPr/>
          <p:nvPr/>
        </p:nvSpPr>
        <p:spPr>
          <a:xfrm>
            <a:off x="9144000" y="2450520"/>
            <a:ext cx="2285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0A94B"/>
                </a:solidFill>
                <a:effectLst/>
                <a:uFillTx/>
                <a:latin typeface="Courier New"/>
                <a:ea typeface="Courier New"/>
              </a:rPr>
              <a:t>bootstrap()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8"/>
          <p:cNvSpPr/>
          <p:nvPr/>
        </p:nvSpPr>
        <p:spPr>
          <a:xfrm>
            <a:off x="8430840" y="3154680"/>
            <a:ext cx="28342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For each ENABLED key, wires its add_filter / add_action to the right hook.</a:t>
            </a:r>
            <a:endParaRPr lang="en-C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9"/>
          <p:cNvSpPr/>
          <p:nvPr/>
        </p:nvSpPr>
        <p:spPr>
          <a:xfrm>
            <a:off x="640080" y="4709160"/>
            <a:ext cx="10926720" cy="1234080"/>
          </a:xfrm>
          <a:prstGeom prst="roundRect">
            <a:avLst>
              <a:gd name="adj" fmla="val 5926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0"/>
          <p:cNvSpPr/>
          <p:nvPr/>
        </p:nvSpPr>
        <p:spPr>
          <a:xfrm>
            <a:off x="841320" y="4873680"/>
            <a:ext cx="10524240" cy="90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$stored = get_option('wpyeg_better_by_default');   // read once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foreach ( wpyeg_defaults_schema() as $key =&gt; $field ) { /* render + wire */ }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548640" y="502920"/>
            <a:ext cx="639720" cy="6397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48640" y="5029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▶</a:t>
            </a:r>
            <a:endParaRPr lang="en-CA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1325880" y="502920"/>
            <a:ext cx="10058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Hands-on: install &amp; flip switches</a:t>
            </a:r>
            <a:endParaRPr lang="en-CA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548640" y="1371600"/>
            <a:ext cx="110638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507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822960" y="1600200"/>
            <a:ext cx="456840" cy="45684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822960" y="1600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1463040" y="1444680"/>
            <a:ext cx="3291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Upload the plugin</a:t>
            </a:r>
            <a:endParaRPr lang="en-CA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4754880" y="1444680"/>
            <a:ext cx="6674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Plugins → Add New → Upload Plugin → choose better-by-default.zip → Activate.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8"/>
          <p:cNvSpPr/>
          <p:nvPr/>
        </p:nvSpPr>
        <p:spPr>
          <a:xfrm>
            <a:off x="548640" y="2414160"/>
            <a:ext cx="110638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507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9"/>
          <p:cNvSpPr/>
          <p:nvPr/>
        </p:nvSpPr>
        <p:spPr>
          <a:xfrm>
            <a:off x="822960" y="2642760"/>
            <a:ext cx="456840" cy="45684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0"/>
          <p:cNvSpPr/>
          <p:nvPr/>
        </p:nvSpPr>
        <p:spPr>
          <a:xfrm>
            <a:off x="822960" y="2642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1"/>
          <p:cNvSpPr/>
          <p:nvPr/>
        </p:nvSpPr>
        <p:spPr>
          <a:xfrm>
            <a:off x="1463040" y="2487240"/>
            <a:ext cx="3291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Open the settings</a:t>
            </a:r>
            <a:endParaRPr lang="en-CA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4754880" y="2487240"/>
            <a:ext cx="6674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Settings → Better by Default. Every toggle is grouped by category.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3"/>
          <p:cNvSpPr/>
          <p:nvPr/>
        </p:nvSpPr>
        <p:spPr>
          <a:xfrm>
            <a:off x="548640" y="3456360"/>
            <a:ext cx="110638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507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14"/>
          <p:cNvSpPr/>
          <p:nvPr/>
        </p:nvSpPr>
        <p:spPr>
          <a:xfrm>
            <a:off x="822960" y="3684960"/>
            <a:ext cx="456840" cy="45684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822960" y="36849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6"/>
          <p:cNvSpPr/>
          <p:nvPr/>
        </p:nvSpPr>
        <p:spPr>
          <a:xfrm>
            <a:off x="1463040" y="3529440"/>
            <a:ext cx="3291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Verify status codes</a:t>
            </a:r>
            <a:endParaRPr lang="en-CA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7"/>
          <p:cNvSpPr/>
          <p:nvPr/>
        </p:nvSpPr>
        <p:spPr>
          <a:xfrm>
            <a:off x="4754880" y="3529440"/>
            <a:ext cx="6674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Visit /wp-json/wp/v2/users and /?author=1 logged out — both should return 404.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8"/>
          <p:cNvSpPr/>
          <p:nvPr/>
        </p:nvSpPr>
        <p:spPr>
          <a:xfrm>
            <a:off x="548640" y="4498920"/>
            <a:ext cx="11063880" cy="914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6EB"/>
            </a:solidFill>
            <a:round/>
          </a:ln>
          <a:effectLst>
            <a:outerShdw algn="bl" blurRad="50760" dir="5400000" dist="25560" kx="0" ky="0" rotWithShape="0" sx="100000" sy="100000">
              <a:srgbClr val="C7D4DB">
                <a:alpha val="5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19"/>
          <p:cNvSpPr/>
          <p:nvPr/>
        </p:nvSpPr>
        <p:spPr>
          <a:xfrm>
            <a:off x="822960" y="4727520"/>
            <a:ext cx="456840" cy="456840"/>
          </a:xfrm>
          <a:prstGeom prst="ellipse">
            <a:avLst/>
          </a:prstGeom>
          <a:solidFill>
            <a:srgbClr val="2760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0"/>
          <p:cNvSpPr/>
          <p:nvPr/>
        </p:nvSpPr>
        <p:spPr>
          <a:xfrm>
            <a:off x="822960" y="47275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C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1"/>
          <p:cNvSpPr/>
          <p:nvPr/>
        </p:nvSpPr>
        <p:spPr>
          <a:xfrm>
            <a:off x="1463040" y="4572000"/>
            <a:ext cx="3291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Toggle &amp; re-check</a:t>
            </a:r>
            <a:endParaRPr lang="en-CA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2"/>
          <p:cNvSpPr/>
          <p:nvPr/>
        </p:nvSpPr>
        <p:spPr>
          <a:xfrm>
            <a:off x="4754880" y="4572000"/>
            <a:ext cx="66747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4A5A63"/>
                </a:solidFill>
                <a:effectLst/>
                <a:uFillTx/>
                <a:latin typeface="Calibri"/>
                <a:ea typeface="Calibri"/>
              </a:rPr>
              <a:t>Flip a switch off, reload, watch the behavior change. That's the filter turning on and off.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23"/>
          <p:cNvSpPr/>
          <p:nvPr/>
        </p:nvSpPr>
        <p:spPr>
          <a:xfrm>
            <a:off x="548640" y="5577840"/>
            <a:ext cx="11063880" cy="658080"/>
          </a:xfrm>
          <a:prstGeom prst="roundRect">
            <a:avLst>
              <a:gd name="adj" fmla="val 9722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4"/>
          <p:cNvSpPr/>
          <p:nvPr/>
        </p:nvSpPr>
        <p:spPr>
          <a:xfrm>
            <a:off x="777240" y="5577840"/>
            <a:ext cx="10606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E0A94B"/>
                </a:solidFill>
                <a:effectLst/>
                <a:uFillTx/>
                <a:latin typeface="Courier New"/>
                <a:ea typeface="Courier New"/>
              </a:rPr>
              <a:t>prefer the terminal?   </a:t>
            </a: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wp plugin install ./better-by-default.zip --activate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5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6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760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 0"/>
          <p:cNvSpPr/>
          <p:nvPr/>
        </p:nvSpPr>
        <p:spPr>
          <a:xfrm>
            <a:off x="731520" y="8229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0A94B"/>
                </a:solidFill>
                <a:effectLst/>
                <a:uFillTx/>
                <a:latin typeface="Calibri"/>
                <a:ea typeface="Calibri"/>
              </a:rPr>
              <a:t>Your turn</a:t>
            </a:r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731520" y="137160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Add one new default to the plugin</a:t>
            </a:r>
            <a:endParaRPr lang="en-CA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2"/>
          <p:cNvSpPr/>
          <p:nvPr/>
        </p:nvSpPr>
        <p:spPr>
          <a:xfrm>
            <a:off x="731520" y="246888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i="1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Goal: disable the WordPress dashboard “Welcome” panel. Two small edits — no new settings-page code.</a:t>
            </a:r>
            <a:endParaRPr lang="en-CA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3"/>
          <p:cNvSpPr/>
          <p:nvPr/>
        </p:nvSpPr>
        <p:spPr>
          <a:xfrm>
            <a:off x="731520" y="3108960"/>
            <a:ext cx="10698120" cy="2742840"/>
          </a:xfrm>
          <a:prstGeom prst="roundRect">
            <a:avLst>
              <a:gd name="adj" fmla="val 2667"/>
            </a:avLst>
          </a:prstGeom>
          <a:solidFill>
            <a:srgbClr val="0E2836"/>
          </a:solidFill>
          <a:ln w="12700">
            <a:solidFill>
              <a:srgbClr val="27607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4"/>
          <p:cNvSpPr/>
          <p:nvPr/>
        </p:nvSpPr>
        <p:spPr>
          <a:xfrm>
            <a:off x="932760" y="3273480"/>
            <a:ext cx="10295640" cy="241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1) Add a schema entry.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'hide_welcome_panel' =&gt; array(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'default' =&gt; 'yes',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'type'    =&gt; 'toggle',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  'group'   =&gt; 'ux',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),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8FBF9F"/>
                </a:solidFill>
                <a:effectLst/>
                <a:uFillTx/>
                <a:latin typeface="Courier New"/>
                <a:ea typeface="Courier New"/>
              </a:rPr>
              <a:t>// 2) Wire the enabled policy.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if ( wpyeg_defaults_enabled( 'hide_welcome_panel' ) ) {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7C070"/>
                </a:solidFill>
                <a:effectLst/>
                <a:uFillTx/>
                <a:latin typeface="Courier New"/>
                <a:ea typeface="Courier New"/>
              </a:rPr>
              <a:t>  remove_action( 'welcome_panel', 'wp_welcome_panel' );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CEAF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0"/>
          <p:cNvSpPr/>
          <p:nvPr/>
        </p:nvSpPr>
        <p:spPr>
          <a:xfrm>
            <a:off x="548640" y="41148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The cheat sheet</a:t>
            </a:r>
            <a:endParaRPr lang="en-CA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"/>
          <p:cNvSpPr/>
          <p:nvPr/>
        </p:nvSpPr>
        <p:spPr>
          <a:xfrm>
            <a:off x="548640" y="10972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7E9C"/>
                </a:solidFill>
                <a:effectLst/>
                <a:uFillTx/>
                <a:latin typeface="Calibri"/>
                <a:ea typeface="Calibri"/>
              </a:rPr>
              <a:t>Starting assumptions that ship ON — review each site's boundary.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4" name="Table 0"/>
          <p:cNvGraphicFramePr/>
          <p:nvPr/>
        </p:nvGraphicFramePr>
        <p:xfrm>
          <a:off x="548640" y="1508760"/>
          <a:ext cx="11063880" cy="4160520"/>
        </p:xfrm>
        <a:graphic>
          <a:graphicData uri="http://schemas.openxmlformats.org/drawingml/2006/table">
            <a:tbl>
              <a:tblPr/>
              <a:tblGrid>
                <a:gridCol w="4572000"/>
                <a:gridCol w="4480560"/>
                <a:gridCol w="2011680"/>
              </a:tblGrid>
              <a:tr h="594360"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Default</a:t>
                      </a:r>
                      <a:endParaRPr lang="en-C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27607A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Core hook</a:t>
                      </a:r>
                      <a:endParaRPr lang="en-C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27607A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Category</a:t>
                      </a:r>
                      <a:endParaRPr lang="en-CA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27607A"/>
                    </a:solidFill>
                  </a:tcPr>
                </a:tc>
              </a:tr>
              <a:tr h="594360"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0F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Restrict REST user discovery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27607A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rest_endpoints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4A5A6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Security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0F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Disable XML-RPC methods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27607A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xmlrpc_methods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4A5A6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Security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594360"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0F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Require password policy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27607A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profile / reset / REST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4A5A6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Security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0F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Disable comments &amp; pingbacks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27607A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comments_open / pings_open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4A5A6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Content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594360"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0F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404 public author archives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27607A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canonical + query state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4A5A6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Content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0F27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Remove emoji compatibility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27607A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init (remove hooks)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lIns="50760" tIns="50760" rIns="507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CA" sz="1600" b="0" u="none" strike="noStrike">
                          <a:solidFill>
                            <a:srgbClr val="4A5A6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Performance</a:t>
                      </a:r>
                      <a:endParaRPr lang="en-CA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50760" marB="50760">
                    <a:lnL w="12240">
                      <a:solidFill>
                        <a:srgbClr val="DCE6EB"/>
                      </a:solidFill>
                      <a:prstDash val="solid"/>
                    </a:lnL>
                    <a:lnR w="12240">
                      <a:solidFill>
                        <a:srgbClr val="DCE6EB"/>
                      </a:solidFill>
                      <a:prstDash val="solid"/>
                    </a:lnR>
                    <a:lnT w="12240">
                      <a:solidFill>
                        <a:srgbClr val="DCE6EB"/>
                      </a:solidFill>
                      <a:prstDash val="solid"/>
                    </a:lnT>
                    <a:lnB w="12240">
                      <a:solidFill>
                        <a:srgbClr val="DCE6EB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</a:tbl>
          </a:graphicData>
        </a:graphic>
      </p:graphicFrame>
      <p:sp>
        <p:nvSpPr>
          <p:cNvPr id="315" name="Text 2"/>
          <p:cNvSpPr/>
          <p:nvPr/>
        </p:nvSpPr>
        <p:spPr>
          <a:xfrm>
            <a:off x="502920" y="642816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C88F33"/>
                </a:solidFill>
                <a:effectLst/>
                <a:uFillTx/>
                <a:latin typeface="Calibri"/>
                <a:ea typeface="Calibri"/>
              </a:rPr>
              <a:t>WPYEG  ·  Better by Default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3"/>
          <p:cNvSpPr/>
          <p:nvPr/>
        </p:nvSpPr>
        <p:spPr>
          <a:xfrm>
            <a:off x="11155680" y="6428160"/>
            <a:ext cx="54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A9AA3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C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Shape 0"/>
          <p:cNvSpPr/>
          <p:nvPr/>
        </p:nvSpPr>
        <p:spPr>
          <a:xfrm>
            <a:off x="0" y="5212080"/>
            <a:ext cx="12188520" cy="1645560"/>
          </a:xfrm>
          <a:prstGeom prst="rect">
            <a:avLst/>
          </a:prstGeom>
          <a:solidFill>
            <a:srgbClr val="1632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"/>
          <p:cNvSpPr/>
          <p:nvPr/>
        </p:nvSpPr>
        <p:spPr>
          <a:xfrm>
            <a:off x="777240" y="777240"/>
            <a:ext cx="639720" cy="639720"/>
          </a:xfrm>
          <a:prstGeom prst="ellipse">
            <a:avLst/>
          </a:prstGeom>
          <a:solidFill>
            <a:srgbClr val="E0A9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"/>
          <p:cNvSpPr/>
          <p:nvPr/>
        </p:nvSpPr>
        <p:spPr>
          <a:xfrm>
            <a:off x="777240" y="77724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20" b="1" u="none" strike="noStrike">
                <a:solidFill>
                  <a:srgbClr val="0F2733"/>
                </a:solidFill>
                <a:effectLst/>
                <a:uFillTx/>
                <a:latin typeface="Cambria"/>
                <a:ea typeface="Cambria"/>
              </a:rPr>
              <a:t>{ }</a:t>
            </a:r>
            <a:endParaRPr lang="en-CA" sz="1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3"/>
          <p:cNvSpPr/>
          <p:nvPr/>
        </p:nvSpPr>
        <p:spPr>
          <a:xfrm>
            <a:off x="777240" y="1737360"/>
            <a:ext cx="10606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Thanks, WPYEG!</a:t>
            </a:r>
            <a:endParaRPr lang="en-CA" sz="5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4"/>
          <p:cNvSpPr/>
          <p:nvPr/>
        </p:nvSpPr>
        <p:spPr>
          <a:xfrm>
            <a:off x="822960" y="2926080"/>
            <a:ext cx="10058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i="1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Take the plugin, fork it, teach it. A default is an explicit, testable hook behind a toggle.</a:t>
            </a:r>
            <a:endParaRPr lang="en-CA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5"/>
          <p:cNvSpPr/>
          <p:nvPr/>
        </p:nvSpPr>
        <p:spPr>
          <a:xfrm>
            <a:off x="822960" y="40233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0A94B"/>
                </a:solidFill>
                <a:effectLst/>
                <a:uFillTx/>
                <a:latin typeface="Courier New"/>
                <a:ea typeface="Courier New"/>
              </a:rPr>
              <a:t>Files:  </a:t>
            </a:r>
            <a:r>
              <a:rPr lang="en-US" sz="1400" b="0" u="none" strike="noStrike">
                <a:solidFill>
                  <a:srgbClr val="D7E5EC"/>
                </a:solidFill>
                <a:effectLst/>
                <a:uFillTx/>
                <a:latin typeface="Courier New"/>
                <a:ea typeface="Courier New"/>
              </a:rPr>
              <a:t>better-by-default.zip</a:t>
            </a:r>
            <a:r>
              <a:rPr lang="en-US" sz="1400" b="0" u="none" strike="noStrike">
                <a:solidFill>
                  <a:srgbClr val="8A9AA3"/>
                </a:solidFill>
                <a:effectLst/>
                <a:uFillTx/>
                <a:latin typeface="Courier New"/>
                <a:ea typeface="Courier New"/>
              </a:rPr>
              <a:t>   ·   </a:t>
            </a:r>
            <a:r>
              <a:rPr lang="en-US" sz="1400" b="0" u="none" strike="noStrike">
                <a:solidFill>
                  <a:srgbClr val="D7E5EC"/>
                </a:solidFill>
                <a:effectLst/>
                <a:uFillTx/>
                <a:latin typeface="Courier New"/>
                <a:ea typeface="Courier New"/>
              </a:rPr>
              <a:t>wordpress-default-settings.md</a:t>
            </a:r>
            <a:endParaRPr lang="en-C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6"/>
          <p:cNvSpPr/>
          <p:nvPr/>
        </p:nvSpPr>
        <p:spPr>
          <a:xfrm>
            <a:off x="822960" y="562356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Questions?  </a:t>
            </a:r>
            <a:r>
              <a:rPr lang="en-US" sz="1600" b="0" u="none" strike="noStrike">
                <a:solidFill>
                  <a:srgbClr val="D7E5EC"/>
                </a:solidFill>
                <a:effectLst/>
                <a:uFillTx/>
                <a:latin typeface="Calibri"/>
                <a:ea typeface="Calibri"/>
              </a:rPr>
              <a:t>License GPL-3.0-or-later — verify it, then ship it.</a:t>
            </a:r>
            <a:endParaRPr lang="en-CA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LibreOfficeDev/26.8.0.0.alpha0$MacOSX_AARCH64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2026-07-16T19:09:34Z</dcterms:created>
  <dc:creator>Walnut Exporter</dc:creator>
  <dc:description/>
  <dc:language>en-CA</dc:language>
  <cp:lastModifiedBy>Walnut Exporter</cp:lastModifiedBy>
  <dcterms:modified xsi:type="dcterms:W3CDTF">2026-07-16T19:09:34Z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