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WPYEG. In this workshop we're building and reviewing a small plugin that defines and activates 32 sensible but little-known and seldom used defaults for WordPress sites in 2026. Whether you write PHP daily or just manage WordPress sites, you'll leave knowing why each default matters and how to enable (or disable) it. This workshop and plugin distils years of experience and new learning from a recent project that I've summed up in this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ARE BUGS or quite the security risks popular human and AI opinion allege. They are defaults chosen for maximum compatibility on a 20+ year-old web application. You probably don't need them and can tighten up your own WordPress sites unless you're into the IndieWeb and radical open source anarchism, which I highly recommend. Probing the oldest parts of WordPress is a good way to learn some history and important fundamentals about how WordPress works — and how to keep it secure, fast, and pretty.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demo plugin, a default is an add_filter behind an if ( option ). We have 32 settings built around that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WordPress is built to be interrupted at labelled moments (hooks) so you never edit core code. __return_false is a tiny built-in helper that just hands back false — perfect for switching a feature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debugging model, not a universal 'last plugin wins' rule. Constants cannot be redefined; filters pass a value through every callback; actions may accumulate effects. wp-config.php is loaded before plugins. Must-use plugins load before normal plugins. Normal plugins are included in the stored active_plugins order — PMP before BBD on this demo site. Within a hook, lower priorities run earlier, higher priorities later, and equal priorities retain registration order. Sources: https://developer.wordpress.org/advanced-administration/plugins/mu-plugins/ ; https://developer.wordpress.org/plugins/hooks/actions/#priority ; https://developer.wordpress.org/reference/functions/wp_get_active_and_valid_plugins/ ; https://developer.wordpress.org/advanced-administration/wordpress/wp-config/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spend most of our time on security and content, then move more quickly through updates, admin UX, login, branding, performance and email — all eight, and we end with a plugin that covers them all.
Count the cards against the sections as we go. This deck promised eight categories and presented seven for weeks: updates was on this slide, in the schema, and in the shipped plugin, and had no slide of its own. Nobody noticed, because every artifact was internally consistent about it — the gap only existed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item in this section removes something an attacker can poke — usually in one line. The theme is simple: disable what you don't use. You can't exploit an endpoint that isn't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/wp/v2/users endpoint exposes every public author's name, ID, profile link, and slug to anyone. Because an author slug often resembles a login name, that gives attack scripts a useful credential hint for free. By closing the user-list and numeric user routes for logged-out requests only, the editor and legitimate integrations keep working while anonymous enumeration attempts receive an ordinary 404. It's partly security by obscurity — not a substitute for strong passwords, MFA, or rate limiting — but it also rejects junk requests from bots that are up to no good. Why spend even a few extra electrons helping them? Author archives take the separate path we'll see later: a 301 to the homepage. If probes persist, a properly configured host can count those request patterns and ban the source IP with Fail2Ban or a similar tool such as CrowdSec, SSHGuard, or Defensia.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sledgehammer version of the slide before. Requiring auth for ALL REST calls stops anonymous scraping cold. It does *not* break the block editor — you're logged in there, and the editor authenticates with your cookie plus a REST nonce, so it sails through. That's why it ships off: not every default should default to on.
Two details on this slide are the whole lesson, and both are things the obvious implementation gets wrong.
First: only a WP_Error may short-circuit. The tempting line is `if ( ! empty( $result ) ) return $result;` — and core hands this filter `true` from rest_cookie_check_errors() AFTER calling wp_set_current_user( 0 ), when a cookie arrives with no X-WP-Nonce. Treat that `true` as "already authenticated" and you have written a gate that waves through the exact request it exists to stop, dispatching as user 0. This deck taught the `! empty()` version until we tested it.
Second: oEmbed. It is served over REST, so closing REST closes it too — and the damage lands somewhere you never look. Every site that has embedded one of your posts silently degrades to a bare link, with nothing on your site to show it happened. We measured four popular plugins that close REST outright; not one of them allowlists oembed/1.0. So we allowlist it, filterable with wpyeg_public_rest_routes.
And the carve-out is only safe because of what sits behind it: oEmbed returns author_name and an author_url carrying the account nicename, so opening that route would hand an anonymous caller the usernames the users-endpoint removal just refused them. Closing REST therefore strips those fields too. A hole you open on purpose still has to be closed on the other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XML-RPC is a legitimate but aging API. (Mad love to Dave Winer!) It's not a backdoor or an emergency. It is an old switchboard where every method is a phone line. Rather than rip out a connection that Jetpack or a publishing client may need, we unplug unused lines by category. Four switches, all off by default:
1. Pingbacks — drop pingback.ping *and* pingback.extensions.getPingbacks, the clearest live nuisance and reflection-DDoS surface. A valid call performs database work, waits a second (core really does sleep( 1 ), to let the pinging post finish publishing), and then fetches the claimed source URL — which is the whole trick: a request that costs the attacker nothing costs you a database write, a pause and an outbound fetch to a URL they chose. BBD also strips the X-Pingback response header, because a site that has removed the method while still advertising where to send one is still telling every scanner it accepts pingbacks.
2. Remote publishing — drop the credential-authenticated blogging methods (wp.*, metaWeblog.*, mt.*, blogger.*), another password-guessing entrance when legacy clients are not needed. This also flips xmlrpc_enabled off and removes the RSD discovery link.
3. system.multicall — refuse general batching except requests Jetpack verifies as signed by WordPress.com. WordPress.com legitimately uses multicall to manage Jetpack-connected sites. WordPress 4.4 prevented it from being used as a password-guessing multiplier, so the old 'thousands of guesses' story is obsolete. (To this day, people say XML-RPC is some kind of open, free credential verification oracle — NOT TRUE.) Multicall can still batch other work, including pingbacks, but it does not enable pingback abuse.
4. Block the endpoint — the blunt hammer: xmlrpc.php returns 403 for everything. Prefer doing this at the CDN, WAF, or web server so the request never consumes PHP.
The first three are surgical and leave third-party registrations such as Jetpack's jetpack.* in place. That is not a compatibility guarantee: keep the endpoint reachable, leave Remote Publishing enabled until testing proves it unnecessary, and test the Jetpack connection and features after method changes. Block the endpoint only when nothing on the site speaks XML-RPC.
[Aside — what's "IXR"? The Incutio XML-RPC library. Simon Willison released it in September 2002, one of his first open-source projects, while blogging from the University of Bath; both WordPress *and* Drupal adopted it, and it then sat largely untouched for 15+ years — long enough to pick up a CVE. Willison went on to co-create Django (2003–05 at the Lawrence Journal-World), build Lanyrd (sold to Eventbrite in 2013) and Datasette (2017), and is now one of the most-read writers on LLMs.]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existing default we *don't* lock down. An Application Password is like a spare key cut for one app: each app gets its own hashed key, so you can revoke one without touching the others or changing the account password. That makes it the safer REST credential and the only one core accepts for REST Basic Auth. So they are good — they just don't have a toggle in WordPress core settings. You might need to prohibit application passwords on a site that forbids non-interactive credentials, but switching them off doesn't stop people connecting things, it just pushes them to worse habits, like sharing an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 SP 800-63B-4 § 3.1.1.2 calls for at least 15 characters for single-factor passwords, no composition rules, and a blocklist of commonly used, expected, or compromised passwords. BBD first applies its length rule, a small local blocklist, and checks for the username or email name. It then screens the candidate against the Have I Been Pwned Pwned Passwords range API.
The privacy trick is k-anonymity. BBD computes the candidate's SHA-1 hash locally, sends HIBP only the first five hexadecimal characters, and receives roughly 800–1,000 suffixes that share that prefix. BBD compares the remaining 35 characters locally. The password and its full hash never leave WordPress. SHA-1 is only HIBP's lookup format here; WordPress still owns password storage and uses its normal password hashing.
BBD also sends Add-Padding: true, so response size does not disclose how many real matches exist; synthetic rows have a count of zero and are ignored. WordPress caps the response at 128 KiB with limit_response_size. Because a response reaching that cap may be truncated, capped, empty, malformed, failed, and non-200 responses are treated as unavailable and fail open. Only structurally valid prefix responses are cached for 12 hours; the local length, blocklist, and personal-context checks still apply. The same server-side validator covers profile changes, password resets, and REST user-password requests.
AND YOU CAN SWITCH IT OFF — WPYEG_DISABLE_HIBP in wp-config.php, or the wpyeg_disable_hibp filter for a per-password decision. This is the only thing the whole plugin does that leaves your server, and everything on this slide is an argument that it is safe to do: hashed locally, five characters sent, padded response, nothing recoverable. All true, and none of it is an answer to "may I decline." Someone under a data-protection regime, on an air-gapped network, or just unwilling to make an outbound call on every password change does not owe anyone a justification. Which is the whole talk, pointed back at us: a default you cannot turn off is not a default, it is a requirement wearing a default's clothes. Every other setting here has a toggle. This one is the test of whether we meant it.
Sources: HIBP API v3, Pwned Passwords — Searching by hash range using k-anonymity and Introducing padding: https://haveibeenpwned.com/API/v3#SearchingPwnedPasswordsByRange ; NIST SP 800-63B-4 § 3.1.1.2, Password Verifiers: https://pages.nist.gov/800-63-4/sp800-63b/authenticators/#passwordver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default and one deliberate non-default — and the difference is the lesson. Hiding the version is obscurity, not hardening: it does not make an out-of-date site any safer, and it does not even hide much, since the version still leaks from asset query strings and feeds. What it genuinely buys is quieter logs. That is worth opting into, not worth shipping on and calling security — so it defaults to off. The headers are the opposite: real, low-risk defaults most sites can adopt without breaking anything:
- X-Content-Type-Options: nosniff — the browser must trust the declared Content-Type instead of guessing; kills "a .txt the browser decides to run as JavaScript" tricks.
- Referrer-Policy: strict-origin-when-cross-origin — sends the full URL within your own site, only the bare domain to other sites, and nothing on an HTTPS→HTTP downgrade; keeps tokens and private paths from leaking in the Referer.
X-Frame-Options is deliberately a SEPARATE setting (frame_options, default SAMEORIGIN), and that split is the point worth teaching. It is the only one of the three that can break a working site: blocking cross-origin framing also blocks legitimate embedding — an intranet dashboard, a screenshot or visual-review service, a kiosk or signage screen — and it fails as a silent blank frame, which is miserable to debug. Bundled with the other two, a site that needs to be embeddable would have to give up nosniff as well.
Note HOW they are applied, too, because this changed in 1.1.1. The original rule was "set only if unset", which sounds polite and is wrong: whatever arrived first won, so a host's permissive X-Frame-Options silently beat a deliberately configured DENY. The values are compared now, and the configured one replaces what is there only when it is strictly stronger — an unrecognised value, a deprecated ALLOW-FROM say, is left alone rather than guessed at. X-Content-Type-Options has exactly one effective value, so an existing header saying anything else is not a policy to respect, it is a header doing nothing; it gets corrected in place. And names are matched case-insensitively, because HTTP says header names are and PHP array keys say they are not — that mismatch used to make another plugin's x-content-type-options invisible here and add a second, conflicting line. Referrer-Policy still defers to whatever is already set: its tokens have no single strictness axis, so there is nothing to compare.
Be honest about the limit though — PHP only sees headers set in PHP, so one added by nginx or a CDN is invisible here. Check the response, not just the code. A full Content-Security-Policy is a bigger conversation for another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Editors hold unfiltered_html on a single-site install. That is enough to save a raw &lt;script&gt; into a post — not a vulnerability, a CAPABILITY, and one most sites never consciously granted. This takes it back to administrators, plus Super Admins on multisite.
THE LESSON HERE IS THE TRAP, NOT THE POLICY. user_has_cap fires on every capability check there is. So a filter hooked to it that ASKS a capability question calls itself, and calls itself again, until the stack blows. current_user_can( 'manage_options' ) inside this callback is infinite recursion. So is is_super_admin() on single site, which is the one that catches people — it calls has_cap( 'delete_users' ), straight back in here. On multisite it reads the network list instead and is safe, which is exactly why the real code guards it with is_multisite().
The fix is not cleverness, it is discipline: DECIDE FROM WHAT YOU WERE HANDED. $user-&gt;roles is already on the object. $allcaps['manage_options'] is already resolved — it was computed before your filter ran. Read those. Never ask.
One more detail worth stealing: the priority is PHP_INT_MAX - 1, so this has close to the final say over other user_has_cap filters — a plugin that grants the capability back later in the chain would otherwise quietly win. Not PHP_INT_MAX itself, which leaves a slot for something that genuinely must run last.
Put this beside the comment-feed 404 and you have the pattern's two failure modes. There, a filter that looked complete and was not. Here, a filter that can destroy itself by asking an innocent question. Both of them pass every test you would think to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category on the agenda that is a SELECT rather than a switch, and that is the lesson.
Core already installs maintenance and security releases on its own. So a toggle would be the wrong shape: the real choice is four-way — maintenance only, every stable release, none, or leave it alone. Squashing that into on/off would have forced us to pick a meaning for 'off' that half the audience would read the other way.
Core asks TWO questions, not one — allow_minor_auto_core_updates and allow_major_auto_core_updates — and one setting answers both. 'minor' says yes to the first and no to the second. 'all' says yes to both. 'manual' says no twice.
The interesting branch is 'inherit'. It returns the value core handed us, unchanged. A setting whose job is to have no opinion looks like a wasted option until you remember who else is in the room: managed hosts set an update policy for you, and so do other plugins. Without 'inherit' this plugin would silently overrule a host that had already made a considered decision — the same fight the session-length slide walks away from, for the same reason. Registering a filter is a claim that you know better than whoever else registered one.
And the reason this belongs at the END of the security section rather than in a corner labelled housekeeping: every other default in Section One removes something an attacker can reach. This one keeps the thing patched. Reducing surface and applying patches are the same job from two directions, and a site that does the first while quietly falling behind on the second is not actually safer.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reduce channels for spam and clean up the thin, duplicate URLs that bots and search engines get lost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many sites, comments are a spam magnet with little upside. Here we close them everywhere, hide existing threads, and drop the admin menu. If you want comments, leave this tuned off — but consider closing pingbacks and trackbacks, which are almost pure spam.
Closing comments is four jobs, not one: the template, the data, the editor, and the page. comments_open and comments_array answer the theme's comment template. comments_pre_query answers everything else — /wp/v2/comments most of all, which otherwise serves every comment the site has ever had. allowed_block_types_all takes the comment blocks out of the inserter, but the inserter only decides what an editor can add NEXT, and a block theme has already put those blocks in its post template. That markup needs render_block to return an empty string, or every post prints a "Comments" heading over an empty wrapper and the site reads as broken rather than as one that deliberately has no comments. get_comments_number is the same gap one layer down: wp_count_comments() answers zero once the query filter is in place, but the theme's heading reads the post's cached comment_count and cheerfully prints "1 Comment" above a thread that renders nothing.
Returning an empty string rather than unregistering the block types is what keeps this reversible. The blocks stay registered, the theme's markup stays as its author wrote it, and turning the setting off brings the whole thing back with nothing to undo.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Dropping the &lt;link rel="alternate"&gt; stops the feed being advertised; it does not stop it being served. /comments/feed/ and &lt;post&gt;/feed/ keep answering 200 to anyone who types the URL, and a crawler that saw one once keeps asking. With comment queries already emptied, they answer 200 with nothing — a live, crawlable endpoint whose only purpose is to say nothing. That is the worst of both.
set_404() re-runs init_query_flags(), which clears is_feed() along with everything else, so the template loader stops routing to do_feed() and renders the theme's 404 instead. That is why is_comment_feed() has to be tested FIRST: a moment later there is nothing left to test.
And redirect_canonical has to go with it — this is the part worth remembering. It does not bail on a 404. It calls redirect_guess_404_permalink(), and against the query we have just emptied it answers /post-name/feed/ with a 301 to /post-name/feed/feed/. Leaving it hooked turns a clean 404 into a redirect to a URL that has never existed, which is worse than the bug we set out to fix.
EVERY FILTER-LEVEL TEST STILL PASSES. ONLY A REAL REQUEST CATCHES IT. That is the honest limit of the pattern this whole talk is built on: a filter behind a toggle is a claim about one hook, and what a visitor actually gets is the sum of all of them. The recursion trap in limit_unfiltered_html_to_admins is the same lesson from the other direction — a user_has_cap filter that asks a capability question calls itself, so it has to decide from $user-&gt;roles and the already-resolved $allcaps and never ask. Test the request, not just the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the REST user routes, author archives expose the authors' usernames in the URL, and attachment pages are near-empty media wrappers. template_redirect fires before a template loads - the perfect place to bounce the unwanted requests. Same hook, two conditions.
Two details on the attachment half, because the obvious version is subtly wrong. Unattached media has no parent - and that is most of the Media Library - so a naive else-home_url() points every one of those at your homepage, which search engines read as a soft 404. Fall back to the FILE instead, which is what core does. And skip the redirect entirely when the theme ships attachment.php or image.php: that theme built those pages deliberately (the photography case), and quietly bouncing past it deletes someone's feature.
Core moved here too: WordPress 6.4 added wp_attachment_pages_enabled, off for new installs. So this default is not adding the redirect so much as choosing a better destination than the bare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WordPress core injects an emoji-detection script and inline CSS on every page load, plus a DNS-prefetch hint. Modern browsers render emoji natively, so this is pure dead weight. Small win, but it's on literally every page — a good example of a "why is this even on?" default that's not included in core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quality-of-life defaults. These are more about your daily user experience and session safety than raw hardening.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the admin post list on a big site and WordPress reads every word of every post — like finding a book by reading the whole library. Title-only search checks just the spines, and it's far faster. The craft is in the *how*: post_search_columns (WP 6.2+) narrows the columns instead of rewriting the whole SQL clause, so core's term parsing and the logged-out password guard stay intact. Scope the filter; don't bulldoze the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normal login lasts 2 days; ticking "Remember Me" extends it to 14. Both lengths are in days, and the remembered one can never be shorter than the regular one. Shorten either, or hide the "Remember Me" checkbox entirely so every login uses the regular length. (Good idea for shared machines.) DAY_IN_SECONDS is one of core's time constants, so you never do the math. — Now the two lines that are not about session length, because they are the most portable thing in this deck. This callback ignores the $exp it was handed and returns its own number. A filter that ADDS TO its input composes: several plugins can each contribute a header to wp_headers and all of them survive. A filter that REPLACES its input does not. WordPress runs all of them and keeps whichever answered last, the others do nothing at all, and every losing plugin's settings screen goes on displaying a number the site is not using. No error, nothing logged, nothing on Site Health. Nothing in the API tells you which kind you are writing — both are add_filter(). The difference is entirely in what your callback does with the argument it was given, and it decides whether your plugin can coexist with another one or silently fights it. You cannot make a number filter additive. What you can do is decline the fights you have no stake in: our defaults ARE WordPress's own 2 and 14, so on a site that has not changed them we would be registering only to assert the answer core already gives. Hence the if. And the callback has a name rather than being anonymous, because $wp_filter can only report a callback that has one — an anonymous one shows up as 'closure' in exactly the diagnostic you would run to find out who won. Then there is the 50, which is the half everyone forgets. Declining a fight worth nothing only helps if you win the one worth something, and on a replacing filter the LAST callback to run is the one that counts. Register at the default 10 and you are not being polite, you are queueing up behind every plugin that never thought about priority at all — so a session length somebody set on purpose gets decided by load order. This plugin shipped at 10 in every release before 1.2.2 and lost to both its siblings on any site running two of them. Fifty is late enough to be the last word and low enough that a site wanting the final say can still take it deliberately. The question to ask of any filter callback you write: if a second plugin did exactly this, would both still work? If not, you are setting policy, and only one plugin on the site can win — so decide both whether to enter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brand the login screen, throttle one polling API, and end on the only default in the plugin that changes nothing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login page is a WordPress site's staff entrance, and the default WordPress "W" on wp-login.php links to wordpress.org. Removing, unlinking, or replacing it keeps the login screen organizationally consistent and prevents the logo from sending users to an unexpected external site. Changing a site's login screen out of the box is intrusive, though, so the default is to LEAVE IT ALONE. Any opt-in change points the link home. Swap in a background-image to use the site's own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Heartbeat API polls admin-ajax every 15-60s. Throttle it to ease up on weak shared hosting.
The more interesting half of this slide is the toggle that USED to be here. We shipped a "defer front-end scripts" default that hooked script_loader_tag and string-replaced ' src=' with ' defer src=' on every handle. It had to skip jQuery core, and it still broke anything expecting a particular execution order — because a blanket filter cannot know which scripts are safe to defer.
WordPress 6.3 added a per-script loading strategy, so core now answers this precisely, at the point of enqueue, where the person who wrote the script decides. Keeping our version would have meant teaching a workaround for a problem the platform already solved. Deleting a default is a legitimate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WordPress sends mail from wordpress@yourdomain unless something changes it. On a domain that cannot actually send — a staging host, a .local address, a domain with no mail records — password resets and order receipts FAIL SILENTLY. wp_mail() returns false and nothing surfaces it. Nobody finds out until a customer says they never got the email.
So this default warns, and that is all it does. Be precise about how little it claims: it is a SHAPE CHECK, NOT A DELIVERY TEST. Proving mail works needs SPF and DMARC lookups and a real send — far more than a settings screen should do on page load. These are the cases knowable for free: not a valid address, example.com, localhost, or a reserved TLD that never resolves publicly (.local, .test, .invalid, .example — RFC 2606 and RFC 6762).
Two details make it honest. It reads the EFFECTIVE From address through wp_mail_from, so whatever your SMTP plugin actually sets is what gets judged, not the theoretical default it replaced. And it stays quiet when wp_get_environment_type() says local, because a local site is MEANT to have an undeliverable address — warning there is exactly how a notice trains people to dismiss notices. Staging is not local, and staging does warn, which is usually where this catches something real.
The lesson is the one thing here that is not about email. Every other default in this plugin changes what WordPress does. THIS ONE CHANGES NOTHING. It has no effect on a single request; it only tells an administrator something true that WordPress had been keeping to itself. Deciding not to intervene is a design decision as real as any filter, and often the better one — a plugin that silently rewrote your From address to something deliverable would be a considerably worse plugin. When you find a silent failure, the first question is not how do I fix this for them, but who needs to know, and would they rather I told them or guessed on their behalf?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defaults live in wp-config.php, above the plugin layer, because they must load before plugins do. They can't be options — so document them as manual steps in your onboarding checklist and put them in your standard wp-config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lesson is a data-driven plugin. Adding a new default equals one array entry plus one if-block in bootstrap — no new settings-page code. That's the pattern to steal for your own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if there's a sandbox. The /wp-json/wp/v2/users check is the crowd-pleaser — before/after is instantly visible. For the terminal crowd, the WP-CLI one-liner installs and activates from the zip in one shot; swap the local path for a URL if the zip is hosted.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great confidence-builder: it proves the data-driven pattern. Touch two spots and a real feature toggles. If time is short, walk it through verbally instead of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exact unprefixed keys stored inside the single wpyeg_better_by_default option. An allow-setting at no can still mean a protective behaviour is active: the three XML-RPC categories are unavailable by default, while the all-or-nothing endpoint block remains opt-in. Application Passwords remain available; strong-password validation is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connectors are disabled through the WordPress 7.0 core gate and the Connectors screen is closed. Baseline headers and SAMEORIGIN ship separately because framing can break legitimate embeds. BBD governs core release classes unless a constant wins, while language files and plugin/theme code remain with WordPress, the host, or fleet tooling.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comment and pingback settings are separate because a site may keep comments while closing new-post pings and suppressing self-pingbacks. Author and attachment redirects remove thin public pages, while the editor policies remain opt-in where they can disrupt an established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Lowercasing applies only to new uploads, and the media panel only reports files WordPress already generated. Title-only search and front-end admin-bar changes remain opt-in because both alter familiar administration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visible names on earlier slides are schema keys, not separate WordPress options. A regular login lasts 2 days and a remembered one 14 - WordPress's own values, prefilled rather than sentinels, with a one-day floor on each and the remembered length clamped so it can never be shorter than the regular one. The login logo and Heartbeat remain opt-in, and the three configuration constants stay above the plugin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nobody warns you about. Install two defaults plugins and WordPress does not complain — it runs both and keeps whichever answered last. The loser's settings screen goes on showing a session length the site is not using.
On the install where this was first measured, all three plugins happened to agree on the same value, so everything looked fine. THAT is the dangerous case. It stays invisible until somebody changes a setting and nothing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rule, and it is worth more than any tool. When your code is handed something and ADDS to it, a second plugin doing the same thing is fine — three plugins set security headers on that test install and all three landed correctly. When your code is handed something and returns its OWN answer instead, only one plugin can win.
So when you write a filter callback, ask: if a second plugin did exactly this, would both still work? If the answer is no, you are setting policy, and only one plugin on the site can hold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a plugin for this, and that is exactly why we are not shipping one. The same snippet works on any hook, including ones nobody has thought to write a checker for.
Two things to say out loud, because the obvious reading of the output is wrong. First, an EMPTY result is the normal case on a clean install — this plugin does not register that filter at all while the lengths are still WordPress's own, which is the fix we made earlier in the deck. Guard for the hook being absent or the example errors on the very plugin it is demonstrating.
Second, several entries means the hook is SHARED, not that somebody is losing. A callback can pass its input through, or act only under a condition that is not met today. The count tells you where to look; the callbacks tell you what is happening. Printing the callback id rather than print_r() keeps it one line each, which makes the count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guessed from source code and accused plugins that were not touching the setting. The second measured the outcome by actually running the filter — precise, and it meant executing arbitrary third-party code as a diagnostic side effect. A tool that reports collisions must not cause them.
The third stopped trying to recover attribution WordPress never recorded. It observes a filter when WordPress already runs it, compares the value at the observer's turn with the configured value, and records a divergence without naming anyone. No synthetic arguments and no extra callback executions.
Say the limit out loud: PHP_INT_MAX is the latest priority, not a guarantee of being the last callback. WordPress preserves registration order within a priority, so a callback added there later can still change the result. A divergence the observer sees is evidence; a clean observation is not proof that nothing later diverged.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qualifier out loud, because the slide before this one contradicts the unqualified version. Two defaults plugins are only alternatives WHERE THEY CONTEST THE SAME REPLACING FILTER. Additive hooks compose — three plugins set security headers on that test install and all three landed. Two plugins with settings that do not overlap at all are simply two plugins. Telling somebody to deactivate one before you have confirmed a contested setting is advice that costs them something for nothing.
Where there IS a contest, the answer is not to make them cooperate. It is to run one of them.
And that is the honest pitch for the plugin we just built. Not that it does more than the others — it does less. But you can read all of it in an afternoon and know exactly what it decided on your behalf.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zip and the reference doc. Invite everyone to add their own favourite default to the schema and share it back with the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733"/>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16323F"/>
          </a:solidFill>
          <a:ln/>
        </p:spPr>
      </p:sp>
      <p:sp>
        <p:nvSpPr>
          <p:cNvPr id="3" name="Shape 1"/>
          <p:cNvSpPr/>
          <p:nvPr/>
        </p:nvSpPr>
        <p:spPr>
          <a:xfrm>
            <a:off x="777240" y="731520"/>
            <a:ext cx="658368" cy="658368"/>
          </a:xfrm>
          <a:prstGeom prst="ellipse">
            <a:avLst/>
          </a:prstGeom>
          <a:solidFill>
            <a:srgbClr val="E0A94B"/>
          </a:solidFill>
          <a:ln/>
        </p:spPr>
      </p:sp>
      <p:sp>
        <p:nvSpPr>
          <p:cNvPr id="4" name="Text 2"/>
          <p:cNvSpPr/>
          <p:nvPr/>
        </p:nvSpPr>
        <p:spPr>
          <a:xfrm>
            <a:off x="777240" y="731520"/>
            <a:ext cx="658368" cy="658368"/>
          </a:xfrm>
          <a:prstGeom prst="rect">
            <a:avLst/>
          </a:prstGeom>
          <a:noFill/>
          <a:ln/>
        </p:spPr>
        <p:txBody>
          <a:bodyPr wrap="square" lIns="0" tIns="0" rIns="0" bIns="0" rtlCol="0" anchor="ctr"/>
          <a:lstStyle/>
          <a:p>
            <a:pPr algn="ctr" indent="0" marL="0">
              <a:buNone/>
            </a:pPr>
            <a:r>
              <a:rPr lang="en-US" sz="1872" b="1" dirty="0">
                <a:solidFill>
                  <a:srgbClr val="0F2733"/>
                </a:solidFill>
                <a:latin typeface="Cambria" pitchFamily="34" charset="0"/>
                <a:ea typeface="Cambria" pitchFamily="34" charset="-122"/>
                <a:cs typeface="Cambria" pitchFamily="34" charset="-120"/>
              </a:rPr>
              <a:t>{ }</a:t>
            </a:r>
            <a:endParaRPr lang="en-US" sz="1872" dirty="0"/>
          </a:p>
        </p:txBody>
      </p:sp>
      <p:sp>
        <p:nvSpPr>
          <p:cNvPr id="5" name="Text 3"/>
          <p:cNvSpPr/>
          <p:nvPr/>
        </p:nvSpPr>
        <p:spPr>
          <a:xfrm>
            <a:off x="1600200" y="822960"/>
            <a:ext cx="8229600" cy="457200"/>
          </a:xfrm>
          <a:prstGeom prst="rect">
            <a:avLst/>
          </a:prstGeom>
          <a:noFill/>
          <a:ln/>
        </p:spPr>
        <p:txBody>
          <a:bodyPr wrap="square" lIns="0" tIns="0" rIns="0" bIns="0" rtlCol="0" anchor="ctr"/>
          <a:lstStyle/>
          <a:p>
            <a:pPr indent="0" marL="0">
              <a:buNone/>
            </a:pPr>
            <a:r>
              <a:rPr lang="en-US" sz="1500" b="1" dirty="0">
                <a:solidFill>
                  <a:srgbClr val="E0A94B"/>
                </a:solidFill>
                <a:latin typeface="Calibri" pitchFamily="34" charset="0"/>
                <a:ea typeface="Calibri" pitchFamily="34" charset="-122"/>
                <a:cs typeface="Calibri" pitchFamily="34" charset="-120"/>
              </a:rPr>
              <a:t>WPYEG · Edmonton WordPress Meetup</a:t>
            </a:r>
            <a:endParaRPr lang="en-US" sz="1500" dirty="0"/>
          </a:p>
        </p:txBody>
      </p:sp>
      <p:sp>
        <p:nvSpPr>
          <p:cNvPr id="6" name="Text 4"/>
          <p:cNvSpPr/>
          <p:nvPr/>
        </p:nvSpPr>
        <p:spPr>
          <a:xfrm>
            <a:off x="777240" y="2148840"/>
            <a:ext cx="10789920" cy="1371600"/>
          </a:xfrm>
          <a:prstGeom prst="rect">
            <a:avLst/>
          </a:prstGeom>
          <a:noFill/>
          <a:ln/>
        </p:spPr>
        <p:txBody>
          <a:bodyPr wrap="square" lIns="0" tIns="0" rIns="0" bIns="0" rtlCol="0" anchor="ctr"/>
          <a:lstStyle/>
          <a:p>
            <a:pPr indent="0" marL="0">
              <a:lnSpc>
                <a:spcPct val="102000"/>
              </a:lnSpc>
              <a:buNone/>
            </a:pPr>
            <a:r>
              <a:rPr lang="en-US" sz="6800" b="1" dirty="0">
                <a:solidFill>
                  <a:srgbClr val="FFFFFF"/>
                </a:solidFill>
                <a:latin typeface="Cambria" pitchFamily="34" charset="0"/>
                <a:ea typeface="Cambria" pitchFamily="34" charset="-122"/>
                <a:cs typeface="Cambria" pitchFamily="34" charset="-120"/>
              </a:rPr>
              <a:t>Better by Default</a:t>
            </a:r>
            <a:endParaRPr lang="en-US" sz="6800" dirty="0"/>
          </a:p>
        </p:txBody>
      </p:sp>
      <p:sp>
        <p:nvSpPr>
          <p:cNvPr id="7" name="Text 5"/>
          <p:cNvSpPr/>
          <p:nvPr/>
        </p:nvSpPr>
        <p:spPr>
          <a:xfrm>
            <a:off x="822960" y="3977640"/>
            <a:ext cx="10241280" cy="640080"/>
          </a:xfrm>
          <a:prstGeom prst="rect">
            <a:avLst/>
          </a:prstGeom>
          <a:noFill/>
          <a:ln/>
        </p:spPr>
        <p:txBody>
          <a:bodyPr wrap="square" lIns="0" tIns="0" rIns="0" bIns="0" rtlCol="0" anchor="ctr"/>
          <a:lstStyle/>
          <a:p>
            <a:pPr indent="0" marL="0">
              <a:buNone/>
            </a:pPr>
            <a:r>
              <a:rPr lang="en-US" sz="2100" i="1" dirty="0">
                <a:solidFill>
                  <a:srgbClr val="D7E5EC"/>
                </a:solidFill>
                <a:latin typeface="Calibri" pitchFamily="34" charset="0"/>
                <a:ea typeface="Calibri" pitchFamily="34" charset="-122"/>
                <a:cs typeface="Calibri" pitchFamily="34" charset="-120"/>
              </a:rPr>
              <a:t>Secure defaults for every WordPress site.</a:t>
            </a:r>
            <a:endParaRPr lang="en-US" sz="2100" dirty="0"/>
          </a:p>
        </p:txBody>
      </p:sp>
      <p:sp>
        <p:nvSpPr>
          <p:cNvPr id="8" name="Text 6"/>
          <p:cNvSpPr/>
          <p:nvPr/>
        </p:nvSpPr>
        <p:spPr>
          <a:xfrm>
            <a:off x="822960" y="5715000"/>
            <a:ext cx="10515600" cy="457200"/>
          </a:xfrm>
          <a:prstGeom prst="rect">
            <a:avLst/>
          </a:prstGeom>
          <a:noFill/>
          <a:ln/>
        </p:spPr>
        <p:txBody>
          <a:bodyPr wrap="square" lIns="0" tIns="0" rIns="0" bIns="0" rtlCol="0" anchor="ctr"/>
          <a:lstStyle/>
          <a:p>
            <a:pPr indent="0" marL="0">
              <a:buNone/>
            </a:pPr>
            <a:r>
              <a:rPr lang="en-US" sz="1400" dirty="0">
                <a:solidFill>
                  <a:srgbClr val="D7E5EC"/>
                </a:solidFill>
                <a:latin typeface="Courier New" pitchFamily="34" charset="0"/>
                <a:ea typeface="Courier New" pitchFamily="34" charset="-122"/>
                <a:cs typeface="Courier New" pitchFamily="34" charset="-120"/>
              </a:rPr>
              <a:t>a hands-on workshop  </a:t>
            </a:r>
            <a:pPr indent="0" marL="0">
              <a:buNone/>
            </a:pPr>
            <a:r>
              <a:rPr lang="en-US" sz="1400" dirty="0">
                <a:solidFill>
                  <a:srgbClr val="E0A94B"/>
                </a:solidFill>
                <a:latin typeface="Courier New" pitchFamily="34" charset="0"/>
                <a:ea typeface="Courier New" pitchFamily="34" charset="-122"/>
                <a:cs typeface="Courier New" pitchFamily="34" charset="-120"/>
              </a:rPr>
              <a:t>·  build the “sane-defaults” plugin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502920"/>
            <a:ext cx="10972800" cy="822960"/>
          </a:xfrm>
          <a:prstGeom prst="rect">
            <a:avLst/>
          </a:prstGeom>
          <a:noFill/>
          <a:ln/>
        </p:spPr>
        <p:txBody>
          <a:bodyPr wrap="square" lIns="0" tIns="0" rIns="0" bIns="0" rtlCol="0" anchor="ctr"/>
          <a:lstStyle/>
          <a:p>
            <a:pPr indent="0" marL="0">
              <a:buNone/>
            </a:pPr>
            <a:r>
              <a:rPr lang="en-US" sz="3400" b="1" dirty="0">
                <a:solidFill>
                  <a:srgbClr val="0F2733"/>
                </a:solidFill>
                <a:latin typeface="Cambria" pitchFamily="34" charset="0"/>
                <a:ea typeface="Cambria" pitchFamily="34" charset="-122"/>
                <a:cs typeface="Cambria" pitchFamily="34" charset="-120"/>
              </a:rPr>
              <a:t>WordPress is open by default; hosts vary in what they close.</a:t>
            </a:r>
            <a:endParaRPr lang="en-US" sz="3400" dirty="0"/>
          </a:p>
        </p:txBody>
      </p:sp>
      <p:sp>
        <p:nvSpPr>
          <p:cNvPr id="3" name="Text 1"/>
          <p:cNvSpPr/>
          <p:nvPr/>
        </p:nvSpPr>
        <p:spPr>
          <a:xfrm>
            <a:off x="548640" y="1371600"/>
            <a:ext cx="10789920" cy="822960"/>
          </a:xfrm>
          <a:prstGeom prst="rect">
            <a:avLst/>
          </a:prstGeom>
          <a:noFill/>
          <a:ln/>
        </p:spPr>
        <p:txBody>
          <a:bodyPr wrap="square" lIns="0" tIns="0" rIns="0" bIns="0" rtlCol="0" anchor="ctr"/>
          <a:lstStyle/>
          <a:p>
            <a:pPr indent="0" marL="0">
              <a:buNone/>
            </a:pPr>
            <a:r>
              <a:rPr lang="en-US" sz="1600" dirty="0">
                <a:solidFill>
                  <a:srgbClr val="4A5A63"/>
                </a:solidFill>
                <a:latin typeface="Calibri" pitchFamily="34" charset="0"/>
                <a:ea typeface="Calibri" pitchFamily="34" charset="-122"/>
                <a:cs typeface="Calibri" pitchFamily="34" charset="-120"/>
              </a:rPr>
              <a:t>None of these are bugs — or quite the security risks popular opinion alleges. They are defaults chosen for maximum compatibility on a 20+ year-old web application.</a:t>
            </a:r>
            <a:endParaRPr lang="en-US" sz="1600" dirty="0"/>
          </a:p>
        </p:txBody>
      </p:sp>
      <p:sp>
        <p:nvSpPr>
          <p:cNvPr id="4" name="Shape 2"/>
          <p:cNvSpPr/>
          <p:nvPr/>
        </p:nvSpPr>
        <p:spPr>
          <a:xfrm>
            <a:off x="548640" y="2423160"/>
            <a:ext cx="5257800" cy="1691640"/>
          </a:xfrm>
          <a:prstGeom prst="roundRect">
            <a:avLst>
              <a:gd name="adj" fmla="val 4865"/>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5" name="Shape 3"/>
          <p:cNvSpPr/>
          <p:nvPr/>
        </p:nvSpPr>
        <p:spPr>
          <a:xfrm>
            <a:off x="822960" y="2743200"/>
            <a:ext cx="502920" cy="502920"/>
          </a:xfrm>
          <a:prstGeom prst="ellipse">
            <a:avLst/>
          </a:prstGeom>
          <a:solidFill>
            <a:srgbClr val="E07A5F"/>
          </a:solidFill>
          <a:ln/>
        </p:spPr>
      </p:sp>
      <p:sp>
        <p:nvSpPr>
          <p:cNvPr id="6" name="Text 4"/>
          <p:cNvSpPr/>
          <p:nvPr/>
        </p:nvSpPr>
        <p:spPr>
          <a:xfrm>
            <a:off x="822960" y="274320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Cambria" pitchFamily="34" charset="0"/>
                <a:ea typeface="Cambria" pitchFamily="34" charset="-122"/>
                <a:cs typeface="Cambria" pitchFamily="34" charset="-120"/>
              </a:rPr>
              <a:t>!</a:t>
            </a:r>
            <a:endParaRPr lang="en-US" sz="1430" dirty="0"/>
          </a:p>
        </p:txBody>
      </p:sp>
      <p:sp>
        <p:nvSpPr>
          <p:cNvPr id="7" name="Text 5"/>
          <p:cNvSpPr/>
          <p:nvPr/>
        </p:nvSpPr>
        <p:spPr>
          <a:xfrm>
            <a:off x="1508760" y="2697480"/>
            <a:ext cx="4069080" cy="45720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Usernames leak</a:t>
            </a:r>
            <a:endParaRPr lang="en-US" sz="1900" dirty="0"/>
          </a:p>
        </p:txBody>
      </p:sp>
      <p:sp>
        <p:nvSpPr>
          <p:cNvPr id="8" name="Text 6"/>
          <p:cNvSpPr/>
          <p:nvPr/>
        </p:nvSpPr>
        <p:spPr>
          <a:xfrm>
            <a:off x="1508760" y="3172968"/>
            <a:ext cx="4069080" cy="822960"/>
          </a:xfrm>
          <a:prstGeom prst="rect">
            <a:avLst/>
          </a:prstGeom>
          <a:noFill/>
          <a:ln/>
        </p:spPr>
        <p:txBody>
          <a:bodyPr wrap="square" lIns="0" tIns="0" rIns="0" bIns="0" rtlCol="0" anchor="t"/>
          <a:lstStyle/>
          <a:p>
            <a:pPr indent="0" marL="0">
              <a:buNone/>
            </a:pPr>
            <a:r>
              <a:rPr lang="en-US" sz="1400" dirty="0">
                <a:solidFill>
                  <a:srgbClr val="4A5A63"/>
                </a:solidFill>
                <a:latin typeface="Calibri" pitchFamily="34" charset="0"/>
                <a:ea typeface="Calibri" pitchFamily="34" charset="-122"/>
                <a:cs typeface="Calibri" pitchFamily="34" charset="-120"/>
              </a:rPr>
              <a:t>REST and author archives expose public author slugs that often resemble login names.</a:t>
            </a:r>
            <a:endParaRPr lang="en-US" sz="1400" dirty="0"/>
          </a:p>
        </p:txBody>
      </p:sp>
      <p:sp>
        <p:nvSpPr>
          <p:cNvPr id="9" name="Shape 7"/>
          <p:cNvSpPr/>
          <p:nvPr/>
        </p:nvSpPr>
        <p:spPr>
          <a:xfrm>
            <a:off x="6355080" y="2423160"/>
            <a:ext cx="5257800" cy="1691640"/>
          </a:xfrm>
          <a:prstGeom prst="roundRect">
            <a:avLst>
              <a:gd name="adj" fmla="val 4865"/>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0" name="Shape 8"/>
          <p:cNvSpPr/>
          <p:nvPr/>
        </p:nvSpPr>
        <p:spPr>
          <a:xfrm>
            <a:off x="6629400" y="2743200"/>
            <a:ext cx="502920" cy="502920"/>
          </a:xfrm>
          <a:prstGeom prst="ellipse">
            <a:avLst/>
          </a:prstGeom>
          <a:solidFill>
            <a:srgbClr val="E07A5F"/>
          </a:solidFill>
          <a:ln/>
        </p:spPr>
      </p:sp>
      <p:sp>
        <p:nvSpPr>
          <p:cNvPr id="11" name="Text 9"/>
          <p:cNvSpPr/>
          <p:nvPr/>
        </p:nvSpPr>
        <p:spPr>
          <a:xfrm>
            <a:off x="6629400" y="274320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Cambria" pitchFamily="34" charset="0"/>
                <a:ea typeface="Cambria" pitchFamily="34" charset="-122"/>
                <a:cs typeface="Cambria" pitchFamily="34" charset="-120"/>
              </a:rPr>
              <a:t>!</a:t>
            </a:r>
            <a:endParaRPr lang="en-US" sz="1430" dirty="0"/>
          </a:p>
        </p:txBody>
      </p:sp>
      <p:sp>
        <p:nvSpPr>
          <p:cNvPr id="12" name="Text 10"/>
          <p:cNvSpPr/>
          <p:nvPr/>
        </p:nvSpPr>
        <p:spPr>
          <a:xfrm>
            <a:off x="7315200" y="2697480"/>
            <a:ext cx="4069080" cy="45720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XML-RPC exposed</a:t>
            </a:r>
            <a:endParaRPr lang="en-US" sz="1900" dirty="0"/>
          </a:p>
        </p:txBody>
      </p:sp>
      <p:sp>
        <p:nvSpPr>
          <p:cNvPr id="13" name="Text 11"/>
          <p:cNvSpPr/>
          <p:nvPr/>
        </p:nvSpPr>
        <p:spPr>
          <a:xfrm>
            <a:off x="7315200" y="3172968"/>
            <a:ext cx="4069080" cy="822960"/>
          </a:xfrm>
          <a:prstGeom prst="rect">
            <a:avLst/>
          </a:prstGeom>
          <a:noFill/>
          <a:ln/>
        </p:spPr>
        <p:txBody>
          <a:bodyPr wrap="square" lIns="0" tIns="0" rIns="0" bIns="0" rtlCol="0" anchor="t"/>
          <a:lstStyle/>
          <a:p>
            <a:pPr indent="0" marL="0">
              <a:buNone/>
            </a:pPr>
            <a:r>
              <a:rPr lang="en-US" sz="1400" dirty="0">
                <a:solidFill>
                  <a:srgbClr val="4A5A63"/>
                </a:solidFill>
                <a:latin typeface="Calibri" pitchFamily="34" charset="0"/>
                <a:ea typeface="Calibri" pitchFamily="34" charset="-122"/>
                <a:cs typeface="Calibri" pitchFamily="34" charset="-120"/>
              </a:rPr>
              <a:t>A venerable interop protocol Jetpack still uses. If you don't need it, it just adds attack surface.</a:t>
            </a:r>
            <a:endParaRPr lang="en-US" sz="1400" dirty="0"/>
          </a:p>
        </p:txBody>
      </p:sp>
      <p:sp>
        <p:nvSpPr>
          <p:cNvPr id="14" name="Shape 12"/>
          <p:cNvSpPr/>
          <p:nvPr/>
        </p:nvSpPr>
        <p:spPr>
          <a:xfrm>
            <a:off x="548640" y="4526280"/>
            <a:ext cx="5257800" cy="1691640"/>
          </a:xfrm>
          <a:prstGeom prst="roundRect">
            <a:avLst>
              <a:gd name="adj" fmla="val 4865"/>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5" name="Shape 13"/>
          <p:cNvSpPr/>
          <p:nvPr/>
        </p:nvSpPr>
        <p:spPr>
          <a:xfrm>
            <a:off x="822960" y="4846320"/>
            <a:ext cx="502920" cy="502920"/>
          </a:xfrm>
          <a:prstGeom prst="ellipse">
            <a:avLst/>
          </a:prstGeom>
          <a:solidFill>
            <a:srgbClr val="C88F33"/>
          </a:solidFill>
          <a:ln/>
        </p:spPr>
      </p:sp>
      <p:sp>
        <p:nvSpPr>
          <p:cNvPr id="16" name="Text 14"/>
          <p:cNvSpPr/>
          <p:nvPr/>
        </p:nvSpPr>
        <p:spPr>
          <a:xfrm>
            <a:off x="822960" y="484632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Cambria" pitchFamily="34" charset="0"/>
                <a:ea typeface="Cambria" pitchFamily="34" charset="-122"/>
                <a:cs typeface="Cambria" pitchFamily="34" charset="-120"/>
              </a:rPr>
              <a:t>~</a:t>
            </a:r>
            <a:endParaRPr lang="en-US" sz="1430" dirty="0"/>
          </a:p>
        </p:txBody>
      </p:sp>
      <p:sp>
        <p:nvSpPr>
          <p:cNvPr id="17" name="Text 15"/>
          <p:cNvSpPr/>
          <p:nvPr/>
        </p:nvSpPr>
        <p:spPr>
          <a:xfrm>
            <a:off x="1508760" y="4800600"/>
            <a:ext cx="4069080" cy="45720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Dead weight loads</a:t>
            </a:r>
            <a:endParaRPr lang="en-US" sz="1900" dirty="0"/>
          </a:p>
        </p:txBody>
      </p:sp>
      <p:sp>
        <p:nvSpPr>
          <p:cNvPr id="18" name="Text 16"/>
          <p:cNvSpPr/>
          <p:nvPr/>
        </p:nvSpPr>
        <p:spPr>
          <a:xfrm>
            <a:off x="1508760" y="5276088"/>
            <a:ext cx="4069080" cy="822960"/>
          </a:xfrm>
          <a:prstGeom prst="rect">
            <a:avLst/>
          </a:prstGeom>
          <a:noFill/>
          <a:ln/>
        </p:spPr>
        <p:txBody>
          <a:bodyPr wrap="square" lIns="0" tIns="0" rIns="0" bIns="0" rtlCol="0" anchor="t"/>
          <a:lstStyle/>
          <a:p>
            <a:pPr indent="0" marL="0">
              <a:buNone/>
            </a:pPr>
            <a:r>
              <a:rPr lang="en-US" sz="1400" dirty="0">
                <a:solidFill>
                  <a:srgbClr val="4A5A63"/>
                </a:solidFill>
                <a:latin typeface="Calibri" pitchFamily="34" charset="0"/>
                <a:ea typeface="Calibri" pitchFamily="34" charset="-122"/>
                <a:cs typeface="Calibri" pitchFamily="34" charset="-120"/>
              </a:rPr>
              <a:t>Emoji scripts, version tags, and RSD links on every page. Do you need them?</a:t>
            </a:r>
            <a:endParaRPr lang="en-US" sz="1400" dirty="0"/>
          </a:p>
        </p:txBody>
      </p:sp>
      <p:sp>
        <p:nvSpPr>
          <p:cNvPr id="19" name="Shape 17"/>
          <p:cNvSpPr/>
          <p:nvPr/>
        </p:nvSpPr>
        <p:spPr>
          <a:xfrm>
            <a:off x="6355080" y="4526280"/>
            <a:ext cx="5257800" cy="1691640"/>
          </a:xfrm>
          <a:prstGeom prst="roundRect">
            <a:avLst>
              <a:gd name="adj" fmla="val 4865"/>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20" name="Shape 18"/>
          <p:cNvSpPr/>
          <p:nvPr/>
        </p:nvSpPr>
        <p:spPr>
          <a:xfrm>
            <a:off x="6629400" y="4846320"/>
            <a:ext cx="502920" cy="502920"/>
          </a:xfrm>
          <a:prstGeom prst="ellipse">
            <a:avLst/>
          </a:prstGeom>
          <a:solidFill>
            <a:srgbClr val="C88F33"/>
          </a:solidFill>
          <a:ln/>
        </p:spPr>
      </p:sp>
      <p:sp>
        <p:nvSpPr>
          <p:cNvPr id="21" name="Text 19"/>
          <p:cNvSpPr/>
          <p:nvPr/>
        </p:nvSpPr>
        <p:spPr>
          <a:xfrm>
            <a:off x="6629400" y="484632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Cambria" pitchFamily="34" charset="0"/>
                <a:ea typeface="Cambria" pitchFamily="34" charset="-122"/>
                <a:cs typeface="Cambria" pitchFamily="34" charset="-120"/>
              </a:rPr>
              <a:t>~</a:t>
            </a:r>
            <a:endParaRPr lang="en-US" sz="1430" dirty="0"/>
          </a:p>
        </p:txBody>
      </p:sp>
      <p:sp>
        <p:nvSpPr>
          <p:cNvPr id="22" name="Text 20"/>
          <p:cNvSpPr/>
          <p:nvPr/>
        </p:nvSpPr>
        <p:spPr>
          <a:xfrm>
            <a:off x="7315200" y="4800600"/>
            <a:ext cx="4069080" cy="45720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Spam surface invites</a:t>
            </a:r>
            <a:endParaRPr lang="en-US" sz="1900" dirty="0"/>
          </a:p>
        </p:txBody>
      </p:sp>
      <p:sp>
        <p:nvSpPr>
          <p:cNvPr id="23" name="Text 21"/>
          <p:cNvSpPr/>
          <p:nvPr/>
        </p:nvSpPr>
        <p:spPr>
          <a:xfrm>
            <a:off x="7315200" y="5276088"/>
            <a:ext cx="4069080" cy="822960"/>
          </a:xfrm>
          <a:prstGeom prst="rect">
            <a:avLst/>
          </a:prstGeom>
          <a:noFill/>
          <a:ln/>
        </p:spPr>
        <p:txBody>
          <a:bodyPr wrap="square" lIns="0" tIns="0" rIns="0" bIns="0" rtlCol="0" anchor="t"/>
          <a:lstStyle/>
          <a:p>
            <a:pPr indent="0" marL="0">
              <a:buNone/>
            </a:pPr>
            <a:r>
              <a:rPr lang="en-US" sz="1400" dirty="0">
                <a:solidFill>
                  <a:srgbClr val="4A5A63"/>
                </a:solidFill>
                <a:latin typeface="Calibri" pitchFamily="34" charset="0"/>
                <a:ea typeface="Calibri" pitchFamily="34" charset="-122"/>
                <a:cs typeface="Calibri" pitchFamily="34" charset="-120"/>
              </a:rPr>
              <a:t>Comments, pingbacks, and trackbacks are open by default. Legacy cruft, or the heart of the open web?</a:t>
            </a:r>
            <a:endParaRPr lang="en-US" sz="1400" dirty="0"/>
          </a:p>
        </p:txBody>
      </p:sp>
      <p:sp>
        <p:nvSpPr>
          <p:cNvPr id="24" name="Text 22"/>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25" name="Text 23"/>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7607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7607A"/>
          </a:solidFill>
          <a:ln/>
        </p:spPr>
      </p:sp>
      <p:sp>
        <p:nvSpPr>
          <p:cNvPr id="3" name="Text 1"/>
          <p:cNvSpPr/>
          <p:nvPr/>
        </p:nvSpPr>
        <p:spPr>
          <a:xfrm>
            <a:off x="731520" y="1051560"/>
            <a:ext cx="10058400" cy="548640"/>
          </a:xfrm>
          <a:prstGeom prst="rect">
            <a:avLst/>
          </a:prstGeom>
          <a:noFill/>
          <a:ln/>
        </p:spPr>
        <p:txBody>
          <a:bodyPr wrap="square" lIns="0" tIns="0" rIns="0" bIns="0" rtlCol="0" anchor="ctr"/>
          <a:lstStyle/>
          <a:p>
            <a:pPr indent="0" marL="0">
              <a:buNone/>
            </a:pPr>
            <a:r>
              <a:rPr lang="en-US" sz="1800" b="1" dirty="0">
                <a:solidFill>
                  <a:srgbClr val="E0A94B"/>
                </a:solidFill>
                <a:latin typeface="Calibri" pitchFamily="34" charset="0"/>
                <a:ea typeface="Calibri" pitchFamily="34" charset="-122"/>
                <a:cs typeface="Calibri" pitchFamily="34" charset="-120"/>
              </a:rPr>
              <a:t>The one idea to take home</a:t>
            </a:r>
            <a:endParaRPr lang="en-US" sz="1800" dirty="0"/>
          </a:p>
        </p:txBody>
      </p:sp>
      <p:sp>
        <p:nvSpPr>
          <p:cNvPr id="4" name="Text 2"/>
          <p:cNvSpPr/>
          <p:nvPr/>
        </p:nvSpPr>
        <p:spPr>
          <a:xfrm>
            <a:off x="731520" y="1737360"/>
            <a:ext cx="10698480" cy="219456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A “default” is just an</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opinionated filter behind a toggle.</a:t>
            </a:r>
            <a:endParaRPr lang="en-US" sz="4400" dirty="0"/>
          </a:p>
        </p:txBody>
      </p:sp>
      <p:sp>
        <p:nvSpPr>
          <p:cNvPr id="5" name="Shape 3"/>
          <p:cNvSpPr/>
          <p:nvPr/>
        </p:nvSpPr>
        <p:spPr>
          <a:xfrm>
            <a:off x="731520" y="4114800"/>
            <a:ext cx="10698480" cy="1737360"/>
          </a:xfrm>
          <a:prstGeom prst="roundRect">
            <a:avLst>
              <a:gd name="adj" fmla="val 4211"/>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6" name="Text 4"/>
          <p:cNvSpPr/>
          <p:nvPr/>
        </p:nvSpPr>
        <p:spPr>
          <a:xfrm>
            <a:off x="932688" y="4279392"/>
            <a:ext cx="10296144" cy="1408176"/>
          </a:xfrm>
          <a:prstGeom prst="rect">
            <a:avLst/>
          </a:prstGeom>
          <a:noFill/>
          <a:ln/>
        </p:spPr>
        <p:txBody>
          <a:bodyPr wrap="square" lIns="0" tIns="0" rIns="0" bIns="0" rtlCol="0" anchor="t"/>
          <a:lstStyle/>
          <a:p>
            <a:pPr algn="l" indent="0" marL="0">
              <a:lnSpc>
                <a:spcPct val="108000"/>
              </a:lnSpc>
              <a:buNone/>
            </a:pPr>
            <a:r>
              <a:rPr lang="en-US" sz="1500" dirty="0">
                <a:solidFill>
                  <a:srgbClr val="DCEAF1"/>
                </a:solidFill>
                <a:latin typeface="Courier New" pitchFamily="34" charset="0"/>
                <a:ea typeface="Courier New" pitchFamily="34" charset="-122"/>
                <a:cs typeface="Courier New" pitchFamily="34" charset="-120"/>
              </a:rPr>
              <a:t>if ( wpyeg_defaults_enabled( 'restrict_rest_user_discovery' ) ) {</a:t>
            </a:r>
            <a:endParaRPr lang="en-US" sz="1500" dirty="0"/>
          </a:p>
          <a:p>
            <a:pPr algn="l" indent="0" marL="0">
              <a:lnSpc>
                <a:spcPct val="108000"/>
              </a:lnSpc>
              <a:buNone/>
            </a:pPr>
            <a:r>
              <a:rPr lang="en-US" sz="1500" dirty="0">
                <a:solidFill>
                  <a:srgbClr val="E7C070"/>
                </a:solidFill>
                <a:latin typeface="Courier New" pitchFamily="34" charset="0"/>
                <a:ea typeface="Courier New" pitchFamily="34" charset="-122"/>
                <a:cs typeface="Courier New" pitchFamily="34" charset="-120"/>
              </a:rPr>
              <a:t>    add_filter( 'rest_endpoints', $hide_users_endpoint );</a:t>
            </a:r>
            <a:endParaRPr lang="en-US" sz="1500" dirty="0"/>
          </a:p>
          <a:p>
            <a:pPr algn="l" indent="0" marL="0">
              <a:lnSpc>
                <a:spcPct val="108000"/>
              </a:lnSpc>
              <a:buNone/>
            </a:pPr>
            <a:r>
              <a:rPr lang="en-US" sz="1500" dirty="0">
                <a:solidFill>
                  <a:srgbClr val="8FBF9F"/>
                </a:solidFill>
                <a:latin typeface="Courier New" pitchFamily="34" charset="0"/>
                <a:ea typeface="Courier New" pitchFamily="34" charset="-122"/>
                <a:cs typeface="Courier New" pitchFamily="34" charset="-120"/>
              </a:rPr>
              <a:t>}   // that's the whole pattern, repeated across the plugin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502920"/>
            <a:ext cx="10972800" cy="731520"/>
          </a:xfrm>
          <a:prstGeom prst="rect">
            <a:avLst/>
          </a:prstGeom>
          <a:noFill/>
          <a:ln/>
        </p:spPr>
        <p:txBody>
          <a:bodyPr wrap="square" lIns="0" tIns="0" rIns="0" bIns="0" rtlCol="0" anchor="ctr"/>
          <a:lstStyle/>
          <a:p>
            <a:pPr indent="0" marL="0">
              <a:buNone/>
            </a:pPr>
            <a:r>
              <a:rPr lang="en-US" sz="3200" b="1" dirty="0">
                <a:solidFill>
                  <a:srgbClr val="0F2733"/>
                </a:solidFill>
                <a:latin typeface="Cambria" pitchFamily="34" charset="0"/>
                <a:ea typeface="Cambria" pitchFamily="34" charset="-122"/>
                <a:cs typeface="Cambria" pitchFamily="34" charset="-120"/>
              </a:rPr>
              <a:t>Hooks</a:t>
            </a:r>
            <a:endParaRPr lang="en-US" sz="3200" dirty="0"/>
          </a:p>
        </p:txBody>
      </p:sp>
      <p:sp>
        <p:nvSpPr>
          <p:cNvPr id="3" name="Text 1"/>
          <p:cNvSpPr/>
          <p:nvPr/>
        </p:nvSpPr>
        <p:spPr>
          <a:xfrm>
            <a:off x="548640" y="1280160"/>
            <a:ext cx="10789920" cy="640080"/>
          </a:xfrm>
          <a:prstGeom prst="rect">
            <a:avLst/>
          </a:prstGeom>
          <a:noFill/>
          <a:ln/>
        </p:spPr>
        <p:txBody>
          <a:bodyPr wrap="square" lIns="0" tIns="0" rIns="0" bIns="0" rtlCol="0" anchor="ctr"/>
          <a:lstStyle/>
          <a:p>
            <a:pPr indent="0" marL="0">
              <a:buNone/>
            </a:pPr>
            <a:r>
              <a:rPr lang="en-US" sz="1600" dirty="0">
                <a:solidFill>
                  <a:srgbClr val="4A5A63"/>
                </a:solidFill>
                <a:latin typeface="Calibri" pitchFamily="34" charset="0"/>
                <a:ea typeface="Calibri" pitchFamily="34" charset="-122"/>
                <a:cs typeface="Calibri" pitchFamily="34" charset="-120"/>
              </a:rPr>
              <a:t>WordPress is built to be interrupted at labelled moments (hooks) so you never edit core code.</a:t>
            </a:r>
            <a:endParaRPr lang="en-US" sz="1600" dirty="0"/>
          </a:p>
        </p:txBody>
      </p:sp>
      <p:sp>
        <p:nvSpPr>
          <p:cNvPr id="4" name="Shape 2"/>
          <p:cNvSpPr/>
          <p:nvPr/>
        </p:nvSpPr>
        <p:spPr>
          <a:xfrm>
            <a:off x="548640" y="2148840"/>
            <a:ext cx="11064240" cy="1645920"/>
          </a:xfrm>
          <a:prstGeom prst="roundRect">
            <a:avLst>
              <a:gd name="adj" fmla="val 5000"/>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5" name="Shape 3"/>
          <p:cNvSpPr/>
          <p:nvPr/>
        </p:nvSpPr>
        <p:spPr>
          <a:xfrm>
            <a:off x="868680" y="2651760"/>
            <a:ext cx="640080" cy="640080"/>
          </a:xfrm>
          <a:prstGeom prst="ellipse">
            <a:avLst/>
          </a:prstGeom>
          <a:solidFill>
            <a:srgbClr val="27607A"/>
          </a:solidFill>
          <a:ln/>
        </p:spPr>
      </p:sp>
      <p:sp>
        <p:nvSpPr>
          <p:cNvPr id="6" name="Text 4"/>
          <p:cNvSpPr/>
          <p:nvPr/>
        </p:nvSpPr>
        <p:spPr>
          <a:xfrm>
            <a:off x="868680" y="2651760"/>
            <a:ext cx="640080" cy="640080"/>
          </a:xfrm>
          <a:prstGeom prst="rect">
            <a:avLst/>
          </a:prstGeom>
          <a:noFill/>
          <a:ln/>
        </p:spPr>
        <p:txBody>
          <a:bodyPr wrap="square" lIns="0" tIns="0" rIns="0" bIns="0" rtlCol="0" anchor="ctr"/>
          <a:lstStyle/>
          <a:p>
            <a:pPr algn="ctr" indent="0" marL="0">
              <a:buNone/>
            </a:pPr>
            <a:r>
              <a:rPr lang="en-US" sz="1820" b="1" dirty="0">
                <a:solidFill>
                  <a:srgbClr val="FFFFFF"/>
                </a:solidFill>
                <a:latin typeface="Cambria" pitchFamily="34" charset="0"/>
                <a:ea typeface="Cambria" pitchFamily="34" charset="-122"/>
                <a:cs typeface="Cambria" pitchFamily="34" charset="-120"/>
              </a:rPr>
              <a:t>A</a:t>
            </a:r>
            <a:endParaRPr lang="en-US" sz="1820" dirty="0"/>
          </a:p>
        </p:txBody>
      </p:sp>
      <p:sp>
        <p:nvSpPr>
          <p:cNvPr id="7" name="Text 5"/>
          <p:cNvSpPr/>
          <p:nvPr/>
        </p:nvSpPr>
        <p:spPr>
          <a:xfrm>
            <a:off x="1737360" y="2350008"/>
            <a:ext cx="2743200" cy="457200"/>
          </a:xfrm>
          <a:prstGeom prst="rect">
            <a:avLst/>
          </a:prstGeom>
          <a:noFill/>
          <a:ln/>
        </p:spPr>
        <p:txBody>
          <a:bodyPr wrap="square" lIns="0" tIns="0" rIns="0" bIns="0" rtlCol="0" anchor="ctr"/>
          <a:lstStyle/>
          <a:p>
            <a:pPr indent="0" marL="0">
              <a:buNone/>
            </a:pPr>
            <a:r>
              <a:rPr lang="en-US" sz="2200" b="1" dirty="0">
                <a:solidFill>
                  <a:srgbClr val="27607A"/>
                </a:solidFill>
                <a:latin typeface="Cambria" pitchFamily="34" charset="0"/>
                <a:ea typeface="Cambria" pitchFamily="34" charset="-122"/>
                <a:cs typeface="Cambria" pitchFamily="34" charset="-120"/>
              </a:rPr>
              <a:t>Actions</a:t>
            </a:r>
            <a:endParaRPr lang="en-US" sz="2200" dirty="0"/>
          </a:p>
        </p:txBody>
      </p:sp>
      <p:sp>
        <p:nvSpPr>
          <p:cNvPr id="8" name="Text 6"/>
          <p:cNvSpPr/>
          <p:nvPr/>
        </p:nvSpPr>
        <p:spPr>
          <a:xfrm>
            <a:off x="1737360" y="2834640"/>
            <a:ext cx="5852160" cy="822960"/>
          </a:xfrm>
          <a:prstGeom prst="rect">
            <a:avLst/>
          </a:prstGeom>
          <a:noFill/>
          <a:ln/>
        </p:spPr>
        <p:txBody>
          <a:bodyPr wrap="square" lIns="0" tIns="0" rIns="0" bIns="0" rtlCol="0" anchor="t"/>
          <a:lstStyle/>
          <a:p>
            <a:pPr indent="0" marL="0">
              <a:buNone/>
            </a:pPr>
            <a:r>
              <a:rPr lang="en-US" sz="1450" dirty="0">
                <a:solidFill>
                  <a:srgbClr val="4A5A63"/>
                </a:solidFill>
                <a:latin typeface="Calibri" pitchFamily="34" charset="0"/>
                <a:ea typeface="Calibri" pitchFamily="34" charset="-122"/>
                <a:cs typeface="Calibri" pitchFamily="34" charset="-120"/>
              </a:rPr>
              <a:t>“When you reach this moment, also DO this.”</a:t>
            </a:r>
            <a:endParaRPr lang="en-US" sz="1450" dirty="0"/>
          </a:p>
        </p:txBody>
      </p:sp>
      <p:sp>
        <p:nvSpPr>
          <p:cNvPr id="9" name="Shape 7"/>
          <p:cNvSpPr/>
          <p:nvPr/>
        </p:nvSpPr>
        <p:spPr>
          <a:xfrm>
            <a:off x="7772400" y="2606040"/>
            <a:ext cx="3611880" cy="731520"/>
          </a:xfrm>
          <a:prstGeom prst="roundRect">
            <a:avLst>
              <a:gd name="adj" fmla="val 7500"/>
            </a:avLst>
          </a:prstGeom>
          <a:solidFill>
            <a:srgbClr val="0E2836"/>
          </a:solidFill>
          <a:ln/>
        </p:spPr>
      </p:sp>
      <p:sp>
        <p:nvSpPr>
          <p:cNvPr id="10" name="Text 8"/>
          <p:cNvSpPr/>
          <p:nvPr/>
        </p:nvSpPr>
        <p:spPr>
          <a:xfrm>
            <a:off x="7909560" y="2606040"/>
            <a:ext cx="3383280" cy="731520"/>
          </a:xfrm>
          <a:prstGeom prst="rect">
            <a:avLst/>
          </a:prstGeom>
          <a:noFill/>
          <a:ln/>
        </p:spPr>
        <p:txBody>
          <a:bodyPr wrap="square" lIns="0" tIns="0" rIns="0" bIns="0" rtlCol="0" anchor="ctr"/>
          <a:lstStyle/>
          <a:p>
            <a:pPr indent="0" marL="0">
              <a:buNone/>
            </a:pPr>
            <a:r>
              <a:rPr lang="en-US" sz="1050" dirty="0">
                <a:solidFill>
                  <a:srgbClr val="E7C070"/>
                </a:solidFill>
                <a:latin typeface="Courier New" pitchFamily="34" charset="0"/>
                <a:ea typeface="Courier New" pitchFamily="34" charset="-122"/>
                <a:cs typeface="Courier New" pitchFamily="34" charset="-120"/>
              </a:rPr>
              <a:t>add_action( 'init', 'my_callback' );</a:t>
            </a:r>
            <a:endParaRPr lang="en-US" sz="1050" dirty="0"/>
          </a:p>
        </p:txBody>
      </p:sp>
      <p:sp>
        <p:nvSpPr>
          <p:cNvPr id="11" name="Shape 9"/>
          <p:cNvSpPr/>
          <p:nvPr/>
        </p:nvSpPr>
        <p:spPr>
          <a:xfrm>
            <a:off x="548640" y="4023360"/>
            <a:ext cx="11064240" cy="1645920"/>
          </a:xfrm>
          <a:prstGeom prst="roundRect">
            <a:avLst>
              <a:gd name="adj" fmla="val 5000"/>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2" name="Shape 10"/>
          <p:cNvSpPr/>
          <p:nvPr/>
        </p:nvSpPr>
        <p:spPr>
          <a:xfrm>
            <a:off x="868680" y="4526280"/>
            <a:ext cx="640080" cy="640080"/>
          </a:xfrm>
          <a:prstGeom prst="ellipse">
            <a:avLst/>
          </a:prstGeom>
          <a:solidFill>
            <a:srgbClr val="27607A"/>
          </a:solidFill>
          <a:ln/>
        </p:spPr>
      </p:sp>
      <p:sp>
        <p:nvSpPr>
          <p:cNvPr id="13" name="Text 11"/>
          <p:cNvSpPr/>
          <p:nvPr/>
        </p:nvSpPr>
        <p:spPr>
          <a:xfrm>
            <a:off x="868680" y="4526280"/>
            <a:ext cx="640080" cy="640080"/>
          </a:xfrm>
          <a:prstGeom prst="rect">
            <a:avLst/>
          </a:prstGeom>
          <a:noFill/>
          <a:ln/>
        </p:spPr>
        <p:txBody>
          <a:bodyPr wrap="square" lIns="0" tIns="0" rIns="0" bIns="0" rtlCol="0" anchor="ctr"/>
          <a:lstStyle/>
          <a:p>
            <a:pPr algn="ctr" indent="0" marL="0">
              <a:buNone/>
            </a:pPr>
            <a:r>
              <a:rPr lang="en-US" sz="1820" b="1" dirty="0">
                <a:solidFill>
                  <a:srgbClr val="FFFFFF"/>
                </a:solidFill>
                <a:latin typeface="Cambria" pitchFamily="34" charset="0"/>
                <a:ea typeface="Cambria" pitchFamily="34" charset="-122"/>
                <a:cs typeface="Cambria" pitchFamily="34" charset="-120"/>
              </a:rPr>
              <a:t>F</a:t>
            </a:r>
            <a:endParaRPr lang="en-US" sz="1820" dirty="0"/>
          </a:p>
        </p:txBody>
      </p:sp>
      <p:sp>
        <p:nvSpPr>
          <p:cNvPr id="14" name="Text 12"/>
          <p:cNvSpPr/>
          <p:nvPr/>
        </p:nvSpPr>
        <p:spPr>
          <a:xfrm>
            <a:off x="1737360" y="4224528"/>
            <a:ext cx="2743200" cy="457200"/>
          </a:xfrm>
          <a:prstGeom prst="rect">
            <a:avLst/>
          </a:prstGeom>
          <a:noFill/>
          <a:ln/>
        </p:spPr>
        <p:txBody>
          <a:bodyPr wrap="square" lIns="0" tIns="0" rIns="0" bIns="0" rtlCol="0" anchor="ctr"/>
          <a:lstStyle/>
          <a:p>
            <a:pPr indent="0" marL="0">
              <a:buNone/>
            </a:pPr>
            <a:r>
              <a:rPr lang="en-US" sz="2200" b="1" dirty="0">
                <a:solidFill>
                  <a:srgbClr val="27607A"/>
                </a:solidFill>
                <a:latin typeface="Cambria" pitchFamily="34" charset="0"/>
                <a:ea typeface="Cambria" pitchFamily="34" charset="-122"/>
                <a:cs typeface="Cambria" pitchFamily="34" charset="-120"/>
              </a:rPr>
              <a:t>Filters</a:t>
            </a:r>
            <a:endParaRPr lang="en-US" sz="2200" dirty="0"/>
          </a:p>
        </p:txBody>
      </p:sp>
      <p:sp>
        <p:nvSpPr>
          <p:cNvPr id="15" name="Text 13"/>
          <p:cNvSpPr/>
          <p:nvPr/>
        </p:nvSpPr>
        <p:spPr>
          <a:xfrm>
            <a:off x="1737360" y="4709160"/>
            <a:ext cx="5852160" cy="822960"/>
          </a:xfrm>
          <a:prstGeom prst="rect">
            <a:avLst/>
          </a:prstGeom>
          <a:noFill/>
          <a:ln/>
        </p:spPr>
        <p:txBody>
          <a:bodyPr wrap="square" lIns="0" tIns="0" rIns="0" bIns="0" rtlCol="0" anchor="t"/>
          <a:lstStyle/>
          <a:p>
            <a:pPr indent="0" marL="0">
              <a:buNone/>
            </a:pPr>
            <a:r>
              <a:rPr lang="en-US" sz="1450" dirty="0">
                <a:solidFill>
                  <a:srgbClr val="4A5A63"/>
                </a:solidFill>
                <a:latin typeface="Calibri" pitchFamily="34" charset="0"/>
                <a:ea typeface="Calibri" pitchFamily="34" charset="-122"/>
                <a:cs typeface="Calibri" pitchFamily="34" charset="-120"/>
              </a:rPr>
              <a:t>“Before you use this value, let me CHANGE it first.”</a:t>
            </a:r>
            <a:endParaRPr lang="en-US" sz="1450" dirty="0"/>
          </a:p>
        </p:txBody>
      </p:sp>
      <p:sp>
        <p:nvSpPr>
          <p:cNvPr id="16" name="Shape 14"/>
          <p:cNvSpPr/>
          <p:nvPr/>
        </p:nvSpPr>
        <p:spPr>
          <a:xfrm>
            <a:off x="7772400" y="4480560"/>
            <a:ext cx="3611880" cy="731520"/>
          </a:xfrm>
          <a:prstGeom prst="roundRect">
            <a:avLst>
              <a:gd name="adj" fmla="val 7500"/>
            </a:avLst>
          </a:prstGeom>
          <a:solidFill>
            <a:srgbClr val="0E2836"/>
          </a:solidFill>
          <a:ln/>
        </p:spPr>
      </p:sp>
      <p:sp>
        <p:nvSpPr>
          <p:cNvPr id="17" name="Text 15"/>
          <p:cNvSpPr/>
          <p:nvPr/>
        </p:nvSpPr>
        <p:spPr>
          <a:xfrm>
            <a:off x="7909560" y="4480560"/>
            <a:ext cx="3383280" cy="731520"/>
          </a:xfrm>
          <a:prstGeom prst="rect">
            <a:avLst/>
          </a:prstGeom>
          <a:noFill/>
          <a:ln/>
        </p:spPr>
        <p:txBody>
          <a:bodyPr wrap="square" lIns="0" tIns="0" rIns="0" bIns="0" rtlCol="0" anchor="ctr"/>
          <a:lstStyle/>
          <a:p>
            <a:pPr indent="0" marL="0">
              <a:buNone/>
            </a:pPr>
            <a:r>
              <a:rPr lang="en-US" sz="1050" dirty="0">
                <a:solidFill>
                  <a:srgbClr val="E7C070"/>
                </a:solidFill>
                <a:latin typeface="Courier New" pitchFamily="34" charset="0"/>
                <a:ea typeface="Courier New" pitchFamily="34" charset="-122"/>
                <a:cs typeface="Courier New" pitchFamily="34" charset="-120"/>
              </a:rPr>
              <a:t>add_filter( 'xmlrpc_enabled', '__return_false' );</a:t>
            </a:r>
            <a:endParaRPr lang="en-US" sz="1050" dirty="0"/>
          </a:p>
        </p:txBody>
      </p:sp>
      <p:sp>
        <p:nvSpPr>
          <p:cNvPr id="18" name="Text 16"/>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9" name="Text 17"/>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640080" cy="640080"/>
          </a:xfrm>
          <a:prstGeom prst="ellipse">
            <a:avLst/>
          </a:prstGeom>
          <a:solidFill>
            <a:srgbClr val="E0A94B"/>
          </a:solidFill>
          <a:ln/>
        </p:spPr>
      </p:sp>
      <p:sp>
        <p:nvSpPr>
          <p:cNvPr id="3" name="Text 1"/>
          <p:cNvSpPr/>
          <p:nvPr/>
        </p:nvSpPr>
        <p:spPr>
          <a:xfrm>
            <a:off x="548640" y="50292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a:t>
            </a:r>
            <a:endParaRPr lang="en-US" sz="1820" dirty="0"/>
          </a:p>
        </p:txBody>
      </p:sp>
      <p:sp>
        <p:nvSpPr>
          <p:cNvPr id="4" name="Text 2"/>
          <p:cNvSpPr/>
          <p:nvPr/>
        </p:nvSpPr>
        <p:spPr>
          <a:xfrm>
            <a:off x="1325880" y="502920"/>
            <a:ext cx="10058400" cy="68580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What wins when settings overlap?</a:t>
            </a:r>
            <a:endParaRPr lang="en-US" sz="3000" dirty="0"/>
          </a:p>
        </p:txBody>
      </p:sp>
      <p:sp>
        <p:nvSpPr>
          <p:cNvPr id="5" name="Shape 3"/>
          <p:cNvSpPr/>
          <p:nvPr/>
        </p:nvSpPr>
        <p:spPr>
          <a:xfrm>
            <a:off x="548640" y="1371600"/>
            <a:ext cx="11064240" cy="914400"/>
          </a:xfrm>
          <a:prstGeom prst="roundRect">
            <a:avLst>
              <a:gd name="adj" fmla="val 8000"/>
            </a:avLst>
          </a:prstGeom>
          <a:solidFill>
            <a:srgbClr val="FFFFFF"/>
          </a:solidFill>
          <a:ln w="12700">
            <a:solidFill>
              <a:srgbClr val="DCE6EB"/>
            </a:solidFill>
            <a:prstDash val="solid"/>
          </a:ln>
          <a:effectLst>
            <a:outerShdw sx="100000" sy="100000" kx="0" ky="0" algn="bl" rotWithShape="0" blurRad="50800" dist="25400" dir="5400000">
              <a:srgbClr val="C7D4DB">
                <a:alpha val="50000"/>
              </a:srgbClr>
            </a:outerShdw>
          </a:effectLst>
        </p:spPr>
      </p:sp>
      <p:sp>
        <p:nvSpPr>
          <p:cNvPr id="6" name="Shape 4"/>
          <p:cNvSpPr/>
          <p:nvPr/>
        </p:nvSpPr>
        <p:spPr>
          <a:xfrm>
            <a:off x="822960" y="1600200"/>
            <a:ext cx="457200" cy="457200"/>
          </a:xfrm>
          <a:prstGeom prst="ellipse">
            <a:avLst/>
          </a:prstGeom>
          <a:solidFill>
            <a:srgbClr val="27607A"/>
          </a:solidFill>
          <a:ln/>
        </p:spPr>
      </p:sp>
      <p:sp>
        <p:nvSpPr>
          <p:cNvPr id="7" name="Text 5"/>
          <p:cNvSpPr/>
          <p:nvPr/>
        </p:nvSpPr>
        <p:spPr>
          <a:xfrm>
            <a:off x="822960" y="16002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1463040" y="1444752"/>
            <a:ext cx="3291840" cy="777240"/>
          </a:xfrm>
          <a:prstGeom prst="rect">
            <a:avLst/>
          </a:prstGeom>
          <a:noFill/>
          <a:ln/>
        </p:spPr>
        <p:txBody>
          <a:bodyPr wrap="square" lIns="0" tIns="0" rIns="0" bIns="0" rtlCol="0" anchor="ctr"/>
          <a:lstStyle/>
          <a:p>
            <a:pPr indent="0" marL="0">
              <a:buNone/>
            </a:pPr>
            <a:r>
              <a:rPr lang="en-US" sz="1700" b="1" dirty="0">
                <a:solidFill>
                  <a:srgbClr val="0F2733"/>
                </a:solidFill>
                <a:latin typeface="Cambria" pitchFamily="34" charset="0"/>
                <a:ea typeface="Cambria" pitchFamily="34" charset="-122"/>
                <a:cs typeface="Cambria" pitchFamily="34" charset="-120"/>
              </a:rPr>
              <a:t>wp-config.php constants</a:t>
            </a:r>
            <a:endParaRPr lang="en-US" sz="1700" dirty="0"/>
          </a:p>
        </p:txBody>
      </p:sp>
      <p:sp>
        <p:nvSpPr>
          <p:cNvPr id="9" name="Text 7"/>
          <p:cNvSpPr/>
          <p:nvPr/>
        </p:nvSpPr>
        <p:spPr>
          <a:xfrm>
            <a:off x="4754880" y="1444752"/>
            <a:ext cx="6675120" cy="777240"/>
          </a:xfrm>
          <a:prstGeom prst="rect">
            <a:avLst/>
          </a:prstGeom>
          <a:noFill/>
          <a:ln/>
        </p:spPr>
        <p:txBody>
          <a:bodyPr wrap="square" lIns="0" tIns="0" rIns="0" bIns="0" rtlCol="0" anchor="ctr"/>
          <a:lstStyle/>
          <a:p>
            <a:pPr indent="0" marL="0">
              <a:buNone/>
            </a:pPr>
            <a:r>
              <a:rPr lang="en-US" sz="1400" dirty="0">
                <a:solidFill>
                  <a:srgbClr val="4A5A63"/>
                </a:solidFill>
                <a:latin typeface="Calibri" pitchFamily="34" charset="0"/>
                <a:ea typeface="Calibri" pitchFamily="34" charset="-122"/>
                <a:cs typeface="Calibri" pitchFamily="34" charset="-120"/>
              </a:rPr>
              <a:t>Load first. When core treats one as authoritative, plugin settings cannot override it.</a:t>
            </a:r>
            <a:endParaRPr lang="en-US" sz="1400" dirty="0"/>
          </a:p>
        </p:txBody>
      </p:sp>
      <p:sp>
        <p:nvSpPr>
          <p:cNvPr id="10" name="Shape 8"/>
          <p:cNvSpPr/>
          <p:nvPr/>
        </p:nvSpPr>
        <p:spPr>
          <a:xfrm>
            <a:off x="548640" y="2414016"/>
            <a:ext cx="11064240" cy="914400"/>
          </a:xfrm>
          <a:prstGeom prst="roundRect">
            <a:avLst>
              <a:gd name="adj" fmla="val 8000"/>
            </a:avLst>
          </a:prstGeom>
          <a:solidFill>
            <a:srgbClr val="FFFFFF"/>
          </a:solidFill>
          <a:ln w="12700">
            <a:solidFill>
              <a:srgbClr val="DCE6EB"/>
            </a:solidFill>
            <a:prstDash val="solid"/>
          </a:ln>
          <a:effectLst>
            <a:outerShdw sx="100000" sy="100000" kx="0" ky="0" algn="bl" rotWithShape="0" blurRad="50800" dist="25400" dir="5400000">
              <a:srgbClr val="C7D4DB">
                <a:alpha val="50000"/>
              </a:srgbClr>
            </a:outerShdw>
          </a:effectLst>
        </p:spPr>
      </p:sp>
      <p:sp>
        <p:nvSpPr>
          <p:cNvPr id="11" name="Shape 9"/>
          <p:cNvSpPr/>
          <p:nvPr/>
        </p:nvSpPr>
        <p:spPr>
          <a:xfrm>
            <a:off x="822960" y="2642616"/>
            <a:ext cx="457200" cy="457200"/>
          </a:xfrm>
          <a:prstGeom prst="ellipse">
            <a:avLst/>
          </a:prstGeom>
          <a:solidFill>
            <a:srgbClr val="27607A"/>
          </a:solidFill>
          <a:ln/>
        </p:spPr>
      </p:sp>
      <p:sp>
        <p:nvSpPr>
          <p:cNvPr id="12" name="Text 10"/>
          <p:cNvSpPr/>
          <p:nvPr/>
        </p:nvSpPr>
        <p:spPr>
          <a:xfrm>
            <a:off x="822960" y="26426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p:nvPr/>
        </p:nvSpPr>
        <p:spPr>
          <a:xfrm>
            <a:off x="1463040" y="2487168"/>
            <a:ext cx="3291840" cy="777240"/>
          </a:xfrm>
          <a:prstGeom prst="rect">
            <a:avLst/>
          </a:prstGeom>
          <a:noFill/>
          <a:ln/>
        </p:spPr>
        <p:txBody>
          <a:bodyPr wrap="square" lIns="0" tIns="0" rIns="0" bIns="0" rtlCol="0" anchor="ctr"/>
          <a:lstStyle/>
          <a:p>
            <a:pPr indent="0" marL="0">
              <a:buNone/>
            </a:pPr>
            <a:r>
              <a:rPr lang="en-US" sz="1700" b="1" dirty="0">
                <a:solidFill>
                  <a:srgbClr val="0F2733"/>
                </a:solidFill>
                <a:latin typeface="Cambria" pitchFamily="34" charset="0"/>
                <a:ea typeface="Cambria" pitchFamily="34" charset="-122"/>
                <a:cs typeface="Cambria" pitchFamily="34" charset="-120"/>
              </a:rPr>
              <a:t>Must-use plugins</a:t>
            </a:r>
            <a:endParaRPr lang="en-US" sz="1700" dirty="0"/>
          </a:p>
        </p:txBody>
      </p:sp>
      <p:sp>
        <p:nvSpPr>
          <p:cNvPr id="14" name="Text 12"/>
          <p:cNvSpPr/>
          <p:nvPr/>
        </p:nvSpPr>
        <p:spPr>
          <a:xfrm>
            <a:off x="4754880" y="2487168"/>
            <a:ext cx="6675120" cy="777240"/>
          </a:xfrm>
          <a:prstGeom prst="rect">
            <a:avLst/>
          </a:prstGeom>
          <a:noFill/>
          <a:ln/>
        </p:spPr>
        <p:txBody>
          <a:bodyPr wrap="square" lIns="0" tIns="0" rIns="0" bIns="0" rtlCol="0" anchor="ctr"/>
          <a:lstStyle/>
          <a:p>
            <a:pPr indent="0" marL="0">
              <a:buNone/>
            </a:pPr>
            <a:r>
              <a:rPr lang="en-US" sz="1400" dirty="0">
                <a:solidFill>
                  <a:srgbClr val="4A5A63"/>
                </a:solidFill>
                <a:latin typeface="Calibri" pitchFamily="34" charset="0"/>
                <a:ea typeface="Calibri" pitchFamily="34" charset="-122"/>
                <a:cs typeface="Calibri" pitchFamily="34" charset="-120"/>
              </a:rPr>
              <a:t>Load before normal plugins, so their callbacks register first.</a:t>
            </a:r>
            <a:endParaRPr lang="en-US" sz="1400" dirty="0"/>
          </a:p>
        </p:txBody>
      </p:sp>
      <p:sp>
        <p:nvSpPr>
          <p:cNvPr id="15" name="Shape 13"/>
          <p:cNvSpPr/>
          <p:nvPr/>
        </p:nvSpPr>
        <p:spPr>
          <a:xfrm>
            <a:off x="548640" y="3456432"/>
            <a:ext cx="11064240" cy="914400"/>
          </a:xfrm>
          <a:prstGeom prst="roundRect">
            <a:avLst>
              <a:gd name="adj" fmla="val 8000"/>
            </a:avLst>
          </a:prstGeom>
          <a:solidFill>
            <a:srgbClr val="FFFFFF"/>
          </a:solidFill>
          <a:ln w="12700">
            <a:solidFill>
              <a:srgbClr val="DCE6EB"/>
            </a:solidFill>
            <a:prstDash val="solid"/>
          </a:ln>
          <a:effectLst>
            <a:outerShdw sx="100000" sy="100000" kx="0" ky="0" algn="bl" rotWithShape="0" blurRad="50800" dist="25400" dir="5400000">
              <a:srgbClr val="C7D4DB">
                <a:alpha val="50000"/>
              </a:srgbClr>
            </a:outerShdw>
          </a:effectLst>
        </p:spPr>
      </p:sp>
      <p:sp>
        <p:nvSpPr>
          <p:cNvPr id="16" name="Shape 14"/>
          <p:cNvSpPr/>
          <p:nvPr/>
        </p:nvSpPr>
        <p:spPr>
          <a:xfrm>
            <a:off x="822960" y="3685032"/>
            <a:ext cx="457200" cy="457200"/>
          </a:xfrm>
          <a:prstGeom prst="ellipse">
            <a:avLst/>
          </a:prstGeom>
          <a:solidFill>
            <a:srgbClr val="27607A"/>
          </a:solidFill>
          <a:ln/>
        </p:spPr>
      </p:sp>
      <p:sp>
        <p:nvSpPr>
          <p:cNvPr id="17" name="Text 15"/>
          <p:cNvSpPr/>
          <p:nvPr/>
        </p:nvSpPr>
        <p:spPr>
          <a:xfrm>
            <a:off x="822960"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p:nvPr/>
        </p:nvSpPr>
        <p:spPr>
          <a:xfrm>
            <a:off x="1463040" y="3529584"/>
            <a:ext cx="3291840" cy="777240"/>
          </a:xfrm>
          <a:prstGeom prst="rect">
            <a:avLst/>
          </a:prstGeom>
          <a:noFill/>
          <a:ln/>
        </p:spPr>
        <p:txBody>
          <a:bodyPr wrap="square" lIns="0" tIns="0" rIns="0" bIns="0" rtlCol="0" anchor="ctr"/>
          <a:lstStyle/>
          <a:p>
            <a:pPr indent="0" marL="0">
              <a:buNone/>
            </a:pPr>
            <a:r>
              <a:rPr lang="en-US" sz="1700" b="1" dirty="0">
                <a:solidFill>
                  <a:srgbClr val="0F2733"/>
                </a:solidFill>
                <a:latin typeface="Cambria" pitchFamily="34" charset="0"/>
                <a:ea typeface="Cambria" pitchFamily="34" charset="-122"/>
                <a:cs typeface="Cambria" pitchFamily="34" charset="-120"/>
              </a:rPr>
              <a:t>Normal plugins</a:t>
            </a:r>
            <a:endParaRPr lang="en-US" sz="1700" dirty="0"/>
          </a:p>
        </p:txBody>
      </p:sp>
      <p:sp>
        <p:nvSpPr>
          <p:cNvPr id="19" name="Text 17"/>
          <p:cNvSpPr/>
          <p:nvPr/>
        </p:nvSpPr>
        <p:spPr>
          <a:xfrm>
            <a:off x="4754880" y="3529584"/>
            <a:ext cx="6675120" cy="777240"/>
          </a:xfrm>
          <a:prstGeom prst="rect">
            <a:avLst/>
          </a:prstGeom>
          <a:noFill/>
          <a:ln/>
        </p:spPr>
        <p:txBody>
          <a:bodyPr wrap="square" lIns="0" tIns="0" rIns="0" bIns="0" rtlCol="0" anchor="ctr"/>
          <a:lstStyle/>
          <a:p>
            <a:pPr indent="0" marL="0">
              <a:buNone/>
            </a:pPr>
            <a:r>
              <a:rPr lang="en-US" sz="1400" dirty="0">
                <a:solidFill>
                  <a:srgbClr val="4A5A63"/>
                </a:solidFill>
                <a:latin typeface="Calibri" pitchFamily="34" charset="0"/>
                <a:ea typeface="Calibri" pitchFamily="34" charset="-122"/>
                <a:cs typeface="Calibri" pitchFamily="34" charset="-120"/>
              </a:rPr>
              <a:t>Load in active_plugins order — PMP before BBD on this demo site.</a:t>
            </a:r>
            <a:endParaRPr lang="en-US" sz="1400" dirty="0"/>
          </a:p>
        </p:txBody>
      </p:sp>
      <p:sp>
        <p:nvSpPr>
          <p:cNvPr id="20" name="Shape 18"/>
          <p:cNvSpPr/>
          <p:nvPr/>
        </p:nvSpPr>
        <p:spPr>
          <a:xfrm>
            <a:off x="548640" y="4498848"/>
            <a:ext cx="11064240" cy="914400"/>
          </a:xfrm>
          <a:prstGeom prst="roundRect">
            <a:avLst>
              <a:gd name="adj" fmla="val 8000"/>
            </a:avLst>
          </a:prstGeom>
          <a:solidFill>
            <a:srgbClr val="FFFFFF"/>
          </a:solidFill>
          <a:ln w="12700">
            <a:solidFill>
              <a:srgbClr val="DCE6EB"/>
            </a:solidFill>
            <a:prstDash val="solid"/>
          </a:ln>
          <a:effectLst>
            <a:outerShdw sx="100000" sy="100000" kx="0" ky="0" algn="bl" rotWithShape="0" blurRad="50800" dist="25400" dir="5400000">
              <a:srgbClr val="C7D4DB">
                <a:alpha val="50000"/>
              </a:srgbClr>
            </a:outerShdw>
          </a:effectLst>
        </p:spPr>
      </p:sp>
      <p:sp>
        <p:nvSpPr>
          <p:cNvPr id="21" name="Shape 19"/>
          <p:cNvSpPr/>
          <p:nvPr/>
        </p:nvSpPr>
        <p:spPr>
          <a:xfrm>
            <a:off x="822960" y="4727448"/>
            <a:ext cx="457200" cy="457200"/>
          </a:xfrm>
          <a:prstGeom prst="ellipse">
            <a:avLst/>
          </a:prstGeom>
          <a:solidFill>
            <a:srgbClr val="27607A"/>
          </a:solidFill>
          <a:ln/>
        </p:spPr>
      </p:sp>
      <p:sp>
        <p:nvSpPr>
          <p:cNvPr id="22" name="Text 20"/>
          <p:cNvSpPr/>
          <p:nvPr/>
        </p:nvSpPr>
        <p:spPr>
          <a:xfrm>
            <a:off x="822960" y="47274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p:nvPr/>
        </p:nvSpPr>
        <p:spPr>
          <a:xfrm>
            <a:off x="1463040" y="4572000"/>
            <a:ext cx="3291840" cy="777240"/>
          </a:xfrm>
          <a:prstGeom prst="rect">
            <a:avLst/>
          </a:prstGeom>
          <a:noFill/>
          <a:ln/>
        </p:spPr>
        <p:txBody>
          <a:bodyPr wrap="square" lIns="0" tIns="0" rIns="0" bIns="0" rtlCol="0" anchor="ctr"/>
          <a:lstStyle/>
          <a:p>
            <a:pPr indent="0" marL="0">
              <a:buNone/>
            </a:pPr>
            <a:r>
              <a:rPr lang="en-US" sz="1700" b="1" dirty="0">
                <a:solidFill>
                  <a:srgbClr val="0F2733"/>
                </a:solidFill>
                <a:latin typeface="Cambria" pitchFamily="34" charset="0"/>
                <a:ea typeface="Cambria" pitchFamily="34" charset="-122"/>
                <a:cs typeface="Cambria" pitchFamily="34" charset="-120"/>
              </a:rPr>
              <a:t>Hook priority</a:t>
            </a:r>
            <a:endParaRPr lang="en-US" sz="1700" dirty="0"/>
          </a:p>
        </p:txBody>
      </p:sp>
      <p:sp>
        <p:nvSpPr>
          <p:cNvPr id="24" name="Text 22"/>
          <p:cNvSpPr/>
          <p:nvPr/>
        </p:nvSpPr>
        <p:spPr>
          <a:xfrm>
            <a:off x="4754880" y="4572000"/>
            <a:ext cx="6675120" cy="777240"/>
          </a:xfrm>
          <a:prstGeom prst="rect">
            <a:avLst/>
          </a:prstGeom>
          <a:noFill/>
          <a:ln/>
        </p:spPr>
        <p:txBody>
          <a:bodyPr wrap="square" lIns="0" tIns="0" rIns="0" bIns="0" rtlCol="0" anchor="ctr"/>
          <a:lstStyle/>
          <a:p>
            <a:pPr indent="0" marL="0">
              <a:buNone/>
            </a:pPr>
            <a:r>
              <a:rPr lang="en-US" sz="1400" dirty="0">
                <a:solidFill>
                  <a:srgbClr val="4A5A63"/>
                </a:solidFill>
                <a:latin typeface="Calibri" pitchFamily="34" charset="0"/>
                <a:ea typeface="Calibri" pitchFamily="34" charset="-122"/>
                <a:cs typeface="Calibri" pitchFamily="34" charset="-120"/>
              </a:rPr>
              <a:t>Lower runs earlier; higher runs later. Ties keep registration order.</a:t>
            </a:r>
            <a:endParaRPr lang="en-US" sz="1400" dirty="0"/>
          </a:p>
        </p:txBody>
      </p:sp>
      <p:sp>
        <p:nvSpPr>
          <p:cNvPr id="25" name="Shape 23"/>
          <p:cNvSpPr/>
          <p:nvPr/>
        </p:nvSpPr>
        <p:spPr>
          <a:xfrm>
            <a:off x="548640" y="5577840"/>
            <a:ext cx="11064240" cy="658368"/>
          </a:xfrm>
          <a:prstGeom prst="roundRect">
            <a:avLst>
              <a:gd name="adj" fmla="val 9722"/>
            </a:avLst>
          </a:prstGeom>
          <a:solidFill>
            <a:srgbClr val="0E2836"/>
          </a:solidFill>
          <a:ln w="12700">
            <a:solidFill>
              <a:srgbClr val="27607A"/>
            </a:solidFill>
            <a:prstDash val="solid"/>
          </a:ln>
        </p:spPr>
      </p:sp>
      <p:sp>
        <p:nvSpPr>
          <p:cNvPr id="26" name="Text 24"/>
          <p:cNvSpPr/>
          <p:nvPr/>
        </p:nvSpPr>
        <p:spPr>
          <a:xfrm>
            <a:off x="777240" y="5577840"/>
            <a:ext cx="10607040" cy="658368"/>
          </a:xfrm>
          <a:prstGeom prst="rect">
            <a:avLst/>
          </a:prstGeom>
          <a:noFill/>
          <a:ln/>
        </p:spPr>
        <p:txBody>
          <a:bodyPr wrap="square" lIns="0" tIns="0" rIns="0" bIns="0" rtlCol="0" anchor="ctr"/>
          <a:lstStyle/>
          <a:p>
            <a:pPr indent="0" marL="0">
              <a:buNone/>
            </a:pPr>
            <a:r>
              <a:rPr lang="en-US" sz="1300" b="1" dirty="0">
                <a:solidFill>
                  <a:srgbClr val="E7C070"/>
                </a:solidFill>
                <a:latin typeface="Courier New" pitchFamily="34" charset="0"/>
                <a:ea typeface="Courier New" pitchFamily="34" charset="-122"/>
                <a:cs typeface="Courier New" pitchFamily="34" charset="-120"/>
              </a:rPr>
              <a:t>effective behaviour = hard constants + every callback, in execution order</a:t>
            </a:r>
            <a:endParaRPr lang="en-US" sz="1300" dirty="0"/>
          </a:p>
        </p:txBody>
      </p:sp>
      <p:sp>
        <p:nvSpPr>
          <p:cNvPr id="27" name="Text 25"/>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28" name="Text 26"/>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502920"/>
            <a:ext cx="10972800" cy="731520"/>
          </a:xfrm>
          <a:prstGeom prst="rect">
            <a:avLst/>
          </a:prstGeom>
          <a:noFill/>
          <a:ln/>
        </p:spPr>
        <p:txBody>
          <a:bodyPr wrap="square" lIns="0" tIns="0" rIns="0" bIns="0" rtlCol="0" anchor="ctr"/>
          <a:lstStyle/>
          <a:p>
            <a:pPr indent="0" marL="0">
              <a:buNone/>
            </a:pPr>
            <a:r>
              <a:rPr lang="en-US" sz="3400" b="1" dirty="0">
                <a:solidFill>
                  <a:srgbClr val="0F2733"/>
                </a:solidFill>
                <a:latin typeface="Cambria" pitchFamily="34" charset="0"/>
                <a:ea typeface="Cambria" pitchFamily="34" charset="-122"/>
                <a:cs typeface="Cambria" pitchFamily="34" charset="-120"/>
              </a:rPr>
              <a:t>Eight categories of defaults</a:t>
            </a:r>
            <a:endParaRPr lang="en-US" sz="3400" dirty="0"/>
          </a:p>
        </p:txBody>
      </p:sp>
      <p:sp>
        <p:nvSpPr>
          <p:cNvPr id="3" name="Shape 1"/>
          <p:cNvSpPr/>
          <p:nvPr/>
        </p:nvSpPr>
        <p:spPr>
          <a:xfrm>
            <a:off x="548640" y="1554480"/>
            <a:ext cx="2487168" cy="1965960"/>
          </a:xfrm>
          <a:prstGeom prst="roundRect">
            <a:avLst>
              <a:gd name="adj" fmla="val 4651"/>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4" name="Shape 2"/>
          <p:cNvSpPr/>
          <p:nvPr/>
        </p:nvSpPr>
        <p:spPr>
          <a:xfrm>
            <a:off x="868680" y="1874520"/>
            <a:ext cx="640080" cy="640080"/>
          </a:xfrm>
          <a:prstGeom prst="ellipse">
            <a:avLst/>
          </a:prstGeom>
          <a:solidFill>
            <a:srgbClr val="E0A94B"/>
          </a:solidFill>
          <a:ln/>
        </p:spPr>
      </p:sp>
      <p:sp>
        <p:nvSpPr>
          <p:cNvPr id="5" name="Text 3"/>
          <p:cNvSpPr/>
          <p:nvPr/>
        </p:nvSpPr>
        <p:spPr>
          <a:xfrm>
            <a:off x="868680" y="187452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1</a:t>
            </a:r>
            <a:endParaRPr lang="en-US" sz="1820" dirty="0"/>
          </a:p>
        </p:txBody>
      </p:sp>
      <p:sp>
        <p:nvSpPr>
          <p:cNvPr id="6" name="Text 4"/>
          <p:cNvSpPr/>
          <p:nvPr/>
        </p:nvSpPr>
        <p:spPr>
          <a:xfrm>
            <a:off x="868680" y="2560320"/>
            <a:ext cx="1984248" cy="41148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Security</a:t>
            </a:r>
            <a:endParaRPr lang="en-US" sz="1900" dirty="0"/>
          </a:p>
        </p:txBody>
      </p:sp>
      <p:sp>
        <p:nvSpPr>
          <p:cNvPr id="7" name="Text 5"/>
          <p:cNvSpPr/>
          <p:nvPr/>
        </p:nvSpPr>
        <p:spPr>
          <a:xfrm>
            <a:off x="868680" y="2944368"/>
            <a:ext cx="1984248" cy="54864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Make the attack surface smaller</a:t>
            </a:r>
            <a:endParaRPr lang="en-US" sz="1250" dirty="0"/>
          </a:p>
        </p:txBody>
      </p:sp>
      <p:sp>
        <p:nvSpPr>
          <p:cNvPr id="8" name="Shape 6"/>
          <p:cNvSpPr/>
          <p:nvPr/>
        </p:nvSpPr>
        <p:spPr>
          <a:xfrm>
            <a:off x="3419856" y="1554480"/>
            <a:ext cx="2487168" cy="1965960"/>
          </a:xfrm>
          <a:prstGeom prst="roundRect">
            <a:avLst>
              <a:gd name="adj" fmla="val 4651"/>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9" name="Shape 7"/>
          <p:cNvSpPr/>
          <p:nvPr/>
        </p:nvSpPr>
        <p:spPr>
          <a:xfrm>
            <a:off x="3739896" y="1874520"/>
            <a:ext cx="640080" cy="640080"/>
          </a:xfrm>
          <a:prstGeom prst="ellipse">
            <a:avLst/>
          </a:prstGeom>
          <a:solidFill>
            <a:srgbClr val="E0A94B"/>
          </a:solidFill>
          <a:ln/>
        </p:spPr>
      </p:sp>
      <p:sp>
        <p:nvSpPr>
          <p:cNvPr id="10" name="Text 8"/>
          <p:cNvSpPr/>
          <p:nvPr/>
        </p:nvSpPr>
        <p:spPr>
          <a:xfrm>
            <a:off x="3739896" y="187452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2</a:t>
            </a:r>
            <a:endParaRPr lang="en-US" sz="1820" dirty="0"/>
          </a:p>
        </p:txBody>
      </p:sp>
      <p:sp>
        <p:nvSpPr>
          <p:cNvPr id="11" name="Text 9"/>
          <p:cNvSpPr/>
          <p:nvPr/>
        </p:nvSpPr>
        <p:spPr>
          <a:xfrm>
            <a:off x="3739896" y="2560320"/>
            <a:ext cx="1984248" cy="41148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Updates</a:t>
            </a:r>
            <a:endParaRPr lang="en-US" sz="1900" dirty="0"/>
          </a:p>
        </p:txBody>
      </p:sp>
      <p:sp>
        <p:nvSpPr>
          <p:cNvPr id="12" name="Text 10"/>
          <p:cNvSpPr/>
          <p:nvPr/>
        </p:nvSpPr>
        <p:spPr>
          <a:xfrm>
            <a:off x="3739896" y="2944368"/>
            <a:ext cx="1984248" cy="54864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A deliberate core &amp; translation policy</a:t>
            </a:r>
            <a:endParaRPr lang="en-US" sz="1250" dirty="0"/>
          </a:p>
        </p:txBody>
      </p:sp>
      <p:sp>
        <p:nvSpPr>
          <p:cNvPr id="13" name="Shape 11"/>
          <p:cNvSpPr/>
          <p:nvPr/>
        </p:nvSpPr>
        <p:spPr>
          <a:xfrm>
            <a:off x="6291072" y="1554480"/>
            <a:ext cx="2487168" cy="1965960"/>
          </a:xfrm>
          <a:prstGeom prst="roundRect">
            <a:avLst>
              <a:gd name="adj" fmla="val 4651"/>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4" name="Shape 12"/>
          <p:cNvSpPr/>
          <p:nvPr/>
        </p:nvSpPr>
        <p:spPr>
          <a:xfrm>
            <a:off x="6611112" y="1874520"/>
            <a:ext cx="640080" cy="640080"/>
          </a:xfrm>
          <a:prstGeom prst="ellipse">
            <a:avLst/>
          </a:prstGeom>
          <a:solidFill>
            <a:srgbClr val="E0A94B"/>
          </a:solidFill>
          <a:ln/>
        </p:spPr>
      </p:sp>
      <p:sp>
        <p:nvSpPr>
          <p:cNvPr id="15" name="Text 13"/>
          <p:cNvSpPr/>
          <p:nvPr/>
        </p:nvSpPr>
        <p:spPr>
          <a:xfrm>
            <a:off x="6611112" y="187452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3</a:t>
            </a:r>
            <a:endParaRPr lang="en-US" sz="1820" dirty="0"/>
          </a:p>
        </p:txBody>
      </p:sp>
      <p:sp>
        <p:nvSpPr>
          <p:cNvPr id="16" name="Text 14"/>
          <p:cNvSpPr/>
          <p:nvPr/>
        </p:nvSpPr>
        <p:spPr>
          <a:xfrm>
            <a:off x="6611112" y="2560320"/>
            <a:ext cx="1984248" cy="41148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Content</a:t>
            </a:r>
            <a:endParaRPr lang="en-US" sz="1900" dirty="0"/>
          </a:p>
        </p:txBody>
      </p:sp>
      <p:sp>
        <p:nvSpPr>
          <p:cNvPr id="17" name="Text 15"/>
          <p:cNvSpPr/>
          <p:nvPr/>
        </p:nvSpPr>
        <p:spPr>
          <a:xfrm>
            <a:off x="6611112" y="2944368"/>
            <a:ext cx="1984248" cy="54864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Close spam channels &amp; info leaks</a:t>
            </a:r>
            <a:endParaRPr lang="en-US" sz="1250" dirty="0"/>
          </a:p>
        </p:txBody>
      </p:sp>
      <p:sp>
        <p:nvSpPr>
          <p:cNvPr id="18" name="Shape 16"/>
          <p:cNvSpPr/>
          <p:nvPr/>
        </p:nvSpPr>
        <p:spPr>
          <a:xfrm>
            <a:off x="9162288" y="1554480"/>
            <a:ext cx="2487168" cy="1965960"/>
          </a:xfrm>
          <a:prstGeom prst="roundRect">
            <a:avLst>
              <a:gd name="adj" fmla="val 4651"/>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9" name="Shape 17"/>
          <p:cNvSpPr/>
          <p:nvPr/>
        </p:nvSpPr>
        <p:spPr>
          <a:xfrm>
            <a:off x="9482328" y="1874520"/>
            <a:ext cx="640080" cy="640080"/>
          </a:xfrm>
          <a:prstGeom prst="ellipse">
            <a:avLst/>
          </a:prstGeom>
          <a:solidFill>
            <a:srgbClr val="E0A94B"/>
          </a:solidFill>
          <a:ln/>
        </p:spPr>
      </p:sp>
      <p:sp>
        <p:nvSpPr>
          <p:cNvPr id="20" name="Text 18"/>
          <p:cNvSpPr/>
          <p:nvPr/>
        </p:nvSpPr>
        <p:spPr>
          <a:xfrm>
            <a:off x="9482328" y="187452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4</a:t>
            </a:r>
            <a:endParaRPr lang="en-US" sz="1820" dirty="0"/>
          </a:p>
        </p:txBody>
      </p:sp>
      <p:sp>
        <p:nvSpPr>
          <p:cNvPr id="21" name="Text 19"/>
          <p:cNvSpPr/>
          <p:nvPr/>
        </p:nvSpPr>
        <p:spPr>
          <a:xfrm>
            <a:off x="9482328" y="2560320"/>
            <a:ext cx="1984248" cy="41148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Admin UX</a:t>
            </a:r>
            <a:endParaRPr lang="en-US" sz="1900" dirty="0"/>
          </a:p>
        </p:txBody>
      </p:sp>
      <p:sp>
        <p:nvSpPr>
          <p:cNvPr id="22" name="Text 20"/>
          <p:cNvSpPr/>
          <p:nvPr/>
        </p:nvSpPr>
        <p:spPr>
          <a:xfrm>
            <a:off x="9482328" y="2944368"/>
            <a:ext cx="1984248" cy="54864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A calmer, faster, prettier dashboard</a:t>
            </a:r>
            <a:endParaRPr lang="en-US" sz="1250" dirty="0"/>
          </a:p>
        </p:txBody>
      </p:sp>
      <p:sp>
        <p:nvSpPr>
          <p:cNvPr id="23" name="Shape 21"/>
          <p:cNvSpPr/>
          <p:nvPr/>
        </p:nvSpPr>
        <p:spPr>
          <a:xfrm>
            <a:off x="548640" y="3977640"/>
            <a:ext cx="2487168" cy="1965960"/>
          </a:xfrm>
          <a:prstGeom prst="roundRect">
            <a:avLst>
              <a:gd name="adj" fmla="val 4651"/>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24" name="Shape 22"/>
          <p:cNvSpPr/>
          <p:nvPr/>
        </p:nvSpPr>
        <p:spPr>
          <a:xfrm>
            <a:off x="868680" y="4297680"/>
            <a:ext cx="640080" cy="640080"/>
          </a:xfrm>
          <a:prstGeom prst="ellipse">
            <a:avLst/>
          </a:prstGeom>
          <a:solidFill>
            <a:srgbClr val="E0A94B"/>
          </a:solidFill>
          <a:ln/>
        </p:spPr>
      </p:sp>
      <p:sp>
        <p:nvSpPr>
          <p:cNvPr id="25" name="Text 23"/>
          <p:cNvSpPr/>
          <p:nvPr/>
        </p:nvSpPr>
        <p:spPr>
          <a:xfrm>
            <a:off x="868680" y="429768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5</a:t>
            </a:r>
            <a:endParaRPr lang="en-US" sz="1820" dirty="0"/>
          </a:p>
        </p:txBody>
      </p:sp>
      <p:sp>
        <p:nvSpPr>
          <p:cNvPr id="26" name="Text 24"/>
          <p:cNvSpPr/>
          <p:nvPr/>
        </p:nvSpPr>
        <p:spPr>
          <a:xfrm>
            <a:off x="868680" y="4983480"/>
            <a:ext cx="1984248" cy="41148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Login</a:t>
            </a:r>
            <a:endParaRPr lang="en-US" sz="1900" dirty="0"/>
          </a:p>
        </p:txBody>
      </p:sp>
      <p:sp>
        <p:nvSpPr>
          <p:cNvPr id="27" name="Text 25"/>
          <p:cNvSpPr/>
          <p:nvPr/>
        </p:nvSpPr>
        <p:spPr>
          <a:xfrm>
            <a:off x="868680" y="5367528"/>
            <a:ext cx="1984248" cy="54864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Sessions &amp; credentials</a:t>
            </a:r>
            <a:endParaRPr lang="en-US" sz="1250" dirty="0"/>
          </a:p>
        </p:txBody>
      </p:sp>
      <p:sp>
        <p:nvSpPr>
          <p:cNvPr id="28" name="Shape 26"/>
          <p:cNvSpPr/>
          <p:nvPr/>
        </p:nvSpPr>
        <p:spPr>
          <a:xfrm>
            <a:off x="3419856" y="3977640"/>
            <a:ext cx="2487168" cy="1965960"/>
          </a:xfrm>
          <a:prstGeom prst="roundRect">
            <a:avLst>
              <a:gd name="adj" fmla="val 4651"/>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29" name="Shape 27"/>
          <p:cNvSpPr/>
          <p:nvPr/>
        </p:nvSpPr>
        <p:spPr>
          <a:xfrm>
            <a:off x="3739896" y="4297680"/>
            <a:ext cx="640080" cy="640080"/>
          </a:xfrm>
          <a:prstGeom prst="ellipse">
            <a:avLst/>
          </a:prstGeom>
          <a:solidFill>
            <a:srgbClr val="E0A94B"/>
          </a:solidFill>
          <a:ln/>
        </p:spPr>
      </p:sp>
      <p:sp>
        <p:nvSpPr>
          <p:cNvPr id="30" name="Text 28"/>
          <p:cNvSpPr/>
          <p:nvPr/>
        </p:nvSpPr>
        <p:spPr>
          <a:xfrm>
            <a:off x="3739896" y="429768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6</a:t>
            </a:r>
            <a:endParaRPr lang="en-US" sz="1820" dirty="0"/>
          </a:p>
        </p:txBody>
      </p:sp>
      <p:sp>
        <p:nvSpPr>
          <p:cNvPr id="31" name="Text 29"/>
          <p:cNvSpPr/>
          <p:nvPr/>
        </p:nvSpPr>
        <p:spPr>
          <a:xfrm>
            <a:off x="3739896" y="4983480"/>
            <a:ext cx="1984248" cy="41148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Branding</a:t>
            </a:r>
            <a:endParaRPr lang="en-US" sz="1900" dirty="0"/>
          </a:p>
        </p:txBody>
      </p:sp>
      <p:sp>
        <p:nvSpPr>
          <p:cNvPr id="32" name="Text 30"/>
          <p:cNvSpPr/>
          <p:nvPr/>
        </p:nvSpPr>
        <p:spPr>
          <a:xfrm>
            <a:off x="3739896" y="5367528"/>
            <a:ext cx="1984248" cy="54864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Own your login screen</a:t>
            </a:r>
            <a:endParaRPr lang="en-US" sz="1250" dirty="0"/>
          </a:p>
        </p:txBody>
      </p:sp>
      <p:sp>
        <p:nvSpPr>
          <p:cNvPr id="33" name="Shape 31"/>
          <p:cNvSpPr/>
          <p:nvPr/>
        </p:nvSpPr>
        <p:spPr>
          <a:xfrm>
            <a:off x="6291072" y="3977640"/>
            <a:ext cx="2487168" cy="1965960"/>
          </a:xfrm>
          <a:prstGeom prst="roundRect">
            <a:avLst>
              <a:gd name="adj" fmla="val 4651"/>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34" name="Shape 32"/>
          <p:cNvSpPr/>
          <p:nvPr/>
        </p:nvSpPr>
        <p:spPr>
          <a:xfrm>
            <a:off x="6611112" y="4297680"/>
            <a:ext cx="640080" cy="640080"/>
          </a:xfrm>
          <a:prstGeom prst="ellipse">
            <a:avLst/>
          </a:prstGeom>
          <a:solidFill>
            <a:srgbClr val="E0A94B"/>
          </a:solidFill>
          <a:ln/>
        </p:spPr>
      </p:sp>
      <p:sp>
        <p:nvSpPr>
          <p:cNvPr id="35" name="Text 33"/>
          <p:cNvSpPr/>
          <p:nvPr/>
        </p:nvSpPr>
        <p:spPr>
          <a:xfrm>
            <a:off x="6611112" y="429768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7</a:t>
            </a:r>
            <a:endParaRPr lang="en-US" sz="1820" dirty="0"/>
          </a:p>
        </p:txBody>
      </p:sp>
      <p:sp>
        <p:nvSpPr>
          <p:cNvPr id="36" name="Text 34"/>
          <p:cNvSpPr/>
          <p:nvPr/>
        </p:nvSpPr>
        <p:spPr>
          <a:xfrm>
            <a:off x="6611112" y="4983480"/>
            <a:ext cx="1984248" cy="41148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Performance</a:t>
            </a:r>
            <a:endParaRPr lang="en-US" sz="1900" dirty="0"/>
          </a:p>
        </p:txBody>
      </p:sp>
      <p:sp>
        <p:nvSpPr>
          <p:cNvPr id="37" name="Text 35"/>
          <p:cNvSpPr/>
          <p:nvPr/>
        </p:nvSpPr>
        <p:spPr>
          <a:xfrm>
            <a:off x="6611112" y="5367528"/>
            <a:ext cx="1984248" cy="54864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Trim the fat</a:t>
            </a:r>
            <a:endParaRPr lang="en-US" sz="1250" dirty="0"/>
          </a:p>
        </p:txBody>
      </p:sp>
      <p:sp>
        <p:nvSpPr>
          <p:cNvPr id="38" name="Shape 36"/>
          <p:cNvSpPr/>
          <p:nvPr/>
        </p:nvSpPr>
        <p:spPr>
          <a:xfrm>
            <a:off x="9162288" y="3977640"/>
            <a:ext cx="2487168" cy="1965960"/>
          </a:xfrm>
          <a:prstGeom prst="roundRect">
            <a:avLst>
              <a:gd name="adj" fmla="val 4651"/>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39" name="Shape 37"/>
          <p:cNvSpPr/>
          <p:nvPr/>
        </p:nvSpPr>
        <p:spPr>
          <a:xfrm>
            <a:off x="9482328" y="4297680"/>
            <a:ext cx="640080" cy="640080"/>
          </a:xfrm>
          <a:prstGeom prst="ellipse">
            <a:avLst/>
          </a:prstGeom>
          <a:solidFill>
            <a:srgbClr val="E0A94B"/>
          </a:solidFill>
          <a:ln/>
        </p:spPr>
      </p:sp>
      <p:sp>
        <p:nvSpPr>
          <p:cNvPr id="40" name="Text 38"/>
          <p:cNvSpPr/>
          <p:nvPr/>
        </p:nvSpPr>
        <p:spPr>
          <a:xfrm>
            <a:off x="9482328" y="429768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8</a:t>
            </a:r>
            <a:endParaRPr lang="en-US" sz="1820" dirty="0"/>
          </a:p>
        </p:txBody>
      </p:sp>
      <p:sp>
        <p:nvSpPr>
          <p:cNvPr id="41" name="Text 39"/>
          <p:cNvSpPr/>
          <p:nvPr/>
        </p:nvSpPr>
        <p:spPr>
          <a:xfrm>
            <a:off x="9482328" y="4983480"/>
            <a:ext cx="1984248" cy="411480"/>
          </a:xfrm>
          <a:prstGeom prst="rect">
            <a:avLst/>
          </a:prstGeom>
          <a:noFill/>
          <a:ln/>
        </p:spPr>
        <p:txBody>
          <a:bodyPr wrap="square" lIns="0" tIns="0" rIns="0" bIns="0" rtlCol="0" anchor="ctr"/>
          <a:lstStyle/>
          <a:p>
            <a:pPr indent="0" marL="0">
              <a:buNone/>
            </a:pPr>
            <a:r>
              <a:rPr lang="en-US" sz="1900" b="1" dirty="0">
                <a:solidFill>
                  <a:srgbClr val="0F2733"/>
                </a:solidFill>
                <a:latin typeface="Cambria" pitchFamily="34" charset="0"/>
                <a:ea typeface="Cambria" pitchFamily="34" charset="-122"/>
                <a:cs typeface="Cambria" pitchFamily="34" charset="-120"/>
              </a:rPr>
              <a:t>Email</a:t>
            </a:r>
            <a:endParaRPr lang="en-US" sz="1900" dirty="0"/>
          </a:p>
        </p:txBody>
      </p:sp>
      <p:sp>
        <p:nvSpPr>
          <p:cNvPr id="42" name="Text 40"/>
          <p:cNvSpPr/>
          <p:nvPr/>
        </p:nvSpPr>
        <p:spPr>
          <a:xfrm>
            <a:off x="9482328" y="5367528"/>
            <a:ext cx="1984248" cy="54864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Say so when the site cannot send mail</a:t>
            </a:r>
            <a:endParaRPr lang="en-US" sz="1250" dirty="0"/>
          </a:p>
        </p:txBody>
      </p:sp>
      <p:sp>
        <p:nvSpPr>
          <p:cNvPr id="43" name="Text 41"/>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44" name="Text 42"/>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733"/>
        </a:solidFill>
      </p:bgPr>
    </p:bg>
    <p:spTree>
      <p:nvGrpSpPr>
        <p:cNvPr id="1" name=""/>
        <p:cNvGrpSpPr/>
        <p:nvPr/>
      </p:nvGrpSpPr>
      <p:grpSpPr>
        <a:xfrm>
          <a:off x="0" y="0"/>
          <a:ext cx="0" cy="0"/>
          <a:chOff x="0" y="0"/>
          <a:chExt cx="0" cy="0"/>
        </a:xfrm>
      </p:grpSpPr>
      <p:sp>
        <p:nvSpPr>
          <p:cNvPr id="2" name="Shape 0"/>
          <p:cNvSpPr/>
          <p:nvPr/>
        </p:nvSpPr>
        <p:spPr>
          <a:xfrm>
            <a:off x="0" y="5577840"/>
            <a:ext cx="12188952" cy="1280160"/>
          </a:xfrm>
          <a:prstGeom prst="rect">
            <a:avLst/>
          </a:prstGeom>
          <a:solidFill>
            <a:srgbClr val="16323F"/>
          </a:solidFill>
          <a:ln/>
        </p:spPr>
      </p:sp>
      <p:sp>
        <p:nvSpPr>
          <p:cNvPr id="3" name="Shape 1"/>
          <p:cNvSpPr/>
          <p:nvPr/>
        </p:nvSpPr>
        <p:spPr>
          <a:xfrm>
            <a:off x="777240" y="914400"/>
            <a:ext cx="868680" cy="868680"/>
          </a:xfrm>
          <a:prstGeom prst="ellipse">
            <a:avLst/>
          </a:prstGeom>
          <a:solidFill>
            <a:srgbClr val="E0A94B"/>
          </a:solidFill>
          <a:ln/>
        </p:spPr>
      </p:sp>
      <p:sp>
        <p:nvSpPr>
          <p:cNvPr id="4" name="Text 2"/>
          <p:cNvSpPr/>
          <p:nvPr/>
        </p:nvSpPr>
        <p:spPr>
          <a:xfrm>
            <a:off x="777240" y="914400"/>
            <a:ext cx="868680" cy="868680"/>
          </a:xfrm>
          <a:prstGeom prst="rect">
            <a:avLst/>
          </a:prstGeom>
          <a:noFill/>
          <a:ln/>
        </p:spPr>
        <p:txBody>
          <a:bodyPr wrap="square" lIns="0" tIns="0" rIns="0" bIns="0" rtlCol="0" anchor="ctr"/>
          <a:lstStyle/>
          <a:p>
            <a:pPr algn="ctr" indent="0" marL="0">
              <a:buNone/>
            </a:pPr>
            <a:r>
              <a:rPr lang="en-US" sz="2470" b="1" dirty="0">
                <a:solidFill>
                  <a:srgbClr val="0F2733"/>
                </a:solidFill>
                <a:latin typeface="Cambria" pitchFamily="34" charset="0"/>
                <a:ea typeface="Cambria" pitchFamily="34" charset="-122"/>
                <a:cs typeface="Cambria" pitchFamily="34" charset="-120"/>
              </a:rPr>
              <a:t>1</a:t>
            </a:r>
            <a:endParaRPr lang="en-US" sz="2470" dirty="0"/>
          </a:p>
        </p:txBody>
      </p:sp>
      <p:sp>
        <p:nvSpPr>
          <p:cNvPr id="5" name="Text 3"/>
          <p:cNvSpPr/>
          <p:nvPr/>
        </p:nvSpPr>
        <p:spPr>
          <a:xfrm>
            <a:off x="1874520" y="1005840"/>
            <a:ext cx="8229600" cy="457200"/>
          </a:xfrm>
          <a:prstGeom prst="rect">
            <a:avLst/>
          </a:prstGeom>
          <a:noFill/>
          <a:ln/>
        </p:spPr>
        <p:txBody>
          <a:bodyPr wrap="square" lIns="0" tIns="0" rIns="0" bIns="0" rtlCol="0" anchor="ctr"/>
          <a:lstStyle/>
          <a:p>
            <a:pPr indent="0" marL="0">
              <a:buNone/>
            </a:pPr>
            <a:r>
              <a:rPr lang="en-US" sz="1600" b="1" dirty="0">
                <a:solidFill>
                  <a:srgbClr val="E0A94B"/>
                </a:solidFill>
                <a:latin typeface="Calibri" pitchFamily="34" charset="0"/>
                <a:ea typeface="Calibri" pitchFamily="34" charset="-122"/>
                <a:cs typeface="Calibri" pitchFamily="34" charset="-120"/>
              </a:rPr>
              <a:t>SECTION ONE</a:t>
            </a:r>
            <a:endParaRPr lang="en-US" sz="1600" dirty="0"/>
          </a:p>
        </p:txBody>
      </p:sp>
      <p:sp>
        <p:nvSpPr>
          <p:cNvPr id="6" name="Text 4"/>
          <p:cNvSpPr/>
          <p:nvPr/>
        </p:nvSpPr>
        <p:spPr>
          <a:xfrm>
            <a:off x="777240" y="2286000"/>
            <a:ext cx="10607040" cy="12801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Security &amp;</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Attack Surface</a:t>
            </a:r>
            <a:endParaRPr lang="en-US" sz="4600" dirty="0"/>
          </a:p>
        </p:txBody>
      </p:sp>
      <p:sp>
        <p:nvSpPr>
          <p:cNvPr id="7" name="Text 5"/>
          <p:cNvSpPr/>
          <p:nvPr/>
        </p:nvSpPr>
        <p:spPr>
          <a:xfrm>
            <a:off x="822960" y="3657600"/>
            <a:ext cx="10058400" cy="914400"/>
          </a:xfrm>
          <a:prstGeom prst="rect">
            <a:avLst/>
          </a:prstGeom>
          <a:noFill/>
          <a:ln/>
        </p:spPr>
        <p:txBody>
          <a:bodyPr wrap="square" lIns="0" tIns="0" rIns="0" bIns="0" rtlCol="0" anchor="t"/>
          <a:lstStyle/>
          <a:p>
            <a:pPr indent="0" marL="0">
              <a:buNone/>
            </a:pPr>
            <a:r>
              <a:rPr lang="en-US" sz="1900" i="1" dirty="0">
                <a:solidFill>
                  <a:srgbClr val="D7E5EC"/>
                </a:solidFill>
                <a:latin typeface="Calibri" pitchFamily="34" charset="0"/>
                <a:ea typeface="Calibri" pitchFamily="34" charset="-122"/>
                <a:cs typeface="Calibri" pitchFamily="34" charset="-120"/>
              </a:rPr>
              <a:t>Every item here removes something an attacker can poke — usually in one line.</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SECURITY · 1 of 7</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Restrict REST API user discovery</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The /wp/v2/users endpoint hands out every author's login name to anyone — half of a brute-force guess, for free. Closing it for logged-out requests only keeps the editor and legit integrations working.</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restrict_rest_user_discovery</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yes</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add_filter( 'rest_endpoints', function ( $ep )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if ( ! is_user_logged_in() )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unset( $ep['/wp/v2/users']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unset(</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$ep['/wp/v2/users/(?P&lt;id&gt;[\d]+)']</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return $ep;</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SECURITY · 2 of 7 · opt-in</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Lock REST to logged-in users (opt-in)</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The sledgehammer version of the slide before: requiring auth for ALL REST calls stops anonymous scraping cold. It breaks anonymous REST — front-end blocks, embeds, search, outside integrations — so it ships off.</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disable_rest</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C88F33"/>
                </a:solidFill>
                <a:latin typeface="Courier New" pitchFamily="34" charset="0"/>
                <a:ea typeface="Courier New" pitchFamily="34" charset="-122"/>
                <a:cs typeface="Courier New" pitchFamily="34" charset="-120"/>
              </a:rPr>
              <a:t>no</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add_filter( 'rest_authentication_errors',</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function ( $result )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Only an ERROR short-circuits. A cookie with no</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nonce resolves to user 0 and returns true.</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if ( is_wp_error( $result ) ) return $result;</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Leave oEmbed open, or every site embedding</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yours silently degrades to a bare link.</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if ( route_is_public() ) return $result;</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if ( ! is_user_logged_in() )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return new WP_Error(</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'rest_not_logged_in', 'Auth required.',</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array( 'status' =&gt; 401 )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return $result;</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SECURITY · 3 of 7</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Lock XML-RPC down by category</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XML-RPC is legitimate but aging — an extra surface, not a backdoor. We unplug unused method families while preserving the endpoint for integrations that need it.</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xmlrpc allow keys + block_xmlrpc_endpoint</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C88F33"/>
                </a:solidFill>
                <a:latin typeface="Courier New" pitchFamily="34" charset="0"/>
                <a:ea typeface="Courier New" pitchFamily="34" charset="-122"/>
                <a:cs typeface="Courier New" pitchFamily="34" charset="-120"/>
              </a:rPr>
              <a:t>no (all four)</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00" dirty="0">
                <a:solidFill>
                  <a:srgbClr val="8FBF9F"/>
                </a:solidFill>
                <a:latin typeface="Courier New" pitchFamily="34" charset="0"/>
                <a:ea typeface="Courier New" pitchFamily="34" charset="-122"/>
                <a:cs typeface="Courier New" pitchFamily="34" charset="-120"/>
              </a:rPr>
              <a:t>// each category off → remove its methods</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add_filter( 'xmlrpc_methods', function ( $m ) {</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if ( ! allow( 'pingbacks' ) )</a:t>
            </a:r>
            <a:endParaRPr lang="en-US" sz="1100" dirty="0"/>
          </a:p>
          <a:p>
            <a:pPr algn="l" indent="0" marL="0">
              <a:lnSpc>
                <a:spcPct val="108000"/>
              </a:lnSpc>
              <a:buNone/>
            </a:pPr>
            <a:r>
              <a:rPr lang="en-US" sz="1100" dirty="0">
                <a:solidFill>
                  <a:srgbClr val="E7C070"/>
                </a:solidFill>
                <a:latin typeface="Courier New" pitchFamily="34" charset="0"/>
                <a:ea typeface="Courier New" pitchFamily="34" charset="-122"/>
                <a:cs typeface="Courier New" pitchFamily="34" charset="-120"/>
              </a:rPr>
              <a:t>    unset( $m['pingback.ping'],</a:t>
            </a:r>
            <a:endParaRPr lang="en-US" sz="1100" dirty="0"/>
          </a:p>
          <a:p>
            <a:pPr algn="l" indent="0" marL="0">
              <a:lnSpc>
                <a:spcPct val="108000"/>
              </a:lnSpc>
              <a:buNone/>
            </a:pPr>
            <a:r>
              <a:rPr lang="en-US" sz="1100" dirty="0">
                <a:solidFill>
                  <a:srgbClr val="E7C070"/>
                </a:solidFill>
                <a:latin typeface="Courier New" pitchFamily="34" charset="0"/>
                <a:ea typeface="Courier New" pitchFamily="34" charset="-122"/>
                <a:cs typeface="Courier New" pitchFamily="34" charset="-120"/>
              </a:rPr>
              <a:t>           $m['pingback.extensions.getPingbacks'] );</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if ( ! allow( 'remote_publishing' ) )</a:t>
            </a:r>
            <a:endParaRPr lang="en-US" sz="1100" dirty="0"/>
          </a:p>
          <a:p>
            <a:pPr algn="l" indent="0" marL="0">
              <a:lnSpc>
                <a:spcPct val="108000"/>
              </a:lnSpc>
              <a:buNone/>
            </a:pPr>
            <a:r>
              <a:rPr lang="en-US" sz="1100" dirty="0">
                <a:solidFill>
                  <a:srgbClr val="8FBF9F"/>
                </a:solidFill>
                <a:latin typeface="Courier New" pitchFamily="34" charset="0"/>
                <a:ea typeface="Courier New" pitchFamily="34" charset="-122"/>
                <a:cs typeface="Courier New" pitchFamily="34" charset="-120"/>
              </a:rPr>
              <a:t>    // drop wp.* metaWeblog.* mt.* blogger.*</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return $m;</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a:t>
            </a:r>
            <a:endParaRPr lang="en-US" sz="1100" dirty="0"/>
          </a:p>
          <a:p>
            <a:pPr algn="l" indent="0" marL="0">
              <a:lnSpc>
                <a:spcPct val="108000"/>
              </a:lnSpc>
              <a:buNone/>
            </a:pPr>
            <a:r>
              <a:rPr lang="en-US" sz="1100" dirty="0">
                <a:solidFill>
                  <a:srgbClr val="8FBF9F"/>
                </a:solidFill>
                <a:latin typeface="Courier New" pitchFamily="34" charset="0"/>
                <a:ea typeface="Courier New" pitchFamily="34" charset="-122"/>
                <a:cs typeface="Courier New" pitchFamily="34" charset="-120"/>
              </a:rPr>
              <a:t>// multicall can't be filtered off (IXR re-adds it)</a:t>
            </a:r>
            <a:endParaRPr lang="en-US" sz="1100" dirty="0"/>
          </a:p>
          <a:p>
            <a:pPr algn="l" indent="0" marL="0">
              <a:lnSpc>
                <a:spcPct val="108000"/>
              </a:lnSpc>
              <a:buNone/>
            </a:pPr>
            <a:r>
              <a:rPr lang="en-US" sz="1100" dirty="0">
                <a:solidFill>
                  <a:srgbClr val="8FBF9F"/>
                </a:solidFill>
                <a:latin typeface="Courier New" pitchFamily="34" charset="0"/>
                <a:ea typeface="Courier New" pitchFamily="34" charset="-122"/>
                <a:cs typeface="Courier New" pitchFamily="34" charset="-120"/>
              </a:rPr>
              <a:t>// → swap in a server that refuses it</a:t>
            </a:r>
            <a:endParaRPr lang="en-US" sz="1100" dirty="0"/>
          </a:p>
          <a:p>
            <a:pPr algn="l" indent="0" marL="0">
              <a:lnSpc>
                <a:spcPct val="108000"/>
              </a:lnSpc>
              <a:buNone/>
            </a:pPr>
            <a:r>
              <a:rPr lang="en-US" sz="1100" dirty="0">
                <a:solidFill>
                  <a:srgbClr val="E7C070"/>
                </a:solidFill>
                <a:latin typeface="Courier New" pitchFamily="34" charset="0"/>
                <a:ea typeface="Courier New" pitchFamily="34" charset="-122"/>
                <a:cs typeface="Courier New" pitchFamily="34" charset="-120"/>
              </a:rPr>
              <a:t>add_filter( 'wp_xmlrpc_server_class', $refuse );</a:t>
            </a:r>
            <a:endParaRPr lang="en-US" sz="110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SECURITY · 4 of 7</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Keep Application Passwords available</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This is an existing default we don't lock down. An Application Password is like a spare key cut for one app: hashed, per-application, revocable on its own — the safer REST credential, and the only one core accepts for REST Basic Auth.</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disable_application_passwords</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C88F33"/>
                </a:solidFill>
                <a:latin typeface="Courier New" pitchFamily="34" charset="0"/>
                <a:ea typeface="Courier New" pitchFamily="34" charset="-122"/>
                <a:cs typeface="Courier New" pitchFamily="34" charset="-120"/>
              </a:rPr>
              <a:t>no (available)</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250" dirty="0">
                <a:solidFill>
                  <a:srgbClr val="8FBF9F"/>
                </a:solidFill>
                <a:latin typeface="Courier New" pitchFamily="34" charset="0"/>
                <a:ea typeface="Courier New" pitchFamily="34" charset="-122"/>
                <a:cs typeface="Courier New" pitchFamily="34" charset="-120"/>
              </a:rPr>
              <a:t>// available by default —</a:t>
            </a:r>
            <a:endParaRPr lang="en-US" sz="1250" dirty="0"/>
          </a:p>
          <a:p>
            <a:pPr algn="l" indent="0" marL="0">
              <a:lnSpc>
                <a:spcPct val="108000"/>
              </a:lnSpc>
              <a:buNone/>
            </a:pPr>
            <a:r>
              <a:rPr lang="en-US" sz="1250" dirty="0">
                <a:solidFill>
                  <a:srgbClr val="8FBF9F"/>
                </a:solidFill>
                <a:latin typeface="Courier New" pitchFamily="34" charset="0"/>
                <a:ea typeface="Courier New" pitchFamily="34" charset="-122"/>
                <a:cs typeface="Courier New" pitchFamily="34" charset="-120"/>
              </a:rPr>
              <a:t>// prohibit only if opted in</a:t>
            </a:r>
            <a:endParaRPr lang="en-US" sz="1250" dirty="0"/>
          </a:p>
          <a:p>
            <a:pPr algn="l" indent="0" marL="0">
              <a:lnSpc>
                <a:spcPct val="108000"/>
              </a:lnSpc>
              <a:buNone/>
            </a:pPr>
            <a:r>
              <a:rPr lang="en-US" sz="1250" dirty="0">
                <a:solidFill>
                  <a:srgbClr val="DCEAF1"/>
                </a:solidFill>
                <a:latin typeface="Courier New" pitchFamily="34" charset="0"/>
                <a:ea typeface="Courier New" pitchFamily="34" charset="-122"/>
                <a:cs typeface="Courier New" pitchFamily="34" charset="-120"/>
              </a:rPr>
              <a:t>if ( wpyeg_defaults_enabled(</a:t>
            </a:r>
            <a:endParaRPr lang="en-US" sz="1250" dirty="0"/>
          </a:p>
          <a:p>
            <a:pPr algn="l" indent="0" marL="0">
              <a:lnSpc>
                <a:spcPct val="108000"/>
              </a:lnSpc>
              <a:buNone/>
            </a:pPr>
            <a:r>
              <a:rPr lang="en-US" sz="1250" dirty="0">
                <a:solidFill>
                  <a:srgbClr val="DCEAF1"/>
                </a:solidFill>
                <a:latin typeface="Courier New" pitchFamily="34" charset="0"/>
                <a:ea typeface="Courier New" pitchFamily="34" charset="-122"/>
                <a:cs typeface="Courier New" pitchFamily="34" charset="-120"/>
              </a:rPr>
              <a:t>       'disable_application_passwords' ) ) {</a:t>
            </a:r>
            <a:endParaRPr lang="en-US" sz="1250" dirty="0"/>
          </a:p>
          <a:p>
            <a:pPr algn="l" indent="0" marL="0">
              <a:lnSpc>
                <a:spcPct val="108000"/>
              </a:lnSpc>
              <a:buNone/>
            </a:pPr>
            <a:r>
              <a:rPr lang="en-US" sz="1250" dirty="0">
                <a:solidFill>
                  <a:srgbClr val="DCEAF1"/>
                </a:solidFill>
                <a:latin typeface="Courier New" pitchFamily="34" charset="0"/>
                <a:ea typeface="Courier New" pitchFamily="34" charset="-122"/>
                <a:cs typeface="Courier New" pitchFamily="34" charset="-120"/>
              </a:rPr>
              <a:t>  add_filter(</a:t>
            </a:r>
            <a:endParaRPr lang="en-US" sz="1250" dirty="0"/>
          </a:p>
          <a:p>
            <a:pPr algn="l" indent="0" marL="0">
              <a:lnSpc>
                <a:spcPct val="108000"/>
              </a:lnSpc>
              <a:buNone/>
            </a:pPr>
            <a:r>
              <a:rPr lang="en-US" sz="1250" dirty="0">
                <a:solidFill>
                  <a:srgbClr val="E7C070"/>
                </a:solidFill>
                <a:latin typeface="Courier New" pitchFamily="34" charset="0"/>
                <a:ea typeface="Courier New" pitchFamily="34" charset="-122"/>
                <a:cs typeface="Courier New" pitchFamily="34" charset="-120"/>
              </a:rPr>
              <a:t>    'wp_is_application_passwords_available',</a:t>
            </a:r>
            <a:endParaRPr lang="en-US" sz="1250" dirty="0"/>
          </a:p>
          <a:p>
            <a:pPr algn="l" indent="0" marL="0">
              <a:lnSpc>
                <a:spcPct val="108000"/>
              </a:lnSpc>
              <a:buNone/>
            </a:pPr>
            <a:r>
              <a:rPr lang="en-US" sz="1250" dirty="0">
                <a:solidFill>
                  <a:srgbClr val="E7C070"/>
                </a:solidFill>
                <a:latin typeface="Courier New" pitchFamily="34" charset="0"/>
                <a:ea typeface="Courier New" pitchFamily="34" charset="-122"/>
                <a:cs typeface="Courier New" pitchFamily="34" charset="-120"/>
              </a:rPr>
              <a:t>    '__return_false'</a:t>
            </a:r>
            <a:endParaRPr lang="en-US" sz="1250" dirty="0"/>
          </a:p>
          <a:p>
            <a:pPr algn="l" indent="0" marL="0">
              <a:lnSpc>
                <a:spcPct val="108000"/>
              </a:lnSpc>
              <a:buNone/>
            </a:pPr>
            <a:r>
              <a:rPr lang="en-US" sz="1250" dirty="0">
                <a:solidFill>
                  <a:srgbClr val="DCEAF1"/>
                </a:solidFill>
                <a:latin typeface="Courier New" pitchFamily="34" charset="0"/>
                <a:ea typeface="Courier New" pitchFamily="34" charset="-122"/>
                <a:cs typeface="Courier New" pitchFamily="34" charset="-120"/>
              </a:rPr>
              <a:t>  );</a:t>
            </a:r>
            <a:endParaRPr lang="en-US" sz="1250" dirty="0"/>
          </a:p>
          <a:p>
            <a:pPr algn="l" indent="0" marL="0">
              <a:lnSpc>
                <a:spcPct val="108000"/>
              </a:lnSpc>
              <a:buNone/>
            </a:pPr>
            <a:r>
              <a:rPr lang="en-US" sz="1250" dirty="0">
                <a:solidFill>
                  <a:srgbClr val="DCEAF1"/>
                </a:solidFill>
                <a:latin typeface="Courier New" pitchFamily="34" charset="0"/>
                <a:ea typeface="Courier New" pitchFamily="34" charset="-122"/>
                <a:cs typeface="Courier New" pitchFamily="34" charset="-120"/>
              </a:rPr>
              <a:t>}</a:t>
            </a:r>
            <a:endParaRPr lang="en-US" sz="12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SECURITY · 5 of 7</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Screen breaches without sending the password</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NIST SP 800-63B-4 § 3.1.1.2: use 15+ characters, a blocklist, and no composition rules. BBD hashes the candidate locally, sends HIBP only the first 5 SHA-1 characters, and matches the remaining 35 locally. The password and full hash never leave WordPress; unavailable or invalid HIBP data fails open.</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require_strong_passwords</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yes</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$hash   = strtoupper( sha1( $pw )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$prefix = substr( $hash, 0, 5 );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$suffix = substr( $hash, 5 );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HIBP receives $prefix and returns</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matching suffixes plus breach counts.</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BBD compares $suffix locally.</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if ( response_contains( $suffix ) )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reject( 'Seen in a breach.'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invalid or 128 KiB =&gt; fail open</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SECURITY · 6 of 7</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Remove fingerprints, add headers</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Two headers with no real downside ship on; framing is its own setting, because it is the only one that can break a working site. Hiding the version is obscurity, not hardening, so it ships off.</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security_headers / frame_options</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yes / SAMEORIGIN</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remove_action( 'wp_head', 'wp_generator'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add_filter( 'wp_headers', function ( $h )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compare, do not yield - see the notes</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$key = find_key( $h, 'X-Frame-Options'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if ( stronger( $want, $h[ $key ] )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$h[ $key ] = $want;</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one effective value, so correct it</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$h[ ctk( $h ) ] = 'nosniff';</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return $h;</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SECURITY · 7 of 7</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The filter that calls itself</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Editors hold unfiltered_html on a single-site install — enough to save a raw &lt;script&gt; into a post. Taking it back is easy. Doing it without blowing the stack is the lesson.</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limit_unfiltered_html_to_admins</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yes</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add_filter( 'user_has_cap', function (</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$allcaps, $caps, $args, $user ) {</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if ( empty( $allcaps['unfiltered_html'] ) ) {</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return $allcaps;</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$roles = isset( $user-&gt;roles )</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 (array) $user-&gt;roles : array();</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a:t>
            </a:r>
            <a:endParaRPr lang="en-US" sz="1050" dirty="0"/>
          </a:p>
          <a:p>
            <a:pPr algn="l" indent="0" marL="0">
              <a:lnSpc>
                <a:spcPct val="108000"/>
              </a:lnSpc>
              <a:buNone/>
            </a:pPr>
            <a:r>
              <a:rPr lang="en-US" sz="1050" dirty="0">
                <a:solidFill>
                  <a:srgbClr val="8FBF9F"/>
                </a:solidFill>
                <a:latin typeface="Courier New" pitchFamily="34" charset="0"/>
                <a:ea typeface="Courier New" pitchFamily="34" charset="-122"/>
                <a:cs typeface="Courier New" pitchFamily="34" charset="-120"/>
              </a:rPr>
              <a:t>  // Read what you were handed. Never ask.</a:t>
            </a:r>
            <a:endParaRPr lang="en-US" sz="1050" dirty="0"/>
          </a:p>
          <a:p>
            <a:pPr algn="l" indent="0" marL="0">
              <a:lnSpc>
                <a:spcPct val="108000"/>
              </a:lnSpc>
              <a:buNone/>
            </a:pPr>
            <a:r>
              <a:rPr lang="en-US" sz="1050" dirty="0">
                <a:solidFill>
                  <a:srgbClr val="E7C070"/>
                </a:solidFill>
                <a:latin typeface="Courier New" pitchFamily="34" charset="0"/>
                <a:ea typeface="Courier New" pitchFamily="34" charset="-122"/>
                <a:cs typeface="Courier New" pitchFamily="34" charset="-120"/>
              </a:rPr>
              <a:t>  if ( in_array( 'administrator', $roles, true )</a:t>
            </a:r>
            <a:endParaRPr lang="en-US" sz="1050" dirty="0"/>
          </a:p>
          <a:p>
            <a:pPr algn="l" indent="0" marL="0">
              <a:lnSpc>
                <a:spcPct val="108000"/>
              </a:lnSpc>
              <a:buNone/>
            </a:pPr>
            <a:r>
              <a:rPr lang="en-US" sz="1050" dirty="0">
                <a:solidFill>
                  <a:srgbClr val="E7C070"/>
                </a:solidFill>
                <a:latin typeface="Courier New" pitchFamily="34" charset="0"/>
                <a:ea typeface="Courier New" pitchFamily="34" charset="-122"/>
                <a:cs typeface="Courier New" pitchFamily="34" charset="-120"/>
              </a:rPr>
              <a:t>    || ! empty( $allcaps['manage_options'] ) ) {</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return $allcaps;</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a:t>
            </a:r>
            <a:endParaRPr lang="en-US" sz="1050" dirty="0"/>
          </a:p>
          <a:p>
            <a:pPr algn="l" indent="0" marL="0">
              <a:lnSpc>
                <a:spcPct val="108000"/>
              </a:lnSpc>
              <a:buNone/>
            </a:pPr>
            <a:r>
              <a:rPr lang="en-US" sz="1050" dirty="0">
                <a:solidFill>
                  <a:srgbClr val="E7C070"/>
                </a:solidFill>
                <a:latin typeface="Courier New" pitchFamily="34" charset="0"/>
                <a:ea typeface="Courier New" pitchFamily="34" charset="-122"/>
                <a:cs typeface="Courier New" pitchFamily="34" charset="-120"/>
              </a:rPr>
              <a:t>  $allcaps['unfiltered_html'] = false;</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return $allcaps;</a:t>
            </a:r>
            <a:endParaRPr lang="en-US" sz="1050" dirty="0"/>
          </a:p>
          <a:p>
            <a:pPr algn="l" indent="0" marL="0">
              <a:lnSpc>
                <a:spcPct val="108000"/>
              </a:lnSpc>
              <a:buNone/>
            </a:pPr>
            <a:r>
              <a:rPr lang="en-US" sz="1050" dirty="0">
                <a:solidFill>
                  <a:srgbClr val="DCEAF1"/>
                </a:solidFill>
                <a:latin typeface="Courier New" pitchFamily="34" charset="0"/>
                <a:ea typeface="Courier New" pitchFamily="34" charset="-122"/>
                <a:cs typeface="Courier New" pitchFamily="34" charset="-120"/>
              </a:rPr>
              <a:t>}, PHP_INT_MAX - 1, 4 );</a:t>
            </a:r>
            <a:endParaRPr lang="en-US" sz="10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UPDATES</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Decide who patches WordPress</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Core ships maintenance and security releases automatically already. The question this default answers is not whether to allow that — it is whether YOU are deciding, or whether your host quietly decided for you and never said.</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core_update_policy</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C88F33"/>
                </a:solidFill>
                <a:latin typeface="Courier New" pitchFamily="34" charset="0"/>
                <a:ea typeface="Courier New" pitchFamily="34" charset="-122"/>
                <a:cs typeface="Courier New" pitchFamily="34" charset="-120"/>
              </a:rPr>
              <a:t>minor</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Two filters, because core asks two questions.</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add_filter( 'allow_minor_auto_core_updates', $f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add_filter( 'allow_major_auto_core_updates', $g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'inherit' hands the value straight back — the</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setting that chooses NOT to have an opinion.</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if ( 'inherit' === $policy ) { return $enabled;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return in_array( $policy, [ 'minor', 'all' ], true );</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733"/>
        </a:solidFill>
      </p:bgPr>
    </p:bg>
    <p:spTree>
      <p:nvGrpSpPr>
        <p:cNvPr id="1" name=""/>
        <p:cNvGrpSpPr/>
        <p:nvPr/>
      </p:nvGrpSpPr>
      <p:grpSpPr>
        <a:xfrm>
          <a:off x="0" y="0"/>
          <a:ext cx="0" cy="0"/>
          <a:chOff x="0" y="0"/>
          <a:chExt cx="0" cy="0"/>
        </a:xfrm>
      </p:grpSpPr>
      <p:sp>
        <p:nvSpPr>
          <p:cNvPr id="2" name="Shape 0"/>
          <p:cNvSpPr/>
          <p:nvPr/>
        </p:nvSpPr>
        <p:spPr>
          <a:xfrm>
            <a:off x="0" y="5577840"/>
            <a:ext cx="12188952" cy="1280160"/>
          </a:xfrm>
          <a:prstGeom prst="rect">
            <a:avLst/>
          </a:prstGeom>
          <a:solidFill>
            <a:srgbClr val="16323F"/>
          </a:solidFill>
          <a:ln/>
        </p:spPr>
      </p:sp>
      <p:sp>
        <p:nvSpPr>
          <p:cNvPr id="3" name="Shape 1"/>
          <p:cNvSpPr/>
          <p:nvPr/>
        </p:nvSpPr>
        <p:spPr>
          <a:xfrm>
            <a:off x="777240" y="914400"/>
            <a:ext cx="868680" cy="868680"/>
          </a:xfrm>
          <a:prstGeom prst="ellipse">
            <a:avLst/>
          </a:prstGeom>
          <a:solidFill>
            <a:srgbClr val="E0A94B"/>
          </a:solidFill>
          <a:ln/>
        </p:spPr>
      </p:sp>
      <p:sp>
        <p:nvSpPr>
          <p:cNvPr id="4" name="Text 2"/>
          <p:cNvSpPr/>
          <p:nvPr/>
        </p:nvSpPr>
        <p:spPr>
          <a:xfrm>
            <a:off x="777240" y="914400"/>
            <a:ext cx="868680" cy="868680"/>
          </a:xfrm>
          <a:prstGeom prst="rect">
            <a:avLst/>
          </a:prstGeom>
          <a:noFill/>
          <a:ln/>
        </p:spPr>
        <p:txBody>
          <a:bodyPr wrap="square" lIns="0" tIns="0" rIns="0" bIns="0" rtlCol="0" anchor="ctr"/>
          <a:lstStyle/>
          <a:p>
            <a:pPr algn="ctr" indent="0" marL="0">
              <a:buNone/>
            </a:pPr>
            <a:r>
              <a:rPr lang="en-US" sz="2470" b="1" dirty="0">
                <a:solidFill>
                  <a:srgbClr val="0F2733"/>
                </a:solidFill>
                <a:latin typeface="Cambria" pitchFamily="34" charset="0"/>
                <a:ea typeface="Cambria" pitchFamily="34" charset="-122"/>
                <a:cs typeface="Cambria" pitchFamily="34" charset="-120"/>
              </a:rPr>
              <a:t>2</a:t>
            </a:r>
            <a:endParaRPr lang="en-US" sz="2470" dirty="0"/>
          </a:p>
        </p:txBody>
      </p:sp>
      <p:sp>
        <p:nvSpPr>
          <p:cNvPr id="5" name="Text 3"/>
          <p:cNvSpPr/>
          <p:nvPr/>
        </p:nvSpPr>
        <p:spPr>
          <a:xfrm>
            <a:off x="1874520" y="1005840"/>
            <a:ext cx="8229600" cy="457200"/>
          </a:xfrm>
          <a:prstGeom prst="rect">
            <a:avLst/>
          </a:prstGeom>
          <a:noFill/>
          <a:ln/>
        </p:spPr>
        <p:txBody>
          <a:bodyPr wrap="square" lIns="0" tIns="0" rIns="0" bIns="0" rtlCol="0" anchor="ctr"/>
          <a:lstStyle/>
          <a:p>
            <a:pPr indent="0" marL="0">
              <a:buNone/>
            </a:pPr>
            <a:r>
              <a:rPr lang="en-US" sz="1600" b="1" dirty="0">
                <a:solidFill>
                  <a:srgbClr val="E0A94B"/>
                </a:solidFill>
                <a:latin typeface="Calibri" pitchFamily="34" charset="0"/>
                <a:ea typeface="Calibri" pitchFamily="34" charset="-122"/>
                <a:cs typeface="Calibri" pitchFamily="34" charset="-120"/>
              </a:rPr>
              <a:t>SECTION TWO</a:t>
            </a:r>
            <a:endParaRPr lang="en-US" sz="1600" dirty="0"/>
          </a:p>
        </p:txBody>
      </p:sp>
      <p:sp>
        <p:nvSpPr>
          <p:cNvPr id="6" name="Text 4"/>
          <p:cNvSpPr/>
          <p:nvPr/>
        </p:nvSpPr>
        <p:spPr>
          <a:xfrm>
            <a:off x="777240" y="2286000"/>
            <a:ext cx="10607040" cy="12801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Content &amp;</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Public Surfaces</a:t>
            </a:r>
            <a:endParaRPr lang="en-US" sz="4600" dirty="0"/>
          </a:p>
        </p:txBody>
      </p:sp>
      <p:sp>
        <p:nvSpPr>
          <p:cNvPr id="7" name="Text 5"/>
          <p:cNvSpPr/>
          <p:nvPr/>
        </p:nvSpPr>
        <p:spPr>
          <a:xfrm>
            <a:off x="822960" y="3657600"/>
            <a:ext cx="10058400" cy="914400"/>
          </a:xfrm>
          <a:prstGeom prst="rect">
            <a:avLst/>
          </a:prstGeom>
          <a:noFill/>
          <a:ln/>
        </p:spPr>
        <p:txBody>
          <a:bodyPr wrap="square" lIns="0" tIns="0" rIns="0" bIns="0" rtlCol="0" anchor="t"/>
          <a:lstStyle/>
          <a:p>
            <a:pPr indent="0" marL="0">
              <a:buNone/>
            </a:pPr>
            <a:r>
              <a:rPr lang="en-US" sz="1900" i="1" dirty="0">
                <a:solidFill>
                  <a:srgbClr val="D7E5EC"/>
                </a:solidFill>
                <a:latin typeface="Calibri" pitchFamily="34" charset="0"/>
                <a:ea typeface="Calibri" pitchFamily="34" charset="-122"/>
                <a:cs typeface="Calibri" pitchFamily="34" charset="-120"/>
              </a:rPr>
              <a:t>Close the spam funnels and the thin pages Google (and bots) love to crawl.</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CONTENT · 1 of 4</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Disable comments, trackbacks &amp; pingbacks</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For many sites, comments are a spam magnet with little upside. Here we close them everywhere, hide existing threads, and drop the admin menu.</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disable_comments / disable_pingbacks / disable_self_pingbacks</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yes each</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add_filter( 'comments_open', '__return_false', 20 );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add_filter( 'pings_open',    '__return_false', 20 );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add_filter( 'comments_array',</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'__return_empty_array', 20 );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add_filter( 'get_comments_number', '__return_zero', 20 );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add_filter( 'comments_pre_query',</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$empty_comment_queries, 10, 2 );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add_filter( 'render_block',</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$suppress_comment_blocks, 10, 2 );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remove_post_type_support() on init</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remove_menu_page('edit-comments.php')</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drop the admin-bar comments node</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CONTENT · 2 of 4</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A clean 404 needs redirect_canonical gone</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Dropping the feed link stops the feed being advertised, not served. Answering it takes a 404 — and the 404 takes one more removal that no filter-level test will ever catch.</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disable_comments</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yes</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add_action( 'template_redirect',</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$block_comment_feeds, 9 );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function block_comment_feeds()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if ( ! is_comment_feed() ) { return;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$wp_query-&gt;set_404();</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remove_action( 'template_redirect',</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'redirect_canonical'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status_header( 404 );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nocache_headers();</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CONTENT · 3 of 4</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Redirect author &amp; attachment pages</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Author archives expose the authors' usernames in the URL, and attachment pages are near-empty media wrappers. Both dilute SEO and are targets for trouble. Same hook, two conditions.</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disable_author_archives / redirect_attachment_pages</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yes / yes</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add_action( 'template_redirect', function ()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if ( is_author() )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wp_safe_redirect( home_url('/'), 301 );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exit;</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if ( is_attachment() )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parent post, else the FILE - never home</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CONTENT · 4 of 4</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Disable the emoji script</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WordPress core injects an emoji-detection script and inline CSS on every page load, plus a DNS-prefetch hint. Modern browsers render emoji natively, so this is pure dead weight.</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disable_emojis</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yes</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add_action( 'init', function ()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remove_action( 'wp_head',</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'print_emoji_detection_script', 7 );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remove_action( 'wp_print_styles',</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'print_emoji_styles'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 ...admin + feed + mail variants too</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add_filter( 'emoji_svg_url',</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'__return_false'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2733"/>
        </a:solidFill>
      </p:bgPr>
    </p:bg>
    <p:spTree>
      <p:nvGrpSpPr>
        <p:cNvPr id="1" name=""/>
        <p:cNvGrpSpPr/>
        <p:nvPr/>
      </p:nvGrpSpPr>
      <p:grpSpPr>
        <a:xfrm>
          <a:off x="0" y="0"/>
          <a:ext cx="0" cy="0"/>
          <a:chOff x="0" y="0"/>
          <a:chExt cx="0" cy="0"/>
        </a:xfrm>
      </p:grpSpPr>
      <p:sp>
        <p:nvSpPr>
          <p:cNvPr id="2" name="Shape 0"/>
          <p:cNvSpPr/>
          <p:nvPr/>
        </p:nvSpPr>
        <p:spPr>
          <a:xfrm>
            <a:off x="0" y="5577840"/>
            <a:ext cx="12188952" cy="1280160"/>
          </a:xfrm>
          <a:prstGeom prst="rect">
            <a:avLst/>
          </a:prstGeom>
          <a:solidFill>
            <a:srgbClr val="16323F"/>
          </a:solidFill>
          <a:ln/>
        </p:spPr>
      </p:sp>
      <p:sp>
        <p:nvSpPr>
          <p:cNvPr id="3" name="Shape 1"/>
          <p:cNvSpPr/>
          <p:nvPr/>
        </p:nvSpPr>
        <p:spPr>
          <a:xfrm>
            <a:off x="777240" y="914400"/>
            <a:ext cx="868680" cy="868680"/>
          </a:xfrm>
          <a:prstGeom prst="ellipse">
            <a:avLst/>
          </a:prstGeom>
          <a:solidFill>
            <a:srgbClr val="E0A94B"/>
          </a:solidFill>
          <a:ln/>
        </p:spPr>
      </p:sp>
      <p:sp>
        <p:nvSpPr>
          <p:cNvPr id="4" name="Text 2"/>
          <p:cNvSpPr/>
          <p:nvPr/>
        </p:nvSpPr>
        <p:spPr>
          <a:xfrm>
            <a:off x="777240" y="914400"/>
            <a:ext cx="868680" cy="868680"/>
          </a:xfrm>
          <a:prstGeom prst="rect">
            <a:avLst/>
          </a:prstGeom>
          <a:noFill/>
          <a:ln/>
        </p:spPr>
        <p:txBody>
          <a:bodyPr wrap="square" lIns="0" tIns="0" rIns="0" bIns="0" rtlCol="0" anchor="ctr"/>
          <a:lstStyle/>
          <a:p>
            <a:pPr algn="ctr" indent="0" marL="0">
              <a:buNone/>
            </a:pPr>
            <a:r>
              <a:rPr lang="en-US" sz="2470" b="1" dirty="0">
                <a:solidFill>
                  <a:srgbClr val="0F2733"/>
                </a:solidFill>
                <a:latin typeface="Cambria" pitchFamily="34" charset="0"/>
                <a:ea typeface="Cambria" pitchFamily="34" charset="-122"/>
                <a:cs typeface="Cambria" pitchFamily="34" charset="-120"/>
              </a:rPr>
              <a:t>3</a:t>
            </a:r>
            <a:endParaRPr lang="en-US" sz="2470" dirty="0"/>
          </a:p>
        </p:txBody>
      </p:sp>
      <p:sp>
        <p:nvSpPr>
          <p:cNvPr id="5" name="Text 3"/>
          <p:cNvSpPr/>
          <p:nvPr/>
        </p:nvSpPr>
        <p:spPr>
          <a:xfrm>
            <a:off x="1874520" y="1005840"/>
            <a:ext cx="8229600" cy="457200"/>
          </a:xfrm>
          <a:prstGeom prst="rect">
            <a:avLst/>
          </a:prstGeom>
          <a:noFill/>
          <a:ln/>
        </p:spPr>
        <p:txBody>
          <a:bodyPr wrap="square" lIns="0" tIns="0" rIns="0" bIns="0" rtlCol="0" anchor="ctr"/>
          <a:lstStyle/>
          <a:p>
            <a:pPr indent="0" marL="0">
              <a:buNone/>
            </a:pPr>
            <a:r>
              <a:rPr lang="en-US" sz="1600" b="1" dirty="0">
                <a:solidFill>
                  <a:srgbClr val="E0A94B"/>
                </a:solidFill>
                <a:latin typeface="Calibri" pitchFamily="34" charset="0"/>
                <a:ea typeface="Calibri" pitchFamily="34" charset="-122"/>
                <a:cs typeface="Calibri" pitchFamily="34" charset="-120"/>
              </a:rPr>
              <a:t>SECTION THREE</a:t>
            </a:r>
            <a:endParaRPr lang="en-US" sz="1600" dirty="0"/>
          </a:p>
        </p:txBody>
      </p:sp>
      <p:sp>
        <p:nvSpPr>
          <p:cNvPr id="6" name="Text 4"/>
          <p:cNvSpPr/>
          <p:nvPr/>
        </p:nvSpPr>
        <p:spPr>
          <a:xfrm>
            <a:off x="777240" y="2286000"/>
            <a:ext cx="10607040" cy="12801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Admin UX &amp;</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Login Sessions</a:t>
            </a:r>
            <a:endParaRPr lang="en-US" sz="4600" dirty="0"/>
          </a:p>
        </p:txBody>
      </p:sp>
      <p:sp>
        <p:nvSpPr>
          <p:cNvPr id="7" name="Text 5"/>
          <p:cNvSpPr/>
          <p:nvPr/>
        </p:nvSpPr>
        <p:spPr>
          <a:xfrm>
            <a:off x="822960" y="3657600"/>
            <a:ext cx="10058400" cy="914400"/>
          </a:xfrm>
          <a:prstGeom prst="rect">
            <a:avLst/>
          </a:prstGeom>
          <a:noFill/>
          <a:ln/>
        </p:spPr>
        <p:txBody>
          <a:bodyPr wrap="square" lIns="0" tIns="0" rIns="0" bIns="0" rtlCol="0" anchor="t"/>
          <a:lstStyle/>
          <a:p>
            <a:pPr indent="0" marL="0">
              <a:buNone/>
            </a:pPr>
            <a:r>
              <a:rPr lang="en-US" sz="1900" i="1" dirty="0">
                <a:solidFill>
                  <a:srgbClr val="D7E5EC"/>
                </a:solidFill>
                <a:latin typeface="Calibri" pitchFamily="34" charset="0"/>
                <a:ea typeface="Calibri" pitchFamily="34" charset="-122"/>
                <a:cs typeface="Calibri" pitchFamily="34" charset="-120"/>
              </a:rPr>
              <a:t>Small quality-of-life defaults: a calmer dashboard and sensible session policy.</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ADMIN UX</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Faster search, quieter admin bar</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Search the admin post list on a big site and WordPress reads every word of every post — like finding a book by reading the whole library. Title-only search checks just the spines, and it's far faster.</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title_only_admin_search / frontend_admin_bar_behavior</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C88F33"/>
                </a:solidFill>
                <a:latin typeface="Courier New" pitchFamily="34" charset="0"/>
                <a:ea typeface="Courier New" pitchFamily="34" charset="-122"/>
                <a:cs typeface="Courier New" pitchFamily="34" charset="-120"/>
              </a:rPr>
              <a:t>no / ''</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00" dirty="0">
                <a:solidFill>
                  <a:srgbClr val="8FBF9F"/>
                </a:solidFill>
                <a:latin typeface="Courier New" pitchFamily="34" charset="0"/>
                <a:ea typeface="Courier New" pitchFamily="34" charset="-122"/>
                <a:cs typeface="Courier New" pitchFamily="34" charset="-120"/>
              </a:rPr>
              <a:t>// title-only admin search — narrow the COLUMNS</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add_filter( 'post_search_columns',</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function ( $cols, $s, $q ) {</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if ( is_admin() &amp;&amp; $q-&gt;is_main_query() )</a:t>
            </a:r>
            <a:endParaRPr lang="en-US" sz="1100" dirty="0"/>
          </a:p>
          <a:p>
            <a:pPr algn="l" indent="0" marL="0">
              <a:lnSpc>
                <a:spcPct val="108000"/>
              </a:lnSpc>
              <a:buNone/>
            </a:pPr>
            <a:r>
              <a:rPr lang="en-US" sz="1100" dirty="0">
                <a:solidFill>
                  <a:srgbClr val="E7C070"/>
                </a:solidFill>
                <a:latin typeface="Courier New" pitchFamily="34" charset="0"/>
                <a:ea typeface="Courier New" pitchFamily="34" charset="-122"/>
                <a:cs typeface="Courier New" pitchFamily="34" charset="-120"/>
              </a:rPr>
              <a:t>        return array( 'post_title' );</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return $cols;   // front-end untouched</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 10, 3 );</a:t>
            </a:r>
            <a:endParaRPr lang="en-US" sz="1100" dirty="0"/>
          </a:p>
          <a:p>
            <a:pPr algn="l" indent="0" marL="0">
              <a:lnSpc>
                <a:spcPct val="108000"/>
              </a:lnSpc>
              <a:buNone/>
            </a:pPr>
            <a:r>
              <a:rPr lang="en-US" sz="1100" dirty="0">
                <a:solidFill>
                  <a:srgbClr val="8FBF9F"/>
                </a:solidFill>
                <a:latin typeface="Courier New" pitchFamily="34" charset="0"/>
                <a:ea typeface="Courier New" pitchFamily="34" charset="-122"/>
                <a:cs typeface="Courier New" pitchFamily="34" charset="-120"/>
              </a:rPr>
              <a:t>// hide bar for non-admins</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add_filter( 'show_admin_bar', fn( $s ) =&gt;</a:t>
            </a:r>
            <a:endParaRPr lang="en-US" sz="1100" dirty="0"/>
          </a:p>
          <a:p>
            <a:pPr algn="l" indent="0" marL="0">
              <a:lnSpc>
                <a:spcPct val="108000"/>
              </a:lnSpc>
              <a:buNone/>
            </a:pPr>
            <a:r>
              <a:rPr lang="en-US" sz="1100" dirty="0">
                <a:solidFill>
                  <a:srgbClr val="E7C070"/>
                </a:solidFill>
                <a:latin typeface="Courier New" pitchFamily="34" charset="0"/>
                <a:ea typeface="Courier New" pitchFamily="34" charset="-122"/>
                <a:cs typeface="Courier New" pitchFamily="34" charset="-120"/>
              </a:rPr>
              <a:t>  current_user_can('manage_options') ? $s : false );</a:t>
            </a:r>
            <a:endParaRPr lang="en-US" sz="110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LOGIN &amp; SESSIONS</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Right-size the login session</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A normal login lasts 2 days; “Remember Me” extends it to 14. Both are in days, and the remembered one can never be shorter. Now look at the registration: this callback throws away the value it was handed, so two plugins setting it cannot both win — and at core's own 2 / 14 we have nothing to say, so we stay out of it.</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disable_remember_me / session_regular_days / remember_me_days</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C88F33"/>
                </a:solidFill>
                <a:latin typeface="Courier New" pitchFamily="34" charset="0"/>
                <a:ea typeface="Courier New" pitchFamily="34" charset="-122"/>
                <a:cs typeface="Courier New" pitchFamily="34" charset="-120"/>
              </a:rPr>
              <a:t>no / 2 / 14</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function session_length( $exp, $uid, $remember )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return $remember</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 14 * DAY_IN_SECONDS</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 2 * DAY_IN_SECONDS;</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only when we differ from core's 2 / 14,</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and late enough to be the last word</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if ( policy_is_custom()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add_filter( 'auth_cookie_expiration',</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'session_length', 50, 3 );</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2733"/>
        </a:solidFill>
      </p:bgPr>
    </p:bg>
    <p:spTree>
      <p:nvGrpSpPr>
        <p:cNvPr id="1" name=""/>
        <p:cNvGrpSpPr/>
        <p:nvPr/>
      </p:nvGrpSpPr>
      <p:grpSpPr>
        <a:xfrm>
          <a:off x="0" y="0"/>
          <a:ext cx="0" cy="0"/>
          <a:chOff x="0" y="0"/>
          <a:chExt cx="0" cy="0"/>
        </a:xfrm>
      </p:grpSpPr>
      <p:sp>
        <p:nvSpPr>
          <p:cNvPr id="2" name="Shape 0"/>
          <p:cNvSpPr/>
          <p:nvPr/>
        </p:nvSpPr>
        <p:spPr>
          <a:xfrm>
            <a:off x="0" y="5577840"/>
            <a:ext cx="12188952" cy="1280160"/>
          </a:xfrm>
          <a:prstGeom prst="rect">
            <a:avLst/>
          </a:prstGeom>
          <a:solidFill>
            <a:srgbClr val="16323F"/>
          </a:solidFill>
          <a:ln/>
        </p:spPr>
      </p:sp>
      <p:sp>
        <p:nvSpPr>
          <p:cNvPr id="3" name="Shape 1"/>
          <p:cNvSpPr/>
          <p:nvPr/>
        </p:nvSpPr>
        <p:spPr>
          <a:xfrm>
            <a:off x="777240" y="914400"/>
            <a:ext cx="868680" cy="868680"/>
          </a:xfrm>
          <a:prstGeom prst="ellipse">
            <a:avLst/>
          </a:prstGeom>
          <a:solidFill>
            <a:srgbClr val="E0A94B"/>
          </a:solidFill>
          <a:ln/>
        </p:spPr>
      </p:sp>
      <p:sp>
        <p:nvSpPr>
          <p:cNvPr id="4" name="Text 2"/>
          <p:cNvSpPr/>
          <p:nvPr/>
        </p:nvSpPr>
        <p:spPr>
          <a:xfrm>
            <a:off x="777240" y="914400"/>
            <a:ext cx="868680" cy="868680"/>
          </a:xfrm>
          <a:prstGeom prst="rect">
            <a:avLst/>
          </a:prstGeom>
          <a:noFill/>
          <a:ln/>
        </p:spPr>
        <p:txBody>
          <a:bodyPr wrap="square" lIns="0" tIns="0" rIns="0" bIns="0" rtlCol="0" anchor="ctr"/>
          <a:lstStyle/>
          <a:p>
            <a:pPr algn="ctr" indent="0" marL="0">
              <a:buNone/>
            </a:pPr>
            <a:r>
              <a:rPr lang="en-US" sz="2470" b="1" dirty="0">
                <a:solidFill>
                  <a:srgbClr val="0F2733"/>
                </a:solidFill>
                <a:latin typeface="Cambria" pitchFamily="34" charset="0"/>
                <a:ea typeface="Cambria" pitchFamily="34" charset="-122"/>
                <a:cs typeface="Cambria" pitchFamily="34" charset="-120"/>
              </a:rPr>
              <a:t>4</a:t>
            </a:r>
            <a:endParaRPr lang="en-US" sz="2470" dirty="0"/>
          </a:p>
        </p:txBody>
      </p:sp>
      <p:sp>
        <p:nvSpPr>
          <p:cNvPr id="5" name="Text 3"/>
          <p:cNvSpPr/>
          <p:nvPr/>
        </p:nvSpPr>
        <p:spPr>
          <a:xfrm>
            <a:off x="1874520" y="1005840"/>
            <a:ext cx="8229600" cy="457200"/>
          </a:xfrm>
          <a:prstGeom prst="rect">
            <a:avLst/>
          </a:prstGeom>
          <a:noFill/>
          <a:ln/>
        </p:spPr>
        <p:txBody>
          <a:bodyPr wrap="square" lIns="0" tIns="0" rIns="0" bIns="0" rtlCol="0" anchor="ctr"/>
          <a:lstStyle/>
          <a:p>
            <a:pPr indent="0" marL="0">
              <a:buNone/>
            </a:pPr>
            <a:r>
              <a:rPr lang="en-US" sz="1600" b="1" dirty="0">
                <a:solidFill>
                  <a:srgbClr val="E0A94B"/>
                </a:solidFill>
                <a:latin typeface="Calibri" pitchFamily="34" charset="0"/>
                <a:ea typeface="Calibri" pitchFamily="34" charset="-122"/>
                <a:cs typeface="Calibri" pitchFamily="34" charset="-120"/>
              </a:rPr>
              <a:t>SECTION FOUR</a:t>
            </a:r>
            <a:endParaRPr lang="en-US" sz="1600" dirty="0"/>
          </a:p>
        </p:txBody>
      </p:sp>
      <p:sp>
        <p:nvSpPr>
          <p:cNvPr id="6" name="Text 4"/>
          <p:cNvSpPr/>
          <p:nvPr/>
        </p:nvSpPr>
        <p:spPr>
          <a:xfrm>
            <a:off x="777240" y="2286000"/>
            <a:ext cx="10607040" cy="12801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Branding, Performance</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&amp; Email</a:t>
            </a:r>
            <a:endParaRPr lang="en-US" sz="4600" dirty="0"/>
          </a:p>
        </p:txBody>
      </p:sp>
      <p:sp>
        <p:nvSpPr>
          <p:cNvPr id="7" name="Text 5"/>
          <p:cNvSpPr/>
          <p:nvPr/>
        </p:nvSpPr>
        <p:spPr>
          <a:xfrm>
            <a:off x="822960" y="3657600"/>
            <a:ext cx="10058400" cy="914400"/>
          </a:xfrm>
          <a:prstGeom prst="rect">
            <a:avLst/>
          </a:prstGeom>
          <a:noFill/>
          <a:ln/>
        </p:spPr>
        <p:txBody>
          <a:bodyPr wrap="square" lIns="0" tIns="0" rIns="0" bIns="0" rtlCol="0" anchor="t"/>
          <a:lstStyle/>
          <a:p>
            <a:pPr indent="0" marL="0">
              <a:buNone/>
            </a:pPr>
            <a:r>
              <a:rPr lang="en-US" sz="1900" i="1" dirty="0">
                <a:solidFill>
                  <a:srgbClr val="D7E5EC"/>
                </a:solidFill>
                <a:latin typeface="Calibri" pitchFamily="34" charset="0"/>
                <a:ea typeface="Calibri" pitchFamily="34" charset="-122"/>
                <a:cs typeface="Calibri" pitchFamily="34" charset="-120"/>
              </a:rPr>
              <a:t>Brand the login screen, throttle one polling API, and end on the only default that changes nothing at all.</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BRANDING</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Own the login screen</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The default WordPress logo sends users to wordpress.org. Removing, unlinking, or replacing it keeps the login screen organizationally consistent and prevents an unexpected external destination. BBD leaves it unchanged unless you opt in.</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login_logo_behavior</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keep_default (keep / remove / unlink / replace)</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200" dirty="0">
                <a:solidFill>
                  <a:srgbClr val="8FBF9F"/>
                </a:solidFill>
                <a:latin typeface="Courier New" pitchFamily="34" charset="0"/>
                <a:ea typeface="Courier New" pitchFamily="34" charset="-122"/>
                <a:cs typeface="Courier New" pitchFamily="34" charset="-120"/>
              </a:rPr>
              <a:t>// remove, unlink, or replace — a choice</a:t>
            </a:r>
            <a:endParaRPr lang="en-US" sz="1200" dirty="0"/>
          </a:p>
          <a:p>
            <a:pPr algn="l" indent="0" marL="0">
              <a:lnSpc>
                <a:spcPct val="108000"/>
              </a:lnSpc>
              <a:buNone/>
            </a:pPr>
            <a:r>
              <a:rPr lang="en-US" sz="1200" dirty="0">
                <a:solidFill>
                  <a:srgbClr val="E7C070"/>
                </a:solidFill>
                <a:latin typeface="Courier New" pitchFamily="34" charset="0"/>
                <a:ea typeface="Courier New" pitchFamily="34" charset="-122"/>
                <a:cs typeface="Courier New" pitchFamily="34" charset="-120"/>
              </a:rPr>
              <a:t>add_action( 'login_head', $logo_css );</a:t>
            </a:r>
            <a:endParaRPr lang="en-US" sz="1200" dirty="0"/>
          </a:p>
          <a:p>
            <a:pPr algn="l" indent="0" marL="0">
              <a:lnSpc>
                <a:spcPct val="108000"/>
              </a:lnSpc>
              <a:buNone/>
            </a:pPr>
            <a:r>
              <a:rPr lang="en-US" sz="1200" dirty="0">
                <a:solidFill>
                  <a:srgbClr val="DCEAF1"/>
                </a:solidFill>
                <a:latin typeface="Courier New" pitchFamily="34" charset="0"/>
                <a:ea typeface="Courier New" pitchFamily="34" charset="-122"/>
                <a:cs typeface="Courier New" pitchFamily="34" charset="-120"/>
              </a:rPr>
              <a:t> </a:t>
            </a:r>
            <a:endParaRPr lang="en-US" sz="1200" dirty="0"/>
          </a:p>
          <a:p>
            <a:pPr algn="l" indent="0" marL="0">
              <a:lnSpc>
                <a:spcPct val="108000"/>
              </a:lnSpc>
              <a:buNone/>
            </a:pPr>
            <a:r>
              <a:rPr lang="en-US" sz="1200" dirty="0">
                <a:solidFill>
                  <a:srgbClr val="8FBF9F"/>
                </a:solidFill>
                <a:latin typeface="Courier New" pitchFamily="34" charset="0"/>
                <a:ea typeface="Courier New" pitchFamily="34" charset="-122"/>
                <a:cs typeface="Courier New" pitchFamily="34" charset="-120"/>
              </a:rPr>
              <a:t>// any change points the link home</a:t>
            </a:r>
            <a:endParaRPr lang="en-US" sz="1200" dirty="0"/>
          </a:p>
          <a:p>
            <a:pPr algn="l" indent="0" marL="0">
              <a:lnSpc>
                <a:spcPct val="108000"/>
              </a:lnSpc>
              <a:buNone/>
            </a:pPr>
            <a:r>
              <a:rPr lang="en-US" sz="1200" dirty="0">
                <a:solidFill>
                  <a:srgbClr val="8FBF9F"/>
                </a:solidFill>
                <a:latin typeface="Courier New" pitchFamily="34" charset="0"/>
                <a:ea typeface="Courier New" pitchFamily="34" charset="-122"/>
                <a:cs typeface="Courier New" pitchFamily="34" charset="-120"/>
              </a:rPr>
              <a:t>// (no separate toggle)</a:t>
            </a:r>
            <a:endParaRPr lang="en-US" sz="1200" dirty="0"/>
          </a:p>
          <a:p>
            <a:pPr algn="l" indent="0" marL="0">
              <a:lnSpc>
                <a:spcPct val="108000"/>
              </a:lnSpc>
              <a:buNone/>
            </a:pPr>
            <a:r>
              <a:rPr lang="en-US" sz="1200" dirty="0">
                <a:solidFill>
                  <a:srgbClr val="E7C070"/>
                </a:solidFill>
                <a:latin typeface="Courier New" pitchFamily="34" charset="0"/>
                <a:ea typeface="Courier New" pitchFamily="34" charset="-122"/>
                <a:cs typeface="Courier New" pitchFamily="34" charset="-120"/>
              </a:rPr>
              <a:t>add_filter( 'login_headerurl', 'home_url' );</a:t>
            </a:r>
            <a:endParaRPr lang="en-US" sz="1200" dirty="0"/>
          </a:p>
          <a:p>
            <a:pPr algn="l" indent="0" marL="0">
              <a:lnSpc>
                <a:spcPct val="108000"/>
              </a:lnSpc>
              <a:buNone/>
            </a:pPr>
            <a:r>
              <a:rPr lang="en-US" sz="1200" dirty="0">
                <a:solidFill>
                  <a:srgbClr val="DCEAF1"/>
                </a:solidFill>
                <a:latin typeface="Courier New" pitchFamily="34" charset="0"/>
                <a:ea typeface="Courier New" pitchFamily="34" charset="-122"/>
                <a:cs typeface="Courier New" pitchFamily="34" charset="-120"/>
              </a:rPr>
              <a:t>add_filter( 'login_headertext', fn() =&gt;</a:t>
            </a:r>
            <a:endParaRPr lang="en-US" sz="1200" dirty="0"/>
          </a:p>
          <a:p>
            <a:pPr algn="l" indent="0" marL="0">
              <a:lnSpc>
                <a:spcPct val="108000"/>
              </a:lnSpc>
              <a:buNone/>
            </a:pPr>
            <a:r>
              <a:rPr lang="en-US" sz="1200" dirty="0">
                <a:solidFill>
                  <a:srgbClr val="E7C070"/>
                </a:solidFill>
                <a:latin typeface="Courier New" pitchFamily="34" charset="0"/>
                <a:ea typeface="Courier New" pitchFamily="34" charset="-122"/>
                <a:cs typeface="Courier New" pitchFamily="34" charset="-120"/>
              </a:rPr>
              <a:t>            get_bloginfo( 'name' ) );</a:t>
            </a:r>
            <a:endParaRPr lang="en-US" sz="120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PERFORMANCE · opt-in</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Throttle Heartbeat — and a default we deleted</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Throttle Heartbeat to ease up on weak shared hosting. The more interesting half is the toggle that used to be here: WordPress 6.3 gave scripts a per-script loading strategy, so our blanket defer filter had to go.</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throttle_heartbeat</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C88F33"/>
                </a:solidFill>
                <a:latin typeface="Courier New" pitchFamily="34" charset="0"/>
                <a:ea typeface="Courier New" pitchFamily="34" charset="-122"/>
                <a:cs typeface="Courier New" pitchFamily="34" charset="-120"/>
              </a:rPr>
              <a:t>no (opt-in)</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add_filter( 'heartbeat_settings', function ( $s ) {</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$s['interval'] = 60;</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return $s;</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 </a:t>
            </a:r>
            <a:endParaRPr lang="en-US" sz="1150" dirty="0"/>
          </a:p>
          <a:p>
            <a:pPr algn="l" indent="0" marL="0">
              <a:lnSpc>
                <a:spcPct val="108000"/>
              </a:lnSpc>
              <a:buNone/>
            </a:pPr>
            <a:r>
              <a:rPr lang="en-US" sz="1150" dirty="0">
                <a:solidFill>
                  <a:srgbClr val="8FBF9F"/>
                </a:solidFill>
                <a:latin typeface="Courier New" pitchFamily="34" charset="0"/>
                <a:ea typeface="Courier New" pitchFamily="34" charset="-122"/>
                <a:cs typeface="Courier New" pitchFamily="34" charset="-120"/>
              </a:rPr>
              <a:t>// Deferring is NOT a setting here. Since WP 6.3:</a:t>
            </a:r>
            <a:endParaRPr lang="en-US" sz="1150" dirty="0"/>
          </a:p>
          <a:p>
            <a:pPr algn="l" indent="0" marL="0">
              <a:lnSpc>
                <a:spcPct val="108000"/>
              </a:lnSpc>
              <a:buNone/>
            </a:pPr>
            <a:r>
              <a:rPr lang="en-US" sz="1150" dirty="0">
                <a:solidFill>
                  <a:srgbClr val="DCEAF1"/>
                </a:solidFill>
                <a:latin typeface="Courier New" pitchFamily="34" charset="0"/>
                <a:ea typeface="Courier New" pitchFamily="34" charset="-122"/>
                <a:cs typeface="Courier New" pitchFamily="34" charset="-120"/>
              </a:rPr>
              <a:t>wp_enqueue_script( 'front', $src, array(), '1.0',</a:t>
            </a:r>
            <a:endParaRPr lang="en-US" sz="1150" dirty="0"/>
          </a:p>
          <a:p>
            <a:pPr algn="l" indent="0" marL="0">
              <a:lnSpc>
                <a:spcPct val="108000"/>
              </a:lnSpc>
              <a:buNone/>
            </a:pPr>
            <a:r>
              <a:rPr lang="en-US" sz="1150" dirty="0">
                <a:solidFill>
                  <a:srgbClr val="E7C070"/>
                </a:solidFill>
                <a:latin typeface="Courier New" pitchFamily="34" charset="0"/>
                <a:ea typeface="Courier New" pitchFamily="34" charset="-122"/>
                <a:cs typeface="Courier New" pitchFamily="34" charset="-120"/>
              </a:rPr>
              <a:t>  array( 'strategy' =&gt; 'defer' ) );</a:t>
            </a:r>
            <a:endParaRPr lang="en-US" sz="115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indent="0" marL="0">
              <a:buNone/>
            </a:pPr>
            <a:r>
              <a:rPr lang="en-US" sz="1300" b="1" dirty="0">
                <a:solidFill>
                  <a:srgbClr val="3E7E9C"/>
                </a:solidFill>
                <a:latin typeface="Calibri" pitchFamily="34" charset="0"/>
                <a:ea typeface="Calibri" pitchFamily="34" charset="-122"/>
                <a:cs typeface="Calibri" pitchFamily="34" charset="-120"/>
              </a:rPr>
              <a:t>EMAIL</a:t>
            </a:r>
            <a:endParaRPr lang="en-US" sz="1300" dirty="0"/>
          </a:p>
        </p:txBody>
      </p:sp>
      <p:sp>
        <p:nvSpPr>
          <p:cNvPr id="3" name="Text 1"/>
          <p:cNvSpPr/>
          <p:nvPr/>
        </p:nvSpPr>
        <p:spPr>
          <a:xfrm>
            <a:off x="548640" y="777240"/>
            <a:ext cx="11064240" cy="77724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Say so when the site cannot send mail</a:t>
            </a:r>
            <a:endParaRPr lang="en-US" sz="3000" dirty="0"/>
          </a:p>
        </p:txBody>
      </p:sp>
      <p:sp>
        <p:nvSpPr>
          <p:cNvPr id="4" name="Text 2"/>
          <p:cNvSpPr/>
          <p:nvPr/>
        </p:nvSpPr>
        <p:spPr>
          <a:xfrm>
            <a:off x="548640" y="1783080"/>
            <a:ext cx="4892040" cy="2926080"/>
          </a:xfrm>
          <a:prstGeom prst="rect">
            <a:avLst/>
          </a:prstGeom>
          <a:noFill/>
          <a:ln/>
        </p:spPr>
        <p:txBody>
          <a:bodyPr wrap="square" lIns="0" tIns="0" rIns="0" bIns="0" rtlCol="0" anchor="t"/>
          <a:lstStyle/>
          <a:p>
            <a:pPr indent="0" marL="0">
              <a:lnSpc>
                <a:spcPct val="112000"/>
              </a:lnSpc>
              <a:buNone/>
            </a:pPr>
            <a:r>
              <a:rPr lang="en-US" sz="1600" dirty="0">
                <a:solidFill>
                  <a:srgbClr val="4A5A63"/>
                </a:solidFill>
                <a:latin typeface="Calibri" pitchFamily="34" charset="0"/>
                <a:ea typeface="Calibri" pitchFamily="34" charset="-122"/>
                <a:cs typeface="Calibri" pitchFamily="34" charset="-120"/>
              </a:rPr>
              <a:t>WordPress sends from wordpress@yourdomain unless something changes it. On a domain that cannot send, password resets fail silently — wp_mail() returns false and nothing surfaces it. This warns, and that is all it does.</a:t>
            </a:r>
            <a:endParaRPr lang="en-US" sz="1600" dirty="0"/>
          </a:p>
        </p:txBody>
      </p:sp>
      <p:sp>
        <p:nvSpPr>
          <p:cNvPr id="5" name="Shape 3"/>
          <p:cNvSpPr/>
          <p:nvPr/>
        </p:nvSpPr>
        <p:spPr>
          <a:xfrm>
            <a:off x="548640" y="5074920"/>
            <a:ext cx="4892040" cy="960120"/>
          </a:xfrm>
          <a:prstGeom prst="roundRect">
            <a:avLst>
              <a:gd name="adj" fmla="val 7619"/>
            </a:avLst>
          </a:prstGeom>
          <a:solidFill>
            <a:srgbClr val="EAF1F5"/>
          </a:solidFill>
          <a:ln w="12700">
            <a:solidFill>
              <a:srgbClr val="3E7E9C"/>
            </a:solidFill>
            <a:prstDash val="solid"/>
          </a:ln>
        </p:spPr>
      </p:sp>
      <p:sp>
        <p:nvSpPr>
          <p:cNvPr id="6" name="Text 4"/>
          <p:cNvSpPr/>
          <p:nvPr/>
        </p:nvSpPr>
        <p:spPr>
          <a:xfrm>
            <a:off x="731520" y="5166360"/>
            <a:ext cx="4572000" cy="777240"/>
          </a:xfrm>
          <a:prstGeom prst="rect">
            <a:avLst/>
          </a:prstGeom>
          <a:noFill/>
          <a:ln/>
        </p:spPr>
        <p:txBody>
          <a:bodyPr wrap="square" lIns="0" tIns="0" rIns="0" bIns="0" rtlCol="0" anchor="ctr"/>
          <a:lstStyle/>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KEY      </a:t>
            </a:r>
            <a:pPr indent="0" marL="0">
              <a:lnSpc>
                <a:spcPct val="115000"/>
              </a:lnSpc>
              <a:buNone/>
            </a:pPr>
            <a:r>
              <a:rPr lang="en-US" sz="1150" b="1" dirty="0">
                <a:solidFill>
                  <a:srgbClr val="0F2733"/>
                </a:solidFill>
                <a:latin typeface="Courier New" pitchFamily="34" charset="0"/>
                <a:ea typeface="Courier New" pitchFamily="34" charset="-122"/>
                <a:cs typeface="Courier New" pitchFamily="34" charset="-120"/>
              </a:rPr>
              <a:t>mail_deliverability_notice</a:t>
            </a:r>
            <a:pPr indent="0" marL="0">
              <a:lnSpc>
                <a:spcPct val="115000"/>
              </a:lnSpc>
              <a:buNone/>
            </a:pPr>
            <a:endParaRPr lang="en-US" sz="1150" dirty="0"/>
          </a:p>
          <a:p>
            <a:pPr indent="0" marL="0">
              <a:lnSpc>
                <a:spcPct val="115000"/>
              </a:lnSpc>
              <a:buNone/>
            </a:pPr>
            <a:r>
              <a:rPr lang="en-US" sz="1150" b="1" dirty="0">
                <a:solidFill>
                  <a:srgbClr val="3E7E9C"/>
                </a:solidFill>
                <a:latin typeface="Courier New" pitchFamily="34" charset="0"/>
                <a:ea typeface="Courier New" pitchFamily="34" charset="-122"/>
                <a:cs typeface="Courier New" pitchFamily="34" charset="-120"/>
              </a:rPr>
              <a:t>DEFAULT   </a:t>
            </a:r>
            <a:endParaRPr lang="en-US" sz="1150" dirty="0"/>
          </a:p>
          <a:p>
            <a:pPr indent="0" marL="0">
              <a:lnSpc>
                <a:spcPct val="115000"/>
              </a:lnSpc>
              <a:buNone/>
            </a:pPr>
            <a:r>
              <a:rPr lang="en-US" sz="1150" b="1" dirty="0">
                <a:solidFill>
                  <a:srgbClr val="27607A"/>
                </a:solidFill>
                <a:latin typeface="Courier New" pitchFamily="34" charset="0"/>
                <a:ea typeface="Courier New" pitchFamily="34" charset="-122"/>
                <a:cs typeface="Courier New" pitchFamily="34" charset="-120"/>
              </a:rPr>
              <a:t>yes</a:t>
            </a:r>
            <a:endParaRPr lang="en-US" sz="1150" dirty="0"/>
          </a:p>
        </p:txBody>
      </p:sp>
      <p:sp>
        <p:nvSpPr>
          <p:cNvPr id="7" name="Shape 5"/>
          <p:cNvSpPr/>
          <p:nvPr/>
        </p:nvSpPr>
        <p:spPr>
          <a:xfrm>
            <a:off x="5715000" y="1783080"/>
            <a:ext cx="5897880" cy="4251960"/>
          </a:xfrm>
          <a:prstGeom prst="roundRect">
            <a:avLst>
              <a:gd name="adj" fmla="val 172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8" name="Text 6"/>
          <p:cNvSpPr/>
          <p:nvPr/>
        </p:nvSpPr>
        <p:spPr>
          <a:xfrm>
            <a:off x="5916168" y="1947672"/>
            <a:ext cx="5495544" cy="3922776"/>
          </a:xfrm>
          <a:prstGeom prst="rect">
            <a:avLst/>
          </a:prstGeom>
          <a:noFill/>
          <a:ln/>
        </p:spPr>
        <p:txBody>
          <a:bodyPr wrap="square" lIns="0" tIns="0" rIns="0" bIns="0" rtlCol="0" anchor="t"/>
          <a:lstStyle/>
          <a:p>
            <a:pPr algn="l" indent="0" marL="0">
              <a:lnSpc>
                <a:spcPct val="108000"/>
              </a:lnSpc>
              <a:buNone/>
            </a:pPr>
            <a:r>
              <a:rPr lang="en-US" sz="1100" dirty="0">
                <a:solidFill>
                  <a:srgbClr val="8FBF9F"/>
                </a:solidFill>
                <a:latin typeface="Courier New" pitchFamily="34" charset="0"/>
                <a:ea typeface="Courier New" pitchFamily="34" charset="-122"/>
                <a:cs typeface="Courier New" pitchFamily="34" charset="-120"/>
              </a:rPr>
              <a:t>// The From address the site will ACTUALLY use.</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$from = apply_filters( 'wp_mail_from',</a:t>
            </a:r>
            <a:endParaRPr lang="en-US" sz="1100" dirty="0"/>
          </a:p>
          <a:p>
            <a:pPr algn="l" indent="0" marL="0">
              <a:lnSpc>
                <a:spcPct val="108000"/>
              </a:lnSpc>
              <a:buNone/>
            </a:pPr>
            <a:r>
              <a:rPr lang="en-US" sz="1100" dirty="0">
                <a:solidFill>
                  <a:srgbClr val="E7C070"/>
                </a:solidFill>
                <a:latin typeface="Courier New" pitchFamily="34" charset="0"/>
                <a:ea typeface="Courier New" pitchFamily="34" charset="-122"/>
                <a:cs typeface="Courier New" pitchFamily="34" charset="-120"/>
              </a:rPr>
              <a:t>          'wordpress@' . $host );</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a:t>
            </a:r>
            <a:endParaRPr lang="en-US" sz="1100" dirty="0"/>
          </a:p>
          <a:p>
            <a:pPr algn="l" indent="0" marL="0">
              <a:lnSpc>
                <a:spcPct val="108000"/>
              </a:lnSpc>
              <a:buNone/>
            </a:pPr>
            <a:r>
              <a:rPr lang="en-US" sz="1100" dirty="0">
                <a:solidFill>
                  <a:srgbClr val="8FBF9F"/>
                </a:solidFill>
                <a:latin typeface="Courier New" pitchFamily="34" charset="0"/>
                <a:ea typeface="Courier New" pitchFamily="34" charset="-122"/>
                <a:cs typeface="Courier New" pitchFamily="34" charset="-120"/>
              </a:rPr>
              <a:t>// A shape check, not a delivery test.</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$risky = ! is_email( $from )</a:t>
            </a:r>
            <a:endParaRPr lang="en-US" sz="1100" dirty="0"/>
          </a:p>
          <a:p>
            <a:pPr algn="l" indent="0" marL="0">
              <a:lnSpc>
                <a:spcPct val="108000"/>
              </a:lnSpc>
              <a:buNone/>
            </a:pPr>
            <a:r>
              <a:rPr lang="en-US" sz="1100" dirty="0">
                <a:solidFill>
                  <a:srgbClr val="E7C070"/>
                </a:solidFill>
                <a:latin typeface="Courier New" pitchFamily="34" charset="0"/>
                <a:ea typeface="Courier New" pitchFamily="34" charset="-122"/>
                <a:cs typeface="Courier New" pitchFamily="34" charset="-120"/>
              </a:rPr>
              <a:t>  || in_array( $domain, $never_resolves )</a:t>
            </a:r>
            <a:endParaRPr lang="en-US" sz="1100" dirty="0"/>
          </a:p>
          <a:p>
            <a:pPr algn="l" indent="0" marL="0">
              <a:lnSpc>
                <a:spcPct val="108000"/>
              </a:lnSpc>
              <a:buNone/>
            </a:pPr>
            <a:r>
              <a:rPr lang="en-US" sz="1100" dirty="0">
                <a:solidFill>
                  <a:srgbClr val="E7C070"/>
                </a:solidFill>
                <a:latin typeface="Courier New" pitchFamily="34" charset="0"/>
                <a:ea typeface="Courier New" pitchFamily="34" charset="-122"/>
                <a:cs typeface="Courier New" pitchFamily="34" charset="-120"/>
              </a:rPr>
              <a:t>  || preg_match( '/\.(local|test|invalid)$/', $d );</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 </a:t>
            </a:r>
            <a:endParaRPr lang="en-US" sz="1100" dirty="0"/>
          </a:p>
          <a:p>
            <a:pPr algn="l" indent="0" marL="0">
              <a:lnSpc>
                <a:spcPct val="108000"/>
              </a:lnSpc>
              <a:buNone/>
            </a:pPr>
            <a:r>
              <a:rPr lang="en-US" sz="1100" dirty="0">
                <a:solidFill>
                  <a:srgbClr val="8FBF9F"/>
                </a:solidFill>
                <a:latin typeface="Courier New" pitchFamily="34" charset="0"/>
                <a:ea typeface="Courier New" pitchFamily="34" charset="-122"/>
                <a:cs typeface="Courier New" pitchFamily="34" charset="-120"/>
              </a:rPr>
              <a:t>// Warn. Never block, never rewrite.</a:t>
            </a:r>
            <a:endParaRPr lang="en-US" sz="1100" dirty="0"/>
          </a:p>
          <a:p>
            <a:pPr algn="l" indent="0" marL="0">
              <a:lnSpc>
                <a:spcPct val="108000"/>
              </a:lnSpc>
              <a:buNone/>
            </a:pPr>
            <a:r>
              <a:rPr lang="en-US" sz="1100" dirty="0">
                <a:solidFill>
                  <a:srgbClr val="DCEAF1"/>
                </a:solidFill>
                <a:latin typeface="Courier New" pitchFamily="34" charset="0"/>
                <a:ea typeface="Courier New" pitchFamily="34" charset="-122"/>
                <a:cs typeface="Courier New" pitchFamily="34" charset="-120"/>
              </a:rPr>
              <a:t>add_action( 'admin_notices', $render_notice );</a:t>
            </a:r>
            <a:endParaRPr lang="en-US" sz="1100" dirty="0"/>
          </a:p>
        </p:txBody>
      </p:sp>
      <p:sp>
        <p:nvSpPr>
          <p:cNvPr id="9" name="Text 7"/>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0" name="Text 8"/>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502920"/>
            <a:ext cx="10972800" cy="731520"/>
          </a:xfrm>
          <a:prstGeom prst="rect">
            <a:avLst/>
          </a:prstGeom>
          <a:noFill/>
          <a:ln/>
        </p:spPr>
        <p:txBody>
          <a:bodyPr wrap="square" lIns="0" tIns="0" rIns="0" bIns="0" rtlCol="0" anchor="ctr"/>
          <a:lstStyle/>
          <a:p>
            <a:pPr indent="0" marL="0">
              <a:buNone/>
            </a:pPr>
            <a:r>
              <a:rPr lang="en-US" sz="3200" b="1" dirty="0">
                <a:solidFill>
                  <a:srgbClr val="0F2733"/>
                </a:solidFill>
                <a:latin typeface="Cambria" pitchFamily="34" charset="0"/>
                <a:ea typeface="Cambria" pitchFamily="34" charset="-122"/>
                <a:cs typeface="Cambria" pitchFamily="34" charset="-120"/>
              </a:rPr>
              <a:t>Three things a plugin can't toggle</a:t>
            </a:r>
            <a:endParaRPr lang="en-US" sz="3200" dirty="0"/>
          </a:p>
        </p:txBody>
      </p:sp>
      <p:sp>
        <p:nvSpPr>
          <p:cNvPr id="3" name="Text 1"/>
          <p:cNvSpPr/>
          <p:nvPr/>
        </p:nvSpPr>
        <p:spPr>
          <a:xfrm>
            <a:off x="548640" y="1280160"/>
            <a:ext cx="10789920" cy="640080"/>
          </a:xfrm>
          <a:prstGeom prst="rect">
            <a:avLst/>
          </a:prstGeom>
          <a:noFill/>
          <a:ln/>
        </p:spPr>
        <p:txBody>
          <a:bodyPr wrap="square" lIns="0" tIns="0" rIns="0" bIns="0" rtlCol="0" anchor="ctr"/>
          <a:lstStyle/>
          <a:p>
            <a:pPr indent="0" marL="0">
              <a:buNone/>
            </a:pPr>
            <a:r>
              <a:rPr lang="en-US" sz="1600" dirty="0">
                <a:solidFill>
                  <a:srgbClr val="4A5A63"/>
                </a:solidFill>
                <a:latin typeface="Calibri" pitchFamily="34" charset="0"/>
                <a:ea typeface="Calibri" pitchFamily="34" charset="-122"/>
                <a:cs typeface="Calibri" pitchFamily="34" charset="-120"/>
              </a:rPr>
              <a:t>Some defaults live in wp-config.php, above the plugin layer, because they must load before plugins do. Document them as manual steps in your onboarding checklist.</a:t>
            </a:r>
            <a:endParaRPr lang="en-US" sz="1600" dirty="0"/>
          </a:p>
        </p:txBody>
      </p:sp>
      <p:sp>
        <p:nvSpPr>
          <p:cNvPr id="4" name="Shape 2"/>
          <p:cNvSpPr/>
          <p:nvPr/>
        </p:nvSpPr>
        <p:spPr>
          <a:xfrm>
            <a:off x="548640" y="2148840"/>
            <a:ext cx="11064240" cy="1920240"/>
          </a:xfrm>
          <a:prstGeom prst="roundRect">
            <a:avLst>
              <a:gd name="adj" fmla="val 381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5" name="Text 3"/>
          <p:cNvSpPr/>
          <p:nvPr/>
        </p:nvSpPr>
        <p:spPr>
          <a:xfrm>
            <a:off x="749808" y="2313432"/>
            <a:ext cx="10661904" cy="1591056"/>
          </a:xfrm>
          <a:prstGeom prst="rect">
            <a:avLst/>
          </a:prstGeom>
          <a:noFill/>
          <a:ln/>
        </p:spPr>
        <p:txBody>
          <a:bodyPr wrap="square" lIns="0" tIns="0" rIns="0" bIns="0" rtlCol="0" anchor="t"/>
          <a:lstStyle/>
          <a:p>
            <a:pPr algn="l" indent="0" marL="0">
              <a:lnSpc>
                <a:spcPct val="108000"/>
              </a:lnSpc>
              <a:buNone/>
            </a:pPr>
            <a:r>
              <a:rPr lang="en-US" sz="1400" dirty="0">
                <a:solidFill>
                  <a:srgbClr val="DCEAF1"/>
                </a:solidFill>
                <a:latin typeface="Courier New" pitchFamily="34" charset="0"/>
                <a:ea typeface="Courier New" pitchFamily="34" charset="-122"/>
                <a:cs typeface="Courier New" pitchFamily="34" charset="-120"/>
              </a:rPr>
              <a:t>define( 'DISALLOW_FILE_EDIT', true );  // no in-dashboard code editor</a:t>
            </a:r>
            <a:endParaRPr lang="en-US" sz="1400" dirty="0"/>
          </a:p>
          <a:p>
            <a:pPr algn="l" indent="0" marL="0">
              <a:lnSpc>
                <a:spcPct val="108000"/>
              </a:lnSpc>
              <a:buNone/>
            </a:pPr>
            <a:r>
              <a:rPr lang="en-US" sz="1400" dirty="0">
                <a:solidFill>
                  <a:srgbClr val="DCEAF1"/>
                </a:solidFill>
                <a:latin typeface="Courier New" pitchFamily="34" charset="0"/>
                <a:ea typeface="Courier New" pitchFamily="34" charset="-122"/>
                <a:cs typeface="Courier New" pitchFamily="34" charset="-120"/>
              </a:rPr>
              <a:t>define( 'AUTOSAVE_INTERVAL', 120 );    // gentler autosave (seconds)</a:t>
            </a:r>
            <a:endParaRPr lang="en-US" sz="1400" dirty="0"/>
          </a:p>
          <a:p>
            <a:pPr algn="l" indent="0" marL="0">
              <a:lnSpc>
                <a:spcPct val="108000"/>
              </a:lnSpc>
              <a:buNone/>
            </a:pPr>
            <a:r>
              <a:rPr lang="en-US" sz="1400" dirty="0">
                <a:solidFill>
                  <a:srgbClr val="DCEAF1"/>
                </a:solidFill>
                <a:latin typeface="Courier New" pitchFamily="34" charset="0"/>
                <a:ea typeface="Courier New" pitchFamily="34" charset="-122"/>
                <a:cs typeface="Courier New" pitchFamily="34" charset="-120"/>
              </a:rPr>
              <a:t>define( 'WP_POST_REVISIONS', 10 );     // cap revision-table bloat</a:t>
            </a:r>
            <a:endParaRPr lang="en-US" sz="1400" dirty="0"/>
          </a:p>
        </p:txBody>
      </p:sp>
      <p:sp>
        <p:nvSpPr>
          <p:cNvPr id="6" name="Shape 4"/>
          <p:cNvSpPr/>
          <p:nvPr/>
        </p:nvSpPr>
        <p:spPr>
          <a:xfrm>
            <a:off x="548640" y="4343400"/>
            <a:ext cx="3520440" cy="1508760"/>
          </a:xfrm>
          <a:prstGeom prst="roundRect">
            <a:avLst>
              <a:gd name="adj" fmla="val 5455"/>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7" name="Shape 5"/>
          <p:cNvSpPr/>
          <p:nvPr/>
        </p:nvSpPr>
        <p:spPr>
          <a:xfrm>
            <a:off x="804672" y="4590288"/>
            <a:ext cx="457200" cy="457200"/>
          </a:xfrm>
          <a:prstGeom prst="ellipse">
            <a:avLst/>
          </a:prstGeom>
          <a:solidFill>
            <a:srgbClr val="27607A"/>
          </a:solidFill>
          <a:ln/>
        </p:spPr>
      </p:sp>
      <p:sp>
        <p:nvSpPr>
          <p:cNvPr id="8" name="Text 6"/>
          <p:cNvSpPr/>
          <p:nvPr/>
        </p:nvSpPr>
        <p:spPr>
          <a:xfrm>
            <a:off x="804672" y="45902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9" name="Text 7"/>
          <p:cNvSpPr/>
          <p:nvPr/>
        </p:nvSpPr>
        <p:spPr>
          <a:xfrm>
            <a:off x="1417320" y="4526280"/>
            <a:ext cx="2514600" cy="594360"/>
          </a:xfrm>
          <a:prstGeom prst="rect">
            <a:avLst/>
          </a:prstGeom>
          <a:noFill/>
          <a:ln/>
        </p:spPr>
        <p:txBody>
          <a:bodyPr wrap="square" lIns="0" tIns="0" rIns="0" bIns="0" rtlCol="0" anchor="ctr"/>
          <a:lstStyle/>
          <a:p>
            <a:pPr indent="0" marL="0">
              <a:buNone/>
            </a:pPr>
            <a:r>
              <a:rPr lang="en-US" sz="1500" b="1" dirty="0">
                <a:solidFill>
                  <a:srgbClr val="0F2733"/>
                </a:solidFill>
                <a:latin typeface="Cambria" pitchFamily="34" charset="0"/>
                <a:ea typeface="Cambria" pitchFamily="34" charset="-122"/>
                <a:cs typeface="Cambria" pitchFamily="34" charset="-120"/>
              </a:rPr>
              <a:t>Kills the theme/plugin editor</a:t>
            </a:r>
            <a:endParaRPr lang="en-US" sz="1500" dirty="0"/>
          </a:p>
        </p:txBody>
      </p:sp>
      <p:sp>
        <p:nvSpPr>
          <p:cNvPr id="10" name="Text 8"/>
          <p:cNvSpPr/>
          <p:nvPr/>
        </p:nvSpPr>
        <p:spPr>
          <a:xfrm>
            <a:off x="804672" y="5138928"/>
            <a:ext cx="3063240" cy="64008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A stolen admin login can't rewrite your PHP.</a:t>
            </a:r>
            <a:endParaRPr lang="en-US" sz="1250" dirty="0"/>
          </a:p>
        </p:txBody>
      </p:sp>
      <p:sp>
        <p:nvSpPr>
          <p:cNvPr id="11" name="Shape 9"/>
          <p:cNvSpPr/>
          <p:nvPr/>
        </p:nvSpPr>
        <p:spPr>
          <a:xfrm>
            <a:off x="4270248" y="4343400"/>
            <a:ext cx="3520440" cy="1508760"/>
          </a:xfrm>
          <a:prstGeom prst="roundRect">
            <a:avLst>
              <a:gd name="adj" fmla="val 5455"/>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2" name="Shape 10"/>
          <p:cNvSpPr/>
          <p:nvPr/>
        </p:nvSpPr>
        <p:spPr>
          <a:xfrm>
            <a:off x="4526280" y="4590288"/>
            <a:ext cx="457200" cy="457200"/>
          </a:xfrm>
          <a:prstGeom prst="ellipse">
            <a:avLst/>
          </a:prstGeom>
          <a:solidFill>
            <a:srgbClr val="27607A"/>
          </a:solidFill>
          <a:ln/>
        </p:spPr>
      </p:sp>
      <p:sp>
        <p:nvSpPr>
          <p:cNvPr id="13" name="Text 11"/>
          <p:cNvSpPr/>
          <p:nvPr/>
        </p:nvSpPr>
        <p:spPr>
          <a:xfrm>
            <a:off x="4526280" y="45902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4" name="Text 12"/>
          <p:cNvSpPr/>
          <p:nvPr/>
        </p:nvSpPr>
        <p:spPr>
          <a:xfrm>
            <a:off x="5138928" y="4526280"/>
            <a:ext cx="2514600" cy="594360"/>
          </a:xfrm>
          <a:prstGeom prst="rect">
            <a:avLst/>
          </a:prstGeom>
          <a:noFill/>
          <a:ln/>
        </p:spPr>
        <p:txBody>
          <a:bodyPr wrap="square" lIns="0" tIns="0" rIns="0" bIns="0" rtlCol="0" anchor="ctr"/>
          <a:lstStyle/>
          <a:p>
            <a:pPr indent="0" marL="0">
              <a:buNone/>
            </a:pPr>
            <a:r>
              <a:rPr lang="en-US" sz="1500" b="1" dirty="0">
                <a:solidFill>
                  <a:srgbClr val="0F2733"/>
                </a:solidFill>
                <a:latin typeface="Cambria" pitchFamily="34" charset="0"/>
                <a:ea typeface="Cambria" pitchFamily="34" charset="-122"/>
                <a:cs typeface="Cambria" pitchFamily="34" charset="-120"/>
              </a:rPr>
              <a:t>Writes to the DB less often</a:t>
            </a:r>
            <a:endParaRPr lang="en-US" sz="1500" dirty="0"/>
          </a:p>
        </p:txBody>
      </p:sp>
      <p:sp>
        <p:nvSpPr>
          <p:cNvPr id="15" name="Text 13"/>
          <p:cNvSpPr/>
          <p:nvPr/>
        </p:nvSpPr>
        <p:spPr>
          <a:xfrm>
            <a:off x="4526280" y="5138928"/>
            <a:ext cx="3063240" cy="64008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Fewer autosave revisions during long edits.</a:t>
            </a:r>
            <a:endParaRPr lang="en-US" sz="1250" dirty="0"/>
          </a:p>
        </p:txBody>
      </p:sp>
      <p:sp>
        <p:nvSpPr>
          <p:cNvPr id="16" name="Shape 14"/>
          <p:cNvSpPr/>
          <p:nvPr/>
        </p:nvSpPr>
        <p:spPr>
          <a:xfrm>
            <a:off x="7991856" y="4343400"/>
            <a:ext cx="3520440" cy="1508760"/>
          </a:xfrm>
          <a:prstGeom prst="roundRect">
            <a:avLst>
              <a:gd name="adj" fmla="val 5455"/>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7" name="Shape 15"/>
          <p:cNvSpPr/>
          <p:nvPr/>
        </p:nvSpPr>
        <p:spPr>
          <a:xfrm>
            <a:off x="8247888" y="4590288"/>
            <a:ext cx="457200" cy="457200"/>
          </a:xfrm>
          <a:prstGeom prst="ellipse">
            <a:avLst/>
          </a:prstGeom>
          <a:solidFill>
            <a:srgbClr val="27607A"/>
          </a:solidFill>
          <a:ln/>
        </p:spPr>
      </p:sp>
      <p:sp>
        <p:nvSpPr>
          <p:cNvPr id="18" name="Text 16"/>
          <p:cNvSpPr/>
          <p:nvPr/>
        </p:nvSpPr>
        <p:spPr>
          <a:xfrm>
            <a:off x="8247888" y="45902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9" name="Text 17"/>
          <p:cNvSpPr/>
          <p:nvPr/>
        </p:nvSpPr>
        <p:spPr>
          <a:xfrm>
            <a:off x="8860536" y="4526280"/>
            <a:ext cx="2514600" cy="594360"/>
          </a:xfrm>
          <a:prstGeom prst="rect">
            <a:avLst/>
          </a:prstGeom>
          <a:noFill/>
          <a:ln/>
        </p:spPr>
        <p:txBody>
          <a:bodyPr wrap="square" lIns="0" tIns="0" rIns="0" bIns="0" rtlCol="0" anchor="ctr"/>
          <a:lstStyle/>
          <a:p>
            <a:pPr indent="0" marL="0">
              <a:buNone/>
            </a:pPr>
            <a:r>
              <a:rPr lang="en-US" sz="1500" b="1" dirty="0">
                <a:solidFill>
                  <a:srgbClr val="0F2733"/>
                </a:solidFill>
                <a:latin typeface="Cambria" pitchFamily="34" charset="0"/>
                <a:ea typeface="Cambria" pitchFamily="34" charset="-122"/>
                <a:cs typeface="Cambria" pitchFamily="34" charset="-120"/>
              </a:rPr>
              <a:t>Keeps revisions in check</a:t>
            </a:r>
            <a:endParaRPr lang="en-US" sz="1500" dirty="0"/>
          </a:p>
        </p:txBody>
      </p:sp>
      <p:sp>
        <p:nvSpPr>
          <p:cNvPr id="20" name="Text 18"/>
          <p:cNvSpPr/>
          <p:nvPr/>
        </p:nvSpPr>
        <p:spPr>
          <a:xfrm>
            <a:off x="8247888" y="5138928"/>
            <a:ext cx="3063240" cy="640080"/>
          </a:xfrm>
          <a:prstGeom prst="rect">
            <a:avLst/>
          </a:prstGeom>
          <a:noFill/>
          <a:ln/>
        </p:spPr>
        <p:txBody>
          <a:bodyPr wrap="square" lIns="0" tIns="0" rIns="0" bIns="0" rtlCol="0" anchor="t"/>
          <a:lstStyle/>
          <a:p>
            <a:pPr indent="0" marL="0">
              <a:buNone/>
            </a:pPr>
            <a:r>
              <a:rPr lang="en-US" sz="1250" dirty="0">
                <a:solidFill>
                  <a:srgbClr val="4A5A63"/>
                </a:solidFill>
                <a:latin typeface="Calibri" pitchFamily="34" charset="0"/>
                <a:ea typeface="Calibri" pitchFamily="34" charset="-122"/>
                <a:cs typeface="Calibri" pitchFamily="34" charset="-120"/>
              </a:rPr>
              <a:t>Ten per post instead of unbounded growth.</a:t>
            </a:r>
            <a:endParaRPr lang="en-US" sz="1250" dirty="0"/>
          </a:p>
        </p:txBody>
      </p:sp>
      <p:sp>
        <p:nvSpPr>
          <p:cNvPr id="21" name="Text 19"/>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22" name="Text 20"/>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2733"/>
        </a:solidFill>
      </p:bgPr>
    </p:bg>
    <p:spTree>
      <p:nvGrpSpPr>
        <p:cNvPr id="1" name=""/>
        <p:cNvGrpSpPr/>
        <p:nvPr/>
      </p:nvGrpSpPr>
      <p:grpSpPr>
        <a:xfrm>
          <a:off x="0" y="0"/>
          <a:ext cx="0" cy="0"/>
          <a:chOff x="0" y="0"/>
          <a:chExt cx="0" cy="0"/>
        </a:xfrm>
      </p:grpSpPr>
      <p:sp>
        <p:nvSpPr>
          <p:cNvPr id="2" name="Text 0"/>
          <p:cNvSpPr/>
          <p:nvPr/>
        </p:nvSpPr>
        <p:spPr>
          <a:xfrm>
            <a:off x="640080" y="548640"/>
            <a:ext cx="100584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How the plugin is built</a:t>
            </a:r>
            <a:endParaRPr lang="en-US" sz="3200" dirty="0"/>
          </a:p>
        </p:txBody>
      </p:sp>
      <p:sp>
        <p:nvSpPr>
          <p:cNvPr id="3" name="Text 1"/>
          <p:cNvSpPr/>
          <p:nvPr/>
        </p:nvSpPr>
        <p:spPr>
          <a:xfrm>
            <a:off x="640080" y="1325880"/>
            <a:ext cx="10515600" cy="548640"/>
          </a:xfrm>
          <a:prstGeom prst="rect">
            <a:avLst/>
          </a:prstGeom>
          <a:noFill/>
          <a:ln/>
        </p:spPr>
        <p:txBody>
          <a:bodyPr wrap="square" lIns="0" tIns="0" rIns="0" bIns="0" rtlCol="0" anchor="ctr"/>
          <a:lstStyle/>
          <a:p>
            <a:pPr indent="0" marL="0">
              <a:buNone/>
            </a:pPr>
            <a:r>
              <a:rPr lang="en-US" sz="1600" i="1" dirty="0">
                <a:solidFill>
                  <a:srgbClr val="D7E5EC"/>
                </a:solidFill>
                <a:latin typeface="Calibri" pitchFamily="34" charset="0"/>
                <a:ea typeface="Calibri" pitchFamily="34" charset="-122"/>
                <a:cs typeface="Calibri" pitchFamily="34" charset="-120"/>
              </a:rPr>
              <a:t>One array is the whole map. Read it and you understand the plugin.</a:t>
            </a:r>
            <a:endParaRPr lang="en-US" sz="1600" dirty="0"/>
          </a:p>
        </p:txBody>
      </p:sp>
      <p:sp>
        <p:nvSpPr>
          <p:cNvPr id="4" name="Shape 2"/>
          <p:cNvSpPr/>
          <p:nvPr/>
        </p:nvSpPr>
        <p:spPr>
          <a:xfrm>
            <a:off x="640080" y="2148840"/>
            <a:ext cx="3429000" cy="2331720"/>
          </a:xfrm>
          <a:prstGeom prst="roundRect">
            <a:avLst>
              <a:gd name="adj" fmla="val 3922"/>
            </a:avLst>
          </a:prstGeom>
          <a:solidFill>
            <a:srgbClr val="16323F"/>
          </a:solidFill>
          <a:ln w="12700">
            <a:solidFill>
              <a:srgbClr val="27607A"/>
            </a:solidFill>
            <a:prstDash val="solid"/>
          </a:ln>
        </p:spPr>
      </p:sp>
      <p:sp>
        <p:nvSpPr>
          <p:cNvPr id="5" name="Shape 3"/>
          <p:cNvSpPr/>
          <p:nvPr/>
        </p:nvSpPr>
        <p:spPr>
          <a:xfrm>
            <a:off x="914400" y="2395728"/>
            <a:ext cx="566928" cy="566928"/>
          </a:xfrm>
          <a:prstGeom prst="ellipse">
            <a:avLst/>
          </a:prstGeom>
          <a:solidFill>
            <a:srgbClr val="E0A94B"/>
          </a:solidFill>
          <a:ln/>
        </p:spPr>
      </p:sp>
      <p:sp>
        <p:nvSpPr>
          <p:cNvPr id="6" name="Text 4"/>
          <p:cNvSpPr/>
          <p:nvPr/>
        </p:nvSpPr>
        <p:spPr>
          <a:xfrm>
            <a:off x="914400" y="2395728"/>
            <a:ext cx="566928" cy="566928"/>
          </a:xfrm>
          <a:prstGeom prst="rect">
            <a:avLst/>
          </a:prstGeom>
          <a:noFill/>
          <a:ln/>
        </p:spPr>
        <p:txBody>
          <a:bodyPr wrap="square" lIns="0" tIns="0" rIns="0" bIns="0" rtlCol="0" anchor="ctr"/>
          <a:lstStyle/>
          <a:p>
            <a:pPr algn="ctr" indent="0" marL="0">
              <a:buNone/>
            </a:pPr>
            <a:r>
              <a:rPr lang="en-US" sz="1612" b="1" dirty="0">
                <a:solidFill>
                  <a:srgbClr val="0F2733"/>
                </a:solidFill>
                <a:latin typeface="Cambria" pitchFamily="34" charset="0"/>
                <a:ea typeface="Cambria" pitchFamily="34" charset="-122"/>
                <a:cs typeface="Cambria" pitchFamily="34" charset="-120"/>
              </a:rPr>
              <a:t>1</a:t>
            </a:r>
            <a:endParaRPr lang="en-US" sz="1612" dirty="0"/>
          </a:p>
        </p:txBody>
      </p:sp>
      <p:sp>
        <p:nvSpPr>
          <p:cNvPr id="7" name="Text 5"/>
          <p:cNvSpPr/>
          <p:nvPr/>
        </p:nvSpPr>
        <p:spPr>
          <a:xfrm>
            <a:off x="1645920" y="2450592"/>
            <a:ext cx="2286000" cy="502920"/>
          </a:xfrm>
          <a:prstGeom prst="rect">
            <a:avLst/>
          </a:prstGeom>
          <a:noFill/>
          <a:ln/>
        </p:spPr>
        <p:txBody>
          <a:bodyPr wrap="square" lIns="0" tIns="0" rIns="0" bIns="0" rtlCol="0" anchor="ctr"/>
          <a:lstStyle/>
          <a:p>
            <a:pPr indent="0" marL="0">
              <a:buNone/>
            </a:pPr>
            <a:r>
              <a:rPr lang="en-US" sz="1600" b="1" dirty="0">
                <a:solidFill>
                  <a:srgbClr val="E0A94B"/>
                </a:solidFill>
                <a:latin typeface="Courier New" pitchFamily="34" charset="0"/>
                <a:ea typeface="Courier New" pitchFamily="34" charset="-122"/>
                <a:cs typeface="Courier New" pitchFamily="34" charset="-120"/>
              </a:rPr>
              <a:t>schema()</a:t>
            </a:r>
            <a:endParaRPr lang="en-US" sz="1600" dirty="0"/>
          </a:p>
        </p:txBody>
      </p:sp>
      <p:sp>
        <p:nvSpPr>
          <p:cNvPr id="8" name="Text 6"/>
          <p:cNvSpPr/>
          <p:nvPr/>
        </p:nvSpPr>
        <p:spPr>
          <a:xfrm>
            <a:off x="932688" y="3154680"/>
            <a:ext cx="2834640" cy="1188720"/>
          </a:xfrm>
          <a:prstGeom prst="rect">
            <a:avLst/>
          </a:prstGeom>
          <a:noFill/>
          <a:ln/>
        </p:spPr>
        <p:txBody>
          <a:bodyPr wrap="square" lIns="0" tIns="0" rIns="0" bIns="0" rtlCol="0" anchor="t"/>
          <a:lstStyle/>
          <a:p>
            <a:pPr indent="0" marL="0">
              <a:lnSpc>
                <a:spcPct val="110000"/>
              </a:lnSpc>
              <a:buNone/>
            </a:pPr>
            <a:r>
              <a:rPr lang="en-US" sz="1400" dirty="0">
                <a:solidFill>
                  <a:srgbClr val="D7E5EC"/>
                </a:solidFill>
                <a:latin typeface="Calibri" pitchFamily="34" charset="0"/>
                <a:ea typeface="Calibri" pitchFamily="34" charset="-122"/>
                <a:cs typeface="Calibri" pitchFamily="34" charset="-120"/>
              </a:rPr>
              <a:t>One array: every setting, its default, type &amp; group. The single source of truth.</a:t>
            </a:r>
            <a:endParaRPr lang="en-US" sz="1400" dirty="0"/>
          </a:p>
        </p:txBody>
      </p:sp>
      <p:sp>
        <p:nvSpPr>
          <p:cNvPr id="9" name="Text 7"/>
          <p:cNvSpPr/>
          <p:nvPr/>
        </p:nvSpPr>
        <p:spPr>
          <a:xfrm>
            <a:off x="4041648" y="2148840"/>
            <a:ext cx="457200" cy="2331720"/>
          </a:xfrm>
          <a:prstGeom prst="rect">
            <a:avLst/>
          </a:prstGeom>
          <a:noFill/>
          <a:ln/>
        </p:spPr>
        <p:txBody>
          <a:bodyPr wrap="square" lIns="0" tIns="0" rIns="0" bIns="0" rtlCol="0" anchor="ctr"/>
          <a:lstStyle/>
          <a:p>
            <a:pPr algn="ctr" indent="0" marL="0">
              <a:buNone/>
            </a:pPr>
            <a:r>
              <a:rPr lang="en-US" sz="2400" dirty="0">
                <a:solidFill>
                  <a:srgbClr val="E0A94B"/>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4389120" y="2148840"/>
            <a:ext cx="3429000" cy="2331720"/>
          </a:xfrm>
          <a:prstGeom prst="roundRect">
            <a:avLst>
              <a:gd name="adj" fmla="val 3922"/>
            </a:avLst>
          </a:prstGeom>
          <a:solidFill>
            <a:srgbClr val="16323F"/>
          </a:solidFill>
          <a:ln w="12700">
            <a:solidFill>
              <a:srgbClr val="27607A"/>
            </a:solidFill>
            <a:prstDash val="solid"/>
          </a:ln>
        </p:spPr>
      </p:sp>
      <p:sp>
        <p:nvSpPr>
          <p:cNvPr id="11" name="Shape 9"/>
          <p:cNvSpPr/>
          <p:nvPr/>
        </p:nvSpPr>
        <p:spPr>
          <a:xfrm>
            <a:off x="4663440" y="2395728"/>
            <a:ext cx="566928" cy="566928"/>
          </a:xfrm>
          <a:prstGeom prst="ellipse">
            <a:avLst/>
          </a:prstGeom>
          <a:solidFill>
            <a:srgbClr val="E0A94B"/>
          </a:solidFill>
          <a:ln/>
        </p:spPr>
      </p:sp>
      <p:sp>
        <p:nvSpPr>
          <p:cNvPr id="12" name="Text 10"/>
          <p:cNvSpPr/>
          <p:nvPr/>
        </p:nvSpPr>
        <p:spPr>
          <a:xfrm>
            <a:off x="4663440" y="2395728"/>
            <a:ext cx="566928" cy="566928"/>
          </a:xfrm>
          <a:prstGeom prst="rect">
            <a:avLst/>
          </a:prstGeom>
          <a:noFill/>
          <a:ln/>
        </p:spPr>
        <p:txBody>
          <a:bodyPr wrap="square" lIns="0" tIns="0" rIns="0" bIns="0" rtlCol="0" anchor="ctr"/>
          <a:lstStyle/>
          <a:p>
            <a:pPr algn="ctr" indent="0" marL="0">
              <a:buNone/>
            </a:pPr>
            <a:r>
              <a:rPr lang="en-US" sz="1612" b="1" dirty="0">
                <a:solidFill>
                  <a:srgbClr val="0F2733"/>
                </a:solidFill>
                <a:latin typeface="Cambria" pitchFamily="34" charset="0"/>
                <a:ea typeface="Cambria" pitchFamily="34" charset="-122"/>
                <a:cs typeface="Cambria" pitchFamily="34" charset="-120"/>
              </a:rPr>
              <a:t>2</a:t>
            </a:r>
            <a:endParaRPr lang="en-US" sz="1612" dirty="0"/>
          </a:p>
        </p:txBody>
      </p:sp>
      <p:sp>
        <p:nvSpPr>
          <p:cNvPr id="13" name="Text 11"/>
          <p:cNvSpPr/>
          <p:nvPr/>
        </p:nvSpPr>
        <p:spPr>
          <a:xfrm>
            <a:off x="5394960" y="2450592"/>
            <a:ext cx="2286000" cy="502920"/>
          </a:xfrm>
          <a:prstGeom prst="rect">
            <a:avLst/>
          </a:prstGeom>
          <a:noFill/>
          <a:ln/>
        </p:spPr>
        <p:txBody>
          <a:bodyPr wrap="square" lIns="0" tIns="0" rIns="0" bIns="0" rtlCol="0" anchor="ctr"/>
          <a:lstStyle/>
          <a:p>
            <a:pPr indent="0" marL="0">
              <a:buNone/>
            </a:pPr>
            <a:r>
              <a:rPr lang="en-US" sz="1600" b="1" dirty="0">
                <a:solidFill>
                  <a:srgbClr val="E0A94B"/>
                </a:solidFill>
                <a:latin typeface="Courier New" pitchFamily="34" charset="0"/>
                <a:ea typeface="Courier New" pitchFamily="34" charset="-122"/>
                <a:cs typeface="Courier New" pitchFamily="34" charset="-120"/>
              </a:rPr>
              <a:t>settings page</a:t>
            </a:r>
            <a:endParaRPr lang="en-US" sz="1600" dirty="0"/>
          </a:p>
        </p:txBody>
      </p:sp>
      <p:sp>
        <p:nvSpPr>
          <p:cNvPr id="14" name="Text 12"/>
          <p:cNvSpPr/>
          <p:nvPr/>
        </p:nvSpPr>
        <p:spPr>
          <a:xfrm>
            <a:off x="4681728" y="3154680"/>
            <a:ext cx="2834640" cy="1188720"/>
          </a:xfrm>
          <a:prstGeom prst="rect">
            <a:avLst/>
          </a:prstGeom>
          <a:noFill/>
          <a:ln/>
        </p:spPr>
        <p:txBody>
          <a:bodyPr wrap="square" lIns="0" tIns="0" rIns="0" bIns="0" rtlCol="0" anchor="t"/>
          <a:lstStyle/>
          <a:p>
            <a:pPr indent="0" marL="0">
              <a:lnSpc>
                <a:spcPct val="110000"/>
              </a:lnSpc>
              <a:buNone/>
            </a:pPr>
            <a:r>
              <a:rPr lang="en-US" sz="1400" dirty="0">
                <a:solidFill>
                  <a:srgbClr val="D7E5EC"/>
                </a:solidFill>
                <a:latin typeface="Calibri" pitchFamily="34" charset="0"/>
                <a:ea typeface="Calibri" pitchFamily="34" charset="-122"/>
                <a:cs typeface="Calibri" pitchFamily="34" charset="-120"/>
              </a:rPr>
              <a:t>Loops the schema to render toggles under Settings → Better by Default.</a:t>
            </a:r>
            <a:endParaRPr lang="en-US" sz="1400" dirty="0"/>
          </a:p>
        </p:txBody>
      </p:sp>
      <p:sp>
        <p:nvSpPr>
          <p:cNvPr id="15" name="Text 13"/>
          <p:cNvSpPr/>
          <p:nvPr/>
        </p:nvSpPr>
        <p:spPr>
          <a:xfrm>
            <a:off x="7790688" y="2148840"/>
            <a:ext cx="457200" cy="2331720"/>
          </a:xfrm>
          <a:prstGeom prst="rect">
            <a:avLst/>
          </a:prstGeom>
          <a:noFill/>
          <a:ln/>
        </p:spPr>
        <p:txBody>
          <a:bodyPr wrap="square" lIns="0" tIns="0" rIns="0" bIns="0" rtlCol="0" anchor="ctr"/>
          <a:lstStyle/>
          <a:p>
            <a:pPr algn="ctr" indent="0" marL="0">
              <a:buNone/>
            </a:pPr>
            <a:r>
              <a:rPr lang="en-US" sz="2400" dirty="0">
                <a:solidFill>
                  <a:srgbClr val="E0A94B"/>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8138160" y="2148840"/>
            <a:ext cx="3429000" cy="2331720"/>
          </a:xfrm>
          <a:prstGeom prst="roundRect">
            <a:avLst>
              <a:gd name="adj" fmla="val 3922"/>
            </a:avLst>
          </a:prstGeom>
          <a:solidFill>
            <a:srgbClr val="16323F"/>
          </a:solidFill>
          <a:ln w="12700">
            <a:solidFill>
              <a:srgbClr val="27607A"/>
            </a:solidFill>
            <a:prstDash val="solid"/>
          </a:ln>
        </p:spPr>
      </p:sp>
      <p:sp>
        <p:nvSpPr>
          <p:cNvPr id="17" name="Shape 15"/>
          <p:cNvSpPr/>
          <p:nvPr/>
        </p:nvSpPr>
        <p:spPr>
          <a:xfrm>
            <a:off x="8412480" y="2395728"/>
            <a:ext cx="566928" cy="566928"/>
          </a:xfrm>
          <a:prstGeom prst="ellipse">
            <a:avLst/>
          </a:prstGeom>
          <a:solidFill>
            <a:srgbClr val="E0A94B"/>
          </a:solidFill>
          <a:ln/>
        </p:spPr>
      </p:sp>
      <p:sp>
        <p:nvSpPr>
          <p:cNvPr id="18" name="Text 16"/>
          <p:cNvSpPr/>
          <p:nvPr/>
        </p:nvSpPr>
        <p:spPr>
          <a:xfrm>
            <a:off x="8412480" y="2395728"/>
            <a:ext cx="566928" cy="566928"/>
          </a:xfrm>
          <a:prstGeom prst="rect">
            <a:avLst/>
          </a:prstGeom>
          <a:noFill/>
          <a:ln/>
        </p:spPr>
        <p:txBody>
          <a:bodyPr wrap="square" lIns="0" tIns="0" rIns="0" bIns="0" rtlCol="0" anchor="ctr"/>
          <a:lstStyle/>
          <a:p>
            <a:pPr algn="ctr" indent="0" marL="0">
              <a:buNone/>
            </a:pPr>
            <a:r>
              <a:rPr lang="en-US" sz="1612" b="1" dirty="0">
                <a:solidFill>
                  <a:srgbClr val="0F2733"/>
                </a:solidFill>
                <a:latin typeface="Cambria" pitchFamily="34" charset="0"/>
                <a:ea typeface="Cambria" pitchFamily="34" charset="-122"/>
                <a:cs typeface="Cambria" pitchFamily="34" charset="-120"/>
              </a:rPr>
              <a:t>3</a:t>
            </a:r>
            <a:endParaRPr lang="en-US" sz="1612" dirty="0"/>
          </a:p>
        </p:txBody>
      </p:sp>
      <p:sp>
        <p:nvSpPr>
          <p:cNvPr id="19" name="Text 17"/>
          <p:cNvSpPr/>
          <p:nvPr/>
        </p:nvSpPr>
        <p:spPr>
          <a:xfrm>
            <a:off x="9144000" y="2450592"/>
            <a:ext cx="2286000" cy="502920"/>
          </a:xfrm>
          <a:prstGeom prst="rect">
            <a:avLst/>
          </a:prstGeom>
          <a:noFill/>
          <a:ln/>
        </p:spPr>
        <p:txBody>
          <a:bodyPr wrap="square" lIns="0" tIns="0" rIns="0" bIns="0" rtlCol="0" anchor="ctr"/>
          <a:lstStyle/>
          <a:p>
            <a:pPr indent="0" marL="0">
              <a:buNone/>
            </a:pPr>
            <a:r>
              <a:rPr lang="en-US" sz="1600" b="1" dirty="0">
                <a:solidFill>
                  <a:srgbClr val="E0A94B"/>
                </a:solidFill>
                <a:latin typeface="Courier New" pitchFamily="34" charset="0"/>
                <a:ea typeface="Courier New" pitchFamily="34" charset="-122"/>
                <a:cs typeface="Courier New" pitchFamily="34" charset="-120"/>
              </a:rPr>
              <a:t>bootstrap()</a:t>
            </a:r>
            <a:endParaRPr lang="en-US" sz="1600" dirty="0"/>
          </a:p>
        </p:txBody>
      </p:sp>
      <p:sp>
        <p:nvSpPr>
          <p:cNvPr id="20" name="Text 18"/>
          <p:cNvSpPr/>
          <p:nvPr/>
        </p:nvSpPr>
        <p:spPr>
          <a:xfrm>
            <a:off x="8430768" y="3154680"/>
            <a:ext cx="2834640" cy="1188720"/>
          </a:xfrm>
          <a:prstGeom prst="rect">
            <a:avLst/>
          </a:prstGeom>
          <a:noFill/>
          <a:ln/>
        </p:spPr>
        <p:txBody>
          <a:bodyPr wrap="square" lIns="0" tIns="0" rIns="0" bIns="0" rtlCol="0" anchor="t"/>
          <a:lstStyle/>
          <a:p>
            <a:pPr indent="0" marL="0">
              <a:lnSpc>
                <a:spcPct val="110000"/>
              </a:lnSpc>
              <a:buNone/>
            </a:pPr>
            <a:r>
              <a:rPr lang="en-US" sz="1400" dirty="0">
                <a:solidFill>
                  <a:srgbClr val="D7E5EC"/>
                </a:solidFill>
                <a:latin typeface="Calibri" pitchFamily="34" charset="0"/>
                <a:ea typeface="Calibri" pitchFamily="34" charset="-122"/>
                <a:cs typeface="Calibri" pitchFamily="34" charset="-120"/>
              </a:rPr>
              <a:t>For each ENABLED key, wires its add_filter / add_action to the right hook.</a:t>
            </a:r>
            <a:endParaRPr lang="en-US" sz="1400" dirty="0"/>
          </a:p>
        </p:txBody>
      </p:sp>
      <p:sp>
        <p:nvSpPr>
          <p:cNvPr id="21" name="Shape 19"/>
          <p:cNvSpPr/>
          <p:nvPr/>
        </p:nvSpPr>
        <p:spPr>
          <a:xfrm>
            <a:off x="640080" y="4709160"/>
            <a:ext cx="10927080" cy="1234440"/>
          </a:xfrm>
          <a:prstGeom prst="roundRect">
            <a:avLst>
              <a:gd name="adj" fmla="val 5926"/>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22" name="Text 20"/>
          <p:cNvSpPr/>
          <p:nvPr/>
        </p:nvSpPr>
        <p:spPr>
          <a:xfrm>
            <a:off x="841248" y="4873752"/>
            <a:ext cx="10524744" cy="905256"/>
          </a:xfrm>
          <a:prstGeom prst="rect">
            <a:avLst/>
          </a:prstGeom>
          <a:noFill/>
          <a:ln/>
        </p:spPr>
        <p:txBody>
          <a:bodyPr wrap="square" lIns="0" tIns="0" rIns="0" bIns="0" rtlCol="0" anchor="t"/>
          <a:lstStyle/>
          <a:p>
            <a:pPr algn="l" indent="0" marL="0">
              <a:lnSpc>
                <a:spcPct val="108000"/>
              </a:lnSpc>
              <a:buNone/>
            </a:pPr>
            <a:r>
              <a:rPr lang="en-US" sz="1250" dirty="0">
                <a:solidFill>
                  <a:srgbClr val="8FBF9F"/>
                </a:solidFill>
                <a:latin typeface="Courier New" pitchFamily="34" charset="0"/>
                <a:ea typeface="Courier New" pitchFamily="34" charset="-122"/>
                <a:cs typeface="Courier New" pitchFamily="34" charset="-120"/>
              </a:rPr>
              <a:t>$stored = get_option('wpyeg_better_by_default');   // read once</a:t>
            </a:r>
            <a:endParaRPr lang="en-US" sz="1250" dirty="0"/>
          </a:p>
          <a:p>
            <a:pPr algn="l" indent="0" marL="0">
              <a:lnSpc>
                <a:spcPct val="108000"/>
              </a:lnSpc>
              <a:buNone/>
            </a:pPr>
            <a:r>
              <a:rPr lang="en-US" sz="1250" dirty="0">
                <a:solidFill>
                  <a:srgbClr val="DCEAF1"/>
                </a:solidFill>
                <a:latin typeface="Courier New" pitchFamily="34" charset="0"/>
                <a:ea typeface="Courier New" pitchFamily="34" charset="-122"/>
                <a:cs typeface="Courier New" pitchFamily="34" charset="-120"/>
              </a:rPr>
              <a:t>foreach ( wpyeg_defaults_schema() as $key =&gt; $field ) { /* render + wire */ }</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640080" cy="640080"/>
          </a:xfrm>
          <a:prstGeom prst="ellipse">
            <a:avLst/>
          </a:prstGeom>
          <a:solidFill>
            <a:srgbClr val="E0A94B"/>
          </a:solidFill>
          <a:ln/>
        </p:spPr>
      </p:sp>
      <p:sp>
        <p:nvSpPr>
          <p:cNvPr id="3" name="Text 1"/>
          <p:cNvSpPr/>
          <p:nvPr/>
        </p:nvSpPr>
        <p:spPr>
          <a:xfrm>
            <a:off x="548640" y="50292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a:t>
            </a:r>
            <a:endParaRPr lang="en-US" sz="1820" dirty="0"/>
          </a:p>
        </p:txBody>
      </p:sp>
      <p:sp>
        <p:nvSpPr>
          <p:cNvPr id="4" name="Text 2"/>
          <p:cNvSpPr/>
          <p:nvPr/>
        </p:nvSpPr>
        <p:spPr>
          <a:xfrm>
            <a:off x="1325880" y="502920"/>
            <a:ext cx="10058400" cy="68580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Hands-on: install &amp; flip switches</a:t>
            </a:r>
            <a:endParaRPr lang="en-US" sz="3000" dirty="0"/>
          </a:p>
        </p:txBody>
      </p:sp>
      <p:sp>
        <p:nvSpPr>
          <p:cNvPr id="5" name="Shape 3"/>
          <p:cNvSpPr/>
          <p:nvPr/>
        </p:nvSpPr>
        <p:spPr>
          <a:xfrm>
            <a:off x="548640" y="1371600"/>
            <a:ext cx="11064240" cy="914400"/>
          </a:xfrm>
          <a:prstGeom prst="roundRect">
            <a:avLst>
              <a:gd name="adj" fmla="val 8000"/>
            </a:avLst>
          </a:prstGeom>
          <a:solidFill>
            <a:srgbClr val="FFFFFF"/>
          </a:solidFill>
          <a:ln w="12700">
            <a:solidFill>
              <a:srgbClr val="DCE6EB"/>
            </a:solidFill>
            <a:prstDash val="solid"/>
          </a:ln>
          <a:effectLst>
            <a:outerShdw sx="100000" sy="100000" kx="0" ky="0" algn="bl" rotWithShape="0" blurRad="50800" dist="25400" dir="5400000">
              <a:srgbClr val="C7D4DB">
                <a:alpha val="50000"/>
              </a:srgbClr>
            </a:outerShdw>
          </a:effectLst>
        </p:spPr>
      </p:sp>
      <p:sp>
        <p:nvSpPr>
          <p:cNvPr id="6" name="Shape 4"/>
          <p:cNvSpPr/>
          <p:nvPr/>
        </p:nvSpPr>
        <p:spPr>
          <a:xfrm>
            <a:off x="822960" y="1600200"/>
            <a:ext cx="457200" cy="457200"/>
          </a:xfrm>
          <a:prstGeom prst="ellipse">
            <a:avLst/>
          </a:prstGeom>
          <a:solidFill>
            <a:srgbClr val="27607A"/>
          </a:solidFill>
          <a:ln/>
        </p:spPr>
      </p:sp>
      <p:sp>
        <p:nvSpPr>
          <p:cNvPr id="7" name="Text 5"/>
          <p:cNvSpPr/>
          <p:nvPr/>
        </p:nvSpPr>
        <p:spPr>
          <a:xfrm>
            <a:off x="822960" y="16002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1463040" y="1444752"/>
            <a:ext cx="3291840" cy="777240"/>
          </a:xfrm>
          <a:prstGeom prst="rect">
            <a:avLst/>
          </a:prstGeom>
          <a:noFill/>
          <a:ln/>
        </p:spPr>
        <p:txBody>
          <a:bodyPr wrap="square" lIns="0" tIns="0" rIns="0" bIns="0" rtlCol="0" anchor="ctr"/>
          <a:lstStyle/>
          <a:p>
            <a:pPr indent="0" marL="0">
              <a:buNone/>
            </a:pPr>
            <a:r>
              <a:rPr lang="en-US" sz="1700" b="1" dirty="0">
                <a:solidFill>
                  <a:srgbClr val="0F2733"/>
                </a:solidFill>
                <a:latin typeface="Cambria" pitchFamily="34" charset="0"/>
                <a:ea typeface="Cambria" pitchFamily="34" charset="-122"/>
                <a:cs typeface="Cambria" pitchFamily="34" charset="-120"/>
              </a:rPr>
              <a:t>Upload the plugin</a:t>
            </a:r>
            <a:endParaRPr lang="en-US" sz="1700" dirty="0"/>
          </a:p>
        </p:txBody>
      </p:sp>
      <p:sp>
        <p:nvSpPr>
          <p:cNvPr id="9" name="Text 7"/>
          <p:cNvSpPr/>
          <p:nvPr/>
        </p:nvSpPr>
        <p:spPr>
          <a:xfrm>
            <a:off x="4754880" y="1444752"/>
            <a:ext cx="6675120" cy="777240"/>
          </a:xfrm>
          <a:prstGeom prst="rect">
            <a:avLst/>
          </a:prstGeom>
          <a:noFill/>
          <a:ln/>
        </p:spPr>
        <p:txBody>
          <a:bodyPr wrap="square" lIns="0" tIns="0" rIns="0" bIns="0" rtlCol="0" anchor="ctr"/>
          <a:lstStyle/>
          <a:p>
            <a:pPr indent="0" marL="0">
              <a:buNone/>
            </a:pPr>
            <a:r>
              <a:rPr lang="en-US" sz="1400" dirty="0">
                <a:solidFill>
                  <a:srgbClr val="4A5A63"/>
                </a:solidFill>
                <a:latin typeface="Calibri" pitchFamily="34" charset="0"/>
                <a:ea typeface="Calibri" pitchFamily="34" charset="-122"/>
                <a:cs typeface="Calibri" pitchFamily="34" charset="-120"/>
              </a:rPr>
              <a:t>Plugins → Add New → Upload Plugin → choose sane-defaults.zip → Activate.</a:t>
            </a:r>
            <a:endParaRPr lang="en-US" sz="1400" dirty="0"/>
          </a:p>
        </p:txBody>
      </p:sp>
      <p:sp>
        <p:nvSpPr>
          <p:cNvPr id="10" name="Shape 8"/>
          <p:cNvSpPr/>
          <p:nvPr/>
        </p:nvSpPr>
        <p:spPr>
          <a:xfrm>
            <a:off x="548640" y="2414016"/>
            <a:ext cx="11064240" cy="914400"/>
          </a:xfrm>
          <a:prstGeom prst="roundRect">
            <a:avLst>
              <a:gd name="adj" fmla="val 8000"/>
            </a:avLst>
          </a:prstGeom>
          <a:solidFill>
            <a:srgbClr val="FFFFFF"/>
          </a:solidFill>
          <a:ln w="12700">
            <a:solidFill>
              <a:srgbClr val="DCE6EB"/>
            </a:solidFill>
            <a:prstDash val="solid"/>
          </a:ln>
          <a:effectLst>
            <a:outerShdw sx="100000" sy="100000" kx="0" ky="0" algn="bl" rotWithShape="0" blurRad="50800" dist="25400" dir="5400000">
              <a:srgbClr val="C7D4DB">
                <a:alpha val="50000"/>
              </a:srgbClr>
            </a:outerShdw>
          </a:effectLst>
        </p:spPr>
      </p:sp>
      <p:sp>
        <p:nvSpPr>
          <p:cNvPr id="11" name="Shape 9"/>
          <p:cNvSpPr/>
          <p:nvPr/>
        </p:nvSpPr>
        <p:spPr>
          <a:xfrm>
            <a:off x="822960" y="2642616"/>
            <a:ext cx="457200" cy="457200"/>
          </a:xfrm>
          <a:prstGeom prst="ellipse">
            <a:avLst/>
          </a:prstGeom>
          <a:solidFill>
            <a:srgbClr val="27607A"/>
          </a:solidFill>
          <a:ln/>
        </p:spPr>
      </p:sp>
      <p:sp>
        <p:nvSpPr>
          <p:cNvPr id="12" name="Text 10"/>
          <p:cNvSpPr/>
          <p:nvPr/>
        </p:nvSpPr>
        <p:spPr>
          <a:xfrm>
            <a:off x="822960" y="26426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p:nvPr/>
        </p:nvSpPr>
        <p:spPr>
          <a:xfrm>
            <a:off x="1463040" y="2487168"/>
            <a:ext cx="3291840" cy="777240"/>
          </a:xfrm>
          <a:prstGeom prst="rect">
            <a:avLst/>
          </a:prstGeom>
          <a:noFill/>
          <a:ln/>
        </p:spPr>
        <p:txBody>
          <a:bodyPr wrap="square" lIns="0" tIns="0" rIns="0" bIns="0" rtlCol="0" anchor="ctr"/>
          <a:lstStyle/>
          <a:p>
            <a:pPr indent="0" marL="0">
              <a:buNone/>
            </a:pPr>
            <a:r>
              <a:rPr lang="en-US" sz="1700" b="1" dirty="0">
                <a:solidFill>
                  <a:srgbClr val="0F2733"/>
                </a:solidFill>
                <a:latin typeface="Cambria" pitchFamily="34" charset="0"/>
                <a:ea typeface="Cambria" pitchFamily="34" charset="-122"/>
                <a:cs typeface="Cambria" pitchFamily="34" charset="-120"/>
              </a:rPr>
              <a:t>Open the settings</a:t>
            </a:r>
            <a:endParaRPr lang="en-US" sz="1700" dirty="0"/>
          </a:p>
        </p:txBody>
      </p:sp>
      <p:sp>
        <p:nvSpPr>
          <p:cNvPr id="14" name="Text 12"/>
          <p:cNvSpPr/>
          <p:nvPr/>
        </p:nvSpPr>
        <p:spPr>
          <a:xfrm>
            <a:off x="4754880" y="2487168"/>
            <a:ext cx="6675120" cy="777240"/>
          </a:xfrm>
          <a:prstGeom prst="rect">
            <a:avLst/>
          </a:prstGeom>
          <a:noFill/>
          <a:ln/>
        </p:spPr>
        <p:txBody>
          <a:bodyPr wrap="square" lIns="0" tIns="0" rIns="0" bIns="0" rtlCol="0" anchor="ctr"/>
          <a:lstStyle/>
          <a:p>
            <a:pPr indent="0" marL="0">
              <a:buNone/>
            </a:pPr>
            <a:r>
              <a:rPr lang="en-US" sz="1400" dirty="0">
                <a:solidFill>
                  <a:srgbClr val="4A5A63"/>
                </a:solidFill>
                <a:latin typeface="Calibri" pitchFamily="34" charset="0"/>
                <a:ea typeface="Calibri" pitchFamily="34" charset="-122"/>
                <a:cs typeface="Calibri" pitchFamily="34" charset="-120"/>
              </a:rPr>
              <a:t>Settings → Better by Default; every toggle grouped by category.</a:t>
            </a:r>
            <a:endParaRPr lang="en-US" sz="1400" dirty="0"/>
          </a:p>
        </p:txBody>
      </p:sp>
      <p:sp>
        <p:nvSpPr>
          <p:cNvPr id="15" name="Shape 13"/>
          <p:cNvSpPr/>
          <p:nvPr/>
        </p:nvSpPr>
        <p:spPr>
          <a:xfrm>
            <a:off x="548640" y="3456432"/>
            <a:ext cx="11064240" cy="914400"/>
          </a:xfrm>
          <a:prstGeom prst="roundRect">
            <a:avLst>
              <a:gd name="adj" fmla="val 8000"/>
            </a:avLst>
          </a:prstGeom>
          <a:solidFill>
            <a:srgbClr val="FFFFFF"/>
          </a:solidFill>
          <a:ln w="12700">
            <a:solidFill>
              <a:srgbClr val="DCE6EB"/>
            </a:solidFill>
            <a:prstDash val="solid"/>
          </a:ln>
          <a:effectLst>
            <a:outerShdw sx="100000" sy="100000" kx="0" ky="0" algn="bl" rotWithShape="0" blurRad="50800" dist="25400" dir="5400000">
              <a:srgbClr val="C7D4DB">
                <a:alpha val="50000"/>
              </a:srgbClr>
            </a:outerShdw>
          </a:effectLst>
        </p:spPr>
      </p:sp>
      <p:sp>
        <p:nvSpPr>
          <p:cNvPr id="16" name="Shape 14"/>
          <p:cNvSpPr/>
          <p:nvPr/>
        </p:nvSpPr>
        <p:spPr>
          <a:xfrm>
            <a:off x="822960" y="3685032"/>
            <a:ext cx="457200" cy="457200"/>
          </a:xfrm>
          <a:prstGeom prst="ellipse">
            <a:avLst/>
          </a:prstGeom>
          <a:solidFill>
            <a:srgbClr val="27607A"/>
          </a:solidFill>
          <a:ln/>
        </p:spPr>
      </p:sp>
      <p:sp>
        <p:nvSpPr>
          <p:cNvPr id="17" name="Text 15"/>
          <p:cNvSpPr/>
          <p:nvPr/>
        </p:nvSpPr>
        <p:spPr>
          <a:xfrm>
            <a:off x="822960"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p:nvPr/>
        </p:nvSpPr>
        <p:spPr>
          <a:xfrm>
            <a:off x="1463040" y="3529584"/>
            <a:ext cx="3291840" cy="777240"/>
          </a:xfrm>
          <a:prstGeom prst="rect">
            <a:avLst/>
          </a:prstGeom>
          <a:noFill/>
          <a:ln/>
        </p:spPr>
        <p:txBody>
          <a:bodyPr wrap="square" lIns="0" tIns="0" rIns="0" bIns="0" rtlCol="0" anchor="ctr"/>
          <a:lstStyle/>
          <a:p>
            <a:pPr indent="0" marL="0">
              <a:buNone/>
            </a:pPr>
            <a:r>
              <a:rPr lang="en-US" sz="1700" b="1" dirty="0">
                <a:solidFill>
                  <a:srgbClr val="0F2733"/>
                </a:solidFill>
                <a:latin typeface="Cambria" pitchFamily="34" charset="0"/>
                <a:ea typeface="Cambria" pitchFamily="34" charset="-122"/>
                <a:cs typeface="Cambria" pitchFamily="34" charset="-120"/>
              </a:rPr>
              <a:t>Verify a default</a:t>
            </a:r>
            <a:endParaRPr lang="en-US" sz="1700" dirty="0"/>
          </a:p>
        </p:txBody>
      </p:sp>
      <p:sp>
        <p:nvSpPr>
          <p:cNvPr id="19" name="Text 17"/>
          <p:cNvSpPr/>
          <p:nvPr/>
        </p:nvSpPr>
        <p:spPr>
          <a:xfrm>
            <a:off x="4754880" y="3529584"/>
            <a:ext cx="6675120" cy="777240"/>
          </a:xfrm>
          <a:prstGeom prst="rect">
            <a:avLst/>
          </a:prstGeom>
          <a:noFill/>
          <a:ln/>
        </p:spPr>
        <p:txBody>
          <a:bodyPr wrap="square" lIns="0" tIns="0" rIns="0" bIns="0" rtlCol="0" anchor="ctr"/>
          <a:lstStyle/>
          <a:p>
            <a:pPr indent="0" marL="0">
              <a:buNone/>
            </a:pPr>
            <a:r>
              <a:rPr lang="en-US" sz="1400" dirty="0">
                <a:solidFill>
                  <a:srgbClr val="4A5A63"/>
                </a:solidFill>
                <a:latin typeface="Calibri" pitchFamily="34" charset="0"/>
                <a:ea typeface="Calibri" pitchFamily="34" charset="-122"/>
                <a:cs typeface="Calibri" pitchFamily="34" charset="-120"/>
              </a:rPr>
              <a:t>Visit /wp-json/wp/v2/users logged out → 401 or empty, not a list of usernames.</a:t>
            </a:r>
            <a:endParaRPr lang="en-US" sz="1400" dirty="0"/>
          </a:p>
        </p:txBody>
      </p:sp>
      <p:sp>
        <p:nvSpPr>
          <p:cNvPr id="20" name="Shape 18"/>
          <p:cNvSpPr/>
          <p:nvPr/>
        </p:nvSpPr>
        <p:spPr>
          <a:xfrm>
            <a:off x="548640" y="4498848"/>
            <a:ext cx="11064240" cy="914400"/>
          </a:xfrm>
          <a:prstGeom prst="roundRect">
            <a:avLst>
              <a:gd name="adj" fmla="val 8000"/>
            </a:avLst>
          </a:prstGeom>
          <a:solidFill>
            <a:srgbClr val="FFFFFF"/>
          </a:solidFill>
          <a:ln w="12700">
            <a:solidFill>
              <a:srgbClr val="DCE6EB"/>
            </a:solidFill>
            <a:prstDash val="solid"/>
          </a:ln>
          <a:effectLst>
            <a:outerShdw sx="100000" sy="100000" kx="0" ky="0" algn="bl" rotWithShape="0" blurRad="50800" dist="25400" dir="5400000">
              <a:srgbClr val="C7D4DB">
                <a:alpha val="50000"/>
              </a:srgbClr>
            </a:outerShdw>
          </a:effectLst>
        </p:spPr>
      </p:sp>
      <p:sp>
        <p:nvSpPr>
          <p:cNvPr id="21" name="Shape 19"/>
          <p:cNvSpPr/>
          <p:nvPr/>
        </p:nvSpPr>
        <p:spPr>
          <a:xfrm>
            <a:off x="822960" y="4727448"/>
            <a:ext cx="457200" cy="457200"/>
          </a:xfrm>
          <a:prstGeom prst="ellipse">
            <a:avLst/>
          </a:prstGeom>
          <a:solidFill>
            <a:srgbClr val="27607A"/>
          </a:solidFill>
          <a:ln/>
        </p:spPr>
      </p:sp>
      <p:sp>
        <p:nvSpPr>
          <p:cNvPr id="22" name="Text 20"/>
          <p:cNvSpPr/>
          <p:nvPr/>
        </p:nvSpPr>
        <p:spPr>
          <a:xfrm>
            <a:off x="822960" y="47274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p:nvPr/>
        </p:nvSpPr>
        <p:spPr>
          <a:xfrm>
            <a:off x="1463040" y="4572000"/>
            <a:ext cx="3291840" cy="777240"/>
          </a:xfrm>
          <a:prstGeom prst="rect">
            <a:avLst/>
          </a:prstGeom>
          <a:noFill/>
          <a:ln/>
        </p:spPr>
        <p:txBody>
          <a:bodyPr wrap="square" lIns="0" tIns="0" rIns="0" bIns="0" rtlCol="0" anchor="ctr"/>
          <a:lstStyle/>
          <a:p>
            <a:pPr indent="0" marL="0">
              <a:buNone/>
            </a:pPr>
            <a:r>
              <a:rPr lang="en-US" sz="1700" b="1" dirty="0">
                <a:solidFill>
                  <a:srgbClr val="0F2733"/>
                </a:solidFill>
                <a:latin typeface="Cambria" pitchFamily="34" charset="0"/>
                <a:ea typeface="Cambria" pitchFamily="34" charset="-122"/>
                <a:cs typeface="Cambria" pitchFamily="34" charset="-120"/>
              </a:rPr>
              <a:t>Toggle &amp; re-check</a:t>
            </a:r>
            <a:endParaRPr lang="en-US" sz="1700" dirty="0"/>
          </a:p>
        </p:txBody>
      </p:sp>
      <p:sp>
        <p:nvSpPr>
          <p:cNvPr id="24" name="Text 22"/>
          <p:cNvSpPr/>
          <p:nvPr/>
        </p:nvSpPr>
        <p:spPr>
          <a:xfrm>
            <a:off x="4754880" y="4572000"/>
            <a:ext cx="6675120" cy="777240"/>
          </a:xfrm>
          <a:prstGeom prst="rect">
            <a:avLst/>
          </a:prstGeom>
          <a:noFill/>
          <a:ln/>
        </p:spPr>
        <p:txBody>
          <a:bodyPr wrap="square" lIns="0" tIns="0" rIns="0" bIns="0" rtlCol="0" anchor="ctr"/>
          <a:lstStyle/>
          <a:p>
            <a:pPr indent="0" marL="0">
              <a:buNone/>
            </a:pPr>
            <a:r>
              <a:rPr lang="en-US" sz="1400" dirty="0">
                <a:solidFill>
                  <a:srgbClr val="4A5A63"/>
                </a:solidFill>
                <a:latin typeface="Calibri" pitchFamily="34" charset="0"/>
                <a:ea typeface="Calibri" pitchFamily="34" charset="-122"/>
                <a:cs typeface="Calibri" pitchFamily="34" charset="-120"/>
              </a:rPr>
              <a:t>Flip a switch off, reload, watch the behaviour change.</a:t>
            </a:r>
            <a:endParaRPr lang="en-US" sz="1400" dirty="0"/>
          </a:p>
        </p:txBody>
      </p:sp>
      <p:sp>
        <p:nvSpPr>
          <p:cNvPr id="25" name="Shape 23"/>
          <p:cNvSpPr/>
          <p:nvPr/>
        </p:nvSpPr>
        <p:spPr>
          <a:xfrm>
            <a:off x="548640" y="5577840"/>
            <a:ext cx="11064240" cy="658368"/>
          </a:xfrm>
          <a:prstGeom prst="roundRect">
            <a:avLst>
              <a:gd name="adj" fmla="val 9722"/>
            </a:avLst>
          </a:prstGeom>
          <a:solidFill>
            <a:srgbClr val="0E2836"/>
          </a:solidFill>
          <a:ln w="12700">
            <a:solidFill>
              <a:srgbClr val="27607A"/>
            </a:solidFill>
            <a:prstDash val="solid"/>
          </a:ln>
        </p:spPr>
      </p:sp>
      <p:sp>
        <p:nvSpPr>
          <p:cNvPr id="26" name="Text 24"/>
          <p:cNvSpPr/>
          <p:nvPr/>
        </p:nvSpPr>
        <p:spPr>
          <a:xfrm>
            <a:off x="777240" y="5577840"/>
            <a:ext cx="10607040" cy="658368"/>
          </a:xfrm>
          <a:prstGeom prst="rect">
            <a:avLst/>
          </a:prstGeom>
          <a:noFill/>
          <a:ln/>
        </p:spPr>
        <p:txBody>
          <a:bodyPr wrap="square" lIns="0" tIns="0" rIns="0" bIns="0" rtlCol="0" anchor="ctr"/>
          <a:lstStyle/>
          <a:p>
            <a:pPr indent="0" marL="0">
              <a:buNone/>
            </a:pPr>
            <a:r>
              <a:rPr lang="en-US" sz="1300" b="1" dirty="0">
                <a:solidFill>
                  <a:srgbClr val="E0A94B"/>
                </a:solidFill>
                <a:latin typeface="Courier New" pitchFamily="34" charset="0"/>
                <a:ea typeface="Courier New" pitchFamily="34" charset="-122"/>
                <a:cs typeface="Courier New" pitchFamily="34" charset="-120"/>
              </a:rPr>
              <a:t>prefer the terminal?   </a:t>
            </a:r>
            <a:pPr indent="0" marL="0">
              <a:buNone/>
            </a:pPr>
            <a:r>
              <a:rPr lang="en-US" sz="1300" dirty="0">
                <a:solidFill>
                  <a:srgbClr val="E7C070"/>
                </a:solidFill>
                <a:latin typeface="Courier New" pitchFamily="34" charset="0"/>
                <a:ea typeface="Courier New" pitchFamily="34" charset="-122"/>
                <a:cs typeface="Courier New" pitchFamily="34" charset="-120"/>
              </a:rPr>
              <a:t>wp plugin install ./sane-defaults.zip --activate</a:t>
            </a:r>
            <a:endParaRPr lang="en-US" sz="1300" dirty="0"/>
          </a:p>
        </p:txBody>
      </p:sp>
      <p:sp>
        <p:nvSpPr>
          <p:cNvPr id="27" name="Text 25"/>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28" name="Text 26"/>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7607A"/>
        </a:solidFill>
      </p:bgPr>
    </p:bg>
    <p:spTree>
      <p:nvGrpSpPr>
        <p:cNvPr id="1" name=""/>
        <p:cNvGrpSpPr/>
        <p:nvPr/>
      </p:nvGrpSpPr>
      <p:grpSpPr>
        <a:xfrm>
          <a:off x="0" y="0"/>
          <a:ext cx="0" cy="0"/>
          <a:chOff x="0" y="0"/>
          <a:chExt cx="0" cy="0"/>
        </a:xfrm>
      </p:grpSpPr>
      <p:sp>
        <p:nvSpPr>
          <p:cNvPr id="2" name="Text 0"/>
          <p:cNvSpPr/>
          <p:nvPr/>
        </p:nvSpPr>
        <p:spPr>
          <a:xfrm>
            <a:off x="731520" y="822960"/>
            <a:ext cx="10058400" cy="640080"/>
          </a:xfrm>
          <a:prstGeom prst="rect">
            <a:avLst/>
          </a:prstGeom>
          <a:noFill/>
          <a:ln/>
        </p:spPr>
        <p:txBody>
          <a:bodyPr wrap="square" lIns="0" tIns="0" rIns="0" bIns="0" rtlCol="0" anchor="ctr"/>
          <a:lstStyle/>
          <a:p>
            <a:pPr indent="0" marL="0">
              <a:buNone/>
            </a:pPr>
            <a:r>
              <a:rPr lang="en-US" sz="1800" b="1" dirty="0">
                <a:solidFill>
                  <a:srgbClr val="E0A94B"/>
                </a:solidFill>
                <a:latin typeface="Calibri" pitchFamily="34" charset="0"/>
                <a:ea typeface="Calibri" pitchFamily="34" charset="-122"/>
                <a:cs typeface="Calibri" pitchFamily="34" charset="-120"/>
              </a:rPr>
              <a:t>Your turn</a:t>
            </a:r>
            <a:endParaRPr lang="en-US" sz="1800" dirty="0"/>
          </a:p>
        </p:txBody>
      </p:sp>
      <p:sp>
        <p:nvSpPr>
          <p:cNvPr id="3" name="Text 1"/>
          <p:cNvSpPr/>
          <p:nvPr/>
        </p:nvSpPr>
        <p:spPr>
          <a:xfrm>
            <a:off x="731520" y="1371600"/>
            <a:ext cx="1060704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Add one new default to the plugin</a:t>
            </a:r>
            <a:endParaRPr lang="en-US" sz="3600" dirty="0"/>
          </a:p>
        </p:txBody>
      </p:sp>
      <p:sp>
        <p:nvSpPr>
          <p:cNvPr id="4" name="Text 2"/>
          <p:cNvSpPr/>
          <p:nvPr/>
        </p:nvSpPr>
        <p:spPr>
          <a:xfrm>
            <a:off x="731520" y="2468880"/>
            <a:ext cx="10515600" cy="640080"/>
          </a:xfrm>
          <a:prstGeom prst="rect">
            <a:avLst/>
          </a:prstGeom>
          <a:noFill/>
          <a:ln/>
        </p:spPr>
        <p:txBody>
          <a:bodyPr wrap="square" lIns="0" tIns="0" rIns="0" bIns="0" rtlCol="0" anchor="t"/>
          <a:lstStyle/>
          <a:p>
            <a:pPr indent="0" marL="0">
              <a:buNone/>
            </a:pPr>
            <a:r>
              <a:rPr lang="en-US" sz="1700" i="1" dirty="0">
                <a:solidFill>
                  <a:srgbClr val="D7E5EC"/>
                </a:solidFill>
                <a:latin typeface="Calibri" pitchFamily="34" charset="0"/>
                <a:ea typeface="Calibri" pitchFamily="34" charset="-122"/>
                <a:cs typeface="Calibri" pitchFamily="34" charset="-120"/>
              </a:rPr>
              <a:t>Goal: disable the WordPress dashboard “Welcome” panel. Two small edits — no new settings-page code.</a:t>
            </a:r>
            <a:endParaRPr lang="en-US" sz="1700" dirty="0"/>
          </a:p>
        </p:txBody>
      </p:sp>
      <p:sp>
        <p:nvSpPr>
          <p:cNvPr id="5" name="Shape 3"/>
          <p:cNvSpPr/>
          <p:nvPr/>
        </p:nvSpPr>
        <p:spPr>
          <a:xfrm>
            <a:off x="731520" y="3246120"/>
            <a:ext cx="10698480" cy="2468880"/>
          </a:xfrm>
          <a:prstGeom prst="roundRect">
            <a:avLst>
              <a:gd name="adj" fmla="val 2963"/>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6" name="Text 4"/>
          <p:cNvSpPr/>
          <p:nvPr/>
        </p:nvSpPr>
        <p:spPr>
          <a:xfrm>
            <a:off x="932688" y="3410712"/>
            <a:ext cx="10296144" cy="2139696"/>
          </a:xfrm>
          <a:prstGeom prst="rect">
            <a:avLst/>
          </a:prstGeom>
          <a:noFill/>
          <a:ln/>
        </p:spPr>
        <p:txBody>
          <a:bodyPr wrap="square" lIns="0" tIns="0" rIns="0" bIns="0" rtlCol="0" anchor="t"/>
          <a:lstStyle/>
          <a:p>
            <a:pPr algn="l" indent="0" marL="0">
              <a:lnSpc>
                <a:spcPct val="108000"/>
              </a:lnSpc>
              <a:buNone/>
            </a:pPr>
            <a:r>
              <a:rPr lang="en-US" sz="1300" dirty="0">
                <a:solidFill>
                  <a:srgbClr val="8FBF9F"/>
                </a:solidFill>
                <a:latin typeface="Courier New" pitchFamily="34" charset="0"/>
                <a:ea typeface="Courier New" pitchFamily="34" charset="-122"/>
                <a:cs typeface="Courier New" pitchFamily="34" charset="-120"/>
              </a:rPr>
              <a:t>// 1) add a schema entry in wpyeg_defaults_schema()</a:t>
            </a:r>
            <a:endParaRPr lang="en-US" sz="1300" dirty="0"/>
          </a:p>
          <a:p>
            <a:pPr algn="l" indent="0" marL="0">
              <a:lnSpc>
                <a:spcPct val="108000"/>
              </a:lnSpc>
              <a:buNone/>
            </a:pPr>
            <a:r>
              <a:rPr lang="en-US" sz="1300" dirty="0">
                <a:solidFill>
                  <a:srgbClr val="DCEAF1"/>
                </a:solidFill>
                <a:latin typeface="Courier New" pitchFamily="34" charset="0"/>
                <a:ea typeface="Courier New" pitchFamily="34" charset="-122"/>
                <a:cs typeface="Courier New" pitchFamily="34" charset="-120"/>
              </a:rPr>
              <a:t>'hide_welcome_panel' =&gt; array(</a:t>
            </a:r>
            <a:endParaRPr lang="en-US" sz="1300" dirty="0"/>
          </a:p>
          <a:p>
            <a:pPr algn="l" indent="0" marL="0">
              <a:lnSpc>
                <a:spcPct val="108000"/>
              </a:lnSpc>
              <a:buNone/>
            </a:pPr>
            <a:r>
              <a:rPr lang="en-US" sz="1300" dirty="0">
                <a:solidFill>
                  <a:srgbClr val="E7C070"/>
                </a:solidFill>
                <a:latin typeface="Courier New" pitchFamily="34" charset="0"/>
                <a:ea typeface="Courier New" pitchFamily="34" charset="-122"/>
                <a:cs typeface="Courier New" pitchFamily="34" charset="-120"/>
              </a:rPr>
              <a:t>    'default' =&gt; 'yes', 'type' =&gt; 'toggle', 'group' =&gt; 'ux',</a:t>
            </a:r>
            <a:endParaRPr lang="en-US" sz="1300" dirty="0"/>
          </a:p>
          <a:p>
            <a:pPr algn="l" indent="0" marL="0">
              <a:lnSpc>
                <a:spcPct val="108000"/>
              </a:lnSpc>
              <a:buNone/>
            </a:pPr>
            <a:r>
              <a:rPr lang="en-US" sz="1300" dirty="0">
                <a:solidFill>
                  <a:srgbClr val="DCEAF1"/>
                </a:solidFill>
                <a:latin typeface="Courier New" pitchFamily="34" charset="0"/>
                <a:ea typeface="Courier New" pitchFamily="34" charset="-122"/>
                <a:cs typeface="Courier New" pitchFamily="34" charset="-120"/>
              </a:rPr>
              <a:t>    'label' =&gt; 'Hide dashboard welcome panel',</a:t>
            </a:r>
            <a:endParaRPr lang="en-US" sz="1300" dirty="0"/>
          </a:p>
          <a:p>
            <a:pPr algn="l" indent="0" marL="0">
              <a:lnSpc>
                <a:spcPct val="108000"/>
              </a:lnSpc>
              <a:buNone/>
            </a:pPr>
            <a:r>
              <a:rPr lang="en-US" sz="1300" dirty="0">
                <a:solidFill>
                  <a:srgbClr val="DCEAF1"/>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DCEAF1"/>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8FBF9F"/>
                </a:solidFill>
                <a:latin typeface="Courier New" pitchFamily="34" charset="0"/>
                <a:ea typeface="Courier New" pitchFamily="34" charset="-122"/>
                <a:cs typeface="Courier New" pitchFamily="34" charset="-120"/>
              </a:rPr>
              <a:t>// 2) wire it inside wpyeg_defaults_bootstrap()</a:t>
            </a:r>
            <a:endParaRPr lang="en-US" sz="1300" dirty="0"/>
          </a:p>
          <a:p>
            <a:pPr algn="l" indent="0" marL="0">
              <a:lnSpc>
                <a:spcPct val="108000"/>
              </a:lnSpc>
              <a:buNone/>
            </a:pPr>
            <a:r>
              <a:rPr lang="en-US" sz="1300" dirty="0">
                <a:solidFill>
                  <a:srgbClr val="DCEAF1"/>
                </a:solidFill>
                <a:latin typeface="Courier New" pitchFamily="34" charset="0"/>
                <a:ea typeface="Courier New" pitchFamily="34" charset="-122"/>
                <a:cs typeface="Courier New" pitchFamily="34" charset="-120"/>
              </a:rPr>
              <a:t>if ( wpyeg_defaults_enabled( 'hide_welcome_panel' ) ) {</a:t>
            </a:r>
            <a:endParaRPr lang="en-US" sz="1300" dirty="0"/>
          </a:p>
          <a:p>
            <a:pPr algn="l" indent="0" marL="0">
              <a:lnSpc>
                <a:spcPct val="108000"/>
              </a:lnSpc>
              <a:buNone/>
            </a:pPr>
            <a:r>
              <a:rPr lang="en-US" sz="1300" dirty="0">
                <a:solidFill>
                  <a:srgbClr val="E7C070"/>
                </a:solidFill>
                <a:latin typeface="Courier New" pitchFamily="34" charset="0"/>
                <a:ea typeface="Courier New" pitchFamily="34" charset="-122"/>
                <a:cs typeface="Courier New" pitchFamily="34" charset="-120"/>
              </a:rPr>
              <a:t>    remove_action( 'welcome_panel', 'wp_welcome_panel' );</a:t>
            </a:r>
            <a:endParaRPr lang="en-US" sz="1300" dirty="0"/>
          </a:p>
          <a:p>
            <a:pPr algn="l" indent="0" marL="0">
              <a:lnSpc>
                <a:spcPct val="108000"/>
              </a:lnSpc>
              <a:buNone/>
            </a:pPr>
            <a:r>
              <a:rPr lang="en-US" sz="1300" dirty="0">
                <a:solidFill>
                  <a:srgbClr val="DCEAF1"/>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Schema map — security surfaces and credentials</a:t>
            </a:r>
            <a:endParaRPr lang="en-US" sz="3000" dirty="0"/>
          </a:p>
        </p:txBody>
      </p:sp>
      <p:sp>
        <p:nvSpPr>
          <p:cNvPr id="3" name="Text 1"/>
          <p:cNvSpPr/>
          <p:nvPr/>
        </p:nvSpPr>
        <p:spPr>
          <a:xfrm>
            <a:off x="548640" y="1097280"/>
            <a:ext cx="10972800" cy="365760"/>
          </a:xfrm>
          <a:prstGeom prst="rect">
            <a:avLst/>
          </a:prstGeom>
          <a:noFill/>
          <a:ln/>
        </p:spPr>
        <p:txBody>
          <a:bodyPr wrap="square" lIns="0" tIns="0" rIns="0" bIns="0" rtlCol="0" anchor="ctr"/>
          <a:lstStyle/>
          <a:p>
            <a:pPr indent="0" marL="0">
              <a:buNone/>
            </a:pPr>
            <a:r>
              <a:rPr lang="en-US" sz="1400" b="1" dirty="0">
                <a:solidFill>
                  <a:srgbClr val="3E7E9C"/>
                </a:solidFill>
                <a:latin typeface="Calibri" pitchFamily="34" charset="0"/>
                <a:ea typeface="Calibri" pitchFamily="34" charset="-122"/>
                <a:cs typeface="Calibri" pitchFamily="34" charset="-120"/>
              </a:rPr>
              <a:t>Exact keys and defaults from wpyeg_defaults_schema().</a:t>
            </a:r>
            <a:endParaRPr lang="en-US" sz="1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4343400"/>
                <a:gridCol w="1600200"/>
                <a:gridCol w="5120640"/>
              </a:tblGrid>
              <a:tr h="402336">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Setting key or owner</a:t>
                      </a:r>
                      <a:endParaRPr lang="en-US" sz="13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c>
                  <a:txBody>
                    <a:bodyPr/>
                    <a:lstStyle/>
                    <a:p>
                      <a:pPr algn="l" indent="0" marL="0">
                        <a:buNone/>
                      </a:pPr>
                      <a:r>
                        <a:rPr lang="en-US" sz="1200" b="1" dirty="0">
                          <a:solidFill>
                            <a:srgbClr val="FFFFFF"/>
                          </a:solidFill>
                          <a:latin typeface="Courier New" pitchFamily="34" charset="0"/>
                          <a:ea typeface="Courier New" pitchFamily="34" charset="-122"/>
                          <a:cs typeface="Courier New" pitchFamily="34" charset="-120"/>
                        </a:rPr>
                        <a:t>Default</a:t>
                      </a:r>
                      <a:endParaRPr lang="en-US" sz="12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Core hook / authority</a:t>
                      </a:r>
                      <a:endParaRPr lang="en-US" sz="13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restrict_rest_user_discovery</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rest_endpoints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disable_rest</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rest_authentication_errors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xmlrpc_allow_pingbacks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xmlrpc_methods / headers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xmlrpc_allow_remote_publishing</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xmlrpc_methods / discovery</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xmlrpc_allow_multicall</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wp_xmlrpc_server_class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block_xmlrpc_endpoint</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template_redirect</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disable_application_passwords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wp_is_application_passwords_available</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require_strong_passwords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server-side password validation</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bl>
          </a:graphicData>
        </a:graphic>
      </p:graphicFrame>
      <p:sp>
        <p:nvSpPr>
          <p:cNvPr id="5" name="Text 2"/>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6" name="Text 3"/>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Schema map — security policy and updates</a:t>
            </a:r>
            <a:endParaRPr lang="en-US" sz="3000" dirty="0"/>
          </a:p>
        </p:txBody>
      </p:sp>
      <p:sp>
        <p:nvSpPr>
          <p:cNvPr id="3" name="Text 1"/>
          <p:cNvSpPr/>
          <p:nvPr/>
        </p:nvSpPr>
        <p:spPr>
          <a:xfrm>
            <a:off x="548640" y="1097280"/>
            <a:ext cx="10972800" cy="365760"/>
          </a:xfrm>
          <a:prstGeom prst="rect">
            <a:avLst/>
          </a:prstGeom>
          <a:noFill/>
          <a:ln/>
        </p:spPr>
        <p:txBody>
          <a:bodyPr wrap="square" lIns="0" tIns="0" rIns="0" bIns="0" rtlCol="0" anchor="ctr"/>
          <a:lstStyle/>
          <a:p>
            <a:pPr indent="0" marL="0">
              <a:buNone/>
            </a:pPr>
            <a:r>
              <a:rPr lang="en-US" sz="1400" b="1" dirty="0">
                <a:solidFill>
                  <a:srgbClr val="3E7E9C"/>
                </a:solidFill>
                <a:latin typeface="Calibri" pitchFamily="34" charset="0"/>
                <a:ea typeface="Calibri" pitchFamily="34" charset="-122"/>
                <a:cs typeface="Calibri" pitchFamily="34" charset="-120"/>
              </a:rPr>
              <a:t>Plugin defaults and the policies intentionally left to other layers.</a:t>
            </a:r>
            <a:endParaRPr lang="en-US" sz="14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4343400"/>
                <a:gridCol w="1600200"/>
                <a:gridCol w="5120640"/>
              </a:tblGrid>
              <a:tr h="402336">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Setting key or owner</a:t>
                      </a:r>
                      <a:endParaRPr lang="en-US" sz="13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c>
                  <a:txBody>
                    <a:bodyPr/>
                    <a:lstStyle/>
                    <a:p>
                      <a:pPr algn="l" indent="0" marL="0">
                        <a:buNone/>
                      </a:pPr>
                      <a:r>
                        <a:rPr lang="en-US" sz="1200" b="1" dirty="0">
                          <a:solidFill>
                            <a:srgbClr val="FFFFFF"/>
                          </a:solidFill>
                          <a:latin typeface="Courier New" pitchFamily="34" charset="0"/>
                          <a:ea typeface="Courier New" pitchFamily="34" charset="-122"/>
                          <a:cs typeface="Courier New" pitchFamily="34" charset="-120"/>
                        </a:rPr>
                        <a:t>Default</a:t>
                      </a:r>
                      <a:endParaRPr lang="en-US" sz="12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Core hook / authority</a:t>
                      </a:r>
                      <a:endParaRPr lang="en-US" sz="13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remove_version</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wp_head / the_generator</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security_headers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wp_headers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frame_options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SAMEORIGIN</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wp_headers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disable_ai_connectors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wp_supports_ai / Connectors screen</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core_update_policy</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minor</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automatic core-update filters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Translation files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inherit</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WordPress / host / fleet tooling</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Plugin and theme code</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per-item</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WordPress per-item choices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WP_AUTO_UPDATE_CORE</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operator</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wp-config.php wins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bl>
          </a:graphicData>
        </a:graphic>
      </p:graphicFrame>
      <p:sp>
        <p:nvSpPr>
          <p:cNvPr id="5" name="Text 2"/>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6" name="Text 3"/>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Schema map — content policies</a:t>
            </a:r>
            <a:endParaRPr lang="en-US" sz="3000" dirty="0"/>
          </a:p>
        </p:txBody>
      </p:sp>
      <p:sp>
        <p:nvSpPr>
          <p:cNvPr id="3" name="Text 1"/>
          <p:cNvSpPr/>
          <p:nvPr/>
        </p:nvSpPr>
        <p:spPr>
          <a:xfrm>
            <a:off x="548640" y="1097280"/>
            <a:ext cx="10972800" cy="365760"/>
          </a:xfrm>
          <a:prstGeom prst="rect">
            <a:avLst/>
          </a:prstGeom>
          <a:noFill/>
          <a:ln/>
        </p:spPr>
        <p:txBody>
          <a:bodyPr wrap="square" lIns="0" tIns="0" rIns="0" bIns="0" rtlCol="0" anchor="ctr"/>
          <a:lstStyle/>
          <a:p>
            <a:pPr indent="0" marL="0">
              <a:buNone/>
            </a:pPr>
            <a:r>
              <a:rPr lang="en-US" sz="1400" b="1" dirty="0">
                <a:solidFill>
                  <a:srgbClr val="3E7E9C"/>
                </a:solidFill>
                <a:latin typeface="Calibri" pitchFamily="34" charset="0"/>
                <a:ea typeface="Calibri" pitchFamily="34" charset="-122"/>
                <a:cs typeface="Calibri" pitchFamily="34" charset="-120"/>
              </a:rPr>
              <a:t>The schema group is authoritative; emoji removal is a Content setting.</a:t>
            </a:r>
            <a:endParaRPr lang="en-US" sz="14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4343400"/>
                <a:gridCol w="1600200"/>
                <a:gridCol w="5120640"/>
              </a:tblGrid>
              <a:tr h="402336">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Setting key or owner</a:t>
                      </a:r>
                      <a:endParaRPr lang="en-US" sz="13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c>
                  <a:txBody>
                    <a:bodyPr/>
                    <a:lstStyle/>
                    <a:p>
                      <a:pPr algn="l" indent="0" marL="0">
                        <a:buNone/>
                      </a:pPr>
                      <a:r>
                        <a:rPr lang="en-US" sz="1200" b="1" dirty="0">
                          <a:solidFill>
                            <a:srgbClr val="FFFFFF"/>
                          </a:solidFill>
                          <a:latin typeface="Courier New" pitchFamily="34" charset="0"/>
                          <a:ea typeface="Courier New" pitchFamily="34" charset="-122"/>
                          <a:cs typeface="Courier New" pitchFamily="34" charset="-120"/>
                        </a:rPr>
                        <a:t>Default</a:t>
                      </a:r>
                      <a:endParaRPr lang="en-US" sz="12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Core hook / authority</a:t>
                      </a:r>
                      <a:endParaRPr lang="en-US" sz="13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disable_comments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comments, UI, post-type support</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disable_pingbacks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default ping options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disable_self_pingbacks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pre_ping</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disable_author_archives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template_redirect</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redirect_attachment_pages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template_redirect</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disable_emojis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init removes emoji assets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limit_unfiltered_html_to_admins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user_has_cap drops the cap for non-admins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disable_post_passwords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CSS hides the editor's password option</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force_classic_editor</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four editor gates answered false</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6" name="Text 3"/>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Schema map — everyday UX and media</a:t>
            </a:r>
            <a:endParaRPr lang="en-US" sz="3000" dirty="0"/>
          </a:p>
        </p:txBody>
      </p:sp>
      <p:sp>
        <p:nvSpPr>
          <p:cNvPr id="3" name="Text 1"/>
          <p:cNvSpPr/>
          <p:nvPr/>
        </p:nvSpPr>
        <p:spPr>
          <a:xfrm>
            <a:off x="548640" y="1097280"/>
            <a:ext cx="10972800" cy="365760"/>
          </a:xfrm>
          <a:prstGeom prst="rect">
            <a:avLst/>
          </a:prstGeom>
          <a:noFill/>
          <a:ln/>
        </p:spPr>
        <p:txBody>
          <a:bodyPr wrap="square" lIns="0" tIns="0" rIns="0" bIns="0" rtlCol="0" anchor="ctr"/>
          <a:lstStyle/>
          <a:p>
            <a:pPr indent="0" marL="0">
              <a:buNone/>
            </a:pPr>
            <a:r>
              <a:rPr lang="en-US" sz="1400" b="1" dirty="0">
                <a:solidFill>
                  <a:srgbClr val="3E7E9C"/>
                </a:solidFill>
                <a:latin typeface="Calibri" pitchFamily="34" charset="0"/>
                <a:ea typeface="Calibri" pitchFamily="34" charset="-122"/>
                <a:cs typeface="Calibri" pitchFamily="34" charset="-120"/>
              </a:rPr>
              <a:t>Small workflow defaults stay independent from content policy.</a:t>
            </a:r>
            <a:endParaRPr lang="en-US" sz="14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4343400"/>
                <a:gridCol w="1600200"/>
                <a:gridCol w="5120640"/>
              </a:tblGrid>
              <a:tr h="402336">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Setting key or owner</a:t>
                      </a:r>
                      <a:endParaRPr lang="en-US" sz="13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c>
                  <a:txBody>
                    <a:bodyPr/>
                    <a:lstStyle/>
                    <a:p>
                      <a:pPr algn="l" indent="0" marL="0">
                        <a:buNone/>
                      </a:pPr>
                      <a:r>
                        <a:rPr lang="en-US" sz="1200" b="1" dirty="0">
                          <a:solidFill>
                            <a:srgbClr val="FFFFFF"/>
                          </a:solidFill>
                          <a:latin typeface="Courier New" pitchFamily="34" charset="0"/>
                          <a:ea typeface="Courier New" pitchFamily="34" charset="-122"/>
                          <a:cs typeface="Courier New" pitchFamily="34" charset="-120"/>
                        </a:rPr>
                        <a:t>Default</a:t>
                      </a:r>
                      <a:endParaRPr lang="en-US" sz="12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Core hook / authority</a:t>
                      </a:r>
                      <a:endParaRPr lang="en-US" sz="13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lowercase_upload_filenames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sanitize_file_name at priority 20</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media_sizes_panel</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read-only meta box on attachments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title_only_admin_search</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post_search_columns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frontend_admin_bar_behavior</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show_admin_bar</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bl>
          </a:graphicData>
        </a:graphic>
      </p:graphicFrame>
      <p:sp>
        <p:nvSpPr>
          <p:cNvPr id="5" name="Text 2"/>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6" name="Text 3"/>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3000" b="1" dirty="0">
                <a:solidFill>
                  <a:srgbClr val="0F2733"/>
                </a:solidFill>
                <a:latin typeface="Cambria" pitchFamily="34" charset="0"/>
                <a:ea typeface="Cambria" pitchFamily="34" charset="-122"/>
                <a:cs typeface="Cambria" pitchFamily="34" charset="-120"/>
              </a:rPr>
              <a:t>Schema map — login, branding, and performance</a:t>
            </a:r>
            <a:endParaRPr lang="en-US" sz="3000" dirty="0"/>
          </a:p>
        </p:txBody>
      </p:sp>
      <p:sp>
        <p:nvSpPr>
          <p:cNvPr id="3" name="Text 1"/>
          <p:cNvSpPr/>
          <p:nvPr/>
        </p:nvSpPr>
        <p:spPr>
          <a:xfrm>
            <a:off x="548640" y="1097280"/>
            <a:ext cx="10972800" cy="365760"/>
          </a:xfrm>
          <a:prstGeom prst="rect">
            <a:avLst/>
          </a:prstGeom>
          <a:noFill/>
          <a:ln/>
        </p:spPr>
        <p:txBody>
          <a:bodyPr wrap="square" lIns="0" tIns="0" rIns="0" bIns="0" rtlCol="0" anchor="ctr"/>
          <a:lstStyle/>
          <a:p>
            <a:pPr indent="0" marL="0">
              <a:buNone/>
            </a:pPr>
            <a:r>
              <a:rPr lang="en-US" sz="1400" b="1" dirty="0">
                <a:solidFill>
                  <a:srgbClr val="3E7E9C"/>
                </a:solidFill>
                <a:latin typeface="Calibri" pitchFamily="34" charset="0"/>
                <a:ea typeface="Calibri" pitchFamily="34" charset="-122"/>
                <a:cs typeface="Calibri" pitchFamily="34" charset="-120"/>
              </a:rPr>
              <a:t>Schema keys live in one option array; constants remain above plugins.</a:t>
            </a:r>
            <a:endParaRPr lang="en-US" sz="1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4343400"/>
                <a:gridCol w="1600200"/>
                <a:gridCol w="5120640"/>
              </a:tblGrid>
              <a:tr h="402336">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Setting key or owner</a:t>
                      </a:r>
                      <a:endParaRPr lang="en-US" sz="13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c>
                  <a:txBody>
                    <a:bodyPr/>
                    <a:lstStyle/>
                    <a:p>
                      <a:pPr algn="l" indent="0" marL="0">
                        <a:buNone/>
                      </a:pPr>
                      <a:r>
                        <a:rPr lang="en-US" sz="1200" b="1" dirty="0">
                          <a:solidFill>
                            <a:srgbClr val="FFFFFF"/>
                          </a:solidFill>
                          <a:latin typeface="Courier New" pitchFamily="34" charset="0"/>
                          <a:ea typeface="Courier New" pitchFamily="34" charset="-122"/>
                          <a:cs typeface="Courier New" pitchFamily="34" charset="-120"/>
                        </a:rPr>
                        <a:t>Default</a:t>
                      </a:r>
                      <a:endParaRPr lang="en-US" sz="12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Core hook / authority</a:t>
                      </a:r>
                      <a:endParaRPr lang="en-US" sz="13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27607A"/>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disable_remember_me</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login UI / cookie expiration</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session_regular_days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auth_cookie_expiration</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remember_me_days</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14</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auth_cookie_expiration</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login_logo_behavior</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keep_default</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login header presentation</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mail_deliverability_notice</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yes</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admin_notices when the From address looks undeliverable</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throttle_heartbeat</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no</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Heartbeat settings / enqueue</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wpyeg_better_by_default</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array</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the only wp_options row</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DISALLOW_FILE_EDIT</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manual</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wp-config.php</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EAF1F5"/>
                    </a:solidFill>
                  </a:tcPr>
                </a:tc>
              </a:tr>
              <a:tr h="402336">
                <a:tc>
                  <a:txBody>
                    <a:bodyPr/>
                    <a:lstStyle/>
                    <a:p>
                      <a:pPr algn="l" indent="0" marL="0">
                        <a:buNone/>
                      </a:pPr>
                      <a:r>
                        <a:rPr lang="en-US" sz="1250" dirty="0">
                          <a:solidFill>
                            <a:srgbClr val="0F2733"/>
                          </a:solidFill>
                          <a:latin typeface="Calibri" pitchFamily="34" charset="0"/>
                          <a:ea typeface="Calibri" pitchFamily="34" charset="-122"/>
                          <a:cs typeface="Calibri" pitchFamily="34" charset="-120"/>
                        </a:rPr>
                        <a:t>revisions / autosave</a:t>
                      </a:r>
                      <a:endParaRPr lang="en-US" sz="125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7607A"/>
                          </a:solidFill>
                          <a:latin typeface="Courier New" pitchFamily="34" charset="0"/>
                          <a:ea typeface="Courier New" pitchFamily="34" charset="-122"/>
                          <a:cs typeface="Courier New" pitchFamily="34" charset="-120"/>
                        </a:rPr>
                        <a:t>manual</a:t>
                      </a:r>
                      <a:endParaRPr lang="en-US" sz="1100" dirty="0">
                        <a:latin typeface="Courier New" charset="0"/>
                        <a:ea typeface="Courier New" charset="0"/>
                        <a:cs typeface="Courier New"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4A5A63"/>
                          </a:solidFill>
                          <a:latin typeface="Calibri" pitchFamily="34" charset="0"/>
                          <a:ea typeface="Calibri" pitchFamily="34" charset="-122"/>
                          <a:cs typeface="Calibri" pitchFamily="34" charset="-120"/>
                        </a:rPr>
                        <a:t>wp-config.php constants</a:t>
                      </a:r>
                      <a:endParaRPr lang="en-US" sz="1200" dirty="0">
                        <a:latin typeface="Calibri" charset="0"/>
                        <a:ea typeface="Calibri" charset="0"/>
                        <a:cs typeface="Calibri" charset="0"/>
                      </a:endParaRPr>
                    </a:p>
                  </a:txBody>
                  <a:tcPr marL="50800" marR="50800" marT="50800" marB="50800" anchor="ctr">
                    <a:lnL w="12700" cap="flat" cmpd="sng" algn="ctr">
                      <a:solidFill>
                        <a:srgbClr val="DCE6EB"/>
                      </a:solidFill>
                      <a:prstDash val="solid"/>
                      <a:round/>
                      <a:headEnd type="none" w="med" len="med"/>
                      <a:tailEnd type="none" w="med" len="med"/>
                    </a:lnL>
                    <a:lnR w="12700" cap="flat" cmpd="sng" algn="ctr">
                      <a:solidFill>
                        <a:srgbClr val="DCE6EB"/>
                      </a:solidFill>
                      <a:prstDash val="solid"/>
                      <a:round/>
                      <a:headEnd type="none" w="med" len="med"/>
                      <a:tailEnd type="none" w="med" len="med"/>
                    </a:lnR>
                    <a:lnT w="12700" cap="flat" cmpd="sng" algn="ctr">
                      <a:solidFill>
                        <a:srgbClr val="DCE6EB"/>
                      </a:solidFill>
                      <a:prstDash val="solid"/>
                      <a:round/>
                      <a:headEnd type="none" w="med" len="med"/>
                      <a:tailEnd type="none" w="med" len="med"/>
                    </a:lnT>
                    <a:lnB w="12700" cap="flat" cmpd="sng" algn="ctr">
                      <a:solidFill>
                        <a:srgbClr val="DCE6EB"/>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6" name="Text 3"/>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lIns="0" tIns="0" rIns="0" bIns="0" rtlCol="0" anchor="ctr"/>
          <a:lstStyle/>
          <a:p>
            <a:pPr indent="0" marL="0">
              <a:buNone/>
            </a:pPr>
            <a:r>
              <a:rPr lang="en-US" sz="3200" b="1" dirty="0">
                <a:solidFill>
                  <a:srgbClr val="0F2733"/>
                </a:solidFill>
                <a:latin typeface="Cambria" pitchFamily="34" charset="0"/>
                <a:ea typeface="Cambria" pitchFamily="34" charset="-122"/>
                <a:cs typeface="Cambria" pitchFamily="34" charset="-120"/>
              </a:rPr>
              <a:t>Somebody will install two of these</a:t>
            </a:r>
            <a:endParaRPr lang="en-US" sz="3200" dirty="0"/>
          </a:p>
        </p:txBody>
      </p:sp>
      <p:sp>
        <p:nvSpPr>
          <p:cNvPr id="3" name="Text 1"/>
          <p:cNvSpPr/>
          <p:nvPr/>
        </p:nvSpPr>
        <p:spPr>
          <a:xfrm>
            <a:off x="548640" y="1371600"/>
            <a:ext cx="10881360" cy="731520"/>
          </a:xfrm>
          <a:prstGeom prst="rect">
            <a:avLst/>
          </a:prstGeom>
          <a:noFill/>
          <a:ln/>
        </p:spPr>
        <p:txBody>
          <a:bodyPr wrap="square" lIns="0" tIns="0" rIns="0" bIns="0" rtlCol="0" anchor="ctr"/>
          <a:lstStyle/>
          <a:p>
            <a:pPr indent="0" marL="0">
              <a:buNone/>
            </a:pPr>
            <a:r>
              <a:rPr lang="en-US" sz="1600" dirty="0">
                <a:solidFill>
                  <a:srgbClr val="4A5A63"/>
                </a:solidFill>
                <a:latin typeface="Calibri" pitchFamily="34" charset="0"/>
                <a:ea typeface="Calibri" pitchFamily="34" charset="-122"/>
                <a:cs typeface="Calibri" pitchFamily="34" charset="-120"/>
              </a:rPr>
              <a:t>Two defaults plugins on one site — or this one plus a security suite doing half the same job.</a:t>
            </a:r>
            <a:endParaRPr lang="en-US" sz="1600" dirty="0"/>
          </a:p>
        </p:txBody>
      </p:sp>
      <p:sp>
        <p:nvSpPr>
          <p:cNvPr id="4" name="Shape 2"/>
          <p:cNvSpPr/>
          <p:nvPr/>
        </p:nvSpPr>
        <p:spPr>
          <a:xfrm>
            <a:off x="548640" y="2377440"/>
            <a:ext cx="11064240" cy="1051560"/>
          </a:xfrm>
          <a:prstGeom prst="roundRect">
            <a:avLst>
              <a:gd name="adj" fmla="val 7826"/>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5" name="Shape 3"/>
          <p:cNvSpPr/>
          <p:nvPr/>
        </p:nvSpPr>
        <p:spPr>
          <a:xfrm>
            <a:off x="868680" y="2670048"/>
            <a:ext cx="457200" cy="457200"/>
          </a:xfrm>
          <a:prstGeom prst="ellipse">
            <a:avLst/>
          </a:prstGeom>
          <a:solidFill>
            <a:srgbClr val="27607A"/>
          </a:solidFill>
          <a:ln/>
        </p:spPr>
      </p:sp>
      <p:sp>
        <p:nvSpPr>
          <p:cNvPr id="6" name="Text 4"/>
          <p:cNvSpPr/>
          <p:nvPr/>
        </p:nvSpPr>
        <p:spPr>
          <a:xfrm>
            <a:off x="868680" y="26700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508760" y="2542032"/>
            <a:ext cx="9875520" cy="731520"/>
          </a:xfrm>
          <a:prstGeom prst="rect">
            <a:avLst/>
          </a:prstGeom>
          <a:noFill/>
          <a:ln/>
        </p:spPr>
        <p:txBody>
          <a:bodyPr wrap="square" lIns="0" tIns="0" rIns="0" bIns="0" rtlCol="0" anchor="ctr"/>
          <a:lstStyle/>
          <a:p>
            <a:pPr indent="0" marL="0">
              <a:buNone/>
            </a:pPr>
            <a:r>
              <a:rPr lang="en-US" sz="1500" b="1" dirty="0">
                <a:solidFill>
                  <a:srgbClr val="0F2733"/>
                </a:solidFill>
                <a:latin typeface="Calibri" pitchFamily="34" charset="0"/>
                <a:ea typeface="Calibri" pitchFamily="34" charset="-122"/>
                <a:cs typeface="Calibri" pitchFamily="34" charset="-120"/>
              </a:rPr>
              <a:t>Nothing errors.  </a:t>
            </a:r>
            <a:pPr indent="0" marL="0">
              <a:buNone/>
            </a:pPr>
            <a:r>
              <a:rPr lang="en-US" sz="1500" dirty="0">
                <a:solidFill>
                  <a:srgbClr val="4A5A63"/>
                </a:solidFill>
                <a:latin typeface="Calibri" pitchFamily="34" charset="0"/>
                <a:ea typeface="Calibri" pitchFamily="34" charset="-122"/>
                <a:cs typeface="Calibri" pitchFamily="34" charset="-120"/>
              </a:rPr>
              <a:t>No crash, no warning, no line in a log.</a:t>
            </a:r>
            <a:endParaRPr lang="en-US" sz="1500" dirty="0"/>
          </a:p>
        </p:txBody>
      </p:sp>
      <p:sp>
        <p:nvSpPr>
          <p:cNvPr id="8" name="Shape 6"/>
          <p:cNvSpPr/>
          <p:nvPr/>
        </p:nvSpPr>
        <p:spPr>
          <a:xfrm>
            <a:off x="548640" y="3611880"/>
            <a:ext cx="11064240" cy="1051560"/>
          </a:xfrm>
          <a:prstGeom prst="roundRect">
            <a:avLst>
              <a:gd name="adj" fmla="val 7826"/>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9" name="Shape 7"/>
          <p:cNvSpPr/>
          <p:nvPr/>
        </p:nvSpPr>
        <p:spPr>
          <a:xfrm>
            <a:off x="868680" y="3904488"/>
            <a:ext cx="457200" cy="457200"/>
          </a:xfrm>
          <a:prstGeom prst="ellipse">
            <a:avLst/>
          </a:prstGeom>
          <a:solidFill>
            <a:srgbClr val="27607A"/>
          </a:solidFill>
          <a:ln/>
        </p:spPr>
      </p:sp>
      <p:sp>
        <p:nvSpPr>
          <p:cNvPr id="10" name="Text 8"/>
          <p:cNvSpPr/>
          <p:nvPr/>
        </p:nvSpPr>
        <p:spPr>
          <a:xfrm>
            <a:off x="868680" y="39044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p:nvPr/>
        </p:nvSpPr>
        <p:spPr>
          <a:xfrm>
            <a:off x="1508760" y="3776472"/>
            <a:ext cx="9875520" cy="731520"/>
          </a:xfrm>
          <a:prstGeom prst="rect">
            <a:avLst/>
          </a:prstGeom>
          <a:noFill/>
          <a:ln/>
        </p:spPr>
        <p:txBody>
          <a:bodyPr wrap="square" lIns="0" tIns="0" rIns="0" bIns="0" rtlCol="0" anchor="ctr"/>
          <a:lstStyle/>
          <a:p>
            <a:pPr indent="0" marL="0">
              <a:buNone/>
            </a:pPr>
            <a:r>
              <a:rPr lang="en-US" sz="1500" b="1" dirty="0">
                <a:solidFill>
                  <a:srgbClr val="0F2733"/>
                </a:solidFill>
                <a:latin typeface="Calibri" pitchFamily="34" charset="0"/>
                <a:ea typeface="Calibri" pitchFamily="34" charset="-122"/>
                <a:cs typeface="Calibri" pitchFamily="34" charset="-120"/>
              </a:rPr>
              <a:t>Nothing is clobbered.  </a:t>
            </a:r>
            <a:pPr indent="0" marL="0">
              <a:buNone/>
            </a:pPr>
            <a:r>
              <a:rPr lang="en-US" sz="1500" dirty="0">
                <a:solidFill>
                  <a:srgbClr val="4A5A63"/>
                </a:solidFill>
                <a:latin typeface="Calibri" pitchFamily="34" charset="0"/>
                <a:ea typeface="Calibri" pitchFamily="34" charset="-122"/>
                <a:cs typeface="Calibri" pitchFamily="34" charset="-120"/>
              </a:rPr>
              <a:t>Each plugin keeps its own settings safely.</a:t>
            </a:r>
            <a:endParaRPr lang="en-US" sz="1500" dirty="0"/>
          </a:p>
        </p:txBody>
      </p:sp>
      <p:sp>
        <p:nvSpPr>
          <p:cNvPr id="12" name="Shape 10"/>
          <p:cNvSpPr/>
          <p:nvPr/>
        </p:nvSpPr>
        <p:spPr>
          <a:xfrm>
            <a:off x="548640" y="4846320"/>
            <a:ext cx="11064240" cy="1051560"/>
          </a:xfrm>
          <a:prstGeom prst="roundRect">
            <a:avLst>
              <a:gd name="adj" fmla="val 7826"/>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3" name="Shape 11"/>
          <p:cNvSpPr/>
          <p:nvPr/>
        </p:nvSpPr>
        <p:spPr>
          <a:xfrm>
            <a:off x="868680" y="5138928"/>
            <a:ext cx="457200" cy="457200"/>
          </a:xfrm>
          <a:prstGeom prst="ellipse">
            <a:avLst/>
          </a:prstGeom>
          <a:solidFill>
            <a:srgbClr val="27607A"/>
          </a:solidFill>
          <a:ln/>
        </p:spPr>
      </p:sp>
      <p:sp>
        <p:nvSpPr>
          <p:cNvPr id="14" name="Text 12"/>
          <p:cNvSpPr/>
          <p:nvPr/>
        </p:nvSpPr>
        <p:spPr>
          <a:xfrm>
            <a:off x="868680" y="51389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5" name="Text 13"/>
          <p:cNvSpPr/>
          <p:nvPr/>
        </p:nvSpPr>
        <p:spPr>
          <a:xfrm>
            <a:off x="1508760" y="5010912"/>
            <a:ext cx="9875520" cy="731520"/>
          </a:xfrm>
          <a:prstGeom prst="rect">
            <a:avLst/>
          </a:prstGeom>
          <a:noFill/>
          <a:ln/>
        </p:spPr>
        <p:txBody>
          <a:bodyPr wrap="square" lIns="0" tIns="0" rIns="0" bIns="0" rtlCol="0" anchor="ctr"/>
          <a:lstStyle/>
          <a:p>
            <a:pPr indent="0" marL="0">
              <a:buNone/>
            </a:pPr>
            <a:r>
              <a:rPr lang="en-US" sz="1500" b="1" dirty="0">
                <a:solidFill>
                  <a:srgbClr val="0F2733"/>
                </a:solidFill>
                <a:latin typeface="Calibri" pitchFamily="34" charset="0"/>
                <a:ea typeface="Calibri" pitchFamily="34" charset="-122"/>
                <a:cs typeface="Calibri" pitchFamily="34" charset="-120"/>
              </a:rPr>
              <a:t>One of them silently stops working.  </a:t>
            </a:r>
            <a:pPr indent="0" marL="0">
              <a:buNone/>
            </a:pPr>
            <a:r>
              <a:rPr lang="en-US" sz="1500" dirty="0">
                <a:solidFill>
                  <a:srgbClr val="4A5A63"/>
                </a:solidFill>
                <a:latin typeface="Calibri" pitchFamily="34" charset="0"/>
                <a:ea typeface="Calibri" pitchFamily="34" charset="-122"/>
                <a:cs typeface="Calibri" pitchFamily="34" charset="-120"/>
              </a:rPr>
              <a:t>And its settings screen goes on saying otherwise.</a:t>
            </a:r>
            <a:endParaRPr lang="en-US" sz="1500" dirty="0"/>
          </a:p>
        </p:txBody>
      </p:sp>
      <p:sp>
        <p:nvSpPr>
          <p:cNvPr id="16" name="Text 14"/>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7" name="Text 15"/>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lIns="0" tIns="0" rIns="0" bIns="0" rtlCol="0" anchor="ctr"/>
          <a:lstStyle/>
          <a:p>
            <a:pPr indent="0" marL="0">
              <a:buNone/>
            </a:pPr>
            <a:r>
              <a:rPr lang="en-US" sz="3200" b="1" dirty="0">
                <a:solidFill>
                  <a:srgbClr val="0F2733"/>
                </a:solidFill>
                <a:latin typeface="Cambria" pitchFamily="34" charset="0"/>
                <a:ea typeface="Cambria" pitchFamily="34" charset="-122"/>
                <a:cs typeface="Cambria" pitchFamily="34" charset="-120"/>
              </a:rPr>
              <a:t>Some settings share. Some fight.</a:t>
            </a:r>
            <a:endParaRPr lang="en-US" sz="3200" dirty="0"/>
          </a:p>
        </p:txBody>
      </p:sp>
      <p:sp>
        <p:nvSpPr>
          <p:cNvPr id="3" name="Text 1"/>
          <p:cNvSpPr/>
          <p:nvPr/>
        </p:nvSpPr>
        <p:spPr>
          <a:xfrm>
            <a:off x="548640" y="1371600"/>
            <a:ext cx="10881360" cy="731520"/>
          </a:xfrm>
          <a:prstGeom prst="rect">
            <a:avLst/>
          </a:prstGeom>
          <a:noFill/>
          <a:ln/>
        </p:spPr>
        <p:txBody>
          <a:bodyPr wrap="square" lIns="0" tIns="0" rIns="0" bIns="0" rtlCol="0" anchor="ctr"/>
          <a:lstStyle/>
          <a:p>
            <a:pPr indent="0" marL="0">
              <a:buNone/>
            </a:pPr>
            <a:r>
              <a:rPr lang="en-US" sz="1600" dirty="0">
                <a:solidFill>
                  <a:srgbClr val="4A5A63"/>
                </a:solidFill>
                <a:latin typeface="Calibri" pitchFamily="34" charset="0"/>
                <a:ea typeface="Calibri" pitchFamily="34" charset="-122"/>
                <a:cs typeface="Calibri" pitchFamily="34" charset="-120"/>
              </a:rPr>
              <a:t>The difference is entirely in what your callback does with the argument it is handed.</a:t>
            </a:r>
            <a:endParaRPr lang="en-US" sz="1600" dirty="0"/>
          </a:p>
        </p:txBody>
      </p:sp>
      <p:sp>
        <p:nvSpPr>
          <p:cNvPr id="4" name="Shape 2"/>
          <p:cNvSpPr/>
          <p:nvPr/>
        </p:nvSpPr>
        <p:spPr>
          <a:xfrm>
            <a:off x="548640" y="2377440"/>
            <a:ext cx="11064240" cy="1051560"/>
          </a:xfrm>
          <a:prstGeom prst="roundRect">
            <a:avLst>
              <a:gd name="adj" fmla="val 7826"/>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5" name="Shape 3"/>
          <p:cNvSpPr/>
          <p:nvPr/>
        </p:nvSpPr>
        <p:spPr>
          <a:xfrm>
            <a:off x="868680" y="2670048"/>
            <a:ext cx="457200" cy="457200"/>
          </a:xfrm>
          <a:prstGeom prst="ellipse">
            <a:avLst/>
          </a:prstGeom>
          <a:solidFill>
            <a:srgbClr val="27607A"/>
          </a:solidFill>
          <a:ln/>
        </p:spPr>
      </p:sp>
      <p:sp>
        <p:nvSpPr>
          <p:cNvPr id="6" name="Text 4"/>
          <p:cNvSpPr/>
          <p:nvPr/>
        </p:nvSpPr>
        <p:spPr>
          <a:xfrm>
            <a:off x="868680" y="26700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508760" y="2542032"/>
            <a:ext cx="9875520" cy="731520"/>
          </a:xfrm>
          <a:prstGeom prst="rect">
            <a:avLst/>
          </a:prstGeom>
          <a:noFill/>
          <a:ln/>
        </p:spPr>
        <p:txBody>
          <a:bodyPr wrap="square" lIns="0" tIns="0" rIns="0" bIns="0" rtlCol="0" anchor="ctr"/>
          <a:lstStyle/>
          <a:p>
            <a:pPr indent="0" marL="0">
              <a:buNone/>
            </a:pPr>
            <a:r>
              <a:rPr lang="en-US" sz="1500" b="1" dirty="0">
                <a:solidFill>
                  <a:srgbClr val="0F2733"/>
                </a:solidFill>
                <a:latin typeface="Calibri" pitchFamily="34" charset="0"/>
                <a:ea typeface="Calibri" pitchFamily="34" charset="-122"/>
                <a:cs typeface="Calibri" pitchFamily="34" charset="-120"/>
              </a:rPr>
              <a:t>Adding to a list.  </a:t>
            </a:r>
            <a:pPr indent="0" marL="0">
              <a:buNone/>
            </a:pPr>
            <a:r>
              <a:rPr lang="en-US" sz="1500" dirty="0">
                <a:solidFill>
                  <a:srgbClr val="4A5A63"/>
                </a:solidFill>
                <a:latin typeface="Calibri" pitchFamily="34" charset="0"/>
                <a:ea typeface="Calibri" pitchFamily="34" charset="-122"/>
                <a:cs typeface="Calibri" pitchFamily="34" charset="-120"/>
              </a:rPr>
              <a:t>Everybody's contribution survives. Security headers work this way.</a:t>
            </a:r>
            <a:endParaRPr lang="en-US" sz="1500" dirty="0"/>
          </a:p>
        </p:txBody>
      </p:sp>
      <p:sp>
        <p:nvSpPr>
          <p:cNvPr id="8" name="Shape 6"/>
          <p:cNvSpPr/>
          <p:nvPr/>
        </p:nvSpPr>
        <p:spPr>
          <a:xfrm>
            <a:off x="548640" y="3611880"/>
            <a:ext cx="11064240" cy="1051560"/>
          </a:xfrm>
          <a:prstGeom prst="roundRect">
            <a:avLst>
              <a:gd name="adj" fmla="val 7826"/>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9" name="Shape 7"/>
          <p:cNvSpPr/>
          <p:nvPr/>
        </p:nvSpPr>
        <p:spPr>
          <a:xfrm>
            <a:off x="868680" y="3904488"/>
            <a:ext cx="457200" cy="457200"/>
          </a:xfrm>
          <a:prstGeom prst="ellipse">
            <a:avLst/>
          </a:prstGeom>
          <a:solidFill>
            <a:srgbClr val="27607A"/>
          </a:solidFill>
          <a:ln/>
        </p:spPr>
      </p:sp>
      <p:sp>
        <p:nvSpPr>
          <p:cNvPr id="10" name="Text 8"/>
          <p:cNvSpPr/>
          <p:nvPr/>
        </p:nvSpPr>
        <p:spPr>
          <a:xfrm>
            <a:off x="868680" y="39044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p:nvPr/>
        </p:nvSpPr>
        <p:spPr>
          <a:xfrm>
            <a:off x="1508760" y="3776472"/>
            <a:ext cx="9875520" cy="731520"/>
          </a:xfrm>
          <a:prstGeom prst="rect">
            <a:avLst/>
          </a:prstGeom>
          <a:noFill/>
          <a:ln/>
        </p:spPr>
        <p:txBody>
          <a:bodyPr wrap="square" lIns="0" tIns="0" rIns="0" bIns="0" rtlCol="0" anchor="ctr"/>
          <a:lstStyle/>
          <a:p>
            <a:pPr indent="0" marL="0">
              <a:buNone/>
            </a:pPr>
            <a:r>
              <a:rPr lang="en-US" sz="1500" b="1" dirty="0">
                <a:solidFill>
                  <a:srgbClr val="0F2733"/>
                </a:solidFill>
                <a:latin typeface="Calibri" pitchFamily="34" charset="0"/>
                <a:ea typeface="Calibri" pitchFamily="34" charset="-122"/>
                <a:cs typeface="Calibri" pitchFamily="34" charset="-120"/>
              </a:rPr>
              <a:t>Replacing a value.  </a:t>
            </a:r>
            <a:pPr indent="0" marL="0">
              <a:buNone/>
            </a:pPr>
            <a:r>
              <a:rPr lang="en-US" sz="1500" dirty="0">
                <a:solidFill>
                  <a:srgbClr val="4A5A63"/>
                </a:solidFill>
                <a:latin typeface="Calibri" pitchFamily="34" charset="0"/>
                <a:ea typeface="Calibri" pitchFamily="34" charset="-122"/>
                <a:cs typeface="Calibri" pitchFamily="34" charset="-120"/>
              </a:rPr>
              <a:t>Last one wins, the rest are discarded. Session length works this way.</a:t>
            </a:r>
            <a:endParaRPr lang="en-US" sz="1500" dirty="0"/>
          </a:p>
        </p:txBody>
      </p:sp>
      <p:sp>
        <p:nvSpPr>
          <p:cNvPr id="12" name="Shape 10"/>
          <p:cNvSpPr/>
          <p:nvPr/>
        </p:nvSpPr>
        <p:spPr>
          <a:xfrm>
            <a:off x="548640" y="4846320"/>
            <a:ext cx="11064240" cy="1051560"/>
          </a:xfrm>
          <a:prstGeom prst="roundRect">
            <a:avLst>
              <a:gd name="adj" fmla="val 7826"/>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3" name="Shape 11"/>
          <p:cNvSpPr/>
          <p:nvPr/>
        </p:nvSpPr>
        <p:spPr>
          <a:xfrm>
            <a:off x="868680" y="5138928"/>
            <a:ext cx="457200" cy="457200"/>
          </a:xfrm>
          <a:prstGeom prst="ellipse">
            <a:avLst/>
          </a:prstGeom>
          <a:solidFill>
            <a:srgbClr val="27607A"/>
          </a:solidFill>
          <a:ln/>
        </p:spPr>
      </p:sp>
      <p:sp>
        <p:nvSpPr>
          <p:cNvPr id="14" name="Text 12"/>
          <p:cNvSpPr/>
          <p:nvPr/>
        </p:nvSpPr>
        <p:spPr>
          <a:xfrm>
            <a:off x="868680" y="51389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5" name="Text 13"/>
          <p:cNvSpPr/>
          <p:nvPr/>
        </p:nvSpPr>
        <p:spPr>
          <a:xfrm>
            <a:off x="1508760" y="5010912"/>
            <a:ext cx="9875520" cy="731520"/>
          </a:xfrm>
          <a:prstGeom prst="rect">
            <a:avLst/>
          </a:prstGeom>
          <a:noFill/>
          <a:ln/>
        </p:spPr>
        <p:txBody>
          <a:bodyPr wrap="square" lIns="0" tIns="0" rIns="0" bIns="0" rtlCol="0" anchor="ctr"/>
          <a:lstStyle/>
          <a:p>
            <a:pPr indent="0" marL="0">
              <a:buNone/>
            </a:pPr>
            <a:r>
              <a:rPr lang="en-US" sz="1500" b="1" dirty="0">
                <a:solidFill>
                  <a:srgbClr val="0F2733"/>
                </a:solidFill>
                <a:latin typeface="Calibri" pitchFamily="34" charset="0"/>
                <a:ea typeface="Calibri" pitchFamily="34" charset="-122"/>
                <a:cs typeface="Calibri" pitchFamily="34" charset="-120"/>
              </a:rPr>
              <a:t>Nothing tells you which you wrote.  </a:t>
            </a:r>
            <a:pPr indent="0" marL="0">
              <a:buNone/>
            </a:pPr>
            <a:r>
              <a:rPr lang="en-US" sz="1500" dirty="0">
                <a:solidFill>
                  <a:srgbClr val="4A5A63"/>
                </a:solidFill>
                <a:latin typeface="Calibri" pitchFamily="34" charset="0"/>
                <a:ea typeface="Calibri" pitchFamily="34" charset="-122"/>
                <a:cs typeface="Calibri" pitchFamily="34" charset="-120"/>
              </a:rPr>
              <a:t>Both are add_filter(). Both look identical at the call site.</a:t>
            </a:r>
            <a:endParaRPr lang="en-US" sz="1500" dirty="0"/>
          </a:p>
        </p:txBody>
      </p:sp>
      <p:sp>
        <p:nvSpPr>
          <p:cNvPr id="16" name="Text 14"/>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7" name="Text 15"/>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lIns="0" tIns="0" rIns="0" bIns="0" rtlCol="0" anchor="ctr"/>
          <a:lstStyle/>
          <a:p>
            <a:pPr indent="0" marL="0">
              <a:buNone/>
            </a:pPr>
            <a:r>
              <a:rPr lang="en-US" sz="3200" b="1" dirty="0">
                <a:solidFill>
                  <a:srgbClr val="0F2733"/>
                </a:solidFill>
                <a:latin typeface="Cambria" pitchFamily="34" charset="0"/>
                <a:ea typeface="Cambria" pitchFamily="34" charset="-122"/>
                <a:cs typeface="Cambria" pitchFamily="34" charset="-120"/>
              </a:rPr>
              <a:t>Check any site in about a minute</a:t>
            </a:r>
            <a:endParaRPr lang="en-US" sz="3200" dirty="0"/>
          </a:p>
        </p:txBody>
      </p:sp>
      <p:sp>
        <p:nvSpPr>
          <p:cNvPr id="3" name="Text 1"/>
          <p:cNvSpPr/>
          <p:nvPr/>
        </p:nvSpPr>
        <p:spPr>
          <a:xfrm>
            <a:off x="548640" y="1325880"/>
            <a:ext cx="10881360" cy="640080"/>
          </a:xfrm>
          <a:prstGeom prst="rect">
            <a:avLst/>
          </a:prstGeom>
          <a:noFill/>
          <a:ln/>
        </p:spPr>
        <p:txBody>
          <a:bodyPr wrap="square" lIns="0" tIns="0" rIns="0" bIns="0" rtlCol="0" anchor="ctr"/>
          <a:lstStyle/>
          <a:p>
            <a:pPr indent="0" marL="0">
              <a:buNone/>
            </a:pPr>
            <a:r>
              <a:rPr lang="en-US" sz="1600" dirty="0">
                <a:solidFill>
                  <a:srgbClr val="4A5A63"/>
                </a:solidFill>
                <a:latin typeface="Calibri" pitchFamily="34" charset="0"/>
                <a:ea typeface="Calibri" pitchFamily="34" charset="-122"/>
                <a:cs typeface="Calibri" pitchFamily="34" charset="-120"/>
              </a:rPr>
              <a:t>WordPress keeps every registered callback in one global. Ask it who is on the hook you care about.</a:t>
            </a:r>
            <a:endParaRPr lang="en-US" sz="1600" dirty="0"/>
          </a:p>
        </p:txBody>
      </p:sp>
      <p:sp>
        <p:nvSpPr>
          <p:cNvPr id="4" name="Shape 2"/>
          <p:cNvSpPr/>
          <p:nvPr/>
        </p:nvSpPr>
        <p:spPr>
          <a:xfrm>
            <a:off x="548640" y="2103120"/>
            <a:ext cx="11064240" cy="2286000"/>
          </a:xfrm>
          <a:prstGeom prst="roundRect">
            <a:avLst>
              <a:gd name="adj" fmla="val 3200"/>
            </a:avLst>
          </a:prstGeom>
          <a:solidFill>
            <a:srgbClr val="0E2836"/>
          </a:solidFill>
          <a:ln w="12700">
            <a:solidFill>
              <a:srgbClr val="27607A"/>
            </a:solidFill>
            <a:prstDash val="solid"/>
          </a:ln>
          <a:effectLst>
            <a:outerShdw sx="100000" sy="100000" kx="0" ky="0" algn="bl" rotWithShape="0" blurRad="76200" dist="38100" dir="5400000">
              <a:srgbClr val="0A1A22">
                <a:alpha val="40000"/>
              </a:srgbClr>
            </a:outerShdw>
          </a:effectLst>
        </p:spPr>
      </p:sp>
      <p:sp>
        <p:nvSpPr>
          <p:cNvPr id="5" name="Text 3"/>
          <p:cNvSpPr/>
          <p:nvPr/>
        </p:nvSpPr>
        <p:spPr>
          <a:xfrm>
            <a:off x="749808" y="2267712"/>
            <a:ext cx="10661904" cy="1956816"/>
          </a:xfrm>
          <a:prstGeom prst="rect">
            <a:avLst/>
          </a:prstGeom>
          <a:noFill/>
          <a:ln/>
        </p:spPr>
        <p:txBody>
          <a:bodyPr wrap="square" lIns="0" tIns="0" rIns="0" bIns="0" rtlCol="0" anchor="t"/>
          <a:lstStyle/>
          <a:p>
            <a:pPr algn="l" indent="0" marL="0">
              <a:lnSpc>
                <a:spcPct val="108000"/>
              </a:lnSpc>
              <a:buNone/>
            </a:pPr>
            <a:r>
              <a:rPr lang="en-US" sz="1250" dirty="0">
                <a:solidFill>
                  <a:srgbClr val="8FBF9F"/>
                </a:solidFill>
                <a:latin typeface="Courier New" pitchFamily="34" charset="0"/>
                <a:ea typeface="Courier New" pitchFamily="34" charset="-122"/>
                <a:cs typeface="Courier New" pitchFamily="34" charset="-120"/>
              </a:rPr>
              <a:t>// run this inside: wp eval '...'</a:t>
            </a:r>
            <a:endParaRPr lang="en-US" sz="1250" dirty="0"/>
          </a:p>
          <a:p>
            <a:pPr algn="l" indent="0" marL="0">
              <a:lnSpc>
                <a:spcPct val="108000"/>
              </a:lnSpc>
              <a:buNone/>
            </a:pPr>
            <a:r>
              <a:rPr lang="en-US" sz="1250" dirty="0">
                <a:solidFill>
                  <a:srgbClr val="DCEAF1"/>
                </a:solidFill>
                <a:latin typeface="Courier New" pitchFamily="34" charset="0"/>
                <a:ea typeface="Courier New" pitchFamily="34" charset="-122"/>
                <a:cs typeface="Courier New" pitchFamily="34" charset="-120"/>
              </a:rPr>
              <a:t>global $wp_filter; $hook = 'auth_cookie_expiration';</a:t>
            </a:r>
            <a:endParaRPr lang="en-US" sz="1250" dirty="0"/>
          </a:p>
          <a:p>
            <a:pPr algn="l" indent="0" marL="0">
              <a:lnSpc>
                <a:spcPct val="108000"/>
              </a:lnSpc>
              <a:buNone/>
            </a:pPr>
            <a:r>
              <a:rPr lang="en-US" sz="1250" dirty="0">
                <a:solidFill>
                  <a:srgbClr val="E7C070"/>
                </a:solidFill>
                <a:latin typeface="Courier New" pitchFamily="34" charset="0"/>
                <a:ea typeface="Courier New" pitchFamily="34" charset="-122"/>
                <a:cs typeface="Courier New" pitchFamily="34" charset="-120"/>
              </a:rPr>
              <a:t>if ( empty( $wp_filter[ $hook ] ) ) { echo "nobody is filtering it\n"; return; }</a:t>
            </a:r>
            <a:endParaRPr lang="en-US" sz="1250" dirty="0"/>
          </a:p>
          <a:p>
            <a:pPr algn="l" indent="0" marL="0">
              <a:lnSpc>
                <a:spcPct val="108000"/>
              </a:lnSpc>
              <a:buNone/>
            </a:pPr>
            <a:r>
              <a:rPr lang="en-US" sz="1250" dirty="0">
                <a:solidFill>
                  <a:srgbClr val="DCEAF1"/>
                </a:solidFill>
                <a:latin typeface="Courier New" pitchFamily="34" charset="0"/>
                <a:ea typeface="Courier New" pitchFamily="34" charset="-122"/>
                <a:cs typeface="Courier New" pitchFamily="34" charset="-120"/>
              </a:rPr>
              <a:t>foreach ( $wp_filter[ $hook ]-&gt;callbacks as $prio =&gt; $cbs ) {</a:t>
            </a:r>
            <a:endParaRPr lang="en-US" sz="1250" dirty="0"/>
          </a:p>
          <a:p>
            <a:pPr algn="l" indent="0" marL="0">
              <a:lnSpc>
                <a:spcPct val="108000"/>
              </a:lnSpc>
              <a:buNone/>
            </a:pPr>
            <a:r>
              <a:rPr lang="en-US" sz="1250" dirty="0">
                <a:solidFill>
                  <a:srgbClr val="DCEAF1"/>
                </a:solidFill>
                <a:latin typeface="Courier New" pitchFamily="34" charset="0"/>
                <a:ea typeface="Courier New" pitchFamily="34" charset="-122"/>
                <a:cs typeface="Courier New" pitchFamily="34" charset="-120"/>
              </a:rPr>
              <a:t>    foreach ( $cbs as $id =&gt; $cb ) { printf( "%-6s %s\n", $prio, $id ); }</a:t>
            </a:r>
            <a:endParaRPr lang="en-US" sz="1250" dirty="0"/>
          </a:p>
          <a:p>
            <a:pPr algn="l" indent="0" marL="0">
              <a:lnSpc>
                <a:spcPct val="108000"/>
              </a:lnSpc>
              <a:buNone/>
            </a:pPr>
            <a:r>
              <a:rPr lang="en-US" sz="1250" dirty="0">
                <a:solidFill>
                  <a:srgbClr val="8FBF9F"/>
                </a:solidFill>
                <a:latin typeface="Courier New" pitchFamily="34" charset="0"/>
                <a:ea typeface="Courier New" pitchFamily="34" charset="-122"/>
                <a:cs typeface="Courier New" pitchFamily="34" charset="-120"/>
              </a:rPr>
              <a:t>}   // each line is one callback; several means shared, not settled</a:t>
            </a:r>
            <a:endParaRPr lang="en-US" sz="1250" dirty="0"/>
          </a:p>
        </p:txBody>
      </p:sp>
      <p:sp>
        <p:nvSpPr>
          <p:cNvPr id="6" name="Text 4"/>
          <p:cNvSpPr/>
          <p:nvPr/>
        </p:nvSpPr>
        <p:spPr>
          <a:xfrm>
            <a:off x="548640" y="4617720"/>
            <a:ext cx="10881360" cy="548640"/>
          </a:xfrm>
          <a:prstGeom prst="rect">
            <a:avLst/>
          </a:prstGeom>
          <a:noFill/>
          <a:ln/>
        </p:spPr>
        <p:txBody>
          <a:bodyPr wrap="square" lIns="0" tIns="0" rIns="0" bIns="0" rtlCol="0" anchor="ctr"/>
          <a:lstStyle/>
          <a:p>
            <a:pPr indent="0" marL="0">
              <a:buNone/>
            </a:pPr>
            <a:r>
              <a:rPr lang="en-US" sz="1500" i="1" dirty="0">
                <a:solidFill>
                  <a:srgbClr val="4A5A63"/>
                </a:solidFill>
                <a:latin typeface="Calibri" pitchFamily="34" charset="0"/>
                <a:ea typeface="Calibri" pitchFamily="34" charset="-122"/>
                <a:cs typeface="Calibri" pitchFamily="34" charset="-120"/>
              </a:rPr>
              <a:t>Several entries means they share the hook. Whether anyone is losing depends on what the callbacks do — go and read them.</a:t>
            </a:r>
            <a:endParaRPr lang="en-US" sz="1500" dirty="0"/>
          </a:p>
        </p:txBody>
      </p:sp>
      <p:sp>
        <p:nvSpPr>
          <p:cNvPr id="7" name="Text 5"/>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8" name="Text 6"/>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8FA"/>
        </a:solidFill>
      </p:bgPr>
    </p:bg>
    <p:spTree>
      <p:nvGrpSpPr>
        <p:cNvPr id="1" name=""/>
        <p:cNvGrpSpPr/>
        <p:nvPr/>
      </p:nvGrpSpPr>
      <p:grpSpPr>
        <a:xfrm>
          <a:off x="0" y="0"/>
          <a:ext cx="0" cy="0"/>
          <a:chOff x="0" y="0"/>
          <a:chExt cx="0" cy="0"/>
        </a:xfrm>
      </p:grpSpPr>
      <p:sp>
        <p:nvSpPr>
          <p:cNvPr id="2" name="Text 0"/>
          <p:cNvSpPr/>
          <p:nvPr/>
        </p:nvSpPr>
        <p:spPr>
          <a:xfrm>
            <a:off x="548640" y="502920"/>
            <a:ext cx="11064240" cy="822960"/>
          </a:xfrm>
          <a:prstGeom prst="rect">
            <a:avLst/>
          </a:prstGeom>
          <a:noFill/>
          <a:ln/>
        </p:spPr>
        <p:txBody>
          <a:bodyPr wrap="square" lIns="0" tIns="0" rIns="0" bIns="0" rtlCol="0" anchor="ctr"/>
          <a:lstStyle/>
          <a:p>
            <a:pPr indent="0" marL="0">
              <a:buNone/>
            </a:pPr>
            <a:r>
              <a:rPr lang="en-US" sz="3200" b="1" dirty="0">
                <a:solidFill>
                  <a:srgbClr val="0F2733"/>
                </a:solidFill>
                <a:latin typeface="Cambria" pitchFamily="34" charset="0"/>
                <a:ea typeface="Cambria" pitchFamily="34" charset="-122"/>
                <a:cs typeface="Cambria" pitchFamily="34" charset="-120"/>
              </a:rPr>
              <a:t>Three attempts. Two were withdrawn.</a:t>
            </a:r>
            <a:endParaRPr lang="en-US" sz="3200" dirty="0"/>
          </a:p>
        </p:txBody>
      </p:sp>
      <p:sp>
        <p:nvSpPr>
          <p:cNvPr id="3" name="Text 1"/>
          <p:cNvSpPr/>
          <p:nvPr/>
        </p:nvSpPr>
        <p:spPr>
          <a:xfrm>
            <a:off x="548640" y="1371600"/>
            <a:ext cx="10881360" cy="731520"/>
          </a:xfrm>
          <a:prstGeom prst="rect">
            <a:avLst/>
          </a:prstGeom>
          <a:noFill/>
          <a:ln/>
        </p:spPr>
        <p:txBody>
          <a:bodyPr wrap="square" lIns="0" tIns="0" rIns="0" bIns="0" rtlCol="0" anchor="ctr"/>
          <a:lstStyle/>
          <a:p>
            <a:pPr indent="0" marL="0">
              <a:buNone/>
            </a:pPr>
            <a:r>
              <a:rPr lang="en-US" sz="1600" dirty="0">
                <a:solidFill>
                  <a:srgbClr val="4A5A63"/>
                </a:solidFill>
                <a:latin typeface="Calibri" pitchFamily="34" charset="0"/>
                <a:ea typeface="Calibri" pitchFamily="34" charset="-122"/>
                <a:cs typeface="Calibri" pitchFamily="34" charset="-120"/>
              </a:rPr>
              <a:t>The useful third design observes real filter runs without pretending it can identify the culprit.</a:t>
            </a:r>
            <a:endParaRPr lang="en-US" sz="1600" dirty="0"/>
          </a:p>
        </p:txBody>
      </p:sp>
      <p:sp>
        <p:nvSpPr>
          <p:cNvPr id="4" name="Shape 2"/>
          <p:cNvSpPr/>
          <p:nvPr/>
        </p:nvSpPr>
        <p:spPr>
          <a:xfrm>
            <a:off x="548640" y="2377440"/>
            <a:ext cx="11064240" cy="1051560"/>
          </a:xfrm>
          <a:prstGeom prst="roundRect">
            <a:avLst>
              <a:gd name="adj" fmla="val 7826"/>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5" name="Shape 3"/>
          <p:cNvSpPr/>
          <p:nvPr/>
        </p:nvSpPr>
        <p:spPr>
          <a:xfrm>
            <a:off x="868680" y="2670048"/>
            <a:ext cx="457200" cy="457200"/>
          </a:xfrm>
          <a:prstGeom prst="ellipse">
            <a:avLst/>
          </a:prstGeom>
          <a:solidFill>
            <a:srgbClr val="27607A"/>
          </a:solidFill>
          <a:ln/>
        </p:spPr>
      </p:sp>
      <p:sp>
        <p:nvSpPr>
          <p:cNvPr id="6" name="Text 4"/>
          <p:cNvSpPr/>
          <p:nvPr/>
        </p:nvSpPr>
        <p:spPr>
          <a:xfrm>
            <a:off x="868680" y="26700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508760" y="2542032"/>
            <a:ext cx="9875520" cy="731520"/>
          </a:xfrm>
          <a:prstGeom prst="rect">
            <a:avLst/>
          </a:prstGeom>
          <a:noFill/>
          <a:ln/>
        </p:spPr>
        <p:txBody>
          <a:bodyPr wrap="square" lIns="0" tIns="0" rIns="0" bIns="0" rtlCol="0" anchor="ctr"/>
          <a:lstStyle/>
          <a:p>
            <a:pPr indent="0" marL="0">
              <a:buNone/>
            </a:pPr>
            <a:r>
              <a:rPr lang="en-US" sz="1500" b="1" dirty="0">
                <a:solidFill>
                  <a:srgbClr val="0F2733"/>
                </a:solidFill>
                <a:latin typeface="Calibri" pitchFamily="34" charset="0"/>
                <a:ea typeface="Calibri" pitchFamily="34" charset="-122"/>
                <a:cs typeface="Calibri" pitchFamily="34" charset="-120"/>
              </a:rPr>
              <a:t>Read the plugin's code for clues.  </a:t>
            </a:r>
            <a:pPr indent="0" marL="0">
              <a:buNone/>
            </a:pPr>
            <a:r>
              <a:rPr lang="en-US" sz="1500" dirty="0">
                <a:solidFill>
                  <a:srgbClr val="4A5A63"/>
                </a:solidFill>
                <a:latin typeface="Calibri" pitchFamily="34" charset="0"/>
                <a:ea typeface="Calibri" pitchFamily="34" charset="-122"/>
                <a:cs typeface="Calibri" pitchFamily="34" charset="-120"/>
              </a:rPr>
              <a:t>Named plugins that were doing nothing at all.</a:t>
            </a:r>
            <a:endParaRPr lang="en-US" sz="1500" dirty="0"/>
          </a:p>
        </p:txBody>
      </p:sp>
      <p:sp>
        <p:nvSpPr>
          <p:cNvPr id="8" name="Shape 6"/>
          <p:cNvSpPr/>
          <p:nvPr/>
        </p:nvSpPr>
        <p:spPr>
          <a:xfrm>
            <a:off x="548640" y="3611880"/>
            <a:ext cx="11064240" cy="1051560"/>
          </a:xfrm>
          <a:prstGeom prst="roundRect">
            <a:avLst>
              <a:gd name="adj" fmla="val 7826"/>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9" name="Shape 7"/>
          <p:cNvSpPr/>
          <p:nvPr/>
        </p:nvSpPr>
        <p:spPr>
          <a:xfrm>
            <a:off x="868680" y="3904488"/>
            <a:ext cx="457200" cy="457200"/>
          </a:xfrm>
          <a:prstGeom prst="ellipse">
            <a:avLst/>
          </a:prstGeom>
          <a:solidFill>
            <a:srgbClr val="27607A"/>
          </a:solidFill>
          <a:ln/>
        </p:spPr>
      </p:sp>
      <p:sp>
        <p:nvSpPr>
          <p:cNvPr id="10" name="Text 8"/>
          <p:cNvSpPr/>
          <p:nvPr/>
        </p:nvSpPr>
        <p:spPr>
          <a:xfrm>
            <a:off x="868680" y="39044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p:nvPr/>
        </p:nvSpPr>
        <p:spPr>
          <a:xfrm>
            <a:off x="1508760" y="3776472"/>
            <a:ext cx="9875520" cy="731520"/>
          </a:xfrm>
          <a:prstGeom prst="rect">
            <a:avLst/>
          </a:prstGeom>
          <a:noFill/>
          <a:ln/>
        </p:spPr>
        <p:txBody>
          <a:bodyPr wrap="square" lIns="0" tIns="0" rIns="0" bIns="0" rtlCol="0" anchor="ctr"/>
          <a:lstStyle/>
          <a:p>
            <a:pPr indent="0" marL="0">
              <a:buNone/>
            </a:pPr>
            <a:r>
              <a:rPr lang="en-US" sz="1500" b="1" dirty="0">
                <a:solidFill>
                  <a:srgbClr val="0F2733"/>
                </a:solidFill>
                <a:latin typeface="Calibri" pitchFamily="34" charset="0"/>
                <a:ea typeface="Calibri" pitchFamily="34" charset="-122"/>
                <a:cs typeface="Calibri" pitchFamily="34" charset="-120"/>
              </a:rPr>
              <a:t>Run the setting, see what comes out.  </a:t>
            </a:r>
            <a:pPr indent="0" marL="0">
              <a:buNone/>
            </a:pPr>
            <a:r>
              <a:rPr lang="en-US" sz="1500" dirty="0">
                <a:solidFill>
                  <a:srgbClr val="4A5A63"/>
                </a:solidFill>
                <a:latin typeface="Calibri" pitchFamily="34" charset="0"/>
                <a:ea typeface="Calibri" pitchFamily="34" charset="-122"/>
                <a:cs typeface="Calibri" pitchFamily="34" charset="-120"/>
              </a:rPr>
              <a:t>Meant running other people's code to check on them.</a:t>
            </a:r>
            <a:endParaRPr lang="en-US" sz="1500" dirty="0"/>
          </a:p>
        </p:txBody>
      </p:sp>
      <p:sp>
        <p:nvSpPr>
          <p:cNvPr id="12" name="Shape 10"/>
          <p:cNvSpPr/>
          <p:nvPr/>
        </p:nvSpPr>
        <p:spPr>
          <a:xfrm>
            <a:off x="548640" y="4846320"/>
            <a:ext cx="11064240" cy="1051560"/>
          </a:xfrm>
          <a:prstGeom prst="roundRect">
            <a:avLst>
              <a:gd name="adj" fmla="val 7826"/>
            </a:avLst>
          </a:prstGeom>
          <a:solidFill>
            <a:srgbClr val="FFFFFF"/>
          </a:solidFill>
          <a:ln w="12700">
            <a:solidFill>
              <a:srgbClr val="DCE6EB"/>
            </a:solidFill>
            <a:prstDash val="solid"/>
          </a:ln>
          <a:effectLst>
            <a:outerShdw sx="100000" sy="100000" kx="0" ky="0" algn="bl" rotWithShape="0" blurRad="63500" dist="25400" dir="5400000">
              <a:srgbClr val="C7D4DB">
                <a:alpha val="50000"/>
              </a:srgbClr>
            </a:outerShdw>
          </a:effectLst>
        </p:spPr>
      </p:sp>
      <p:sp>
        <p:nvSpPr>
          <p:cNvPr id="13" name="Shape 11"/>
          <p:cNvSpPr/>
          <p:nvPr/>
        </p:nvSpPr>
        <p:spPr>
          <a:xfrm>
            <a:off x="868680" y="5138928"/>
            <a:ext cx="457200" cy="457200"/>
          </a:xfrm>
          <a:prstGeom prst="ellipse">
            <a:avLst/>
          </a:prstGeom>
          <a:solidFill>
            <a:srgbClr val="27607A"/>
          </a:solidFill>
          <a:ln/>
        </p:spPr>
      </p:sp>
      <p:sp>
        <p:nvSpPr>
          <p:cNvPr id="14" name="Text 12"/>
          <p:cNvSpPr/>
          <p:nvPr/>
        </p:nvSpPr>
        <p:spPr>
          <a:xfrm>
            <a:off x="868680" y="51389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5" name="Text 13"/>
          <p:cNvSpPr/>
          <p:nvPr/>
        </p:nvSpPr>
        <p:spPr>
          <a:xfrm>
            <a:off x="1508760" y="5010912"/>
            <a:ext cx="9875520" cy="731520"/>
          </a:xfrm>
          <a:prstGeom prst="rect">
            <a:avLst/>
          </a:prstGeom>
          <a:noFill/>
          <a:ln/>
        </p:spPr>
        <p:txBody>
          <a:bodyPr wrap="square" lIns="0" tIns="0" rIns="0" bIns="0" rtlCol="0" anchor="ctr"/>
          <a:lstStyle/>
          <a:p>
            <a:pPr indent="0" marL="0">
              <a:buNone/>
            </a:pPr>
            <a:r>
              <a:rPr lang="en-US" sz="1500" b="1" dirty="0">
                <a:solidFill>
                  <a:srgbClr val="0F2733"/>
                </a:solidFill>
                <a:latin typeface="Calibri" pitchFamily="34" charset="0"/>
                <a:ea typeface="Calibri" pitchFamily="34" charset="-122"/>
                <a:cs typeface="Calibri" pitchFamily="34" charset="-120"/>
              </a:rPr>
              <a:t>Observe real runs at PHP_INT_MAX.  </a:t>
            </a:r>
            <a:pPr indent="0" marL="0">
              <a:buNone/>
            </a:pPr>
            <a:r>
              <a:rPr lang="en-US" sz="1500" dirty="0">
                <a:solidFill>
                  <a:srgbClr val="4A5A63"/>
                </a:solidFill>
                <a:latin typeface="Calibri" pitchFamily="34" charset="0"/>
                <a:ea typeface="Calibri" pitchFamily="34" charset="-122"/>
                <a:cs typeface="Calibri" pitchFamily="34" charset="-120"/>
              </a:rPr>
              <a:t>Detects divergence late, without attribution; same-priority callbacks can still run later.</a:t>
            </a:r>
            <a:endParaRPr lang="en-US" sz="1500" dirty="0"/>
          </a:p>
        </p:txBody>
      </p:sp>
      <p:sp>
        <p:nvSpPr>
          <p:cNvPr id="16" name="Text 14"/>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17" name="Text 15"/>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7607A"/>
        </a:solidFill>
      </p:bgPr>
    </p:bg>
    <p:spTree>
      <p:nvGrpSpPr>
        <p:cNvPr id="1" name=""/>
        <p:cNvGrpSpPr/>
        <p:nvPr/>
      </p:nvGrpSpPr>
      <p:grpSpPr>
        <a:xfrm>
          <a:off x="0" y="0"/>
          <a:ext cx="0" cy="0"/>
          <a:chOff x="0" y="0"/>
          <a:chExt cx="0" cy="0"/>
        </a:xfrm>
      </p:grpSpPr>
      <p:sp>
        <p:nvSpPr>
          <p:cNvPr id="2" name="Text 0"/>
          <p:cNvSpPr/>
          <p:nvPr/>
        </p:nvSpPr>
        <p:spPr>
          <a:xfrm>
            <a:off x="731520" y="1371600"/>
            <a:ext cx="10698480" cy="201168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Where they contest a setting,</a:t>
            </a:r>
            <a:endParaRPr lang="en-US" sz="3800" dirty="0"/>
          </a:p>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defaults plugins are alternatives.</a:t>
            </a:r>
            <a:endParaRPr lang="en-US" sz="3800" dirty="0"/>
          </a:p>
        </p:txBody>
      </p:sp>
      <p:sp>
        <p:nvSpPr>
          <p:cNvPr id="3" name="Text 1"/>
          <p:cNvSpPr/>
          <p:nvPr/>
        </p:nvSpPr>
        <p:spPr>
          <a:xfrm>
            <a:off x="731520" y="3520440"/>
            <a:ext cx="10515600" cy="1005840"/>
          </a:xfrm>
          <a:prstGeom prst="rect">
            <a:avLst/>
          </a:prstGeom>
          <a:noFill/>
          <a:ln/>
        </p:spPr>
        <p:txBody>
          <a:bodyPr wrap="square" lIns="0" tIns="0" rIns="0" bIns="0" rtlCol="0" anchor="t"/>
          <a:lstStyle/>
          <a:p>
            <a:pPr indent="0" marL="0">
              <a:buNone/>
            </a:pPr>
            <a:r>
              <a:rPr lang="en-US" sz="1900" i="1" dirty="0">
                <a:solidFill>
                  <a:srgbClr val="D7E5EC"/>
                </a:solidFill>
                <a:latin typeface="Calibri" pitchFamily="34" charset="0"/>
                <a:ea typeface="Calibri" pitchFamily="34" charset="-122"/>
                <a:cs typeface="Calibri" pitchFamily="34" charset="-120"/>
              </a:rPr>
              <a:t>Two plugins replacing the same value give you one plugin's behaviour and two settings screens — only one of which is telling the truth.</a:t>
            </a:r>
            <a:endParaRPr lang="en-US" sz="1900" dirty="0"/>
          </a:p>
        </p:txBody>
      </p:sp>
      <p:sp>
        <p:nvSpPr>
          <p:cNvPr id="4" name="Text 2"/>
          <p:cNvSpPr/>
          <p:nvPr/>
        </p:nvSpPr>
        <p:spPr>
          <a:xfrm>
            <a:off x="731520" y="4617720"/>
            <a:ext cx="10515600" cy="731520"/>
          </a:xfrm>
          <a:prstGeom prst="rect">
            <a:avLst/>
          </a:prstGeom>
          <a:noFill/>
          <a:ln/>
        </p:spPr>
        <p:txBody>
          <a:bodyPr wrap="square" lIns="0" tIns="0" rIns="0" bIns="0" rtlCol="0" anchor="ctr"/>
          <a:lstStyle/>
          <a:p>
            <a:pPr indent="0" marL="0">
              <a:buNone/>
            </a:pPr>
            <a:r>
              <a:rPr lang="en-US" sz="1800" b="1" dirty="0">
                <a:solidFill>
                  <a:srgbClr val="E0A94B"/>
                </a:solidFill>
                <a:latin typeface="Calibri" pitchFamily="34" charset="0"/>
                <a:ea typeface="Calibri" pitchFamily="34" charset="-122"/>
                <a:cs typeface="Calibri" pitchFamily="34" charset="-120"/>
              </a:rPr>
              <a:t>Confirm the overlap first. Then pick the one whose choices you agree with.</a:t>
            </a:r>
            <a:endParaRPr lang="en-US" sz="1800" dirty="0"/>
          </a:p>
        </p:txBody>
      </p:sp>
      <p:sp>
        <p:nvSpPr>
          <p:cNvPr id="5" name="Text 3"/>
          <p:cNvSpPr/>
          <p:nvPr/>
        </p:nvSpPr>
        <p:spPr>
          <a:xfrm>
            <a:off x="502920" y="6428232"/>
            <a:ext cx="7315200" cy="274320"/>
          </a:xfrm>
          <a:prstGeom prst="rect">
            <a:avLst/>
          </a:prstGeom>
          <a:noFill/>
          <a:ln/>
        </p:spPr>
        <p:txBody>
          <a:bodyPr wrap="square" lIns="0" tIns="0" rIns="0" bIns="0" rtlCol="0" anchor="ctr"/>
          <a:lstStyle/>
          <a:p>
            <a:pPr algn="l" indent="0" marL="0">
              <a:buNone/>
            </a:pPr>
            <a:r>
              <a:rPr lang="en-US" sz="900" b="1" dirty="0">
                <a:solidFill>
                  <a:srgbClr val="C88F33"/>
                </a:solidFill>
                <a:latin typeface="Calibri" pitchFamily="34" charset="0"/>
                <a:ea typeface="Calibri" pitchFamily="34" charset="-122"/>
                <a:cs typeface="Calibri" pitchFamily="34" charset="-120"/>
              </a:rPr>
              <a:t>WPYEG</a:t>
            </a:r>
            <a:pPr algn="l" indent="0" marL="0">
              <a:buNone/>
            </a:pPr>
            <a:r>
              <a:rPr lang="en-US" sz="900" dirty="0">
                <a:solidFill>
                  <a:srgbClr val="8A9AA3"/>
                </a:solidFill>
                <a:latin typeface="Calibri" pitchFamily="34" charset="0"/>
                <a:ea typeface="Calibri" pitchFamily="34" charset="-122"/>
                <a:cs typeface="Calibri" pitchFamily="34" charset="-120"/>
              </a:rPr>
              <a:t>  ·  Better by Default</a:t>
            </a:r>
            <a:endParaRPr lang="en-US" sz="900" dirty="0"/>
          </a:p>
        </p:txBody>
      </p:sp>
      <p:sp>
        <p:nvSpPr>
          <p:cNvPr id="6" name="Text 4"/>
          <p:cNvSpPr/>
          <p:nvPr/>
        </p:nvSpPr>
        <p:spPr>
          <a:xfrm>
            <a:off x="11155680" y="6428232"/>
            <a:ext cx="548640" cy="274320"/>
          </a:xfrm>
          <a:prstGeom prst="rect">
            <a:avLst/>
          </a:prstGeom>
          <a:noFill/>
          <a:ln/>
        </p:spPr>
        <p:txBody>
          <a:bodyPr wrap="square" lIns="0" tIns="0" rIns="0" bIns="0" rtlCol="0" anchor="ctr"/>
          <a:lstStyle/>
          <a:p>
            <a:pPr algn="r" indent="0" marL="0">
              <a:buNone/>
            </a:pPr>
            <a:r>
              <a:rPr lang="en-US" sz="900" dirty="0">
                <a:solidFill>
                  <a:srgbClr val="8A9AA3"/>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F2733"/>
        </a:solidFill>
      </p:bgPr>
    </p:bg>
    <p:spTree>
      <p:nvGrpSpPr>
        <p:cNvPr id="1" name=""/>
        <p:cNvGrpSpPr/>
        <p:nvPr/>
      </p:nvGrpSpPr>
      <p:grpSpPr>
        <a:xfrm>
          <a:off x="0" y="0"/>
          <a:ext cx="0" cy="0"/>
          <a:chOff x="0" y="0"/>
          <a:chExt cx="0" cy="0"/>
        </a:xfrm>
      </p:grpSpPr>
      <p:sp>
        <p:nvSpPr>
          <p:cNvPr id="2" name="Shape 0"/>
          <p:cNvSpPr/>
          <p:nvPr/>
        </p:nvSpPr>
        <p:spPr>
          <a:xfrm>
            <a:off x="0" y="5212080"/>
            <a:ext cx="12188952" cy="1645920"/>
          </a:xfrm>
          <a:prstGeom prst="rect">
            <a:avLst/>
          </a:prstGeom>
          <a:solidFill>
            <a:srgbClr val="16323F"/>
          </a:solidFill>
          <a:ln/>
        </p:spPr>
      </p:sp>
      <p:sp>
        <p:nvSpPr>
          <p:cNvPr id="3" name="Shape 1"/>
          <p:cNvSpPr/>
          <p:nvPr/>
        </p:nvSpPr>
        <p:spPr>
          <a:xfrm>
            <a:off x="777240" y="777240"/>
            <a:ext cx="640080" cy="640080"/>
          </a:xfrm>
          <a:prstGeom prst="ellipse">
            <a:avLst/>
          </a:prstGeom>
          <a:solidFill>
            <a:srgbClr val="E0A94B"/>
          </a:solidFill>
          <a:ln/>
        </p:spPr>
      </p:sp>
      <p:sp>
        <p:nvSpPr>
          <p:cNvPr id="4" name="Text 2"/>
          <p:cNvSpPr/>
          <p:nvPr/>
        </p:nvSpPr>
        <p:spPr>
          <a:xfrm>
            <a:off x="777240" y="777240"/>
            <a:ext cx="640080" cy="640080"/>
          </a:xfrm>
          <a:prstGeom prst="rect">
            <a:avLst/>
          </a:prstGeom>
          <a:noFill/>
          <a:ln/>
        </p:spPr>
        <p:txBody>
          <a:bodyPr wrap="square" lIns="0" tIns="0" rIns="0" bIns="0" rtlCol="0" anchor="ctr"/>
          <a:lstStyle/>
          <a:p>
            <a:pPr algn="ctr" indent="0" marL="0">
              <a:buNone/>
            </a:pPr>
            <a:r>
              <a:rPr lang="en-US" sz="1820" b="1" dirty="0">
                <a:solidFill>
                  <a:srgbClr val="0F2733"/>
                </a:solidFill>
                <a:latin typeface="Cambria" pitchFamily="34" charset="0"/>
                <a:ea typeface="Cambria" pitchFamily="34" charset="-122"/>
                <a:cs typeface="Cambria" pitchFamily="34" charset="-120"/>
              </a:rPr>
              <a:t>{ }</a:t>
            </a:r>
            <a:endParaRPr lang="en-US" sz="1820" dirty="0"/>
          </a:p>
        </p:txBody>
      </p:sp>
      <p:sp>
        <p:nvSpPr>
          <p:cNvPr id="5" name="Text 3"/>
          <p:cNvSpPr/>
          <p:nvPr/>
        </p:nvSpPr>
        <p:spPr>
          <a:xfrm>
            <a:off x="777240" y="1737360"/>
            <a:ext cx="10607040" cy="109728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Thanks, WPYEG!</a:t>
            </a:r>
            <a:endParaRPr lang="en-US" sz="5000" dirty="0"/>
          </a:p>
        </p:txBody>
      </p:sp>
      <p:sp>
        <p:nvSpPr>
          <p:cNvPr id="6" name="Text 4"/>
          <p:cNvSpPr/>
          <p:nvPr/>
        </p:nvSpPr>
        <p:spPr>
          <a:xfrm>
            <a:off x="822960" y="2926080"/>
            <a:ext cx="10058400" cy="822960"/>
          </a:xfrm>
          <a:prstGeom prst="rect">
            <a:avLst/>
          </a:prstGeom>
          <a:noFill/>
          <a:ln/>
        </p:spPr>
        <p:txBody>
          <a:bodyPr wrap="square" lIns="0" tIns="0" rIns="0" bIns="0" rtlCol="0" anchor="t"/>
          <a:lstStyle/>
          <a:p>
            <a:pPr indent="0" marL="0">
              <a:buNone/>
            </a:pPr>
            <a:r>
              <a:rPr lang="en-US" sz="1900" i="1" dirty="0">
                <a:solidFill>
                  <a:srgbClr val="D7E5EC"/>
                </a:solidFill>
                <a:latin typeface="Calibri" pitchFamily="34" charset="0"/>
                <a:ea typeface="Calibri" pitchFamily="34" charset="-122"/>
                <a:cs typeface="Calibri" pitchFamily="34" charset="-120"/>
              </a:rPr>
              <a:t>Set your defaults wisely.</a:t>
            </a:r>
            <a:endParaRPr lang="en-US" sz="1900" dirty="0"/>
          </a:p>
        </p:txBody>
      </p:sp>
      <p:sp>
        <p:nvSpPr>
          <p:cNvPr id="7" name="Text 5"/>
          <p:cNvSpPr/>
          <p:nvPr/>
        </p:nvSpPr>
        <p:spPr>
          <a:xfrm>
            <a:off x="822960" y="4023360"/>
            <a:ext cx="10515600" cy="457200"/>
          </a:xfrm>
          <a:prstGeom prst="rect">
            <a:avLst/>
          </a:prstGeom>
          <a:noFill/>
          <a:ln/>
        </p:spPr>
        <p:txBody>
          <a:bodyPr wrap="square" lIns="0" tIns="0" rIns="0" bIns="0" rtlCol="0" anchor="ctr"/>
          <a:lstStyle/>
          <a:p>
            <a:pPr indent="0" marL="0">
              <a:buNone/>
            </a:pPr>
            <a:r>
              <a:rPr lang="en-US" sz="1400" b="1" dirty="0">
                <a:solidFill>
                  <a:srgbClr val="E0A94B"/>
                </a:solidFill>
                <a:latin typeface="Courier New" pitchFamily="34" charset="0"/>
                <a:ea typeface="Courier New" pitchFamily="34" charset="-122"/>
                <a:cs typeface="Courier New" pitchFamily="34" charset="-120"/>
              </a:rPr>
              <a:t>Files:  </a:t>
            </a:r>
            <a:pPr indent="0" marL="0">
              <a:buNone/>
            </a:pPr>
            <a:r>
              <a:rPr lang="en-US" sz="1400" dirty="0">
                <a:solidFill>
                  <a:srgbClr val="D7E5EC"/>
                </a:solidFill>
                <a:latin typeface="Courier New" pitchFamily="34" charset="0"/>
                <a:ea typeface="Courier New" pitchFamily="34" charset="-122"/>
                <a:cs typeface="Courier New" pitchFamily="34" charset="-120"/>
              </a:rPr>
              <a:t>sane-defaults.zip</a:t>
            </a:r>
            <a:pPr indent="0" marL="0">
              <a:buNone/>
            </a:pPr>
            <a:r>
              <a:rPr lang="en-US" sz="1400" dirty="0">
                <a:solidFill>
                  <a:srgbClr val="8A9AA3"/>
                </a:solidFill>
                <a:latin typeface="Courier New" pitchFamily="34" charset="0"/>
                <a:ea typeface="Courier New" pitchFamily="34" charset="-122"/>
                <a:cs typeface="Courier New" pitchFamily="34" charset="-120"/>
              </a:rPr>
              <a:t>   ·   </a:t>
            </a:r>
            <a:pPr indent="0" marL="0">
              <a:buNone/>
            </a:pPr>
            <a:r>
              <a:rPr lang="en-US" sz="1400" dirty="0">
                <a:solidFill>
                  <a:srgbClr val="D7E5EC"/>
                </a:solidFill>
                <a:latin typeface="Courier New" pitchFamily="34" charset="0"/>
                <a:ea typeface="Courier New" pitchFamily="34" charset="-122"/>
                <a:cs typeface="Courier New" pitchFamily="34" charset="-120"/>
              </a:rPr>
              <a:t>wordpress-default-settings.md</a:t>
            </a:r>
            <a:endParaRPr lang="en-US" sz="1400" dirty="0"/>
          </a:p>
        </p:txBody>
      </p:sp>
      <p:sp>
        <p:nvSpPr>
          <p:cNvPr id="8" name="Text 6"/>
          <p:cNvSpPr/>
          <p:nvPr/>
        </p:nvSpPr>
        <p:spPr>
          <a:xfrm>
            <a:off x="822960" y="5623560"/>
            <a:ext cx="1051560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Questions?  </a:t>
            </a:r>
            <a:pPr indent="0" marL="0">
              <a:buNone/>
            </a:pPr>
            <a:r>
              <a:rPr lang="en-US" sz="1600" dirty="0">
                <a:solidFill>
                  <a:srgbClr val="D7E5EC"/>
                </a:solidFill>
                <a:latin typeface="Calibri" pitchFamily="34" charset="0"/>
                <a:ea typeface="Calibri" pitchFamily="34" charset="-122"/>
                <a:cs typeface="Calibri" pitchFamily="34" charset="-120"/>
              </a:rPr>
              <a:t>License GPL-3.0-or-later</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Better by Default</dc:title>
  <dc:subject>PptxGenJS Presentation</dc:subject>
  <dc:creator>WPYEG</dc:creator>
  <cp:lastModifiedBy>WPYEG</cp:lastModifiedBy>
  <cp:revision>1</cp:revision>
  <dcterms:created xsi:type="dcterms:W3CDTF">2026-10-23T00:42:01Z</dcterms:created>
  <dcterms:modified xsi:type="dcterms:W3CDTF">2026-10-23T00:42:01Z</dcterms:modified>
</cp:coreProperties>
</file>